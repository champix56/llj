
<file path=[Content_Types].xml><?xml version="1.0" encoding="utf-8"?>
<Types xmlns="http://schemas.openxmlformats.org/package/2006/content-types">
  <Default Extension="bin" ContentType="audio/unknown"/>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751" r:id="rId1"/>
  </p:sldMasterIdLst>
  <p:notesMasterIdLst>
    <p:notesMasterId r:id="rId165"/>
  </p:notesMasterIdLst>
  <p:handoutMasterIdLst>
    <p:handoutMasterId r:id="rId166"/>
  </p:handoutMasterIdLst>
  <p:sldIdLst>
    <p:sldId id="256" r:id="rId2"/>
    <p:sldId id="258" r:id="rId3"/>
    <p:sldId id="259" r:id="rId4"/>
    <p:sldId id="260" r:id="rId5"/>
    <p:sldId id="802" r:id="rId6"/>
    <p:sldId id="803" r:id="rId7"/>
    <p:sldId id="807" r:id="rId8"/>
    <p:sldId id="806" r:id="rId9"/>
    <p:sldId id="805" r:id="rId10"/>
    <p:sldId id="808" r:id="rId11"/>
    <p:sldId id="809" r:id="rId12"/>
    <p:sldId id="812" r:id="rId13"/>
    <p:sldId id="810" r:id="rId14"/>
    <p:sldId id="811" r:id="rId15"/>
    <p:sldId id="813" r:id="rId16"/>
    <p:sldId id="316" r:id="rId17"/>
    <p:sldId id="317" r:id="rId18"/>
    <p:sldId id="816" r:id="rId19"/>
    <p:sldId id="817" r:id="rId20"/>
    <p:sldId id="480" r:id="rId21"/>
    <p:sldId id="481" r:id="rId22"/>
    <p:sldId id="818" r:id="rId23"/>
    <p:sldId id="370" r:id="rId24"/>
    <p:sldId id="371" r:id="rId25"/>
    <p:sldId id="372" r:id="rId26"/>
    <p:sldId id="475" r:id="rId27"/>
    <p:sldId id="477" r:id="rId28"/>
    <p:sldId id="814" r:id="rId29"/>
    <p:sldId id="815" r:id="rId30"/>
    <p:sldId id="820" r:id="rId31"/>
    <p:sldId id="263" r:id="rId32"/>
    <p:sldId id="819" r:id="rId33"/>
    <p:sldId id="821" r:id="rId34"/>
    <p:sldId id="822" r:id="rId35"/>
    <p:sldId id="419" r:id="rId36"/>
    <p:sldId id="332" r:id="rId37"/>
    <p:sldId id="420" r:id="rId38"/>
    <p:sldId id="421" r:id="rId39"/>
    <p:sldId id="474" r:id="rId40"/>
    <p:sldId id="270" r:id="rId41"/>
    <p:sldId id="322" r:id="rId42"/>
    <p:sldId id="323" r:id="rId43"/>
    <p:sldId id="324" r:id="rId44"/>
    <p:sldId id="422" r:id="rId45"/>
    <p:sldId id="271" r:id="rId46"/>
    <p:sldId id="423" r:id="rId47"/>
    <p:sldId id="823" r:id="rId48"/>
    <p:sldId id="826" r:id="rId49"/>
    <p:sldId id="734" r:id="rId50"/>
    <p:sldId id="424" r:id="rId51"/>
    <p:sldId id="425" r:id="rId52"/>
    <p:sldId id="326" r:id="rId53"/>
    <p:sldId id="327" r:id="rId54"/>
    <p:sldId id="328" r:id="rId55"/>
    <p:sldId id="272" r:id="rId56"/>
    <p:sldId id="329" r:id="rId57"/>
    <p:sldId id="427" r:id="rId58"/>
    <p:sldId id="426" r:id="rId59"/>
    <p:sldId id="824" r:id="rId60"/>
    <p:sldId id="429" r:id="rId61"/>
    <p:sldId id="430" r:id="rId62"/>
    <p:sldId id="431" r:id="rId63"/>
    <p:sldId id="432" r:id="rId64"/>
    <p:sldId id="433" r:id="rId65"/>
    <p:sldId id="434" r:id="rId66"/>
    <p:sldId id="435" r:id="rId67"/>
    <p:sldId id="899" r:id="rId68"/>
    <p:sldId id="436" r:id="rId69"/>
    <p:sldId id="437" r:id="rId70"/>
    <p:sldId id="438" r:id="rId71"/>
    <p:sldId id="336" r:id="rId72"/>
    <p:sldId id="334" r:id="rId73"/>
    <p:sldId id="330" r:id="rId74"/>
    <p:sldId id="519" r:id="rId75"/>
    <p:sldId id="520" r:id="rId76"/>
    <p:sldId id="898" r:id="rId77"/>
    <p:sldId id="828" r:id="rId78"/>
    <p:sldId id="847" r:id="rId79"/>
    <p:sldId id="850" r:id="rId80"/>
    <p:sldId id="851" r:id="rId81"/>
    <p:sldId id="852" r:id="rId82"/>
    <p:sldId id="848" r:id="rId83"/>
    <p:sldId id="853" r:id="rId84"/>
    <p:sldId id="888" r:id="rId85"/>
    <p:sldId id="849" r:id="rId86"/>
    <p:sldId id="829" r:id="rId87"/>
    <p:sldId id="854" r:id="rId88"/>
    <p:sldId id="855" r:id="rId89"/>
    <p:sldId id="856" r:id="rId90"/>
    <p:sldId id="493" r:id="rId91"/>
    <p:sldId id="504" r:id="rId92"/>
    <p:sldId id="489" r:id="rId93"/>
    <p:sldId id="857" r:id="rId94"/>
    <p:sldId id="858" r:id="rId95"/>
    <p:sldId id="859" r:id="rId96"/>
    <p:sldId id="860" r:id="rId97"/>
    <p:sldId id="861" r:id="rId98"/>
    <p:sldId id="862" r:id="rId99"/>
    <p:sldId id="863" r:id="rId100"/>
    <p:sldId id="830" r:id="rId101"/>
    <p:sldId id="517" r:id="rId102"/>
    <p:sldId id="892" r:id="rId103"/>
    <p:sldId id="290" r:id="rId104"/>
    <p:sldId id="289" r:id="rId105"/>
    <p:sldId id="895" r:id="rId106"/>
    <p:sldId id="896" r:id="rId107"/>
    <p:sldId id="897" r:id="rId108"/>
    <p:sldId id="831" r:id="rId109"/>
    <p:sldId id="891" r:id="rId110"/>
    <p:sldId id="893" r:id="rId111"/>
    <p:sldId id="889" r:id="rId112"/>
    <p:sldId id="890" r:id="rId113"/>
    <p:sldId id="287" r:id="rId114"/>
    <p:sldId id="337" r:id="rId115"/>
    <p:sldId id="832" r:id="rId116"/>
    <p:sldId id="844" r:id="rId117"/>
    <p:sldId id="736" r:id="rId118"/>
    <p:sldId id="737" r:id="rId119"/>
    <p:sldId id="743" r:id="rId120"/>
    <p:sldId id="738" r:id="rId121"/>
    <p:sldId id="746" r:id="rId122"/>
    <p:sldId id="834" r:id="rId123"/>
    <p:sldId id="835" r:id="rId124"/>
    <p:sldId id="836" r:id="rId125"/>
    <p:sldId id="837" r:id="rId126"/>
    <p:sldId id="778" r:id="rId127"/>
    <p:sldId id="779" r:id="rId128"/>
    <p:sldId id="780" r:id="rId129"/>
    <p:sldId id="845" r:id="rId130"/>
    <p:sldId id="907" r:id="rId131"/>
    <p:sldId id="843" r:id="rId132"/>
    <p:sldId id="840" r:id="rId133"/>
    <p:sldId id="839" r:id="rId134"/>
    <p:sldId id="833" r:id="rId135"/>
    <p:sldId id="900" r:id="rId136"/>
    <p:sldId id="901" r:id="rId137"/>
    <p:sldId id="902" r:id="rId138"/>
    <p:sldId id="903" r:id="rId139"/>
    <p:sldId id="904" r:id="rId140"/>
    <p:sldId id="841" r:id="rId141"/>
    <p:sldId id="905" r:id="rId142"/>
    <p:sldId id="906" r:id="rId143"/>
    <p:sldId id="909" r:id="rId144"/>
    <p:sldId id="908" r:id="rId145"/>
    <p:sldId id="910" r:id="rId146"/>
    <p:sldId id="911" r:id="rId147"/>
    <p:sldId id="466" r:id="rId148"/>
    <p:sldId id="467" r:id="rId149"/>
    <p:sldId id="468" r:id="rId150"/>
    <p:sldId id="469" r:id="rId151"/>
    <p:sldId id="470" r:id="rId152"/>
    <p:sldId id="310" r:id="rId153"/>
    <p:sldId id="309" r:id="rId154"/>
    <p:sldId id="801" r:id="rId155"/>
    <p:sldId id="452" r:id="rId156"/>
    <p:sldId id="455" r:id="rId157"/>
    <p:sldId id="456" r:id="rId158"/>
    <p:sldId id="457" r:id="rId159"/>
    <p:sldId id="453" r:id="rId160"/>
    <p:sldId id="698" r:id="rId161"/>
    <p:sldId id="699" r:id="rId162"/>
    <p:sldId id="700" r:id="rId163"/>
    <p:sldId id="800" r:id="rId164"/>
  </p:sldIdLst>
  <p:sldSz cx="9144000" cy="6858000" type="screen4x3"/>
  <p:notesSz cx="6858000" cy="9144000"/>
  <p:embeddedFontLst>
    <p:embeddedFont>
      <p:font typeface="Consolas" panose="020B0609020204030204" pitchFamily="49" charset="0"/>
      <p:regular r:id="rId167"/>
      <p:bold r:id="rId168"/>
      <p:italic r:id="rId169"/>
      <p:boldItalic r:id="rId170"/>
    </p:embeddedFont>
    <p:embeddedFont>
      <p:font typeface="Monaco" panose="020B0509030404040204" pitchFamily="49" charset="0"/>
      <p:regular r:id="rId171"/>
    </p:embeddedFont>
    <p:embeddedFont>
      <p:font typeface="Permanent Marker" panose="02000000000000000000" pitchFamily="2" charset="0"/>
      <p:regular r:id="rId172"/>
    </p:embeddedFont>
    <p:embeddedFont>
      <p:font typeface="PT Sans Narrow" panose="020B0506020203020204" pitchFamily="34" charset="0"/>
      <p:regular r:id="rId173"/>
      <p:bold r:id="rId174"/>
    </p:embeddedFont>
    <p:embeddedFont>
      <p:font typeface="Source Code Pro" panose="020B0509030403020204" pitchFamily="49" charset="0"/>
      <p:regular r:id="rId175"/>
      <p:bold r:id="rId176"/>
      <p:italic r:id="rId177"/>
      <p:boldItalic r:id="rId178"/>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39" autoAdjust="0"/>
    <p:restoredTop sz="70815" autoAdjust="0"/>
  </p:normalViewPr>
  <p:slideViewPr>
    <p:cSldViewPr>
      <p:cViewPr>
        <p:scale>
          <a:sx n="75" d="100"/>
          <a:sy n="75" d="100"/>
        </p:scale>
        <p:origin x="654" y="54"/>
      </p:cViewPr>
      <p:guideLst>
        <p:guide orient="horz" pos="2160"/>
        <p:guide pos="2880"/>
      </p:guideLst>
    </p:cSldViewPr>
  </p:slideViewPr>
  <p:outlineViewPr>
    <p:cViewPr>
      <p:scale>
        <a:sx n="33" d="100"/>
        <a:sy n="33" d="100"/>
      </p:scale>
      <p:origin x="0" y="34290"/>
    </p:cViewPr>
  </p:outlineViewPr>
  <p:notesTextViewPr>
    <p:cViewPr>
      <p:scale>
        <a:sx n="100" d="100"/>
        <a:sy n="100" d="100"/>
      </p:scale>
      <p:origin x="0" y="0"/>
    </p:cViewPr>
  </p:notesTextViewPr>
  <p:sorterViewPr>
    <p:cViewPr>
      <p:scale>
        <a:sx n="100" d="100"/>
        <a:sy n="100" d="100"/>
      </p:scale>
      <p:origin x="0" y="-42222"/>
    </p:cViewPr>
  </p:sorterViewPr>
  <p:notesViewPr>
    <p:cSldViewPr>
      <p:cViewPr varScale="1">
        <p:scale>
          <a:sx n="69" d="100"/>
          <a:sy n="69" d="100"/>
        </p:scale>
        <p:origin x="3264" y="6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font" Target="fonts/font9.fntdata"/><Relationship Id="rId170" Type="http://schemas.openxmlformats.org/officeDocument/2006/relationships/font" Target="fonts/font4.fntdata"/><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notesMaster" Target="notesMasters/notesMaster1.xml"/><Relationship Id="rId181"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font" Target="fonts/font5.fntdata"/><Relationship Id="rId176" Type="http://schemas.openxmlformats.org/officeDocument/2006/relationships/font" Target="fonts/font10.fntdata"/><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handoutMaster" Target="handoutMasters/handoutMaster1.xml"/><Relationship Id="rId18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font" Target="fonts/font6.fntdata"/><Relationship Id="rId180"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font" Target="fonts/font1.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font" Target="fonts/font8.fntdata"/><Relationship Id="rId179"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font" Target="fonts/font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99B94CFA-A4C9-42DC-927B-C4E25B6E0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C23CEE5E-F628-4BC0-A466-A5F04A9E150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56EFA5-28A5-4524-AF12-9AE8107E1E16}" type="datetimeFigureOut">
              <a:rPr lang="fr-FR" smtClean="0"/>
              <a:pPr/>
              <a:t>17/09/2026</a:t>
            </a:fld>
            <a:endParaRPr lang="fr-FR"/>
          </a:p>
        </p:txBody>
      </p:sp>
      <p:sp>
        <p:nvSpPr>
          <p:cNvPr id="4" name="Espace réservé du pied de page 3">
            <a:extLst>
              <a:ext uri="{FF2B5EF4-FFF2-40B4-BE49-F238E27FC236}">
                <a16:creationId xmlns:a16="http://schemas.microsoft.com/office/drawing/2014/main" id="{A3521978-02AF-4C43-B1D3-2B0809B5B99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942BCE26-78CF-437B-A316-B0A0B02AAD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7BC7A7-E216-4AA7-8517-AFE78EE25DFF}" type="slidenum">
              <a:rPr lang="fr-FR" smtClean="0"/>
              <a:pPr/>
              <a:t>‹N°›</a:t>
            </a:fld>
            <a:endParaRPr lang="fr-FR"/>
          </a:p>
        </p:txBody>
      </p:sp>
    </p:spTree>
    <p:extLst>
      <p:ext uri="{BB962C8B-B14F-4D97-AF65-F5344CB8AC3E}">
        <p14:creationId xmlns:p14="http://schemas.microsoft.com/office/powerpoint/2010/main" val="35207978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1404C3B-4F20-4A83-9D90-0581DE2F00A4}" type="datetimeFigureOut">
              <a:rPr lang="fr-FR" smtClean="0"/>
              <a:pPr/>
              <a:t>17/09/2026</a:t>
            </a:fld>
            <a:endParaRPr lang="fr-FR"/>
          </a:p>
        </p:txBody>
      </p:sp>
      <p:sp>
        <p:nvSpPr>
          <p:cNvPr id="4" name="Espace réservé de l'image des diapositives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F37B03-BCE5-4384-84A0-9FF687F53F37}" type="slidenum">
              <a:rPr lang="fr-FR" smtClean="0"/>
              <a:pPr/>
              <a:t>‹N°›</a:t>
            </a:fld>
            <a:endParaRPr lang="fr-FR"/>
          </a:p>
        </p:txBody>
      </p:sp>
    </p:spTree>
    <p:extLst>
      <p:ext uri="{BB962C8B-B14F-4D97-AF65-F5344CB8AC3E}">
        <p14:creationId xmlns:p14="http://schemas.microsoft.com/office/powerpoint/2010/main" val="1258389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1</a:t>
            </a:fld>
            <a:endParaRPr lang="fr-FR" dirty="0"/>
          </a:p>
        </p:txBody>
      </p:sp>
    </p:spTree>
    <p:extLst>
      <p:ext uri="{BB962C8B-B14F-4D97-AF65-F5344CB8AC3E}">
        <p14:creationId xmlns:p14="http://schemas.microsoft.com/office/powerpoint/2010/main" val="29419821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2</a:t>
            </a:fld>
            <a:endParaRPr lang="fr-FR" dirty="0"/>
          </a:p>
        </p:txBody>
      </p:sp>
    </p:spTree>
    <p:extLst>
      <p:ext uri="{BB962C8B-B14F-4D97-AF65-F5344CB8AC3E}">
        <p14:creationId xmlns:p14="http://schemas.microsoft.com/office/powerpoint/2010/main" val="2576111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3</a:t>
            </a:fld>
            <a:endParaRPr lang="fr-FR" dirty="0"/>
          </a:p>
        </p:txBody>
      </p:sp>
    </p:spTree>
    <p:extLst>
      <p:ext uri="{BB962C8B-B14F-4D97-AF65-F5344CB8AC3E}">
        <p14:creationId xmlns:p14="http://schemas.microsoft.com/office/powerpoint/2010/main" val="4037247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4</a:t>
            </a:fld>
            <a:endParaRPr lang="fr-FR" dirty="0"/>
          </a:p>
        </p:txBody>
      </p:sp>
    </p:spTree>
    <p:extLst>
      <p:ext uri="{BB962C8B-B14F-4D97-AF65-F5344CB8AC3E}">
        <p14:creationId xmlns:p14="http://schemas.microsoft.com/office/powerpoint/2010/main" val="795542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C6BF32B0-71F7-4517-8743-165F0D1AA062}" type="slidenum">
              <a:rPr lang="fr-FR" smtClean="0"/>
              <a:pPr/>
              <a:t>16</a:t>
            </a:fld>
            <a:endParaRPr lang="fr-FR" dirty="0"/>
          </a:p>
        </p:txBody>
      </p:sp>
    </p:spTree>
    <p:extLst>
      <p:ext uri="{BB962C8B-B14F-4D97-AF65-F5344CB8AC3E}">
        <p14:creationId xmlns:p14="http://schemas.microsoft.com/office/powerpoint/2010/main" val="3237976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r>
              <a:rPr lang="fr-FR" b="1" dirty="0"/>
              <a:t>*ou</a:t>
            </a:r>
            <a:r>
              <a:rPr lang="fr-FR" b="1" baseline="0" dirty="0"/>
              <a:t> wamp </a:t>
            </a:r>
            <a:endParaRPr lang="fr-FR" b="1" dirty="0"/>
          </a:p>
          <a:p>
            <a:r>
              <a:rPr lang="fr-FR" b="1" dirty="0"/>
              <a:t>JSON-server tuto : </a:t>
            </a:r>
            <a:r>
              <a:rPr lang="fr-FR" dirty="0"/>
              <a:t>https://codingthesmartway.com/create-a-rest-api-with-json-server/</a:t>
            </a:r>
          </a:p>
        </p:txBody>
      </p:sp>
      <p:sp>
        <p:nvSpPr>
          <p:cNvPr id="4" name="Espace réservé du numéro de diapositive 3"/>
          <p:cNvSpPr>
            <a:spLocks noGrp="1"/>
          </p:cNvSpPr>
          <p:nvPr>
            <p:ph type="sldNum" sz="quarter" idx="10"/>
          </p:nvPr>
        </p:nvSpPr>
        <p:spPr/>
        <p:txBody>
          <a:bodyPr/>
          <a:lstStyle/>
          <a:p>
            <a:fld id="{C6BF32B0-71F7-4517-8743-165F0D1AA062}" type="slidenum">
              <a:rPr lang="fr-FR" smtClean="0"/>
              <a:pPr/>
              <a:t>17</a:t>
            </a:fld>
            <a:endParaRPr lang="fr-FR" dirty="0"/>
          </a:p>
        </p:txBody>
      </p:sp>
    </p:spTree>
    <p:extLst>
      <p:ext uri="{BB962C8B-B14F-4D97-AF65-F5344CB8AC3E}">
        <p14:creationId xmlns:p14="http://schemas.microsoft.com/office/powerpoint/2010/main" val="73576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C6BF32B0-71F7-4517-8743-165F0D1AA062}" type="slidenum">
              <a:rPr lang="fr-FR" smtClean="0"/>
              <a:pPr/>
              <a:t>20</a:t>
            </a:fld>
            <a:endParaRPr lang="fr-FR" dirty="0"/>
          </a:p>
        </p:txBody>
      </p:sp>
    </p:spTree>
    <p:extLst>
      <p:ext uri="{BB962C8B-B14F-4D97-AF65-F5344CB8AC3E}">
        <p14:creationId xmlns:p14="http://schemas.microsoft.com/office/powerpoint/2010/main" val="21091509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C6BF32B0-71F7-4517-8743-165F0D1AA062}" type="slidenum">
              <a:rPr lang="fr-FR" smtClean="0"/>
              <a:pPr/>
              <a:t>21</a:t>
            </a:fld>
            <a:endParaRPr lang="fr-FR" dirty="0"/>
          </a:p>
        </p:txBody>
      </p:sp>
    </p:spTree>
    <p:extLst>
      <p:ext uri="{BB962C8B-B14F-4D97-AF65-F5344CB8AC3E}">
        <p14:creationId xmlns:p14="http://schemas.microsoft.com/office/powerpoint/2010/main" val="4171065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650" name="Rectangle 2"/>
          <p:cNvSpPr>
            <a:spLocks noGrp="1" noRot="1" noChangeAspect="1" noChangeArrowheads="1" noTextEdit="1"/>
          </p:cNvSpPr>
          <p:nvPr>
            <p:ph type="sldImg"/>
          </p:nvPr>
        </p:nvSpPr>
        <p:spPr>
          <a:ln/>
        </p:spPr>
        <p:txBody>
          <a:bodyPr/>
          <a:lstStyle/>
          <a:p>
            <a:endParaRPr lang="fr-FR" dirty="0"/>
          </a:p>
        </p:txBody>
      </p:sp>
      <p:sp>
        <p:nvSpPr>
          <p:cNvPr id="283651" name="Rectangle 3"/>
          <p:cNvSpPr>
            <a:spLocks noGrp="1" noChangeArrowheads="1"/>
          </p:cNvSpPr>
          <p:nvPr>
            <p:ph type="body" idx="1"/>
          </p:nvPr>
        </p:nvSpPr>
        <p:spPr>
          <a:noFill/>
        </p:spPr>
        <p:txBody>
          <a:bodyPr/>
          <a:lstStyle/>
          <a:p>
            <a:pPr eaLnBrk="1" hangingPunct="1"/>
            <a:r>
              <a:rPr lang="fr-FR" sz="1000" b="1" dirty="0">
                <a:ea typeface="MS Mincho" pitchFamily="49" charset="-128"/>
              </a:rPr>
              <a:t>Accessibilité et handicap : </a:t>
            </a:r>
            <a:r>
              <a:rPr lang="fr-FR" sz="1000" dirty="0">
                <a:ea typeface="MS Mincho" pitchFamily="49" charset="-128"/>
              </a:rPr>
              <a:t>l’accessibilité est un terme général utilisé pour décrire le degré de facilité d’accès d’un produit (matériel, service, environnemental…) au plus grand nombre. Elle peut aussi être vue comme la facilité d’accès d’une entité à une fonctionnalité ou un bénéfice. Cette dernière approche de la définition ouvre le débat du droit individuel à accéder et tourne l’accessibilité vers les handicapés</a:t>
            </a:r>
            <a:r>
              <a:rPr lang="fr-FR" dirty="0">
                <a:ea typeface="MS Mincho" pitchFamily="49" charset="-128"/>
              </a:rPr>
              <a:t>.</a:t>
            </a:r>
            <a:endParaRPr lang="fr-FR" dirty="0"/>
          </a:p>
        </p:txBody>
      </p:sp>
    </p:spTree>
    <p:extLst>
      <p:ext uri="{BB962C8B-B14F-4D97-AF65-F5344CB8AC3E}">
        <p14:creationId xmlns:p14="http://schemas.microsoft.com/office/powerpoint/2010/main" val="6959068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2"/>
          <p:cNvSpPr>
            <a:spLocks noGrp="1" noRot="1" noChangeAspect="1" noChangeArrowheads="1" noTextEdit="1"/>
          </p:cNvSpPr>
          <p:nvPr>
            <p:ph type="sldImg"/>
          </p:nvPr>
        </p:nvSpPr>
        <p:spPr>
          <a:ln/>
        </p:spPr>
        <p:txBody>
          <a:bodyPr/>
          <a:lstStyle/>
          <a:p>
            <a:endParaRPr lang="fr-FR" dirty="0"/>
          </a:p>
        </p:txBody>
      </p:sp>
      <p:sp>
        <p:nvSpPr>
          <p:cNvPr id="284675" name="Rectangle 3"/>
          <p:cNvSpPr>
            <a:spLocks noGrp="1" noChangeArrowheads="1"/>
          </p:cNvSpPr>
          <p:nvPr>
            <p:ph type="body" idx="1"/>
          </p:nvPr>
        </p:nvSpPr>
        <p:spPr>
          <a:noFill/>
        </p:spPr>
        <p:txBody>
          <a:bodyPr/>
          <a:lstStyle/>
          <a:p>
            <a:pPr marL="180159" indent="-180159"/>
            <a:r>
              <a:rPr lang="fr-FR" sz="1000" b="1" dirty="0">
                <a:ea typeface="MS Mincho" pitchFamily="49" charset="-128"/>
              </a:rPr>
              <a:t>Précisions :</a:t>
            </a:r>
          </a:p>
          <a:p>
            <a:pPr marL="180159" indent="-180159"/>
            <a:endParaRPr lang="fr-FR" sz="1000" b="1" dirty="0">
              <a:ea typeface="MS Mincho" pitchFamily="49" charset="-128"/>
            </a:endParaRPr>
          </a:p>
          <a:p>
            <a:pPr marL="180159" indent="-180159"/>
            <a:r>
              <a:rPr lang="fr-FR" sz="1000" dirty="0">
                <a:ea typeface="MS Mincho" pitchFamily="49" charset="-128"/>
              </a:rPr>
              <a:t>A l’instar des notations boursières, le WCAG fournit 3 niveaux de l’accessibilité d’un site appelé niveaux de priorité et identifie :</a:t>
            </a:r>
          </a:p>
          <a:p>
            <a:pPr marL="180159" indent="-180159">
              <a:buFontTx/>
              <a:buAutoNum type="arabicPeriod"/>
            </a:pPr>
            <a:r>
              <a:rPr lang="fr-FR" sz="1000" dirty="0">
                <a:ea typeface="MS Mincho" pitchFamily="49" charset="-128"/>
              </a:rPr>
              <a:t> l’indispensable (must) [A] : les concepteurs/réalisateurs de sites doivent s’y conformer sous peine d’interdire l’accès à certains groupes.</a:t>
            </a:r>
          </a:p>
          <a:p>
            <a:pPr marL="180159" indent="-180159">
              <a:buFontTx/>
              <a:buAutoNum type="arabicPeriod"/>
            </a:pPr>
            <a:r>
              <a:rPr lang="fr-FR" sz="1000" dirty="0">
                <a:ea typeface="MS Mincho" pitchFamily="49" charset="-128"/>
              </a:rPr>
              <a:t> le souhaitable (should) [AA] : les développeurs devraient s’y conformer sous peine de rendre l’accès difficile à certains groupes (niv. mini USA). </a:t>
            </a:r>
          </a:p>
          <a:p>
            <a:pPr marL="180159" indent="-180159">
              <a:buFontTx/>
              <a:buAutoNum type="arabicPeriod"/>
            </a:pPr>
            <a:r>
              <a:rPr lang="fr-FR" sz="1000" dirty="0">
                <a:ea typeface="MS Mincho" pitchFamily="49" charset="-128"/>
              </a:rPr>
              <a:t> l’utile (may) [AAA] : les développeurs peuvent s’y conformer pour faciliter l’accès de leur site à certains groupes de personnes</a:t>
            </a:r>
          </a:p>
          <a:p>
            <a:pPr marL="180159" indent="-180159"/>
            <a:endParaRPr lang="fr-FR" sz="1000" dirty="0">
              <a:ea typeface="MS Mincho" pitchFamily="49" charset="-128"/>
            </a:endParaRPr>
          </a:p>
          <a:p>
            <a:pPr marL="180159" indent="-180159"/>
            <a:r>
              <a:rPr lang="fr-FR" sz="1000" dirty="0">
                <a:ea typeface="MS Mincho" pitchFamily="49" charset="-128"/>
              </a:rPr>
              <a:t>Un des critères de niveau A, par exemple, est le respect de HTML4.01 strict</a:t>
            </a:r>
          </a:p>
          <a:p>
            <a:pPr marL="180159" indent="-180159"/>
            <a:endParaRPr lang="fr-FR" sz="1000" dirty="0">
              <a:ea typeface="MS Mincho" pitchFamily="49" charset="-128"/>
            </a:endParaRPr>
          </a:p>
          <a:p>
            <a:pPr marL="180159" indent="-180159"/>
            <a:r>
              <a:rPr lang="fr-FR" sz="1000" dirty="0">
                <a:ea typeface="MS Mincho" pitchFamily="49" charset="-128"/>
              </a:rPr>
              <a:t>Des outils tels que Watchfire WebXACT permettent de passer gratuitement un site au crible selon les normes WCAG et d’éditer un rapport. IBM a décidé d’en retirer l’accès public depuis le 1er février 2008 et l’a intégré à son logiciel « IBM Rational Policy Tester Accessibility Edition » (anciennement « WebXM Accessibility Module »).</a:t>
            </a:r>
            <a:endParaRPr lang="fr-FR" sz="1000" dirty="0"/>
          </a:p>
        </p:txBody>
      </p:sp>
    </p:spTree>
    <p:extLst>
      <p:ext uri="{BB962C8B-B14F-4D97-AF65-F5344CB8AC3E}">
        <p14:creationId xmlns:p14="http://schemas.microsoft.com/office/powerpoint/2010/main" val="915189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p:cNvSpPr>
            <a:spLocks noGrp="1" noRot="1" noChangeAspect="1" noChangeArrowheads="1" noTextEdit="1"/>
          </p:cNvSpPr>
          <p:nvPr>
            <p:ph type="sldImg"/>
          </p:nvPr>
        </p:nvSpPr>
        <p:spPr>
          <a:ln/>
        </p:spPr>
        <p:txBody>
          <a:bodyPr/>
          <a:lstStyle/>
          <a:p>
            <a:endParaRPr lang="fr-FR" dirty="0"/>
          </a:p>
        </p:txBody>
      </p:sp>
      <p:sp>
        <p:nvSpPr>
          <p:cNvPr id="285699" name="Rectangle 3"/>
          <p:cNvSpPr>
            <a:spLocks noGrp="1" noChangeArrowheads="1"/>
          </p:cNvSpPr>
          <p:nvPr>
            <p:ph type="body" idx="1"/>
          </p:nvPr>
        </p:nvSpPr>
        <p:spPr>
          <a:noFill/>
        </p:spPr>
        <p:txBody>
          <a:bodyPr/>
          <a:lstStyle/>
          <a:p>
            <a:pPr marL="180159" indent="-180159"/>
            <a:endParaRPr lang="fr-FR" dirty="0"/>
          </a:p>
        </p:txBody>
      </p:sp>
    </p:spTree>
    <p:extLst>
      <p:ext uri="{BB962C8B-B14F-4D97-AF65-F5344CB8AC3E}">
        <p14:creationId xmlns:p14="http://schemas.microsoft.com/office/powerpoint/2010/main" val="7000618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26</a:t>
            </a:fld>
            <a:endParaRPr lang="fr-FR" dirty="0"/>
          </a:p>
        </p:txBody>
      </p:sp>
    </p:spTree>
    <p:extLst>
      <p:ext uri="{BB962C8B-B14F-4D97-AF65-F5344CB8AC3E}">
        <p14:creationId xmlns:p14="http://schemas.microsoft.com/office/powerpoint/2010/main" val="413967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163843"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FCD804E7-F84A-48F1-A5A9-AFCFB4F8C4B8}" type="slidenum">
              <a:rPr lang="en-JM" smtClean="0"/>
              <a:pPr>
                <a:defRPr/>
              </a:pPr>
              <a:t>27</a:t>
            </a:fld>
            <a:endParaRPr lang="en-JM" dirty="0"/>
          </a:p>
        </p:txBody>
      </p:sp>
    </p:spTree>
    <p:extLst>
      <p:ext uri="{BB962C8B-B14F-4D97-AF65-F5344CB8AC3E}">
        <p14:creationId xmlns:p14="http://schemas.microsoft.com/office/powerpoint/2010/main" val="3902256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t>31</a:t>
            </a:fld>
            <a:endParaRPr lang="fr-FR" dirty="0"/>
          </a:p>
        </p:txBody>
      </p:sp>
    </p:spTree>
    <p:extLst>
      <p:ext uri="{BB962C8B-B14F-4D97-AF65-F5344CB8AC3E}">
        <p14:creationId xmlns:p14="http://schemas.microsoft.com/office/powerpoint/2010/main" val="17858985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r>
              <a:rPr lang="fr-FR" dirty="0"/>
              <a:t>*interdit par les règles d' accessibilités </a:t>
            </a:r>
          </a:p>
          <a:p>
            <a:r>
              <a:rPr lang="fr-FR" dirty="0"/>
              <a:t>** mauvaise</a:t>
            </a:r>
            <a:r>
              <a:rPr lang="fr-FR" baseline="0" dirty="0"/>
              <a:t> pratique à éviter</a:t>
            </a:r>
          </a:p>
          <a:p>
            <a:endParaRPr lang="fr-FR" baseline="0" dirty="0"/>
          </a:p>
          <a:p>
            <a:pPr>
              <a:defRPr/>
            </a:pPr>
            <a:r>
              <a:rPr lang="fr-FR" sz="1200" dirty="0">
                <a:ea typeface="MS Mincho" pitchFamily="49" charset="-128"/>
              </a:rPr>
              <a:t>Dans la mesure où les navigateurs comprennent plusieurs langages, il faut leur préciser quand ils doivent exécuter du JS. Pour cela, on place le code suivant : « &lt;script type=« text/JavaScript"&gt;…</a:t>
            </a:r>
            <a:r>
              <a:rPr lang="fr-FR" sz="1200" u="sng" dirty="0">
                <a:ea typeface="MS Mincho" pitchFamily="49" charset="-128"/>
              </a:rPr>
              <a:t>code JS</a:t>
            </a:r>
            <a:r>
              <a:rPr lang="fr-FR" sz="1200" dirty="0">
                <a:ea typeface="MS Mincho" pitchFamily="49" charset="-128"/>
              </a:rPr>
              <a:t>…&lt;/script&gt; ».</a:t>
            </a:r>
          </a:p>
          <a:p>
            <a:pPr>
              <a:defRPr/>
            </a:pPr>
            <a:r>
              <a:rPr lang="fr-FR" sz="1200" u="sng" dirty="0">
                <a:ea typeface="MS Mincho" pitchFamily="49" charset="-128"/>
              </a:rPr>
              <a:t>Remarque:</a:t>
            </a:r>
            <a:r>
              <a:rPr lang="fr-FR" sz="1200" dirty="0">
                <a:ea typeface="MS Mincho" pitchFamily="49" charset="-128"/>
              </a:rPr>
              <a:t> « language="JavaScript" est déprécié depuis HTML4.01 soit 1999</a:t>
            </a:r>
          </a:p>
          <a:p>
            <a:endParaRPr lang="fr-FR" dirty="0"/>
          </a:p>
        </p:txBody>
      </p:sp>
      <p:sp>
        <p:nvSpPr>
          <p:cNvPr id="4" name="Espace réservé du numéro de diapositive 3"/>
          <p:cNvSpPr>
            <a:spLocks noGrp="1"/>
          </p:cNvSpPr>
          <p:nvPr>
            <p:ph type="sldNum" sz="quarter" idx="10"/>
          </p:nvPr>
        </p:nvSpPr>
        <p:spPr/>
        <p:txBody>
          <a:bodyPr/>
          <a:lstStyle/>
          <a:p>
            <a:fld id="{9AF37B03-BCE5-4384-84A0-9FF687F53F37}" type="slidenum">
              <a:rPr lang="fr-FR" smtClean="0"/>
              <a:pPr/>
              <a:t>35</a:t>
            </a:fld>
            <a:endParaRPr lang="fr-FR" dirty="0"/>
          </a:p>
        </p:txBody>
      </p:sp>
    </p:spTree>
    <p:extLst>
      <p:ext uri="{BB962C8B-B14F-4D97-AF65-F5344CB8AC3E}">
        <p14:creationId xmlns:p14="http://schemas.microsoft.com/office/powerpoint/2010/main" val="33604969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a:ln/>
        </p:spPr>
        <p:txBody>
          <a:bodyPr/>
          <a:lstStyle/>
          <a:p>
            <a:endParaRPr lang="fr-FR" dirty="0"/>
          </a:p>
        </p:txBody>
      </p:sp>
      <p:sp>
        <p:nvSpPr>
          <p:cNvPr id="157699" name="Rectangle 3"/>
          <p:cNvSpPr>
            <a:spLocks noGrp="1" noChangeArrowheads="1"/>
          </p:cNvSpPr>
          <p:nvPr>
            <p:ph type="body" idx="1"/>
          </p:nvPr>
        </p:nvSpPr>
        <p:spPr>
          <a:noFill/>
        </p:spPr>
        <p:txBody>
          <a:bodyPr/>
          <a:lstStyle/>
          <a:p>
            <a:pPr eaLnBrk="1" hangingPunct="1"/>
            <a:endParaRPr lang="en-US" altLang="fr-FR" dirty="0"/>
          </a:p>
        </p:txBody>
      </p:sp>
    </p:spTree>
    <p:extLst>
      <p:ext uri="{BB962C8B-B14F-4D97-AF65-F5344CB8AC3E}">
        <p14:creationId xmlns:p14="http://schemas.microsoft.com/office/powerpoint/2010/main" val="2893520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r>
              <a:rPr lang="fr-FR" dirty="0"/>
              <a:t>* conseillé</a:t>
            </a:r>
          </a:p>
        </p:txBody>
      </p:sp>
      <p:sp>
        <p:nvSpPr>
          <p:cNvPr id="4" name="Espace réservé du numéro de diapositive 3"/>
          <p:cNvSpPr>
            <a:spLocks noGrp="1"/>
          </p:cNvSpPr>
          <p:nvPr>
            <p:ph type="sldNum" sz="quarter" idx="10"/>
          </p:nvPr>
        </p:nvSpPr>
        <p:spPr/>
        <p:txBody>
          <a:bodyPr/>
          <a:lstStyle/>
          <a:p>
            <a:fld id="{9AF37B03-BCE5-4384-84A0-9FF687F53F37}" type="slidenum">
              <a:rPr lang="fr-FR" smtClean="0"/>
              <a:pPr/>
              <a:t>37</a:t>
            </a:fld>
            <a:endParaRPr lang="fr-FR" dirty="0"/>
          </a:p>
        </p:txBody>
      </p:sp>
    </p:spTree>
    <p:extLst>
      <p:ext uri="{BB962C8B-B14F-4D97-AF65-F5344CB8AC3E}">
        <p14:creationId xmlns:p14="http://schemas.microsoft.com/office/powerpoint/2010/main" val="31209628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38</a:t>
            </a:fld>
            <a:endParaRPr lang="fr-FR" dirty="0"/>
          </a:p>
        </p:txBody>
      </p:sp>
    </p:spTree>
    <p:extLst>
      <p:ext uri="{BB962C8B-B14F-4D97-AF65-F5344CB8AC3E}">
        <p14:creationId xmlns:p14="http://schemas.microsoft.com/office/powerpoint/2010/main" val="23860874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01731"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sz="700" b="1" dirty="0"/>
              <a:t>PRECISIONS</a:t>
            </a:r>
          </a:p>
          <a:p>
            <a:endParaRPr lang="fr-FR" sz="700" dirty="0">
              <a:ea typeface="MS Mincho" pitchFamily="49" charset="-128"/>
            </a:endParaRPr>
          </a:p>
          <a:p>
            <a:r>
              <a:rPr lang="fr-FR" sz="700" dirty="0">
                <a:ea typeface="MS Mincho" pitchFamily="49" charset="-128"/>
              </a:rPr>
              <a:t>- Pour ceux qui pratiquent des langages tels que le C, JS étant souvent interprété (cf. linker), ne séparez pas définitions, déclarations et init.</a:t>
            </a:r>
          </a:p>
          <a:p>
            <a:endParaRPr lang="fr-FR" sz="700" dirty="0">
              <a:ea typeface="MS Mincho" pitchFamily="49" charset="-128"/>
            </a:endParaRPr>
          </a:p>
          <a:p>
            <a:r>
              <a:rPr lang="fr-FR" sz="700" dirty="0">
                <a:ea typeface="MS Mincho" pitchFamily="49" charset="-128"/>
              </a:rPr>
              <a:t>- On déclare une variable par : « var </a:t>
            </a:r>
            <a:r>
              <a:rPr lang="fr-FR" sz="700" u="sng" dirty="0">
                <a:ea typeface="MS Mincho" pitchFamily="49" charset="-128"/>
              </a:rPr>
              <a:t>variable</a:t>
            </a:r>
            <a:r>
              <a:rPr lang="fr-FR" sz="700" dirty="0">
                <a:ea typeface="MS Mincho" pitchFamily="49" charset="-128"/>
              </a:rPr>
              <a:t> =  </a:t>
            </a:r>
            <a:r>
              <a:rPr lang="fr-FR" sz="700" u="sng" dirty="0">
                <a:ea typeface="MS Mincho" pitchFamily="49" charset="-128"/>
              </a:rPr>
              <a:t>valeur (typée)</a:t>
            </a:r>
            <a:r>
              <a:rPr lang="fr-FR" sz="700" dirty="0">
                <a:ea typeface="MS Mincho" pitchFamily="49" charset="-128"/>
              </a:rPr>
              <a:t>; » ou « var </a:t>
            </a:r>
            <a:r>
              <a:rPr lang="fr-FR" sz="700" u="sng" dirty="0">
                <a:ea typeface="MS Mincho" pitchFamily="49" charset="-128"/>
              </a:rPr>
              <a:t>variable</a:t>
            </a:r>
            <a:r>
              <a:rPr lang="fr-FR" sz="700" dirty="0">
                <a:ea typeface="MS Mincho" pitchFamily="49" charset="-128"/>
              </a:rPr>
              <a:t> = new </a:t>
            </a:r>
            <a:r>
              <a:rPr lang="fr-FR" sz="700" u="sng" dirty="0">
                <a:ea typeface="MS Mincho" pitchFamily="49" charset="-128"/>
              </a:rPr>
              <a:t>Classe</a:t>
            </a:r>
            <a:r>
              <a:rPr lang="fr-FR" sz="700" dirty="0">
                <a:ea typeface="MS Mincho" pitchFamily="49" charset="-128"/>
              </a:rPr>
              <a:t>(); » ex: var intNum = 5; var strTmp = new String();</a:t>
            </a:r>
            <a:br>
              <a:rPr lang="fr-FR" sz="700" dirty="0">
                <a:ea typeface="MS Mincho" pitchFamily="49" charset="-128"/>
              </a:rPr>
            </a:br>
            <a:r>
              <a:rPr lang="fr-FR" sz="700" u="sng" dirty="0">
                <a:ea typeface="MS Mincho" pitchFamily="49" charset="-128"/>
              </a:rPr>
              <a:t>Remarque:</a:t>
            </a:r>
            <a:r>
              <a:rPr lang="fr-FR" sz="700" dirty="0">
                <a:ea typeface="MS Mincho" pitchFamily="49" charset="-128"/>
              </a:rPr>
              <a:t> faites attention aux problèmes de linkage avec this et son utilisation combinée avec new, les méthodes (anonymes ou non), les gestionnaires d’événements…</a:t>
            </a:r>
          </a:p>
          <a:p>
            <a:endParaRPr lang="fr-FR" sz="700" dirty="0">
              <a:ea typeface="MS Mincho" pitchFamily="49" charset="-128"/>
            </a:endParaRPr>
          </a:p>
          <a:p>
            <a:r>
              <a:rPr lang="fr-FR" sz="700" dirty="0">
                <a:ea typeface="MS Mincho" pitchFamily="49" charset="-128"/>
              </a:rPr>
              <a:t>- Pour les fonctions/méthodes on met le terme « function » suivi du nom de la fonction et de parenthèses contenant les paramètres à transmettre.</a:t>
            </a:r>
            <a:br>
              <a:rPr lang="fr-FR" sz="700" dirty="0">
                <a:ea typeface="MS Mincho" pitchFamily="49" charset="-128"/>
              </a:rPr>
            </a:br>
            <a:r>
              <a:rPr lang="fr-FR" sz="700" u="sng" dirty="0">
                <a:ea typeface="MS Mincho" pitchFamily="49" charset="-128"/>
              </a:rPr>
              <a:t>cf:</a:t>
            </a:r>
            <a:r>
              <a:rPr lang="fr-FR" sz="700" dirty="0">
                <a:ea typeface="MS Mincho" pitchFamily="49" charset="-128"/>
              </a:rPr>
              <a:t> function </a:t>
            </a:r>
            <a:r>
              <a:rPr lang="fr-FR" sz="700" u="sng" dirty="0">
                <a:ea typeface="MS Mincho" pitchFamily="49" charset="-128"/>
              </a:rPr>
              <a:t>fonction</a:t>
            </a:r>
            <a:r>
              <a:rPr lang="fr-FR" sz="700" dirty="0">
                <a:ea typeface="MS Mincho" pitchFamily="49" charset="-128"/>
              </a:rPr>
              <a:t>( </a:t>
            </a:r>
            <a:r>
              <a:rPr lang="fr-FR" sz="700" u="sng" dirty="0">
                <a:ea typeface="MS Mincho" pitchFamily="49" charset="-128"/>
              </a:rPr>
              <a:t>param1</a:t>
            </a:r>
            <a:r>
              <a:rPr lang="fr-FR" sz="700" dirty="0">
                <a:ea typeface="MS Mincho" pitchFamily="49" charset="-128"/>
              </a:rPr>
              <a:t>, </a:t>
            </a:r>
            <a:r>
              <a:rPr lang="fr-FR" sz="700" u="sng" dirty="0">
                <a:ea typeface="MS Mincho" pitchFamily="49" charset="-128"/>
              </a:rPr>
              <a:t>param2</a:t>
            </a:r>
            <a:r>
              <a:rPr lang="fr-FR" sz="700" dirty="0">
                <a:ea typeface="MS Mincho" pitchFamily="49" charset="-128"/>
              </a:rPr>
              <a:t>…){…</a:t>
            </a:r>
            <a:r>
              <a:rPr lang="fr-FR" sz="700" u="sng" dirty="0">
                <a:ea typeface="MS Mincho" pitchFamily="49" charset="-128"/>
              </a:rPr>
              <a:t>code</a:t>
            </a:r>
            <a:r>
              <a:rPr lang="fr-FR" sz="700" dirty="0">
                <a:ea typeface="MS Mincho" pitchFamily="49" charset="-128"/>
              </a:rPr>
              <a:t>…}</a:t>
            </a:r>
            <a:br>
              <a:rPr lang="fr-FR" sz="700" dirty="0">
                <a:ea typeface="MS Mincho" pitchFamily="49" charset="-128"/>
              </a:rPr>
            </a:br>
            <a:r>
              <a:rPr lang="fr-FR" sz="700" u="sng" dirty="0">
                <a:ea typeface="MS Mincho" pitchFamily="49" charset="-128"/>
              </a:rPr>
              <a:t>ex:</a:t>
            </a:r>
            <a:r>
              <a:rPr lang="fr-FR" sz="700" dirty="0">
                <a:ea typeface="MS Mincho" pitchFamily="49" charset="-128"/>
              </a:rPr>
              <a:t> function check( prmStrTxt){ var intPos=prmStrTxt.indexOf("?");…}</a:t>
            </a:r>
          </a:p>
          <a:p>
            <a:endParaRPr lang="fr-FR" sz="700" dirty="0">
              <a:ea typeface="MS Mincho" pitchFamily="49" charset="-128"/>
            </a:endParaRPr>
          </a:p>
          <a:p>
            <a:r>
              <a:rPr lang="fr-FR" sz="700" dirty="0">
                <a:ea typeface="MS Mincho" pitchFamily="49" charset="-128"/>
              </a:rPr>
              <a:t>- La zone entre parenthèses est réservée à la transmission de paramètres (vide si rien) (nb libre par rapport à la définition qui ne sert qu’à nommer les params). </a:t>
            </a:r>
            <a:r>
              <a:rPr lang="fr-FR" sz="700" u="sng" dirty="0">
                <a:ea typeface="MS Mincho" pitchFamily="49" charset="-128"/>
              </a:rPr>
              <a:t>Ex:</a:t>
            </a:r>
            <a:r>
              <a:rPr lang="fr-FR" sz="700" dirty="0">
                <a:ea typeface="MS Mincho" pitchFamily="49" charset="-128"/>
              </a:rPr>
              <a:t> function validForm() { document.f.submit(); }</a:t>
            </a:r>
          </a:p>
          <a:p>
            <a:endParaRPr lang="fr-FR" sz="700" dirty="0">
              <a:ea typeface="MS Mincho" pitchFamily="49" charset="-128"/>
            </a:endParaRPr>
          </a:p>
          <a:p>
            <a:r>
              <a:rPr lang="fr-FR" sz="700" dirty="0">
                <a:ea typeface="MS Mincho" pitchFamily="49" charset="-128"/>
              </a:rPr>
              <a:t>- La valeur de retour est retournée par la fonction « return(</a:t>
            </a:r>
            <a:r>
              <a:rPr lang="fr-FR" sz="700" u="sng" dirty="0">
                <a:ea typeface="MS Mincho" pitchFamily="49" charset="-128"/>
              </a:rPr>
              <a:t>valeur</a:t>
            </a:r>
            <a:r>
              <a:rPr lang="fr-FR" sz="700" dirty="0">
                <a:ea typeface="MS Mincho" pitchFamily="49" charset="-128"/>
              </a:rPr>
              <a:t>); » simplifiée en « return </a:t>
            </a:r>
            <a:r>
              <a:rPr lang="fr-FR" sz="700" u="sng" dirty="0">
                <a:ea typeface="MS Mincho" pitchFamily="49" charset="-128"/>
              </a:rPr>
              <a:t>valeur</a:t>
            </a:r>
            <a:r>
              <a:rPr lang="fr-FR" sz="700" dirty="0">
                <a:ea typeface="MS Mincho" pitchFamily="49" charset="-128"/>
              </a:rPr>
              <a:t>; » pour compatibilité avec les anciens codes.</a:t>
            </a:r>
          </a:p>
          <a:p>
            <a:endParaRPr lang="fr-FR" sz="700" dirty="0"/>
          </a:p>
        </p:txBody>
      </p:sp>
      <p:sp>
        <p:nvSpPr>
          <p:cNvPr id="4" name="Espace réservé du numéro de diapositive 3"/>
          <p:cNvSpPr>
            <a:spLocks noGrp="1"/>
          </p:cNvSpPr>
          <p:nvPr>
            <p:ph type="sldNum" sz="quarter" idx="5"/>
          </p:nvPr>
        </p:nvSpPr>
        <p:spPr/>
        <p:txBody>
          <a:bodyPr/>
          <a:lstStyle/>
          <a:p>
            <a:pPr>
              <a:defRPr/>
            </a:pPr>
            <a:fld id="{40180265-FCF7-4684-96FA-AD47E85E1321}" type="slidenum">
              <a:rPr lang="en-JM" smtClean="0"/>
              <a:pPr>
                <a:defRPr/>
              </a:pPr>
              <a:t>39</a:t>
            </a:fld>
            <a:endParaRPr lang="en-JM" dirty="0"/>
          </a:p>
        </p:txBody>
      </p:sp>
    </p:spTree>
    <p:extLst>
      <p:ext uri="{BB962C8B-B14F-4D97-AF65-F5344CB8AC3E}">
        <p14:creationId xmlns:p14="http://schemas.microsoft.com/office/powerpoint/2010/main" val="15456431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r>
              <a:rPr lang="fr-FR" dirty="0"/>
              <a:t>Préféré les types natifs plutôt que les types objets </a:t>
            </a:r>
          </a:p>
          <a:p>
            <a:r>
              <a:rPr lang="fr-FR" dirty="0"/>
              <a:t>ex</a:t>
            </a:r>
            <a:r>
              <a:rPr lang="fr-FR" baseline="0" dirty="0"/>
              <a:t> </a:t>
            </a:r>
          </a:p>
          <a:p>
            <a:r>
              <a:rPr lang="fr-FR" baseline="0" dirty="0"/>
              <a:t>var str='blabla' plutôt que var str=new String('blabla');</a:t>
            </a:r>
          </a:p>
          <a:p>
            <a:r>
              <a:rPr lang="fr-FR" baseline="0" dirty="0"/>
              <a:t>var arr=[] plutôt que var arr= new Array();</a:t>
            </a:r>
          </a:p>
          <a:p>
            <a:endParaRPr lang="fr-FR" dirty="0"/>
          </a:p>
        </p:txBody>
      </p:sp>
      <p:sp>
        <p:nvSpPr>
          <p:cNvPr id="4" name="Espace réservé du numéro de diapositive 3"/>
          <p:cNvSpPr>
            <a:spLocks noGrp="1"/>
          </p:cNvSpPr>
          <p:nvPr>
            <p:ph type="sldNum" sz="quarter" idx="10"/>
          </p:nvPr>
        </p:nvSpPr>
        <p:spPr/>
        <p:txBody>
          <a:bodyPr/>
          <a:lstStyle/>
          <a:p>
            <a:fld id="{9AF37B03-BCE5-4384-84A0-9FF687F53F37}" type="slidenum">
              <a:rPr lang="fr-FR" smtClean="0"/>
              <a:pPr/>
              <a:t>40</a:t>
            </a:fld>
            <a:endParaRPr lang="fr-FR" dirty="0"/>
          </a:p>
        </p:txBody>
      </p:sp>
    </p:spTree>
    <p:extLst>
      <p:ext uri="{BB962C8B-B14F-4D97-AF65-F5344CB8AC3E}">
        <p14:creationId xmlns:p14="http://schemas.microsoft.com/office/powerpoint/2010/main" val="40106411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41</a:t>
            </a:fld>
            <a:endParaRPr lang="fr-FR" dirty="0"/>
          </a:p>
        </p:txBody>
      </p:sp>
    </p:spTree>
    <p:extLst>
      <p:ext uri="{BB962C8B-B14F-4D97-AF65-F5344CB8AC3E}">
        <p14:creationId xmlns:p14="http://schemas.microsoft.com/office/powerpoint/2010/main" val="42400387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r>
              <a:rPr lang="fr-FR" i="1" baseline="0" dirty="0"/>
              <a:t> </a:t>
            </a:r>
            <a:endParaRPr lang="fr-FR" dirty="0"/>
          </a:p>
        </p:txBody>
      </p:sp>
      <p:sp>
        <p:nvSpPr>
          <p:cNvPr id="4" name="Espace réservé du numéro de diapositive 3"/>
          <p:cNvSpPr>
            <a:spLocks noGrp="1"/>
          </p:cNvSpPr>
          <p:nvPr>
            <p:ph type="sldNum" sz="quarter" idx="10"/>
          </p:nvPr>
        </p:nvSpPr>
        <p:spPr/>
        <p:txBody>
          <a:bodyPr/>
          <a:lstStyle/>
          <a:p>
            <a:fld id="{9AF37B03-BCE5-4384-84A0-9FF687F53F37}" type="slidenum">
              <a:rPr lang="fr-FR" smtClean="0"/>
              <a:pPr/>
              <a:t>42</a:t>
            </a:fld>
            <a:endParaRPr lang="fr-FR" dirty="0"/>
          </a:p>
        </p:txBody>
      </p:sp>
    </p:spTree>
    <p:extLst>
      <p:ext uri="{BB962C8B-B14F-4D97-AF65-F5344CB8AC3E}">
        <p14:creationId xmlns:p14="http://schemas.microsoft.com/office/powerpoint/2010/main" val="227322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43</a:t>
            </a:fld>
            <a:endParaRPr lang="fr-FR" dirty="0"/>
          </a:p>
        </p:txBody>
      </p:sp>
    </p:spTree>
    <p:extLst>
      <p:ext uri="{BB962C8B-B14F-4D97-AF65-F5344CB8AC3E}">
        <p14:creationId xmlns:p14="http://schemas.microsoft.com/office/powerpoint/2010/main" val="31551943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44</a:t>
            </a:fld>
            <a:endParaRPr lang="fr-FR" dirty="0"/>
          </a:p>
        </p:txBody>
      </p:sp>
    </p:spTree>
    <p:extLst>
      <p:ext uri="{BB962C8B-B14F-4D97-AF65-F5344CB8AC3E}">
        <p14:creationId xmlns:p14="http://schemas.microsoft.com/office/powerpoint/2010/main" val="12622082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45</a:t>
            </a:fld>
            <a:endParaRPr lang="fr-FR" dirty="0"/>
          </a:p>
        </p:txBody>
      </p:sp>
    </p:spTree>
    <p:extLst>
      <p:ext uri="{BB962C8B-B14F-4D97-AF65-F5344CB8AC3E}">
        <p14:creationId xmlns:p14="http://schemas.microsoft.com/office/powerpoint/2010/main" val="53195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46</a:t>
            </a:fld>
            <a:endParaRPr lang="fr-FR" dirty="0"/>
          </a:p>
        </p:txBody>
      </p:sp>
    </p:spTree>
    <p:extLst>
      <p:ext uri="{BB962C8B-B14F-4D97-AF65-F5344CB8AC3E}">
        <p14:creationId xmlns:p14="http://schemas.microsoft.com/office/powerpoint/2010/main" val="413435143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r>
              <a:rPr lang="fr-FR" b="1" u="sng" dirty="0"/>
              <a:t>Renomer un import avec as</a:t>
            </a:r>
          </a:p>
          <a:p>
            <a:r>
              <a:rPr lang="fr-FR" dirty="0"/>
              <a:t>Import { exportedVar as myNewVarName } fromm ‘./fichier’</a:t>
            </a:r>
          </a:p>
          <a:p>
            <a:endParaRPr lang="fr-FR" dirty="0"/>
          </a:p>
          <a:p>
            <a:r>
              <a:rPr lang="fr-FR" dirty="0"/>
              <a:t>Il existe d’autres paterns pour la construction de module </a:t>
            </a:r>
          </a:p>
          <a:p>
            <a:r>
              <a:rPr lang="fr-FR" dirty="0"/>
              <a:t>Cest autres moteur sont pris en charge par web pack</a:t>
            </a:r>
          </a:p>
          <a:p>
            <a:r>
              <a:rPr lang="fr-FR" dirty="0"/>
              <a:t>   </a:t>
            </a:r>
          </a:p>
          <a:p>
            <a:endParaRPr lang="fr-FR" dirty="0"/>
          </a:p>
          <a:p>
            <a:r>
              <a:rPr lang="fr-FR" dirty="0"/>
              <a:t> ex: pattern amd et la fonction </a:t>
            </a:r>
            <a:r>
              <a:rPr lang="fr-FR" b="1" dirty="0"/>
              <a:t>require</a:t>
            </a:r>
            <a:r>
              <a:rPr lang="fr-FR" dirty="0"/>
              <a:t>(‘…’);</a:t>
            </a:r>
          </a:p>
          <a:p>
            <a:endParaRPr lang="fr-FR" dirty="0"/>
          </a:p>
        </p:txBody>
      </p:sp>
      <p:sp>
        <p:nvSpPr>
          <p:cNvPr id="4" name="Espace réservé du numéro de diapositive 3"/>
          <p:cNvSpPr>
            <a:spLocks noGrp="1"/>
          </p:cNvSpPr>
          <p:nvPr>
            <p:ph type="sldNum" sz="quarter" idx="5"/>
          </p:nvPr>
        </p:nvSpPr>
        <p:spPr/>
        <p:txBody>
          <a:bodyPr/>
          <a:lstStyle/>
          <a:p>
            <a:fld id="{19C3388D-16FA-4A37-880E-B4CECF014580}" type="slidenum">
              <a:rPr lang="fr-FR" smtClean="0"/>
              <a:t>49</a:t>
            </a:fld>
            <a:endParaRPr lang="fr-FR" dirty="0"/>
          </a:p>
        </p:txBody>
      </p:sp>
    </p:spTree>
    <p:extLst>
      <p:ext uri="{BB962C8B-B14F-4D97-AF65-F5344CB8AC3E}">
        <p14:creationId xmlns:p14="http://schemas.microsoft.com/office/powerpoint/2010/main" val="7217510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50</a:t>
            </a:fld>
            <a:endParaRPr lang="fr-FR" dirty="0"/>
          </a:p>
        </p:txBody>
      </p:sp>
    </p:spTree>
    <p:extLst>
      <p:ext uri="{BB962C8B-B14F-4D97-AF65-F5344CB8AC3E}">
        <p14:creationId xmlns:p14="http://schemas.microsoft.com/office/powerpoint/2010/main" val="42130895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r>
              <a:rPr lang="fr-FR" dirty="0"/>
              <a:t>*le</a:t>
            </a:r>
            <a:r>
              <a:rPr lang="fr-FR" baseline="0" dirty="0"/>
              <a:t> cas </a:t>
            </a:r>
            <a:r>
              <a:rPr lang="fr-FR" b="1" baseline="0" dirty="0"/>
              <a:t>default</a:t>
            </a:r>
            <a:r>
              <a:rPr lang="fr-FR" baseline="0" dirty="0"/>
              <a:t> est une bonne pratique</a:t>
            </a:r>
            <a:endParaRPr lang="fr-FR" dirty="0"/>
          </a:p>
        </p:txBody>
      </p:sp>
      <p:sp>
        <p:nvSpPr>
          <p:cNvPr id="4" name="Espace réservé du numéro de diapositive 3"/>
          <p:cNvSpPr>
            <a:spLocks noGrp="1"/>
          </p:cNvSpPr>
          <p:nvPr>
            <p:ph type="sldNum" sz="quarter" idx="10"/>
          </p:nvPr>
        </p:nvSpPr>
        <p:spPr/>
        <p:txBody>
          <a:bodyPr/>
          <a:lstStyle/>
          <a:p>
            <a:fld id="{9AF37B03-BCE5-4384-84A0-9FF687F53F37}" type="slidenum">
              <a:rPr lang="fr-FR" smtClean="0"/>
              <a:pPr/>
              <a:t>51</a:t>
            </a:fld>
            <a:endParaRPr lang="fr-FR" dirty="0"/>
          </a:p>
        </p:txBody>
      </p:sp>
    </p:spTree>
    <p:extLst>
      <p:ext uri="{BB962C8B-B14F-4D97-AF65-F5344CB8AC3E}">
        <p14:creationId xmlns:p14="http://schemas.microsoft.com/office/powerpoint/2010/main" val="39998631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52</a:t>
            </a:fld>
            <a:endParaRPr lang="fr-FR" dirty="0"/>
          </a:p>
        </p:txBody>
      </p:sp>
    </p:spTree>
    <p:extLst>
      <p:ext uri="{BB962C8B-B14F-4D97-AF65-F5344CB8AC3E}">
        <p14:creationId xmlns:p14="http://schemas.microsoft.com/office/powerpoint/2010/main" val="39121007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53</a:t>
            </a:fld>
            <a:endParaRPr lang="fr-FR" dirty="0"/>
          </a:p>
        </p:txBody>
      </p:sp>
    </p:spTree>
    <p:extLst>
      <p:ext uri="{BB962C8B-B14F-4D97-AF65-F5344CB8AC3E}">
        <p14:creationId xmlns:p14="http://schemas.microsoft.com/office/powerpoint/2010/main" val="22585825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54</a:t>
            </a:fld>
            <a:endParaRPr lang="fr-FR" dirty="0"/>
          </a:p>
        </p:txBody>
      </p:sp>
    </p:spTree>
    <p:extLst>
      <p:ext uri="{BB962C8B-B14F-4D97-AF65-F5344CB8AC3E}">
        <p14:creationId xmlns:p14="http://schemas.microsoft.com/office/powerpoint/2010/main" val="16430345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55</a:t>
            </a:fld>
            <a:endParaRPr lang="fr-FR" dirty="0"/>
          </a:p>
        </p:txBody>
      </p:sp>
    </p:spTree>
    <p:extLst>
      <p:ext uri="{BB962C8B-B14F-4D97-AF65-F5344CB8AC3E}">
        <p14:creationId xmlns:p14="http://schemas.microsoft.com/office/powerpoint/2010/main" val="20238660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56</a:t>
            </a:fld>
            <a:endParaRPr lang="fr-FR" dirty="0"/>
          </a:p>
        </p:txBody>
      </p:sp>
    </p:spTree>
    <p:extLst>
      <p:ext uri="{BB962C8B-B14F-4D97-AF65-F5344CB8AC3E}">
        <p14:creationId xmlns:p14="http://schemas.microsoft.com/office/powerpoint/2010/main" val="195198323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08899"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sz="700" dirty="0"/>
          </a:p>
        </p:txBody>
      </p:sp>
      <p:sp>
        <p:nvSpPr>
          <p:cNvPr id="4" name="Espace réservé du numéro de diapositive 3"/>
          <p:cNvSpPr>
            <a:spLocks noGrp="1"/>
          </p:cNvSpPr>
          <p:nvPr>
            <p:ph type="sldNum" sz="quarter" idx="5"/>
          </p:nvPr>
        </p:nvSpPr>
        <p:spPr/>
        <p:txBody>
          <a:bodyPr/>
          <a:lstStyle/>
          <a:p>
            <a:pPr>
              <a:defRPr/>
            </a:pPr>
            <a:fld id="{F85813BB-EF20-44DE-AAA0-C0AAEC3D6A91}" type="slidenum">
              <a:rPr lang="en-JM" smtClean="0"/>
              <a:pPr>
                <a:defRPr/>
              </a:pPr>
              <a:t>57</a:t>
            </a:fld>
            <a:endParaRPr lang="en-JM" dirty="0"/>
          </a:p>
        </p:txBody>
      </p:sp>
    </p:spTree>
    <p:extLst>
      <p:ext uri="{BB962C8B-B14F-4D97-AF65-F5344CB8AC3E}">
        <p14:creationId xmlns:p14="http://schemas.microsoft.com/office/powerpoint/2010/main" val="22054285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58</a:t>
            </a:fld>
            <a:endParaRPr lang="fr-FR" dirty="0"/>
          </a:p>
        </p:txBody>
      </p:sp>
    </p:spTree>
    <p:extLst>
      <p:ext uri="{BB962C8B-B14F-4D97-AF65-F5344CB8AC3E}">
        <p14:creationId xmlns:p14="http://schemas.microsoft.com/office/powerpoint/2010/main" val="23972609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60</a:t>
            </a:fld>
            <a:endParaRPr lang="fr-FR" dirty="0"/>
          </a:p>
        </p:txBody>
      </p:sp>
    </p:spTree>
    <p:extLst>
      <p:ext uri="{BB962C8B-B14F-4D97-AF65-F5344CB8AC3E}">
        <p14:creationId xmlns:p14="http://schemas.microsoft.com/office/powerpoint/2010/main" val="159861878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09923"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sz="700" dirty="0"/>
          </a:p>
        </p:txBody>
      </p:sp>
      <p:sp>
        <p:nvSpPr>
          <p:cNvPr id="4" name="Espace réservé du numéro de diapositive 3"/>
          <p:cNvSpPr>
            <a:spLocks noGrp="1"/>
          </p:cNvSpPr>
          <p:nvPr>
            <p:ph type="sldNum" sz="quarter" idx="5"/>
          </p:nvPr>
        </p:nvSpPr>
        <p:spPr/>
        <p:txBody>
          <a:bodyPr/>
          <a:lstStyle/>
          <a:p>
            <a:pPr>
              <a:defRPr/>
            </a:pPr>
            <a:fld id="{5D59B843-0C8F-49C6-814E-11E84763162C}" type="slidenum">
              <a:rPr lang="en-JM" smtClean="0"/>
              <a:pPr>
                <a:defRPr/>
              </a:pPr>
              <a:t>61</a:t>
            </a:fld>
            <a:endParaRPr lang="en-JM" dirty="0"/>
          </a:p>
        </p:txBody>
      </p:sp>
    </p:spTree>
    <p:extLst>
      <p:ext uri="{BB962C8B-B14F-4D97-AF65-F5344CB8AC3E}">
        <p14:creationId xmlns:p14="http://schemas.microsoft.com/office/powerpoint/2010/main" val="158812942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10947"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sz="700" dirty="0"/>
          </a:p>
        </p:txBody>
      </p:sp>
      <p:sp>
        <p:nvSpPr>
          <p:cNvPr id="4" name="Espace réservé du numéro de diapositive 3"/>
          <p:cNvSpPr>
            <a:spLocks noGrp="1"/>
          </p:cNvSpPr>
          <p:nvPr>
            <p:ph type="sldNum" sz="quarter" idx="5"/>
          </p:nvPr>
        </p:nvSpPr>
        <p:spPr/>
        <p:txBody>
          <a:bodyPr/>
          <a:lstStyle/>
          <a:p>
            <a:pPr>
              <a:defRPr/>
            </a:pPr>
            <a:fld id="{91BD3008-AADF-4344-AD86-4974D580337B}" type="slidenum">
              <a:rPr lang="en-JM" smtClean="0"/>
              <a:pPr>
                <a:defRPr/>
              </a:pPr>
              <a:t>62</a:t>
            </a:fld>
            <a:endParaRPr lang="en-JM" dirty="0"/>
          </a:p>
        </p:txBody>
      </p:sp>
    </p:spTree>
    <p:extLst>
      <p:ext uri="{BB962C8B-B14F-4D97-AF65-F5344CB8AC3E}">
        <p14:creationId xmlns:p14="http://schemas.microsoft.com/office/powerpoint/2010/main" val="19779524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11971"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sz="700" b="1" dirty="0"/>
              <a:t>this</a:t>
            </a:r>
          </a:p>
          <a:p>
            <a:endParaRPr lang="fr-FR" sz="700" dirty="0">
              <a:ea typeface="MS Mincho" pitchFamily="49" charset="-128"/>
            </a:endParaRPr>
          </a:p>
          <a:p>
            <a:r>
              <a:rPr lang="fr-FR" sz="700" dirty="0">
                <a:ea typeface="MS Mincho" pitchFamily="49" charset="-128"/>
              </a:rPr>
              <a:t>- this est un mot réservé qui fait référence à l’objet courant, c’est à dire : au niveau global, l’objet window courant (frame), dans une fonction (méthode), l’objet associé à la méthode (peut-être window pour les fonctions globales), dans les événements c’est l’objet déclencheur.</a:t>
            </a:r>
          </a:p>
          <a:p>
            <a:endParaRPr lang="fr-FR" sz="700" dirty="0"/>
          </a:p>
          <a:p>
            <a:endParaRPr lang="fr-FR" sz="700" dirty="0"/>
          </a:p>
          <a:p>
            <a:r>
              <a:rPr lang="fr-FR" sz="700" b="1" dirty="0"/>
              <a:t>new et delete</a:t>
            </a:r>
          </a:p>
          <a:p>
            <a:endParaRPr lang="fr-FR" sz="700" dirty="0">
              <a:ea typeface="MS Mincho" pitchFamily="49" charset="-128"/>
            </a:endParaRPr>
          </a:p>
          <a:p>
            <a:r>
              <a:rPr lang="fr-FR" sz="700" dirty="0">
                <a:ea typeface="MS Mincho" pitchFamily="49" charset="-128"/>
              </a:rPr>
              <a:t>- l’opérateur new est un opérateur spécial qui permet de créer (d’allouer) un nouvel espace mémoire pour l’objet.</a:t>
            </a:r>
          </a:p>
          <a:p>
            <a:endParaRPr lang="fr-FR" sz="700" dirty="0">
              <a:ea typeface="MS Mincho" pitchFamily="49" charset="-128"/>
            </a:endParaRPr>
          </a:p>
          <a:p>
            <a:r>
              <a:rPr lang="fr-FR" sz="700" dirty="0">
                <a:ea typeface="MS Mincho" pitchFamily="49" charset="-128"/>
              </a:rPr>
              <a:t>- une chaîne pour laquelle aucun espace mémoire n’est allouée est null</a:t>
            </a:r>
          </a:p>
          <a:p>
            <a:endParaRPr lang="fr-FR" sz="700" dirty="0">
              <a:ea typeface="MS Mincho" pitchFamily="49" charset="-128"/>
            </a:endParaRPr>
          </a:p>
          <a:p>
            <a:r>
              <a:rPr lang="fr-FR" sz="700" dirty="0">
                <a:ea typeface="MS Mincho" pitchFamily="49" charset="-128"/>
              </a:rPr>
              <a:t>- pour dés-allouer la mémoire qui a été réservée, il faut utiliser l’opérateur delete. C’est important si on manipule de grandes quantités de données (ex: Array de grande taille).</a:t>
            </a:r>
            <a:endParaRPr lang="fr-FR" sz="700" dirty="0"/>
          </a:p>
          <a:p>
            <a:endParaRPr lang="fr-FR" sz="700" dirty="0"/>
          </a:p>
        </p:txBody>
      </p:sp>
      <p:sp>
        <p:nvSpPr>
          <p:cNvPr id="4" name="Espace réservé du numéro de diapositive 3"/>
          <p:cNvSpPr>
            <a:spLocks noGrp="1"/>
          </p:cNvSpPr>
          <p:nvPr>
            <p:ph type="sldNum" sz="quarter" idx="5"/>
          </p:nvPr>
        </p:nvSpPr>
        <p:spPr/>
        <p:txBody>
          <a:bodyPr/>
          <a:lstStyle/>
          <a:p>
            <a:pPr>
              <a:defRPr/>
            </a:pPr>
            <a:fld id="{69C8005A-8404-48C2-921E-8873120B20C4}" type="slidenum">
              <a:rPr lang="en-JM" smtClean="0"/>
              <a:pPr>
                <a:defRPr/>
              </a:pPr>
              <a:t>63</a:t>
            </a:fld>
            <a:endParaRPr lang="en-JM" dirty="0"/>
          </a:p>
        </p:txBody>
      </p:sp>
    </p:spTree>
    <p:extLst>
      <p:ext uri="{BB962C8B-B14F-4D97-AF65-F5344CB8AC3E}">
        <p14:creationId xmlns:p14="http://schemas.microsoft.com/office/powerpoint/2010/main" val="23652600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4"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12995"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sz="700" dirty="0"/>
          </a:p>
        </p:txBody>
      </p:sp>
      <p:sp>
        <p:nvSpPr>
          <p:cNvPr id="4" name="Espace réservé du numéro de diapositive 3"/>
          <p:cNvSpPr>
            <a:spLocks noGrp="1"/>
          </p:cNvSpPr>
          <p:nvPr>
            <p:ph type="sldNum" sz="quarter" idx="5"/>
          </p:nvPr>
        </p:nvSpPr>
        <p:spPr/>
        <p:txBody>
          <a:bodyPr/>
          <a:lstStyle/>
          <a:p>
            <a:pPr>
              <a:defRPr/>
            </a:pPr>
            <a:fld id="{AC925617-D48E-4DC3-B872-DC5FE6C0682D}" type="slidenum">
              <a:rPr lang="en-JM" smtClean="0"/>
              <a:pPr>
                <a:defRPr/>
              </a:pPr>
              <a:t>64</a:t>
            </a:fld>
            <a:endParaRPr lang="en-JM" dirty="0"/>
          </a:p>
        </p:txBody>
      </p:sp>
    </p:spTree>
    <p:extLst>
      <p:ext uri="{BB962C8B-B14F-4D97-AF65-F5344CB8AC3E}">
        <p14:creationId xmlns:p14="http://schemas.microsoft.com/office/powerpoint/2010/main" val="33880661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8"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14019"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sz="700" dirty="0"/>
          </a:p>
        </p:txBody>
      </p:sp>
      <p:sp>
        <p:nvSpPr>
          <p:cNvPr id="4" name="Espace réservé du numéro de diapositive 3"/>
          <p:cNvSpPr>
            <a:spLocks noGrp="1"/>
          </p:cNvSpPr>
          <p:nvPr>
            <p:ph type="sldNum" sz="quarter" idx="5"/>
          </p:nvPr>
        </p:nvSpPr>
        <p:spPr/>
        <p:txBody>
          <a:bodyPr/>
          <a:lstStyle/>
          <a:p>
            <a:pPr>
              <a:defRPr/>
            </a:pPr>
            <a:fld id="{39941C91-6CAF-47A9-B9BD-710C44A59B6E}" type="slidenum">
              <a:rPr lang="en-JM" smtClean="0"/>
              <a:pPr>
                <a:defRPr/>
              </a:pPr>
              <a:t>65</a:t>
            </a:fld>
            <a:endParaRPr lang="en-JM" dirty="0"/>
          </a:p>
        </p:txBody>
      </p:sp>
    </p:spTree>
    <p:extLst>
      <p:ext uri="{BB962C8B-B14F-4D97-AF65-F5344CB8AC3E}">
        <p14:creationId xmlns:p14="http://schemas.microsoft.com/office/powerpoint/2010/main" val="32116769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15043"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sz="700" dirty="0"/>
          </a:p>
        </p:txBody>
      </p:sp>
      <p:sp>
        <p:nvSpPr>
          <p:cNvPr id="4" name="Espace réservé du numéro de diapositive 3"/>
          <p:cNvSpPr>
            <a:spLocks noGrp="1"/>
          </p:cNvSpPr>
          <p:nvPr>
            <p:ph type="sldNum" sz="quarter" idx="5"/>
          </p:nvPr>
        </p:nvSpPr>
        <p:spPr/>
        <p:txBody>
          <a:bodyPr/>
          <a:lstStyle/>
          <a:p>
            <a:pPr>
              <a:defRPr/>
            </a:pPr>
            <a:fld id="{0DC6D663-BF20-4F54-B26B-5B911D48934F}" type="slidenum">
              <a:rPr lang="en-JM" smtClean="0"/>
              <a:pPr>
                <a:defRPr/>
              </a:pPr>
              <a:t>66</a:t>
            </a:fld>
            <a:endParaRPr lang="en-JM" dirty="0"/>
          </a:p>
        </p:txBody>
      </p:sp>
    </p:spTree>
    <p:extLst>
      <p:ext uri="{BB962C8B-B14F-4D97-AF65-F5344CB8AC3E}">
        <p14:creationId xmlns:p14="http://schemas.microsoft.com/office/powerpoint/2010/main" val="197183533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6"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16067"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sz="700" b="1" dirty="0"/>
              <a:t>Fonctions/Classes globales (native ou built-in)</a:t>
            </a:r>
          </a:p>
          <a:p>
            <a:endParaRPr lang="fr-FR" sz="700" dirty="0">
              <a:ea typeface="MS Mincho" pitchFamily="49" charset="-128"/>
            </a:endParaRPr>
          </a:p>
          <a:p>
            <a:r>
              <a:rPr lang="fr-FR" sz="700" dirty="0">
                <a:ea typeface="MS Mincho" pitchFamily="49" charset="-128"/>
              </a:rPr>
              <a:t>- Certains objets, classes et fonctions sont built-in, c’est à dire intégrées nativement à JS. C’est le cas de Boolean, Number, String, undefined…</a:t>
            </a:r>
            <a:br>
              <a:rPr lang="fr-FR" sz="700" dirty="0">
                <a:ea typeface="MS Mincho" pitchFamily="49" charset="-128"/>
              </a:rPr>
            </a:br>
            <a:r>
              <a:rPr lang="fr-FR" sz="700" dirty="0">
                <a:ea typeface="MS Mincho" pitchFamily="49" charset="-128"/>
              </a:rPr>
              <a:t>Les fonctions built-in sont accessibles partout et n’ont pas de propriétaire.</a:t>
            </a:r>
          </a:p>
          <a:p>
            <a:endParaRPr lang="fr-FR" sz="700" dirty="0">
              <a:ea typeface="MS Mincho" pitchFamily="49" charset="-128"/>
            </a:endParaRPr>
          </a:p>
          <a:p>
            <a:r>
              <a:rPr lang="fr-FR" sz="700" dirty="0">
                <a:ea typeface="MS Mincho" pitchFamily="49" charset="-128"/>
              </a:rPr>
              <a:t>- Les fonctions </a:t>
            </a:r>
            <a:r>
              <a:rPr lang="fr-FR" sz="700" dirty="0" err="1">
                <a:ea typeface="MS Mincho" pitchFamily="49" charset="-128"/>
              </a:rPr>
              <a:t>parseInt</a:t>
            </a:r>
            <a:r>
              <a:rPr lang="fr-FR" sz="700" dirty="0">
                <a:ea typeface="MS Mincho" pitchFamily="49" charset="-128"/>
              </a:rPr>
              <a:t> et </a:t>
            </a:r>
            <a:r>
              <a:rPr lang="fr-FR" sz="700" dirty="0" err="1">
                <a:ea typeface="MS Mincho" pitchFamily="49" charset="-128"/>
              </a:rPr>
              <a:t>parseFloat</a:t>
            </a:r>
            <a:r>
              <a:rPr lang="fr-FR" sz="700" dirty="0">
                <a:ea typeface="MS Mincho" pitchFamily="49" charset="-128"/>
              </a:rPr>
              <a:t> sont Built-in. « </a:t>
            </a:r>
            <a:r>
              <a:rPr lang="fr-FR" sz="700" dirty="0" err="1">
                <a:ea typeface="MS Mincho" pitchFamily="49" charset="-128"/>
              </a:rPr>
              <a:t>parseInt</a:t>
            </a:r>
            <a:r>
              <a:rPr lang="fr-FR" sz="700" dirty="0">
                <a:ea typeface="MS Mincho" pitchFamily="49" charset="-128"/>
              </a:rPr>
              <a:t> » renvoie un entier sur la base d’une chaîne (interprétée) et d’une base mathématique (ex: base 10 ou base 16). </a:t>
            </a:r>
            <a:r>
              <a:rPr lang="fr-FR" sz="700" u="sng" dirty="0">
                <a:ea typeface="MS Mincho" pitchFamily="49" charset="-128"/>
              </a:rPr>
              <a:t>Ex:</a:t>
            </a:r>
            <a:r>
              <a:rPr lang="fr-FR" sz="700" dirty="0">
                <a:ea typeface="MS Mincho" pitchFamily="49" charset="-128"/>
              </a:rPr>
              <a:t> « </a:t>
            </a:r>
            <a:r>
              <a:rPr lang="fr-FR" sz="700" dirty="0" err="1">
                <a:ea typeface="MS Mincho" pitchFamily="49" charset="-128"/>
              </a:rPr>
              <a:t>parseInt</a:t>
            </a:r>
            <a:r>
              <a:rPr lang="fr-FR" sz="700" dirty="0">
                <a:ea typeface="MS Mincho" pitchFamily="49" charset="-128"/>
              </a:rPr>
              <a:t>('152.25', 10); » renvoie « 152 » et  « </a:t>
            </a:r>
            <a:r>
              <a:rPr lang="fr-FR" sz="700" dirty="0" err="1">
                <a:ea typeface="MS Mincho" pitchFamily="49" charset="-128"/>
              </a:rPr>
              <a:t>parseInt</a:t>
            </a:r>
            <a:r>
              <a:rPr lang="fr-FR" sz="700" dirty="0">
                <a:ea typeface="MS Mincho" pitchFamily="49" charset="-128"/>
              </a:rPr>
              <a:t>( '0xA1'); » renvoie « 161 ».</a:t>
            </a:r>
          </a:p>
          <a:p>
            <a:endParaRPr lang="fr-FR" sz="700" dirty="0">
              <a:ea typeface="MS Mincho" pitchFamily="49" charset="-128"/>
            </a:endParaRPr>
          </a:p>
          <a:p>
            <a:r>
              <a:rPr lang="fr-FR" sz="700" u="sng" dirty="0">
                <a:ea typeface="MS Mincho" pitchFamily="49" charset="-128"/>
              </a:rPr>
              <a:t>Remarques:</a:t>
            </a:r>
            <a:r>
              <a:rPr lang="fr-FR" sz="700" dirty="0">
                <a:ea typeface="MS Mincho" pitchFamily="49" charset="-128"/>
              </a:rPr>
              <a:t> les chaînes commençant par « 0x » sont interprétées en base 16 par défaut, celles commençant par 0 comme de l’octal (d’où certains déboires parfois avec les dates), les autres en base 10.</a:t>
            </a:r>
          </a:p>
          <a:p>
            <a:endParaRPr lang="fr-FR" sz="700" dirty="0"/>
          </a:p>
        </p:txBody>
      </p:sp>
      <p:sp>
        <p:nvSpPr>
          <p:cNvPr id="4" name="Espace réservé du numéro de diapositive 3"/>
          <p:cNvSpPr>
            <a:spLocks noGrp="1"/>
          </p:cNvSpPr>
          <p:nvPr>
            <p:ph type="sldNum" sz="quarter" idx="5"/>
          </p:nvPr>
        </p:nvSpPr>
        <p:spPr/>
        <p:txBody>
          <a:bodyPr/>
          <a:lstStyle/>
          <a:p>
            <a:pPr>
              <a:defRPr/>
            </a:pPr>
            <a:fld id="{3B088763-03A4-40AF-A80F-62BBB32C11D0}" type="slidenum">
              <a:rPr lang="en-JM" smtClean="0"/>
              <a:pPr>
                <a:defRPr/>
              </a:pPr>
              <a:t>68</a:t>
            </a:fld>
            <a:endParaRPr lang="en-JM" dirty="0"/>
          </a:p>
        </p:txBody>
      </p:sp>
    </p:spTree>
    <p:extLst>
      <p:ext uri="{BB962C8B-B14F-4D97-AF65-F5344CB8AC3E}">
        <p14:creationId xmlns:p14="http://schemas.microsoft.com/office/powerpoint/2010/main" val="38823435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17091"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sz="700" dirty="0"/>
          </a:p>
        </p:txBody>
      </p:sp>
      <p:sp>
        <p:nvSpPr>
          <p:cNvPr id="4" name="Espace réservé du numéro de diapositive 3"/>
          <p:cNvSpPr>
            <a:spLocks noGrp="1"/>
          </p:cNvSpPr>
          <p:nvPr>
            <p:ph type="sldNum" sz="quarter" idx="5"/>
          </p:nvPr>
        </p:nvSpPr>
        <p:spPr/>
        <p:txBody>
          <a:bodyPr/>
          <a:lstStyle/>
          <a:p>
            <a:pPr>
              <a:defRPr/>
            </a:pPr>
            <a:fld id="{DEE71791-C2CE-42EE-8970-AF5E49097AFB}" type="slidenum">
              <a:rPr lang="en-JM" smtClean="0"/>
              <a:pPr>
                <a:defRPr/>
              </a:pPr>
              <a:t>69</a:t>
            </a:fld>
            <a:endParaRPr lang="en-JM" dirty="0"/>
          </a:p>
        </p:txBody>
      </p:sp>
    </p:spTree>
    <p:extLst>
      <p:ext uri="{BB962C8B-B14F-4D97-AF65-F5344CB8AC3E}">
        <p14:creationId xmlns:p14="http://schemas.microsoft.com/office/powerpoint/2010/main" val="34932990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4"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125955" name="Espace réservé des commentaires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a:defRPr/>
            </a:pPr>
            <a:r>
              <a:rPr lang="fr-FR" sz="700" b="1" dirty="0">
                <a:ea typeface="MS Mincho" pitchFamily="49" charset="-128"/>
              </a:rPr>
              <a:t>PRECISIONS</a:t>
            </a:r>
          </a:p>
          <a:p>
            <a:pPr>
              <a:defRPr/>
            </a:pPr>
            <a:endParaRPr lang="fr-FR" sz="700" dirty="0">
              <a:ea typeface="MS Mincho" pitchFamily="49" charset="-128"/>
            </a:endParaRPr>
          </a:p>
          <a:p>
            <a:pPr>
              <a:defRPr/>
            </a:pPr>
            <a:r>
              <a:rPr lang="fr-FR" sz="700" dirty="0">
                <a:ea typeface="MS Mincho" pitchFamily="49" charset="-128"/>
              </a:rPr>
              <a:t>- L’objet screen correspond à l’écran de l’internaute, on peut par exemple récupérer screen.width, screen.height pour connaître sa résolution</a:t>
            </a:r>
          </a:p>
          <a:p>
            <a:pPr>
              <a:defRPr/>
            </a:pPr>
            <a:endParaRPr lang="fr-FR" sz="700" dirty="0">
              <a:ea typeface="MS Mincho" pitchFamily="49" charset="-128"/>
            </a:endParaRPr>
          </a:p>
          <a:p>
            <a:pPr>
              <a:defRPr/>
            </a:pPr>
            <a:r>
              <a:rPr lang="fr-FR" sz="700" dirty="0">
                <a:ea typeface="MS Mincho" pitchFamily="49" charset="-128"/>
              </a:rPr>
              <a:t>- L’objet navigator correspond au navigateur de l’internaute (MSIE, MFF), on peut récupérer des informations de paramétrage afin de personnaliser (si besoin) le code. </a:t>
            </a:r>
            <a:r>
              <a:rPr lang="fr-FR" sz="700" u="sng" dirty="0">
                <a:ea typeface="MS Mincho" pitchFamily="49" charset="-128"/>
              </a:rPr>
              <a:t>Ex:</a:t>
            </a:r>
            <a:br>
              <a:rPr lang="fr-FR" sz="700" dirty="0">
                <a:ea typeface="MS Mincho" pitchFamily="49" charset="-128"/>
              </a:rPr>
            </a:br>
            <a:r>
              <a:rPr lang="fr-FR" sz="700" dirty="0">
                <a:ea typeface="MS Mincho" pitchFamily="49" charset="-128"/>
              </a:rPr>
              <a:t>« navigator.javaEnabled(); » permet de savoir s’il y a une JVM</a:t>
            </a:r>
            <a:br>
              <a:rPr lang="fr-FR" sz="700" dirty="0">
                <a:ea typeface="MS Mincho" pitchFamily="49" charset="-128"/>
              </a:rPr>
            </a:br>
            <a:r>
              <a:rPr lang="fr-FR" sz="700" dirty="0">
                <a:ea typeface="MS Mincho" pitchFamily="49" charset="-128"/>
              </a:rPr>
              <a:t>« navigator.appName.indexOf("Netscape"); » pour ce type de navigateur</a:t>
            </a:r>
          </a:p>
          <a:p>
            <a:pPr>
              <a:defRPr/>
            </a:pPr>
            <a:endParaRPr lang="fr-FR" sz="700" dirty="0">
              <a:ea typeface="MS Mincho" pitchFamily="49" charset="-128"/>
            </a:endParaRPr>
          </a:p>
          <a:p>
            <a:pPr marL="158247" indent="-158247">
              <a:buFontTx/>
              <a:buChar char="-"/>
              <a:defRPr/>
            </a:pPr>
            <a:r>
              <a:rPr lang="fr-FR" sz="700" dirty="0">
                <a:ea typeface="MS Mincho" pitchFamily="49" charset="-128"/>
              </a:rPr>
              <a:t>L’objet window correspond à la fenêtre courante (frame si frameset), on peut par exemple récupérer l’URL (pratique pour la méthode GET),</a:t>
            </a:r>
            <a:br>
              <a:rPr lang="fr-FR" sz="700" dirty="0">
                <a:ea typeface="MS Mincho" pitchFamily="49" charset="-128"/>
              </a:rPr>
            </a:br>
            <a:r>
              <a:rPr lang="fr-FR" sz="700" u="sng" dirty="0">
                <a:ea typeface="MS Mincho" pitchFamily="49" charset="-128"/>
              </a:rPr>
              <a:t>ex:</a:t>
            </a:r>
            <a:r>
              <a:rPr lang="fr-FR" sz="700" dirty="0">
                <a:ea typeface="MS Mincho" pitchFamily="49" charset="-128"/>
              </a:rPr>
              <a:t> « window.location » et « window.location.search »</a:t>
            </a:r>
            <a:br>
              <a:rPr lang="fr-FR" sz="700" dirty="0">
                <a:ea typeface="MS Mincho" pitchFamily="49" charset="-128"/>
              </a:rPr>
            </a:br>
            <a:r>
              <a:rPr lang="fr-FR" sz="700" dirty="0">
                <a:ea typeface="MS Mincho" pitchFamily="49" charset="-128"/>
              </a:rPr>
              <a:t>[window.]alert('</a:t>
            </a:r>
            <a:r>
              <a:rPr lang="fr-FR" sz="700" u="sng" dirty="0">
                <a:ea typeface="MS Mincho" pitchFamily="49" charset="-128"/>
              </a:rPr>
              <a:t>message</a:t>
            </a:r>
            <a:r>
              <a:rPr lang="fr-FR" sz="700" dirty="0">
                <a:ea typeface="MS Mincho" pitchFamily="49" charset="-128"/>
              </a:rPr>
              <a:t>'); pour afficher un message dans une dialogbox</a:t>
            </a:r>
            <a:br>
              <a:rPr lang="fr-FR" sz="700" dirty="0">
                <a:ea typeface="MS Mincho" pitchFamily="49" charset="-128"/>
              </a:rPr>
            </a:br>
            <a:r>
              <a:rPr lang="fr-FR" sz="700" dirty="0">
                <a:ea typeface="MS Mincho" pitchFamily="49" charset="-128"/>
              </a:rPr>
              <a:t>[window.]history[.go(-1)]; pour revenir 1 action en arrière</a:t>
            </a:r>
            <a:br>
              <a:rPr lang="fr-FR" sz="700" dirty="0">
                <a:ea typeface="MS Mincho" pitchFamily="49" charset="-128"/>
              </a:rPr>
            </a:br>
            <a:r>
              <a:rPr lang="fr-FR" sz="700" dirty="0">
                <a:ea typeface="MS Mincho" pitchFamily="49" charset="-128"/>
              </a:rPr>
              <a:t>[window.]close(); pour fermer la fenêtre courante</a:t>
            </a:r>
            <a:br>
              <a:rPr lang="fr-FR" sz="700" dirty="0">
                <a:ea typeface="MS Mincho" pitchFamily="49" charset="-128"/>
              </a:rPr>
            </a:br>
            <a:r>
              <a:rPr lang="fr-FR" sz="700" dirty="0">
                <a:ea typeface="MS Mincho" pitchFamily="49" charset="-128"/>
              </a:rPr>
              <a:t>window.open(</a:t>
            </a:r>
            <a:r>
              <a:rPr lang="fr-FR" sz="700" u="sng" dirty="0">
                <a:ea typeface="MS Mincho" pitchFamily="49" charset="-128"/>
              </a:rPr>
              <a:t>URL</a:t>
            </a:r>
            <a:r>
              <a:rPr lang="fr-FR" sz="700" dirty="0">
                <a:ea typeface="MS Mincho" pitchFamily="49" charset="-128"/>
              </a:rPr>
              <a:t>,</a:t>
            </a:r>
            <a:r>
              <a:rPr lang="fr-FR" sz="700" u="sng" dirty="0">
                <a:ea typeface="MS Mincho" pitchFamily="49" charset="-128"/>
              </a:rPr>
              <a:t>nom_frame</a:t>
            </a:r>
            <a:r>
              <a:rPr lang="fr-FR" sz="700" dirty="0">
                <a:ea typeface="MS Mincho" pitchFamily="49" charset="-128"/>
              </a:rPr>
              <a:t>,</a:t>
            </a:r>
            <a:r>
              <a:rPr lang="fr-FR" sz="700" u="sng" dirty="0">
                <a:ea typeface="MS Mincho" pitchFamily="49" charset="-128"/>
              </a:rPr>
              <a:t>params_frame</a:t>
            </a:r>
            <a:r>
              <a:rPr lang="fr-FR" sz="700" dirty="0">
                <a:ea typeface="MS Mincho" pitchFamily="49" charset="-128"/>
              </a:rPr>
              <a:t>) (précis &amp; sans espaces)</a:t>
            </a:r>
          </a:p>
          <a:p>
            <a:pPr marL="158247" indent="-158247">
              <a:buFontTx/>
              <a:buChar char="-"/>
              <a:defRPr/>
            </a:pPr>
            <a:endParaRPr lang="fr-FR" sz="700" dirty="0">
              <a:ea typeface="MS Mincho" pitchFamily="49" charset="-128"/>
            </a:endParaRPr>
          </a:p>
          <a:p>
            <a:pPr>
              <a:defRPr/>
            </a:pPr>
            <a:r>
              <a:rPr lang="fr-FR" sz="700" b="1" dirty="0"/>
              <a:t>document</a:t>
            </a:r>
          </a:p>
          <a:p>
            <a:pPr>
              <a:defRPr/>
            </a:pPr>
            <a:endParaRPr lang="fr-FR" sz="700" dirty="0">
              <a:ea typeface="MS Mincho" pitchFamily="49" charset="-128"/>
            </a:endParaRPr>
          </a:p>
          <a:p>
            <a:pPr>
              <a:defRPr/>
            </a:pPr>
            <a:r>
              <a:rPr lang="fr-FR" sz="700" dirty="0">
                <a:ea typeface="MS Mincho" pitchFamily="49" charset="-128"/>
              </a:rPr>
              <a:t>- L’objet document correspond à la page chargée, on peut utiliser : </a:t>
            </a:r>
            <a:br>
              <a:rPr lang="fr-FR" sz="700" dirty="0">
                <a:ea typeface="MS Mincho" pitchFamily="49" charset="-128"/>
              </a:rPr>
            </a:br>
            <a:r>
              <a:rPr lang="fr-FR" sz="700" dirty="0">
                <a:ea typeface="MS Mincho" pitchFamily="49" charset="-128"/>
              </a:rPr>
              <a:t>document.write('</a:t>
            </a:r>
            <a:r>
              <a:rPr lang="fr-FR" sz="700" u="sng" dirty="0">
                <a:ea typeface="MS Mincho" pitchFamily="49" charset="-128"/>
              </a:rPr>
              <a:t>texte à écrire</a:t>
            </a:r>
            <a:r>
              <a:rPr lang="fr-FR" sz="700" dirty="0">
                <a:ea typeface="MS Mincho" pitchFamily="49" charset="-128"/>
              </a:rPr>
              <a:t>') pour écrire dans la page</a:t>
            </a:r>
            <a:br>
              <a:rPr lang="fr-FR" sz="700" dirty="0">
                <a:ea typeface="MS Mincho" pitchFamily="49" charset="-128"/>
              </a:rPr>
            </a:br>
            <a:r>
              <a:rPr lang="fr-FR" sz="700" dirty="0">
                <a:ea typeface="MS Mincho" pitchFamily="49" charset="-128"/>
              </a:rPr>
              <a:t>document.body.clientWidth (ou Height) pour savoir la taille intérieure de page </a:t>
            </a:r>
            <a:br>
              <a:rPr lang="fr-FR" sz="700" dirty="0">
                <a:ea typeface="MS Mincho" pitchFamily="49" charset="-128"/>
              </a:rPr>
            </a:br>
            <a:r>
              <a:rPr lang="fr-FR" sz="700" dirty="0">
                <a:ea typeface="MS Mincho" pitchFamily="49" charset="-128"/>
              </a:rPr>
              <a:t>document.forms[0], document.layers['lyr1'] pour accéder aux objets (DOM0)</a:t>
            </a:r>
          </a:p>
          <a:p>
            <a:pPr>
              <a:defRPr/>
            </a:pPr>
            <a:endParaRPr lang="fr-FR" sz="700" dirty="0">
              <a:ea typeface="MS Mincho" pitchFamily="49" charset="-128"/>
            </a:endParaRPr>
          </a:p>
          <a:p>
            <a:pPr>
              <a:defRPr/>
            </a:pPr>
            <a:r>
              <a:rPr lang="fr-FR" sz="700" dirty="0">
                <a:ea typeface="MS Mincho" pitchFamily="49" charset="-128"/>
              </a:rPr>
              <a:t>- Par exemple, avec un script simple on peut procéder à des permutations d’images. « documents. images[0].src = ».</a:t>
            </a:r>
          </a:p>
          <a:p>
            <a:pPr>
              <a:defRPr/>
            </a:pPr>
            <a:endParaRPr lang="fr-FR" sz="700" dirty="0"/>
          </a:p>
          <a:p>
            <a:pPr>
              <a:defRPr/>
            </a:pPr>
            <a:endParaRPr lang="fr-FR" sz="700" dirty="0"/>
          </a:p>
          <a:p>
            <a:pPr>
              <a:defRPr/>
            </a:pPr>
            <a:r>
              <a:rPr lang="fr-FR" sz="700" b="1" dirty="0"/>
              <a:t>e-mails (« mailto » pas js mais assimilée)</a:t>
            </a:r>
          </a:p>
          <a:p>
            <a:pPr>
              <a:defRPr/>
            </a:pPr>
            <a:endParaRPr lang="fr-FR" sz="700" dirty="0">
              <a:ea typeface="MS Mincho" pitchFamily="49" charset="-128"/>
            </a:endParaRPr>
          </a:p>
          <a:p>
            <a:pPr>
              <a:defRPr/>
            </a:pPr>
            <a:r>
              <a:rPr lang="fr-FR" sz="700" dirty="0">
                <a:ea typeface="MS Mincho" pitchFamily="49" charset="-128"/>
              </a:rPr>
              <a:t>- La commande mailto est une commande HTML souvent assimilée à du JS, elle permet d’ouvrir l’outil d’envoi d’e-mails (MS OE, Mozilla Thunder Bird…) de l’internaute en lui transmettant des paramètres (sujet, adresse e-mail du destinataire, texte par défaut …). On la met dans un lien.</a:t>
            </a:r>
          </a:p>
          <a:p>
            <a:pPr>
              <a:defRPr/>
            </a:pPr>
            <a:endParaRPr lang="fr-FR" sz="700" dirty="0">
              <a:ea typeface="MS Mincho" pitchFamily="49" charset="-128"/>
            </a:endParaRPr>
          </a:p>
          <a:p>
            <a:pPr>
              <a:defRPr/>
            </a:pPr>
            <a:r>
              <a:rPr lang="fr-FR" sz="700" dirty="0">
                <a:ea typeface="MS Mincho" pitchFamily="49" charset="-128"/>
              </a:rPr>
              <a:t>- ex: « mailto:info@web.com?subject=Sujet%20du%20courrier&amp;body=… »</a:t>
            </a:r>
            <a:endParaRPr lang="fr-FR" sz="700" dirty="0"/>
          </a:p>
          <a:p>
            <a:pPr marL="158247" indent="-158247">
              <a:buFontTx/>
              <a:buChar char="-"/>
              <a:defRPr/>
            </a:pPr>
            <a:endParaRPr lang="fr-FR" sz="700" dirty="0"/>
          </a:p>
          <a:p>
            <a:pPr>
              <a:defRPr/>
            </a:pPr>
            <a:endParaRPr lang="fr-FR" sz="700" dirty="0"/>
          </a:p>
        </p:txBody>
      </p:sp>
      <p:sp>
        <p:nvSpPr>
          <p:cNvPr id="4" name="Espace réservé du numéro de diapositive 3"/>
          <p:cNvSpPr>
            <a:spLocks noGrp="1"/>
          </p:cNvSpPr>
          <p:nvPr>
            <p:ph type="sldNum" sz="quarter" idx="5"/>
          </p:nvPr>
        </p:nvSpPr>
        <p:spPr/>
        <p:txBody>
          <a:bodyPr/>
          <a:lstStyle/>
          <a:p>
            <a:pPr>
              <a:defRPr/>
            </a:pPr>
            <a:fld id="{34BE107D-9076-4888-AE3E-B67E55D5F0F1}" type="slidenum">
              <a:rPr lang="en-JM" smtClean="0"/>
              <a:pPr>
                <a:defRPr/>
              </a:pPr>
              <a:t>70</a:t>
            </a:fld>
            <a:endParaRPr lang="en-JM" dirty="0"/>
          </a:p>
        </p:txBody>
      </p:sp>
    </p:spTree>
    <p:extLst>
      <p:ext uri="{BB962C8B-B14F-4D97-AF65-F5344CB8AC3E}">
        <p14:creationId xmlns:p14="http://schemas.microsoft.com/office/powerpoint/2010/main" val="106216534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Rot="1" noChangeAspect="1" noChangeArrowheads="1" noTextEdit="1"/>
          </p:cNvSpPr>
          <p:nvPr>
            <p:ph type="sldImg"/>
          </p:nvPr>
        </p:nvSpPr>
        <p:spPr>
          <a:ln/>
        </p:spPr>
        <p:txBody>
          <a:bodyPr/>
          <a:lstStyle/>
          <a:p>
            <a:endParaRPr lang="fr-FR" dirty="0"/>
          </a:p>
        </p:txBody>
      </p:sp>
      <p:sp>
        <p:nvSpPr>
          <p:cNvPr id="162819" name="Rectangle 3"/>
          <p:cNvSpPr>
            <a:spLocks noGrp="1" noChangeArrowheads="1"/>
          </p:cNvSpPr>
          <p:nvPr>
            <p:ph type="body" idx="1"/>
          </p:nvPr>
        </p:nvSpPr>
        <p:spPr>
          <a:noFill/>
        </p:spPr>
        <p:txBody>
          <a:bodyPr/>
          <a:lstStyle/>
          <a:p>
            <a:pPr eaLnBrk="1" hangingPunct="1"/>
            <a:endParaRPr lang="en-US" altLang="fr-FR" dirty="0"/>
          </a:p>
        </p:txBody>
      </p:sp>
    </p:spTree>
    <p:extLst>
      <p:ext uri="{BB962C8B-B14F-4D97-AF65-F5344CB8AC3E}">
        <p14:creationId xmlns:p14="http://schemas.microsoft.com/office/powerpoint/2010/main" val="70841326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Rot="1" noChangeAspect="1" noChangeArrowheads="1" noTextEdit="1"/>
          </p:cNvSpPr>
          <p:nvPr>
            <p:ph type="sldImg"/>
          </p:nvPr>
        </p:nvSpPr>
        <p:spPr>
          <a:ln/>
        </p:spPr>
        <p:txBody>
          <a:bodyPr/>
          <a:lstStyle/>
          <a:p>
            <a:endParaRPr lang="fr-FR" dirty="0"/>
          </a:p>
        </p:txBody>
      </p:sp>
      <p:sp>
        <p:nvSpPr>
          <p:cNvPr id="162819" name="Rectangle 3"/>
          <p:cNvSpPr>
            <a:spLocks noGrp="1" noChangeArrowheads="1"/>
          </p:cNvSpPr>
          <p:nvPr>
            <p:ph type="body" idx="1"/>
          </p:nvPr>
        </p:nvSpPr>
        <p:spPr>
          <a:noFill/>
        </p:spPr>
        <p:txBody>
          <a:bodyPr/>
          <a:lstStyle/>
          <a:p>
            <a:pPr eaLnBrk="1" hangingPunct="1"/>
            <a:endParaRPr lang="en-US" altLang="fr-FR" dirty="0"/>
          </a:p>
        </p:txBody>
      </p:sp>
    </p:spTree>
    <p:extLst>
      <p:ext uri="{BB962C8B-B14F-4D97-AF65-F5344CB8AC3E}">
        <p14:creationId xmlns:p14="http://schemas.microsoft.com/office/powerpoint/2010/main" val="65481877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Rot="1" noChangeAspect="1" noChangeArrowheads="1" noTextEdit="1"/>
          </p:cNvSpPr>
          <p:nvPr>
            <p:ph type="sldImg"/>
          </p:nvPr>
        </p:nvSpPr>
        <p:spPr>
          <a:ln/>
        </p:spPr>
        <p:txBody>
          <a:bodyPr/>
          <a:lstStyle/>
          <a:p>
            <a:endParaRPr lang="fr-FR" dirty="0"/>
          </a:p>
        </p:txBody>
      </p:sp>
      <p:sp>
        <p:nvSpPr>
          <p:cNvPr id="162819" name="Rectangle 3"/>
          <p:cNvSpPr>
            <a:spLocks noGrp="1" noChangeArrowheads="1"/>
          </p:cNvSpPr>
          <p:nvPr>
            <p:ph type="body" idx="1"/>
          </p:nvPr>
        </p:nvSpPr>
        <p:spPr>
          <a:noFill/>
        </p:spPr>
        <p:txBody>
          <a:bodyPr/>
          <a:lstStyle/>
          <a:p>
            <a:pPr eaLnBrk="1" hangingPunct="1"/>
            <a:endParaRPr lang="en-US" altLang="fr-FR" dirty="0"/>
          </a:p>
        </p:txBody>
      </p:sp>
    </p:spTree>
    <p:extLst>
      <p:ext uri="{BB962C8B-B14F-4D97-AF65-F5344CB8AC3E}">
        <p14:creationId xmlns:p14="http://schemas.microsoft.com/office/powerpoint/2010/main" val="38448297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841FF0CF-58DC-4AF6-B40E-4A314742B146}" type="slidenum">
              <a:rPr lang="fr-FR" smtClean="0"/>
              <a:pPr/>
              <a:t>74</a:t>
            </a:fld>
            <a:endParaRPr lang="fr-FR" dirty="0"/>
          </a:p>
        </p:txBody>
      </p:sp>
    </p:spTree>
    <p:extLst>
      <p:ext uri="{BB962C8B-B14F-4D97-AF65-F5344CB8AC3E}">
        <p14:creationId xmlns:p14="http://schemas.microsoft.com/office/powerpoint/2010/main" val="239660642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841FF0CF-58DC-4AF6-B40E-4A314742B146}" type="slidenum">
              <a:rPr lang="fr-FR" smtClean="0"/>
              <a:pPr/>
              <a:t>75</a:t>
            </a:fld>
            <a:endParaRPr lang="fr-FR" dirty="0"/>
          </a:p>
        </p:txBody>
      </p:sp>
    </p:spTree>
    <p:extLst>
      <p:ext uri="{BB962C8B-B14F-4D97-AF65-F5344CB8AC3E}">
        <p14:creationId xmlns:p14="http://schemas.microsoft.com/office/powerpoint/2010/main" val="31888325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84</a:t>
            </a:fld>
            <a:endParaRPr lang="fr-FR" dirty="0"/>
          </a:p>
        </p:txBody>
      </p:sp>
    </p:spTree>
    <p:extLst>
      <p:ext uri="{BB962C8B-B14F-4D97-AF65-F5344CB8AC3E}">
        <p14:creationId xmlns:p14="http://schemas.microsoft.com/office/powerpoint/2010/main" val="39337012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2" name="Rectangle 2"/>
          <p:cNvSpPr>
            <a:spLocks noGrp="1" noRot="1" noChangeAspect="1" noChangeArrowheads="1" noTextEdit="1"/>
          </p:cNvSpPr>
          <p:nvPr>
            <p:ph type="sldImg"/>
          </p:nvPr>
        </p:nvSpPr>
        <p:spPr>
          <a:ln/>
        </p:spPr>
        <p:txBody>
          <a:bodyPr/>
          <a:lstStyle/>
          <a:p>
            <a:endParaRPr lang="fr-FR" dirty="0"/>
          </a:p>
        </p:txBody>
      </p:sp>
      <p:sp>
        <p:nvSpPr>
          <p:cNvPr id="394243" name="Rectangle 3"/>
          <p:cNvSpPr>
            <a:spLocks noGrp="1" noChangeArrowheads="1"/>
          </p:cNvSpPr>
          <p:nvPr>
            <p:ph type="body" idx="1"/>
          </p:nvPr>
        </p:nvSpPr>
        <p:spPr>
          <a:noFill/>
        </p:spPr>
        <p:txBody>
          <a:bodyPr/>
          <a:lstStyle/>
          <a:p>
            <a:pPr eaLnBrk="1" hangingPunct="1"/>
            <a:r>
              <a:rPr lang="fr-FR" sz="1050" b="1" dirty="0"/>
              <a:t>Élément :</a:t>
            </a:r>
            <a:r>
              <a:rPr lang="fr-FR" sz="1050" dirty="0"/>
              <a:t> un élément correspond à une balise (X)HTML telle qu'on la trouvera dans la structure du document, notée sans &lt;&gt; (h1, p, a). On peut ainsi définir des instructions CSS pour des éléments et façonner un document de base. </a:t>
            </a:r>
          </a:p>
          <a:p>
            <a:pPr eaLnBrk="1" hangingPunct="1"/>
            <a:endParaRPr lang="fr-FR" sz="1050" dirty="0"/>
          </a:p>
          <a:p>
            <a:pPr eaLnBrk="1" hangingPunct="1"/>
            <a:r>
              <a:rPr lang="fr-FR" sz="1050" b="1" dirty="0"/>
              <a:t>Classe :</a:t>
            </a:r>
            <a:r>
              <a:rPr lang="fr-FR" sz="1050" dirty="0"/>
              <a:t> lors de sa définition, une classe est identifiée par un point (.) précédent son nom (.maClasse). Vous pouvez choisir le nom que vous voulez, sans espaces. Elle pourra être utilisée sur différents éléments (X)HTML en leur ajoutant l'attribut class et la valeur de la classe entre guillemets sans le point (class="maClasse").</a:t>
            </a:r>
          </a:p>
          <a:p>
            <a:pPr eaLnBrk="1" hangingPunct="1"/>
            <a:endParaRPr lang="fr-FR" sz="1050" dirty="0"/>
          </a:p>
          <a:p>
            <a:pPr eaLnBrk="1" hangingPunct="1"/>
            <a:r>
              <a:rPr lang="fr-FR" sz="1050" b="1" dirty="0"/>
              <a:t>Identifiant :</a:t>
            </a:r>
            <a:r>
              <a:rPr lang="fr-FR" sz="1050" dirty="0"/>
              <a:t> un identifiant fonctionne comme une classe. Il est référencé par un dièse (#) avant le nom. Un identifiant sert pour un élément (X)HTML unique en se basant sur l'attribut id des balises.</a:t>
            </a:r>
          </a:p>
          <a:p>
            <a:pPr eaLnBrk="1" hangingPunct="1"/>
            <a:endParaRPr lang="fr-FR" sz="1050" dirty="0"/>
          </a:p>
          <a:p>
            <a:pPr eaLnBrk="1" hangingPunct="1"/>
            <a:r>
              <a:rPr lang="fr-FR" sz="1050" b="1" dirty="0"/>
              <a:t>Pseudo-classe :</a:t>
            </a:r>
            <a:r>
              <a:rPr lang="fr-FR" sz="1050" dirty="0"/>
              <a:t> les pseudo-classes permettent de mettre en forme des parties intégrantes du DOM. Il en existe peu : </a:t>
            </a:r>
          </a:p>
          <a:p>
            <a:pPr eaLnBrk="1" hangingPunct="1"/>
            <a:r>
              <a:rPr lang="fr-FR" sz="1050" dirty="0"/>
              <a:t>	-:active (élément actif), </a:t>
            </a:r>
          </a:p>
          <a:p>
            <a:pPr eaLnBrk="1" hangingPunct="1"/>
            <a:r>
              <a:rPr lang="fr-FR" sz="1050" dirty="0"/>
              <a:t>	-:focus (élément en focus), </a:t>
            </a:r>
          </a:p>
          <a:p>
            <a:pPr eaLnBrk="1" hangingPunct="1"/>
            <a:r>
              <a:rPr lang="fr-FR" sz="1050" dirty="0"/>
              <a:t>	-:hover (élément survolé), </a:t>
            </a:r>
          </a:p>
          <a:p>
            <a:pPr eaLnBrk="1" hangingPunct="1"/>
            <a:r>
              <a:rPr lang="fr-FR" sz="1050" dirty="0"/>
              <a:t>	-:link (non visité), </a:t>
            </a:r>
          </a:p>
          <a:p>
            <a:pPr eaLnBrk="1" hangingPunct="1"/>
            <a:r>
              <a:rPr lang="fr-FR" sz="1050" dirty="0"/>
              <a:t>	-:visited (élément visité) , </a:t>
            </a:r>
          </a:p>
          <a:p>
            <a:pPr eaLnBrk="1" hangingPunct="1"/>
            <a:r>
              <a:rPr lang="fr-FR" sz="1050" dirty="0"/>
              <a:t>	-:first-child (premier élément fils), </a:t>
            </a:r>
          </a:p>
          <a:p>
            <a:pPr eaLnBrk="1" hangingPunct="1"/>
            <a:r>
              <a:rPr lang="fr-FR" sz="1050" dirty="0"/>
              <a:t>	-:lang (permet de spécifier une langue</a:t>
            </a:r>
          </a:p>
        </p:txBody>
      </p:sp>
    </p:spTree>
    <p:extLst>
      <p:ext uri="{BB962C8B-B14F-4D97-AF65-F5344CB8AC3E}">
        <p14:creationId xmlns:p14="http://schemas.microsoft.com/office/powerpoint/2010/main" val="73255980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r>
              <a:rPr lang="fr-FR" b="1" dirty="0"/>
              <a:t>Et plein</a:t>
            </a:r>
            <a:r>
              <a:rPr lang="fr-FR" b="1" baseline="0" dirty="0"/>
              <a:t> d’autres :</a:t>
            </a:r>
            <a:r>
              <a:rPr lang="fr-FR" baseline="0" dirty="0"/>
              <a:t> http://code.tutsplus.com/fr/tutorials/the-30-css-selectors-you-must-memorize--net-16048</a:t>
            </a:r>
            <a:endParaRPr lang="fr-FR" dirty="0"/>
          </a:p>
        </p:txBody>
      </p:sp>
      <p:sp>
        <p:nvSpPr>
          <p:cNvPr id="4" name="Espace réservé du numéro de diapositive 3"/>
          <p:cNvSpPr>
            <a:spLocks noGrp="1"/>
          </p:cNvSpPr>
          <p:nvPr>
            <p:ph type="sldNum" sz="quarter" idx="10"/>
          </p:nvPr>
        </p:nvSpPr>
        <p:spPr/>
        <p:txBody>
          <a:bodyPr/>
          <a:lstStyle/>
          <a:p>
            <a:fld id="{DE6330A7-20E3-4400-A84D-CF377201F116}" type="slidenum">
              <a:rPr lang="fr-FR" smtClean="0"/>
              <a:pPr/>
              <a:t>91</a:t>
            </a:fld>
            <a:endParaRPr lang="fr-FR" dirty="0"/>
          </a:p>
        </p:txBody>
      </p:sp>
    </p:spTree>
    <p:extLst>
      <p:ext uri="{BB962C8B-B14F-4D97-AF65-F5344CB8AC3E}">
        <p14:creationId xmlns:p14="http://schemas.microsoft.com/office/powerpoint/2010/main" val="415700550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4" name="Rectangle 2"/>
          <p:cNvSpPr>
            <a:spLocks noGrp="1" noRot="1" noChangeAspect="1" noChangeArrowheads="1" noTextEdit="1"/>
          </p:cNvSpPr>
          <p:nvPr>
            <p:ph type="sldImg"/>
          </p:nvPr>
        </p:nvSpPr>
        <p:spPr>
          <a:ln/>
        </p:spPr>
        <p:txBody>
          <a:bodyPr/>
          <a:lstStyle/>
          <a:p>
            <a:endParaRPr lang="fr-FR" dirty="0"/>
          </a:p>
        </p:txBody>
      </p:sp>
      <p:sp>
        <p:nvSpPr>
          <p:cNvPr id="392195" name="Rectangle 3"/>
          <p:cNvSpPr>
            <a:spLocks noGrp="1" noChangeArrowheads="1"/>
          </p:cNvSpPr>
          <p:nvPr>
            <p:ph type="body" idx="1"/>
          </p:nvPr>
        </p:nvSpPr>
        <p:spPr>
          <a:noFill/>
        </p:spPr>
        <p:txBody>
          <a:bodyPr/>
          <a:lstStyle/>
          <a:p>
            <a:pPr eaLnBrk="1" hangingPunct="1"/>
            <a:r>
              <a:rPr lang="fr-FR" sz="1050" b="1" dirty="0">
                <a:ea typeface="MS Mincho" pitchFamily="49" charset="-128"/>
              </a:rPr>
              <a:t>CSS Histoire et normes</a:t>
            </a:r>
          </a:p>
          <a:p>
            <a:pPr eaLnBrk="1" hangingPunct="1"/>
            <a:r>
              <a:rPr lang="fr-FR" sz="1050" dirty="0">
                <a:ea typeface="MS Mincho" pitchFamily="49" charset="-128"/>
              </a:rPr>
              <a:t>- Les feuilles de styles (cf. éditeurs de textes évolués) ont été inventées dans les années 70 au début de la mise en place du SGML, mais ce n’est qu’en 1994 que la norme CSS1 telle qu’on la connaît est apparue.</a:t>
            </a:r>
          </a:p>
          <a:p>
            <a:pPr eaLnBrk="1" hangingPunct="1"/>
            <a:r>
              <a:rPr lang="fr-FR" sz="1050" dirty="0">
                <a:ea typeface="MS Mincho" pitchFamily="49" charset="-128"/>
              </a:rPr>
              <a:t>- La norme CSS2 est apparue en 97 afin d’intégrer de nouvelles fonctionnalités (ombres, direction, positionnement) mais suite à des problèmes d’intégration sur les navigateurs, elle a été transformée (plus stricte) en CSS2.1 en 2005. Aujourd’hui aucun navigateur n’est encore totalement compatible avec la norme CSS2 (même pas Firefox).</a:t>
            </a:r>
          </a:p>
          <a:p>
            <a:pPr eaLnBrk="1" hangingPunct="1"/>
            <a:r>
              <a:rPr lang="fr-FR" sz="1050" dirty="0">
                <a:ea typeface="MS Mincho" pitchFamily="49" charset="-128"/>
              </a:rPr>
              <a:t>- La norme CSS3 débutée en 98 est toujours en cours de développement, elle prévoit la modularisation (cf. XHTML1.1)</a:t>
            </a:r>
            <a:endParaRPr lang="fr-FR" sz="1050" dirty="0"/>
          </a:p>
          <a:p>
            <a:pPr eaLnBrk="1" hangingPunct="1"/>
            <a:endParaRPr lang="fr-FR" sz="1050" b="1" dirty="0"/>
          </a:p>
          <a:p>
            <a:pPr eaLnBrk="1" hangingPunct="1"/>
            <a:r>
              <a:rPr lang="fr-FR" sz="1050" b="1" dirty="0"/>
              <a:t>Précisions : </a:t>
            </a:r>
            <a:r>
              <a:rPr lang="fr-FR" sz="1050" dirty="0"/>
              <a:t>Il est possible et même recommandé d'aérer le</a:t>
            </a:r>
            <a:r>
              <a:rPr lang="fr-FR" sz="1050" baseline="0" dirty="0"/>
              <a:t> code css</a:t>
            </a:r>
            <a:r>
              <a:rPr lang="fr-FR" sz="1050" dirty="0"/>
              <a:t>. CSS permet une forme de type bloc utilisé dans beaucoup de langages de programmation. En effet des délimiteurs de bloc ({}) autorisent la formulation d'une instruction par ligne.</a:t>
            </a:r>
          </a:p>
          <a:p>
            <a:pPr eaLnBrk="1" hangingPunct="1"/>
            <a:endParaRPr lang="fr-FR" sz="1050" dirty="0"/>
          </a:p>
          <a:p>
            <a:pPr eaLnBrk="1" hangingPunct="1"/>
            <a:r>
              <a:rPr lang="fr-FR" sz="1050" b="1" dirty="0"/>
              <a:t>Sélecteurs multiples : </a:t>
            </a:r>
            <a:r>
              <a:rPr lang="fr-FR" sz="1050" dirty="0"/>
              <a:t>On peut déclarer des instructions CSS pour des sélecteurs multiples. Il suffit de séparer ses sélecteurs par des virgules.</a:t>
            </a:r>
          </a:p>
          <a:p>
            <a:pPr eaLnBrk="1" hangingPunct="1"/>
            <a:endParaRPr lang="fr-FR" sz="1050" dirty="0"/>
          </a:p>
          <a:p>
            <a:pPr eaLnBrk="1" hangingPunct="1"/>
            <a:r>
              <a:rPr lang="fr-FR" sz="1050" b="1" dirty="0"/>
              <a:t>Encapsulation des éléments : </a:t>
            </a:r>
            <a:r>
              <a:rPr lang="fr-FR" sz="1050" dirty="0"/>
              <a:t>On note l'encapsulation des éléments, on les classe en les séparant par un espace. Par exemple: a img signifie que le bloc de propriétés s'appliquera aux images contenues dans un lien.</a:t>
            </a:r>
          </a:p>
        </p:txBody>
      </p:sp>
    </p:spTree>
    <p:extLst>
      <p:ext uri="{BB962C8B-B14F-4D97-AF65-F5344CB8AC3E}">
        <p14:creationId xmlns:p14="http://schemas.microsoft.com/office/powerpoint/2010/main" val="62876214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r>
              <a:rPr lang="fr-FR" dirty="0"/>
              <a:t>détail :  https://www.w3schools.com/tags/tag_form.asp</a:t>
            </a:r>
          </a:p>
          <a:p>
            <a:r>
              <a:rPr lang="fr-FR" dirty="0"/>
              <a:t>attributs </a:t>
            </a:r>
          </a:p>
          <a:p>
            <a:r>
              <a:rPr lang="fr-FR" dirty="0"/>
              <a:t>+target="</a:t>
            </a:r>
            <a:r>
              <a:rPr lang="fr-FR" b="1" dirty="0"/>
              <a:t>_self </a:t>
            </a:r>
            <a:r>
              <a:rPr lang="fr-FR" dirty="0"/>
              <a:t>| _blank | _top | _parent | iframeName "</a:t>
            </a:r>
          </a:p>
          <a:p>
            <a:r>
              <a:rPr lang="fr-FR" dirty="0"/>
              <a:t>	_self : dans la même page </a:t>
            </a:r>
          </a:p>
          <a:p>
            <a:r>
              <a:rPr lang="fr-FR" dirty="0"/>
              <a:t>	_blank : nouvel onglet</a:t>
            </a:r>
          </a:p>
          <a:p>
            <a:r>
              <a:rPr lang="fr-FR" dirty="0"/>
              <a:t>+</a:t>
            </a:r>
            <a:r>
              <a:rPr lang="en-US" dirty="0">
                <a:effectLst/>
              </a:rPr>
              <a:t>accept-charset=""</a:t>
            </a:r>
          </a:p>
          <a:p>
            <a:r>
              <a:rPr lang="fr-FR" dirty="0"/>
              <a:t>+autocomplete=" </a:t>
            </a:r>
            <a:r>
              <a:rPr lang="fr-FR" b="1" dirty="0"/>
              <a:t>on </a:t>
            </a:r>
            <a:r>
              <a:rPr lang="fr-FR" dirty="0"/>
              <a:t>| off "</a:t>
            </a:r>
          </a:p>
          <a:p>
            <a:r>
              <a:rPr lang="fr-FR" dirty="0"/>
              <a:t>+enctype=""</a:t>
            </a:r>
          </a:p>
          <a:p>
            <a:r>
              <a:rPr lang="fr-FR" dirty="0"/>
              <a:t>	</a:t>
            </a:r>
            <a:r>
              <a:rPr lang="fr-FR" sz="1200" b="0" i="0" kern="1200" dirty="0">
                <a:solidFill>
                  <a:schemeClr val="tx1"/>
                </a:solidFill>
                <a:effectLst/>
                <a:latin typeface="+mn-lt"/>
                <a:ea typeface="+mn-ea"/>
                <a:cs typeface="+mn-cs"/>
              </a:rPr>
              <a:t>application/x-www-form-urlencoded</a:t>
            </a:r>
          </a:p>
          <a:p>
            <a:r>
              <a:rPr lang="fr-FR" sz="1200" b="0" i="0" kern="1200" dirty="0">
                <a:solidFill>
                  <a:schemeClr val="tx1"/>
                </a:solidFill>
                <a:effectLst/>
                <a:latin typeface="+mn-lt"/>
                <a:ea typeface="+mn-ea"/>
                <a:cs typeface="+mn-cs"/>
              </a:rPr>
              <a:t>	multipart/form-data</a:t>
            </a:r>
          </a:p>
          <a:p>
            <a:r>
              <a:rPr lang="fr-FR" sz="1200" b="0" i="0" kern="1200" dirty="0">
                <a:solidFill>
                  <a:schemeClr val="tx1"/>
                </a:solidFill>
                <a:effectLst/>
                <a:latin typeface="+mn-lt"/>
                <a:ea typeface="+mn-ea"/>
                <a:cs typeface="+mn-cs"/>
              </a:rPr>
              <a:t>	text/plain</a:t>
            </a:r>
            <a:endParaRPr lang="fr-FR" dirty="0"/>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101</a:t>
            </a:fld>
            <a:endParaRPr lang="fr-FR" dirty="0"/>
          </a:p>
        </p:txBody>
      </p:sp>
    </p:spTree>
    <p:extLst>
      <p:ext uri="{BB962C8B-B14F-4D97-AF65-F5344CB8AC3E}">
        <p14:creationId xmlns:p14="http://schemas.microsoft.com/office/powerpoint/2010/main" val="397549750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103</a:t>
            </a:fld>
            <a:endParaRPr lang="fr-FR" dirty="0"/>
          </a:p>
        </p:txBody>
      </p:sp>
    </p:spTree>
    <p:extLst>
      <p:ext uri="{BB962C8B-B14F-4D97-AF65-F5344CB8AC3E}">
        <p14:creationId xmlns:p14="http://schemas.microsoft.com/office/powerpoint/2010/main" val="40691240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commentaires 2"/>
          <p:cNvSpPr>
            <a:spLocks noGrp="1"/>
          </p:cNvSpPr>
          <p:nvPr>
            <p:ph type="body" idx="1"/>
          </p:nvPr>
        </p:nvSpPr>
        <p:spPr/>
        <p:txBody>
          <a:bodyPr>
            <a:normAutofit/>
          </a:bodyPr>
          <a:lstStyle/>
          <a:p>
            <a:pPr>
              <a:buFont typeface="Arial" charset="0"/>
              <a:buNone/>
            </a:pPr>
            <a:r>
              <a:rPr lang="fr-FR" dirty="0"/>
              <a:t>*  html5  propose l'attribut required="required" sur les inputs, textarea, select</a:t>
            </a:r>
          </a:p>
          <a:p>
            <a:pPr>
              <a:buFont typeface="Arial" charset="0"/>
              <a:buNone/>
            </a:pPr>
            <a:r>
              <a:rPr lang="fr-FR" dirty="0"/>
              <a:t>**html5</a:t>
            </a:r>
            <a:r>
              <a:rPr lang="fr-FR" baseline="0" dirty="0"/>
              <a:t>  propose l'attribut </a:t>
            </a:r>
            <a:r>
              <a:rPr lang="fr-FR" baseline="0" dirty="0" err="1"/>
              <a:t>patern</a:t>
            </a:r>
            <a:r>
              <a:rPr lang="fr-FR" baseline="0" dirty="0"/>
              <a:t>="Regex" sur les inputs, textarea, et des types d'inputs mail, tel, …</a:t>
            </a:r>
          </a:p>
          <a:p>
            <a:pPr>
              <a:buFont typeface="Arial" charset="0"/>
              <a:buNone/>
            </a:pPr>
            <a:endParaRPr lang="fr-FR" baseline="0" dirty="0"/>
          </a:p>
          <a:p>
            <a:pPr>
              <a:buFont typeface="Arial" charset="0"/>
              <a:buNone/>
            </a:pPr>
            <a:r>
              <a:rPr lang="fr-FR" baseline="0" dirty="0"/>
              <a:t>exemple interaction :</a:t>
            </a:r>
          </a:p>
          <a:p>
            <a:pPr marL="0" marR="0" indent="0" algn="l" defTabSz="914400" rtl="0" eaLnBrk="1" fontAlgn="auto" latinLnBrk="0" hangingPunct="1">
              <a:lnSpc>
                <a:spcPct val="100000"/>
              </a:lnSpc>
              <a:spcBef>
                <a:spcPts val="0"/>
              </a:spcBef>
              <a:spcAft>
                <a:spcPts val="0"/>
              </a:spcAft>
              <a:buClrTx/>
              <a:buSzTx/>
              <a:buFont typeface="Arial" charset="0"/>
              <a:buNone/>
              <a:tabLst/>
              <a:defRPr/>
            </a:pPr>
            <a:r>
              <a:rPr lang="en-US" sz="1200" b="0" kern="1200" dirty="0">
                <a:solidFill>
                  <a:schemeClr val="tx1"/>
                </a:solidFill>
                <a:latin typeface="+mn-lt"/>
                <a:ea typeface="+mn-ea"/>
                <a:cs typeface="+mn-cs"/>
              </a:rPr>
              <a:t>if(new Date(document.getElementById('dateNaiss').value).getYear()-(new Date()).getYear()&gt;=18) {</a:t>
            </a:r>
          </a:p>
          <a:p>
            <a:pPr marL="0" marR="0" indent="0" algn="l" defTabSz="914400" rtl="0" eaLnBrk="1" fontAlgn="auto" latinLnBrk="0" hangingPunct="1">
              <a:lnSpc>
                <a:spcPct val="100000"/>
              </a:lnSpc>
              <a:spcBef>
                <a:spcPts val="0"/>
              </a:spcBef>
              <a:spcAft>
                <a:spcPts val="0"/>
              </a:spcAft>
              <a:buClrTx/>
              <a:buSzTx/>
              <a:buFont typeface="Arial" charset="0"/>
              <a:buNone/>
              <a:tabLst/>
              <a:defRPr/>
            </a:pPr>
            <a:r>
              <a:rPr kumimoji="0" lang="fr-FR" sz="1400" b="0" i="0" u="none" strike="noStrike" kern="1200" cap="none" spc="0" normalizeH="0" baseline="0" noProof="0" dirty="0">
                <a:ln>
                  <a:noFill/>
                </a:ln>
                <a:solidFill>
                  <a:srgbClr val="009AD0"/>
                </a:solidFill>
                <a:effectLst/>
                <a:uLnTx/>
                <a:uFillTx/>
                <a:latin typeface="+mn-lt"/>
                <a:ea typeface="MS Mincho" pitchFamily="49" charset="-128"/>
                <a:cs typeface="+mn-cs"/>
              </a:rPr>
              <a:t>	 document.getElementById('radioMajeur').checked=1;</a:t>
            </a:r>
            <a:endParaRPr lang="fr-FR" sz="1400" dirty="0"/>
          </a:p>
          <a:p>
            <a:pPr marL="0" marR="0" indent="0" algn="l" defTabSz="914400" rtl="0" eaLnBrk="1" fontAlgn="auto" latinLnBrk="0" hangingPunct="1">
              <a:lnSpc>
                <a:spcPct val="100000"/>
              </a:lnSpc>
              <a:spcBef>
                <a:spcPts val="0"/>
              </a:spcBef>
              <a:spcAft>
                <a:spcPts val="0"/>
              </a:spcAft>
              <a:buClrTx/>
              <a:buSzTx/>
              <a:buFont typeface="Arial" charset="0"/>
              <a:buNone/>
              <a:tabLst/>
              <a:defRPr/>
            </a:pPr>
            <a:br>
              <a:rPr kumimoji="0" lang="fr-FR" sz="1400" b="0" i="0" u="none" strike="noStrike" kern="1200" cap="none" spc="0" normalizeH="0" baseline="0" noProof="0" dirty="0">
                <a:ln>
                  <a:noFill/>
                </a:ln>
                <a:solidFill>
                  <a:srgbClr val="009AD0"/>
                </a:solidFill>
                <a:effectLst/>
                <a:uLnTx/>
                <a:uFillTx/>
                <a:latin typeface="+mn-lt"/>
                <a:ea typeface="MS Mincho" pitchFamily="49" charset="-128"/>
                <a:cs typeface="+mn-cs"/>
              </a:rPr>
            </a:br>
            <a:r>
              <a:rPr kumimoji="0" lang="fr-FR" sz="1400" b="0" i="0" u="none" strike="noStrike" kern="1200" cap="none" spc="0" normalizeH="0" baseline="0" noProof="0" dirty="0">
                <a:ln>
                  <a:noFill/>
                </a:ln>
                <a:solidFill>
                  <a:srgbClr val="009AD0"/>
                </a:solidFill>
                <a:effectLst/>
                <a:uLnTx/>
                <a:uFillTx/>
                <a:latin typeface="+mn-lt"/>
                <a:ea typeface="MS Mincho" pitchFamily="49" charset="-128"/>
                <a:cs typeface="+mn-cs"/>
              </a:rPr>
              <a:t>}</a:t>
            </a:r>
            <a:endParaRPr lang="fr-FR" dirty="0"/>
          </a:p>
        </p:txBody>
      </p:sp>
      <p:sp>
        <p:nvSpPr>
          <p:cNvPr id="4" name="Espace réservé du numéro de diapositive 3"/>
          <p:cNvSpPr>
            <a:spLocks noGrp="1"/>
          </p:cNvSpPr>
          <p:nvPr>
            <p:ph type="sldNum" sz="quarter" idx="10"/>
          </p:nvPr>
        </p:nvSpPr>
        <p:spPr/>
        <p:txBody>
          <a:bodyPr/>
          <a:lstStyle/>
          <a:p>
            <a:fld id="{9AF37B03-BCE5-4384-84A0-9FF687F53F37}" type="slidenum">
              <a:rPr lang="fr-FR" smtClean="0"/>
              <a:pPr/>
              <a:t>104</a:t>
            </a:fld>
            <a:endParaRPr lang="fr-FR" dirty="0"/>
          </a:p>
        </p:txBody>
      </p:sp>
    </p:spTree>
    <p:extLst>
      <p:ext uri="{BB962C8B-B14F-4D97-AF65-F5344CB8AC3E}">
        <p14:creationId xmlns:p14="http://schemas.microsoft.com/office/powerpoint/2010/main" val="143079699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r>
              <a:rPr lang="fr-FR" dirty="0"/>
              <a:t>Documentation : https://developer.mozilla.org/en-US/docs/Web/API/Web_Storage_API/Using_the_Web_Storage_API</a:t>
            </a:r>
          </a:p>
          <a:p>
            <a:r>
              <a:rPr lang="fr-FR" dirty="0"/>
              <a:t>https://developer.mozilla.org/fr/docs/Web/API/Window/localStorage</a:t>
            </a:r>
          </a:p>
          <a:p>
            <a:endParaRPr lang="fr-FR" dirty="0"/>
          </a:p>
          <a:p>
            <a:r>
              <a:rPr lang="fr-FR" dirty="0"/>
              <a:t>sessionStorage proche de localStorage</a:t>
            </a:r>
          </a:p>
          <a:p>
            <a:r>
              <a:rPr lang="fr-FR" dirty="0"/>
              <a:t>	-sessionStorage sera détruit à la clôture de la session navigateur</a:t>
            </a:r>
          </a:p>
          <a:p>
            <a:r>
              <a:rPr lang="fr-FR" dirty="0"/>
              <a:t>	-localStorage n’a pas de date de péremption</a:t>
            </a:r>
          </a:p>
          <a:p>
            <a:endParaRPr lang="fr-FR" dirty="0"/>
          </a:p>
          <a:p>
            <a:r>
              <a:rPr lang="fr-FR" dirty="0"/>
              <a:t>Le fonctionnement est similaire</a:t>
            </a:r>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111</a:t>
            </a:fld>
            <a:endParaRPr lang="fr-FR" dirty="0"/>
          </a:p>
        </p:txBody>
      </p:sp>
    </p:spTree>
    <p:extLst>
      <p:ext uri="{BB962C8B-B14F-4D97-AF65-F5344CB8AC3E}">
        <p14:creationId xmlns:p14="http://schemas.microsoft.com/office/powerpoint/2010/main" val="29033879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113</a:t>
            </a:fld>
            <a:endParaRPr lang="fr-FR" dirty="0"/>
          </a:p>
        </p:txBody>
      </p:sp>
    </p:spTree>
    <p:extLst>
      <p:ext uri="{BB962C8B-B14F-4D97-AF65-F5344CB8AC3E}">
        <p14:creationId xmlns:p14="http://schemas.microsoft.com/office/powerpoint/2010/main" val="89758359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114</a:t>
            </a:fld>
            <a:endParaRPr lang="fr-FR" dirty="0"/>
          </a:p>
        </p:txBody>
      </p:sp>
    </p:spTree>
    <p:extLst>
      <p:ext uri="{BB962C8B-B14F-4D97-AF65-F5344CB8AC3E}">
        <p14:creationId xmlns:p14="http://schemas.microsoft.com/office/powerpoint/2010/main" val="132823367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pPr lvl="1"/>
            <a:r>
              <a:rPr lang="fr-FR" dirty="0"/>
              <a:t>Génèrera une fonction pour l’es5 représentant l’objet transformé </a:t>
            </a:r>
            <a:r>
              <a:rPr lang="fr-FR" b="1" dirty="0"/>
              <a:t>sans class</a:t>
            </a:r>
          </a:p>
        </p:txBody>
      </p:sp>
      <p:sp>
        <p:nvSpPr>
          <p:cNvPr id="4" name="Espace réservé du numéro de diapositive 3"/>
          <p:cNvSpPr>
            <a:spLocks noGrp="1"/>
          </p:cNvSpPr>
          <p:nvPr>
            <p:ph type="sldNum" sz="quarter" idx="5"/>
          </p:nvPr>
        </p:nvSpPr>
        <p:spPr/>
        <p:txBody>
          <a:bodyPr/>
          <a:lstStyle/>
          <a:p>
            <a:fld id="{19C3388D-16FA-4A37-880E-B4CECF014580}" type="slidenum">
              <a:rPr lang="fr-FR" smtClean="0"/>
              <a:t>116</a:t>
            </a:fld>
            <a:endParaRPr lang="fr-FR" dirty="0"/>
          </a:p>
        </p:txBody>
      </p:sp>
    </p:spTree>
    <p:extLst>
      <p:ext uri="{BB962C8B-B14F-4D97-AF65-F5344CB8AC3E}">
        <p14:creationId xmlns:p14="http://schemas.microsoft.com/office/powerpoint/2010/main" val="194891678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t>117</a:t>
            </a:fld>
            <a:endParaRPr lang="fr-FR" dirty="0"/>
          </a:p>
        </p:txBody>
      </p:sp>
    </p:spTree>
    <p:extLst>
      <p:ext uri="{BB962C8B-B14F-4D97-AF65-F5344CB8AC3E}">
        <p14:creationId xmlns:p14="http://schemas.microsoft.com/office/powerpoint/2010/main" val="103652492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t>118</a:t>
            </a:fld>
            <a:endParaRPr lang="fr-FR" dirty="0"/>
          </a:p>
        </p:txBody>
      </p:sp>
    </p:spTree>
    <p:extLst>
      <p:ext uri="{BB962C8B-B14F-4D97-AF65-F5344CB8AC3E}">
        <p14:creationId xmlns:p14="http://schemas.microsoft.com/office/powerpoint/2010/main" val="344044358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t>119</a:t>
            </a:fld>
            <a:endParaRPr lang="fr-FR" dirty="0"/>
          </a:p>
        </p:txBody>
      </p:sp>
    </p:spTree>
    <p:extLst>
      <p:ext uri="{BB962C8B-B14F-4D97-AF65-F5344CB8AC3E}">
        <p14:creationId xmlns:p14="http://schemas.microsoft.com/office/powerpoint/2010/main" val="86599588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r>
              <a:rPr lang="fr-FR" dirty="0"/>
              <a:t>On parle ici de l’extension d’une class</a:t>
            </a:r>
          </a:p>
          <a:p>
            <a:r>
              <a:rPr lang="fr-FR" dirty="0"/>
              <a:t>qui reprend tout ce que fais un objet pour faire un nouvelle objet a partir du premier.</a:t>
            </a:r>
          </a:p>
          <a:p>
            <a:endParaRPr lang="fr-FR" dirty="0"/>
          </a:p>
          <a:p>
            <a:r>
              <a:rPr lang="fr-FR" dirty="0"/>
              <a:t>Il peut redéfinir des fonctions ou méthodes existante chez le parent et en apporter d’autres.</a:t>
            </a:r>
          </a:p>
          <a:p>
            <a:r>
              <a:rPr lang="fr-FR" dirty="0"/>
              <a:t>Ici notre cafetier posséde les memes fonctions : faire le café par exemple</a:t>
            </a:r>
          </a:p>
          <a:p>
            <a:endParaRPr lang="fr-FR" dirty="0"/>
          </a:p>
          <a:p>
            <a:r>
              <a:rPr lang="fr-FR" dirty="0"/>
              <a:t>Mais le fonctionnement n’est pas profilement le meme.</a:t>
            </a:r>
          </a:p>
          <a:p>
            <a:r>
              <a:rPr lang="fr-FR" dirty="0"/>
              <a:t>Le café cette fois , toujours présent mais un nouveau conteneur doit etre insérer dans la machine , … plus le café directement</a:t>
            </a:r>
          </a:p>
        </p:txBody>
      </p:sp>
      <p:sp>
        <p:nvSpPr>
          <p:cNvPr id="4" name="Espace réservé du numéro de diapositive 3"/>
          <p:cNvSpPr>
            <a:spLocks noGrp="1"/>
          </p:cNvSpPr>
          <p:nvPr>
            <p:ph type="sldNum" sz="quarter" idx="5"/>
          </p:nvPr>
        </p:nvSpPr>
        <p:spPr/>
        <p:txBody>
          <a:bodyPr/>
          <a:lstStyle/>
          <a:p>
            <a:fld id="{19C3388D-16FA-4A37-880E-B4CECF014580}" type="slidenum">
              <a:rPr lang="fr-FR" smtClean="0"/>
              <a:t>120</a:t>
            </a:fld>
            <a:endParaRPr lang="fr-FR" dirty="0"/>
          </a:p>
        </p:txBody>
      </p:sp>
    </p:spTree>
    <p:extLst>
      <p:ext uri="{BB962C8B-B14F-4D97-AF65-F5344CB8AC3E}">
        <p14:creationId xmlns:p14="http://schemas.microsoft.com/office/powerpoint/2010/main" val="266205866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t>121</a:t>
            </a:fld>
            <a:endParaRPr lang="fr-FR" dirty="0"/>
          </a:p>
        </p:txBody>
      </p:sp>
    </p:spTree>
    <p:extLst>
      <p:ext uri="{BB962C8B-B14F-4D97-AF65-F5344CB8AC3E}">
        <p14:creationId xmlns:p14="http://schemas.microsoft.com/office/powerpoint/2010/main" val="231516212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r>
              <a:rPr lang="fr-FR" dirty="0"/>
              <a:t>Ici une notion d’ asynchronicité aurais pu être mis en place </a:t>
            </a:r>
          </a:p>
          <a:p>
            <a:r>
              <a:rPr lang="fr-FR" dirty="0"/>
              <a:t>Jp aurais pu attendre boire un petit café tranquillement ou tout simplement revenir demain  </a:t>
            </a:r>
          </a:p>
          <a:p>
            <a:endParaRPr lang="fr-FR" dirty="0"/>
          </a:p>
          <a:p>
            <a:r>
              <a:rPr lang="fr-FR" dirty="0"/>
              <a:t>Peut être que tout sa vie reposais sur ce parie, il a donc tout perdu</a:t>
            </a:r>
          </a:p>
          <a:p>
            <a:r>
              <a:rPr lang="fr-FR" dirty="0"/>
              <a:t>Tout le reste de sa vie dépendais de ce paris il a donc attendu car il ne pouvais rien faire d’autre tant qu’il ne savais pas le déroulement de la suite des choses</a:t>
            </a:r>
          </a:p>
        </p:txBody>
      </p:sp>
      <p:sp>
        <p:nvSpPr>
          <p:cNvPr id="4" name="Espace réservé du numéro de diapositive 3"/>
          <p:cNvSpPr>
            <a:spLocks noGrp="1"/>
          </p:cNvSpPr>
          <p:nvPr>
            <p:ph type="sldNum" sz="quarter" idx="5"/>
          </p:nvPr>
        </p:nvSpPr>
        <p:spPr/>
        <p:txBody>
          <a:bodyPr/>
          <a:lstStyle/>
          <a:p>
            <a:fld id="{19C3388D-16FA-4A37-880E-B4CECF014580}" type="slidenum">
              <a:rPr lang="fr-FR" smtClean="0"/>
              <a:t>126</a:t>
            </a:fld>
            <a:endParaRPr lang="fr-FR" dirty="0"/>
          </a:p>
        </p:txBody>
      </p:sp>
    </p:spTree>
    <p:extLst>
      <p:ext uri="{BB962C8B-B14F-4D97-AF65-F5344CB8AC3E}">
        <p14:creationId xmlns:p14="http://schemas.microsoft.com/office/powerpoint/2010/main" val="420257886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t>127</a:t>
            </a:fld>
            <a:endParaRPr lang="fr-FR" dirty="0"/>
          </a:p>
        </p:txBody>
      </p:sp>
    </p:spTree>
    <p:extLst>
      <p:ext uri="{BB962C8B-B14F-4D97-AF65-F5344CB8AC3E}">
        <p14:creationId xmlns:p14="http://schemas.microsoft.com/office/powerpoint/2010/main" val="329182913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t>128</a:t>
            </a:fld>
            <a:endParaRPr lang="fr-FR" dirty="0"/>
          </a:p>
        </p:txBody>
      </p:sp>
    </p:spTree>
    <p:extLst>
      <p:ext uri="{BB962C8B-B14F-4D97-AF65-F5344CB8AC3E}">
        <p14:creationId xmlns:p14="http://schemas.microsoft.com/office/powerpoint/2010/main" val="213763534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8E738-D846-6FC5-1F9A-95FAC62A6AB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A44CCD3-C376-45B7-1460-8AA479971DEC}"/>
              </a:ext>
            </a:extLst>
          </p:cNvPr>
          <p:cNvSpPr>
            <a:spLocks noGrp="1" noRot="1" noChangeAspect="1"/>
          </p:cNvSpPr>
          <p:nvPr>
            <p:ph type="sldImg"/>
          </p:nvPr>
        </p:nvSpPr>
        <p:spPr/>
        <p:txBody>
          <a:bodyPr/>
          <a:lstStyle/>
          <a:p>
            <a:endParaRPr lang="fr-FR" dirty="0"/>
          </a:p>
        </p:txBody>
      </p:sp>
      <p:sp>
        <p:nvSpPr>
          <p:cNvPr id="3" name="Espace réservé des notes 2">
            <a:extLst>
              <a:ext uri="{FF2B5EF4-FFF2-40B4-BE49-F238E27FC236}">
                <a16:creationId xmlns:a16="http://schemas.microsoft.com/office/drawing/2014/main" id="{E2C47F72-C1F6-B5F8-203B-41416A40B85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07CF22B8-C607-7986-9CFE-2591E1313088}"/>
              </a:ext>
            </a:extLst>
          </p:cNvPr>
          <p:cNvSpPr>
            <a:spLocks noGrp="1"/>
          </p:cNvSpPr>
          <p:nvPr>
            <p:ph type="sldNum" sz="quarter" idx="5"/>
          </p:nvPr>
        </p:nvSpPr>
        <p:spPr/>
        <p:txBody>
          <a:bodyPr/>
          <a:lstStyle/>
          <a:p>
            <a:fld id="{C73AD29E-BFB6-4815-B580-52E0FFE6B461}" type="slidenum">
              <a:rPr lang="fr-FR" smtClean="0"/>
              <a:t>129</a:t>
            </a:fld>
            <a:endParaRPr lang="fr-FR" dirty="0"/>
          </a:p>
        </p:txBody>
      </p:sp>
    </p:spTree>
    <p:extLst>
      <p:ext uri="{BB962C8B-B14F-4D97-AF65-F5344CB8AC3E}">
        <p14:creationId xmlns:p14="http://schemas.microsoft.com/office/powerpoint/2010/main" val="366111420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t>131</a:t>
            </a:fld>
            <a:endParaRPr lang="fr-FR" dirty="0"/>
          </a:p>
        </p:txBody>
      </p:sp>
    </p:spTree>
    <p:extLst>
      <p:ext uri="{BB962C8B-B14F-4D97-AF65-F5344CB8AC3E}">
        <p14:creationId xmlns:p14="http://schemas.microsoft.com/office/powerpoint/2010/main" val="211115716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dirty="0"/>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147</a:t>
            </a:fld>
            <a:endParaRPr lang="fr-FR" dirty="0"/>
          </a:p>
        </p:txBody>
      </p:sp>
    </p:spTree>
    <p:extLst>
      <p:ext uri="{BB962C8B-B14F-4D97-AF65-F5344CB8AC3E}">
        <p14:creationId xmlns:p14="http://schemas.microsoft.com/office/powerpoint/2010/main" val="270033980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92867"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B78335C2-2ABC-496A-910E-0F43AC87B88A}" type="slidenum">
              <a:rPr lang="en-JM" smtClean="0"/>
              <a:pPr>
                <a:defRPr/>
              </a:pPr>
              <a:t>148</a:t>
            </a:fld>
            <a:endParaRPr lang="en-JM" dirty="0"/>
          </a:p>
        </p:txBody>
      </p:sp>
    </p:spTree>
    <p:extLst>
      <p:ext uri="{BB962C8B-B14F-4D97-AF65-F5344CB8AC3E}">
        <p14:creationId xmlns:p14="http://schemas.microsoft.com/office/powerpoint/2010/main" val="383213751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dirty="0"/>
          </a:p>
        </p:txBody>
      </p:sp>
      <p:sp>
        <p:nvSpPr>
          <p:cNvPr id="293891"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dirty="0"/>
          </a:p>
        </p:txBody>
      </p:sp>
      <p:sp>
        <p:nvSpPr>
          <p:cNvPr id="4" name="Espace réservé du numéro de diapositive 3"/>
          <p:cNvSpPr>
            <a:spLocks noGrp="1"/>
          </p:cNvSpPr>
          <p:nvPr>
            <p:ph type="sldNum" sz="quarter" idx="5"/>
          </p:nvPr>
        </p:nvSpPr>
        <p:spPr/>
        <p:txBody>
          <a:bodyPr/>
          <a:lstStyle/>
          <a:p>
            <a:pPr>
              <a:defRPr/>
            </a:pPr>
            <a:fld id="{409DC895-8354-4578-854B-3DF1D0785329}" type="slidenum">
              <a:rPr lang="en-JM" smtClean="0"/>
              <a:pPr>
                <a:defRPr/>
              </a:pPr>
              <a:t>149</a:t>
            </a:fld>
            <a:endParaRPr lang="en-JM" dirty="0"/>
          </a:p>
        </p:txBody>
      </p:sp>
    </p:spTree>
    <p:extLst>
      <p:ext uri="{BB962C8B-B14F-4D97-AF65-F5344CB8AC3E}">
        <p14:creationId xmlns:p14="http://schemas.microsoft.com/office/powerpoint/2010/main" val="269755394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a:p>
        </p:txBody>
      </p:sp>
      <p:sp>
        <p:nvSpPr>
          <p:cNvPr id="294915"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a:p>
        </p:txBody>
      </p:sp>
      <p:sp>
        <p:nvSpPr>
          <p:cNvPr id="4" name="Espace réservé du numéro de diapositive 3"/>
          <p:cNvSpPr>
            <a:spLocks noGrp="1"/>
          </p:cNvSpPr>
          <p:nvPr>
            <p:ph type="sldNum" sz="quarter" idx="5"/>
          </p:nvPr>
        </p:nvSpPr>
        <p:spPr/>
        <p:txBody>
          <a:bodyPr/>
          <a:lstStyle/>
          <a:p>
            <a:pPr>
              <a:defRPr/>
            </a:pPr>
            <a:fld id="{5764FA3D-C2C0-402E-8F68-253E73C180B8}" type="slidenum">
              <a:rPr lang="en-JM" smtClean="0"/>
              <a:pPr>
                <a:defRPr/>
              </a:pPr>
              <a:t>150</a:t>
            </a:fld>
            <a:endParaRPr lang="en-JM"/>
          </a:p>
        </p:txBody>
      </p:sp>
    </p:spTree>
    <p:extLst>
      <p:ext uri="{BB962C8B-B14F-4D97-AF65-F5344CB8AC3E}">
        <p14:creationId xmlns:p14="http://schemas.microsoft.com/office/powerpoint/2010/main" val="297861596"/>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a:p>
        </p:txBody>
      </p:sp>
      <p:sp>
        <p:nvSpPr>
          <p:cNvPr id="295939"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a:p>
        </p:txBody>
      </p:sp>
      <p:sp>
        <p:nvSpPr>
          <p:cNvPr id="4" name="Espace réservé du numéro de diapositive 3"/>
          <p:cNvSpPr>
            <a:spLocks noGrp="1"/>
          </p:cNvSpPr>
          <p:nvPr>
            <p:ph type="sldNum" sz="quarter" idx="5"/>
          </p:nvPr>
        </p:nvSpPr>
        <p:spPr/>
        <p:txBody>
          <a:bodyPr/>
          <a:lstStyle/>
          <a:p>
            <a:pPr>
              <a:defRPr/>
            </a:pPr>
            <a:fld id="{5AE10938-D320-4D4E-BF72-FFFB0C77EC7F}" type="slidenum">
              <a:rPr lang="en-JM" smtClean="0"/>
              <a:pPr>
                <a:defRPr/>
              </a:pPr>
              <a:t>151</a:t>
            </a:fld>
            <a:endParaRPr lang="en-JM"/>
          </a:p>
        </p:txBody>
      </p:sp>
    </p:spTree>
    <p:extLst>
      <p:ext uri="{BB962C8B-B14F-4D97-AF65-F5344CB8AC3E}">
        <p14:creationId xmlns:p14="http://schemas.microsoft.com/office/powerpoint/2010/main" val="107031768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152</a:t>
            </a:fld>
            <a:endParaRPr lang="fr-FR"/>
          </a:p>
        </p:txBody>
      </p:sp>
    </p:spTree>
    <p:extLst>
      <p:ext uri="{BB962C8B-B14F-4D97-AF65-F5344CB8AC3E}">
        <p14:creationId xmlns:p14="http://schemas.microsoft.com/office/powerpoint/2010/main" val="274773279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9AF37B03-BCE5-4384-84A0-9FF687F53F37}" type="slidenum">
              <a:rPr lang="fr-FR" smtClean="0"/>
              <a:pPr/>
              <a:t>153</a:t>
            </a:fld>
            <a:endParaRPr lang="fr-FR"/>
          </a:p>
        </p:txBody>
      </p:sp>
    </p:spTree>
    <p:extLst>
      <p:ext uri="{BB962C8B-B14F-4D97-AF65-F5344CB8AC3E}">
        <p14:creationId xmlns:p14="http://schemas.microsoft.com/office/powerpoint/2010/main" val="176967614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a:p>
        </p:txBody>
      </p:sp>
      <p:sp>
        <p:nvSpPr>
          <p:cNvPr id="271363"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a:p>
        </p:txBody>
      </p:sp>
      <p:sp>
        <p:nvSpPr>
          <p:cNvPr id="4" name="Espace réservé du numéro de diapositive 3"/>
          <p:cNvSpPr>
            <a:spLocks noGrp="1"/>
          </p:cNvSpPr>
          <p:nvPr>
            <p:ph type="sldNum" sz="quarter" idx="5"/>
          </p:nvPr>
        </p:nvSpPr>
        <p:spPr/>
        <p:txBody>
          <a:bodyPr/>
          <a:lstStyle/>
          <a:p>
            <a:pPr>
              <a:defRPr/>
            </a:pPr>
            <a:fld id="{216676E0-BBBF-4B3C-B880-B6277D60935E}" type="slidenum">
              <a:rPr lang="en-JM" smtClean="0"/>
              <a:pPr>
                <a:defRPr/>
              </a:pPr>
              <a:t>155</a:t>
            </a:fld>
            <a:endParaRPr lang="en-JM"/>
          </a:p>
        </p:txBody>
      </p:sp>
    </p:spTree>
    <p:extLst>
      <p:ext uri="{BB962C8B-B14F-4D97-AF65-F5344CB8AC3E}">
        <p14:creationId xmlns:p14="http://schemas.microsoft.com/office/powerpoint/2010/main" val="300043450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a:p>
        </p:txBody>
      </p:sp>
      <p:sp>
        <p:nvSpPr>
          <p:cNvPr id="274435"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b="1" i="1" dirty="0"/>
              <a:t>Node</a:t>
            </a:r>
            <a:r>
              <a:rPr lang="fr-FR" b="1" dirty="0"/>
              <a:t> : </a:t>
            </a:r>
          </a:p>
          <a:p>
            <a:r>
              <a:rPr lang="fr-FR" b="1" dirty="0"/>
              <a:t>Méthodes de parcours :</a:t>
            </a:r>
          </a:p>
          <a:p>
            <a:pPr>
              <a:buFontTx/>
              <a:buChar char="•"/>
            </a:pPr>
            <a:r>
              <a:rPr lang="fr-FR" dirty="0"/>
              <a:t> </a:t>
            </a:r>
            <a:r>
              <a:rPr lang="fr-FR" i="1" dirty="0" err="1"/>
              <a:t>parentNode</a:t>
            </a:r>
            <a:r>
              <a:rPr lang="fr-FR" dirty="0"/>
              <a:t> est </a:t>
            </a:r>
            <a:r>
              <a:rPr lang="fr-FR" i="1" dirty="0"/>
              <a:t>null </a:t>
            </a:r>
            <a:r>
              <a:rPr lang="fr-FR" dirty="0"/>
              <a:t>si on est sur le nœud </a:t>
            </a:r>
            <a:r>
              <a:rPr lang="fr-FR" i="1" dirty="0"/>
              <a:t>document </a:t>
            </a:r>
            <a:r>
              <a:rPr lang="fr-FR" dirty="0"/>
              <a:t>ou si le DOM n’a pas encore été construit (appel anticipé de méthode)</a:t>
            </a:r>
          </a:p>
          <a:p>
            <a:pPr>
              <a:buFontTx/>
              <a:buChar char="•"/>
            </a:pPr>
            <a:r>
              <a:rPr lang="fr-FR" dirty="0"/>
              <a:t> </a:t>
            </a:r>
            <a:r>
              <a:rPr lang="fr-FR" i="1" dirty="0" err="1"/>
              <a:t>childNodes</a:t>
            </a:r>
            <a:r>
              <a:rPr lang="fr-FR" i="1" dirty="0"/>
              <a:t> </a:t>
            </a:r>
            <a:r>
              <a:rPr lang="fr-FR" dirty="0"/>
              <a:t>renvoie un tableau vide [ ] s’il n’y a pas d’enfant (</a:t>
            </a:r>
            <a:r>
              <a:rPr lang="fr-FR" dirty="0" err="1"/>
              <a:t>childNodes.length</a:t>
            </a:r>
            <a:r>
              <a:rPr lang="fr-FR" dirty="0"/>
              <a:t> == 0) et </a:t>
            </a:r>
            <a:r>
              <a:rPr lang="fr-FR" i="1" dirty="0" err="1"/>
              <a:t>firstChild</a:t>
            </a:r>
            <a:r>
              <a:rPr lang="fr-FR" i="1" dirty="0"/>
              <a:t> / </a:t>
            </a:r>
            <a:r>
              <a:rPr lang="fr-FR" i="1" dirty="0" err="1"/>
              <a:t>lastChild</a:t>
            </a:r>
            <a:r>
              <a:rPr lang="fr-FR" i="1" dirty="0"/>
              <a:t> </a:t>
            </a:r>
            <a:r>
              <a:rPr lang="fr-FR" dirty="0"/>
              <a:t>renvoient </a:t>
            </a:r>
            <a:r>
              <a:rPr lang="fr-FR" i="1" dirty="0"/>
              <a:t>null</a:t>
            </a:r>
          </a:p>
          <a:p>
            <a:pPr>
              <a:buFontTx/>
              <a:buChar char="•"/>
            </a:pPr>
            <a:r>
              <a:rPr lang="fr-FR" dirty="0"/>
              <a:t> </a:t>
            </a:r>
            <a:r>
              <a:rPr lang="fr-FR" i="1" dirty="0" err="1"/>
              <a:t>previous</a:t>
            </a:r>
            <a:r>
              <a:rPr lang="fr-FR" i="1" dirty="0"/>
              <a:t>/</a:t>
            </a:r>
            <a:r>
              <a:rPr lang="fr-FR" i="1" dirty="0" err="1"/>
              <a:t>nextSibling</a:t>
            </a:r>
            <a:r>
              <a:rPr lang="fr-FR" dirty="0"/>
              <a:t> respectent l’ordre de création dans le document (le flux)</a:t>
            </a:r>
          </a:p>
          <a:p>
            <a:endParaRPr lang="fr-FR" dirty="0"/>
          </a:p>
        </p:txBody>
      </p:sp>
      <p:sp>
        <p:nvSpPr>
          <p:cNvPr id="4" name="Espace réservé du numéro de diapositive 3"/>
          <p:cNvSpPr>
            <a:spLocks noGrp="1"/>
          </p:cNvSpPr>
          <p:nvPr>
            <p:ph type="sldNum" sz="quarter" idx="5"/>
          </p:nvPr>
        </p:nvSpPr>
        <p:spPr/>
        <p:txBody>
          <a:bodyPr/>
          <a:lstStyle/>
          <a:p>
            <a:pPr>
              <a:defRPr/>
            </a:pPr>
            <a:fld id="{36FE4407-5B79-47D7-BEDB-7207CFD5949F}" type="slidenum">
              <a:rPr lang="en-JM" smtClean="0"/>
              <a:pPr>
                <a:defRPr/>
              </a:pPr>
              <a:t>156</a:t>
            </a:fld>
            <a:endParaRPr lang="en-JM"/>
          </a:p>
        </p:txBody>
      </p:sp>
    </p:spTree>
    <p:extLst>
      <p:ext uri="{BB962C8B-B14F-4D97-AF65-F5344CB8AC3E}">
        <p14:creationId xmlns:p14="http://schemas.microsoft.com/office/powerpoint/2010/main" val="257574434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a:p>
        </p:txBody>
      </p:sp>
      <p:sp>
        <p:nvSpPr>
          <p:cNvPr id="275459"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r>
              <a:rPr lang="fr-FR" b="1" dirty="0"/>
              <a:t>Méthodes de modification:</a:t>
            </a:r>
          </a:p>
          <a:p>
            <a:pPr>
              <a:buFontTx/>
              <a:buChar char="•"/>
            </a:pPr>
            <a:r>
              <a:rPr lang="fr-FR" dirty="0"/>
              <a:t> toutes les méthodes de création / substitution de nœuds suppriment le nœud existant si un nœud identique est inséré</a:t>
            </a:r>
          </a:p>
          <a:p>
            <a:pPr>
              <a:buFontTx/>
              <a:buChar char="•"/>
            </a:pPr>
            <a:r>
              <a:rPr lang="fr-FR" dirty="0"/>
              <a:t> </a:t>
            </a:r>
            <a:r>
              <a:rPr lang="fr-FR" i="1" dirty="0" err="1"/>
              <a:t>appendChild</a:t>
            </a:r>
            <a:r>
              <a:rPr lang="fr-FR" dirty="0"/>
              <a:t>( </a:t>
            </a:r>
            <a:r>
              <a:rPr lang="fr-FR" i="1" dirty="0" err="1"/>
              <a:t>newChild</a:t>
            </a:r>
            <a:r>
              <a:rPr lang="fr-FR" dirty="0"/>
              <a:t>) ajoute le </a:t>
            </a:r>
            <a:r>
              <a:rPr lang="fr-FR" i="1" dirty="0" err="1"/>
              <a:t>newChild</a:t>
            </a:r>
            <a:r>
              <a:rPr lang="fr-FR" i="1" dirty="0"/>
              <a:t> </a:t>
            </a:r>
            <a:r>
              <a:rPr lang="fr-FR" dirty="0"/>
              <a:t>à la fin (nouveau </a:t>
            </a:r>
            <a:r>
              <a:rPr lang="fr-FR" i="1" dirty="0" err="1"/>
              <a:t>lastChild</a:t>
            </a:r>
            <a:r>
              <a:rPr lang="fr-FR" dirty="0"/>
              <a:t>). </a:t>
            </a:r>
          </a:p>
          <a:p>
            <a:pPr>
              <a:buFontTx/>
              <a:buChar char="•"/>
            </a:pPr>
            <a:r>
              <a:rPr lang="fr-FR" dirty="0"/>
              <a:t> </a:t>
            </a:r>
            <a:r>
              <a:rPr lang="fr-FR" i="1" dirty="0" err="1"/>
              <a:t>cloneNode</a:t>
            </a:r>
            <a:r>
              <a:rPr lang="fr-FR" dirty="0"/>
              <a:t>( </a:t>
            </a:r>
            <a:r>
              <a:rPr lang="fr-FR" i="1" dirty="0" err="1"/>
              <a:t>true</a:t>
            </a:r>
            <a:r>
              <a:rPr lang="fr-FR" i="1" dirty="0"/>
              <a:t>/false</a:t>
            </a:r>
            <a:r>
              <a:rPr lang="fr-FR" dirty="0"/>
              <a:t>) le booléen indique si tout le nœud doit être copié (</a:t>
            </a:r>
            <a:r>
              <a:rPr lang="fr-FR" i="1" dirty="0" err="1"/>
              <a:t>true</a:t>
            </a:r>
            <a:r>
              <a:rPr lang="fr-FR" dirty="0"/>
              <a:t>) ou seulement sa structure (</a:t>
            </a:r>
            <a:r>
              <a:rPr lang="fr-FR" i="1" dirty="0"/>
              <a:t>false</a:t>
            </a:r>
            <a:r>
              <a:rPr lang="fr-FR" dirty="0"/>
              <a:t>) sans l’attacher au DOM.</a:t>
            </a:r>
          </a:p>
          <a:p>
            <a:pPr>
              <a:buFontTx/>
              <a:buChar char="•"/>
            </a:pPr>
            <a:r>
              <a:rPr lang="fr-FR" dirty="0"/>
              <a:t> </a:t>
            </a:r>
            <a:r>
              <a:rPr lang="fr-FR" i="1" dirty="0" err="1"/>
              <a:t>insertBefore</a:t>
            </a:r>
            <a:r>
              <a:rPr lang="fr-FR" i="1" dirty="0"/>
              <a:t> </a:t>
            </a:r>
            <a:r>
              <a:rPr lang="fr-FR" dirty="0"/>
              <a:t>insère un fils avant la référence. Quand cette référence est </a:t>
            </a:r>
            <a:r>
              <a:rPr lang="fr-FR" i="1" dirty="0"/>
              <a:t>null </a:t>
            </a:r>
            <a:r>
              <a:rPr lang="fr-FR" dirty="0"/>
              <a:t>équivalent à </a:t>
            </a:r>
            <a:r>
              <a:rPr lang="fr-FR" i="1" dirty="0" err="1"/>
              <a:t>appendChild</a:t>
            </a:r>
            <a:r>
              <a:rPr lang="fr-FR" dirty="0"/>
              <a:t>.</a:t>
            </a:r>
          </a:p>
        </p:txBody>
      </p:sp>
      <p:sp>
        <p:nvSpPr>
          <p:cNvPr id="4" name="Espace réservé du numéro de diapositive 3"/>
          <p:cNvSpPr>
            <a:spLocks noGrp="1"/>
          </p:cNvSpPr>
          <p:nvPr>
            <p:ph type="sldNum" sz="quarter" idx="5"/>
          </p:nvPr>
        </p:nvSpPr>
        <p:spPr/>
        <p:txBody>
          <a:bodyPr/>
          <a:lstStyle/>
          <a:p>
            <a:pPr>
              <a:defRPr/>
            </a:pPr>
            <a:fld id="{87C471AE-A92F-4DB6-81E5-0E75FB54993F}" type="slidenum">
              <a:rPr lang="en-JM" smtClean="0"/>
              <a:pPr>
                <a:defRPr/>
              </a:pPr>
              <a:t>157</a:t>
            </a:fld>
            <a:endParaRPr lang="en-JM"/>
          </a:p>
        </p:txBody>
      </p:sp>
    </p:spTree>
    <p:extLst>
      <p:ext uri="{BB962C8B-B14F-4D97-AF65-F5344CB8AC3E}">
        <p14:creationId xmlns:p14="http://schemas.microsoft.com/office/powerpoint/2010/main" val="64572031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a:p>
        </p:txBody>
      </p:sp>
      <p:sp>
        <p:nvSpPr>
          <p:cNvPr id="276483"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a:p>
        </p:txBody>
      </p:sp>
      <p:sp>
        <p:nvSpPr>
          <p:cNvPr id="4" name="Espace réservé du numéro de diapositive 3"/>
          <p:cNvSpPr>
            <a:spLocks noGrp="1"/>
          </p:cNvSpPr>
          <p:nvPr>
            <p:ph type="sldNum" sz="quarter" idx="5"/>
          </p:nvPr>
        </p:nvSpPr>
        <p:spPr/>
        <p:txBody>
          <a:bodyPr/>
          <a:lstStyle/>
          <a:p>
            <a:pPr>
              <a:defRPr/>
            </a:pPr>
            <a:fld id="{ABA376D1-5876-4665-8EEB-8E1BE22174A6}" type="slidenum">
              <a:rPr lang="en-JM" smtClean="0"/>
              <a:pPr>
                <a:defRPr/>
              </a:pPr>
              <a:t>158</a:t>
            </a:fld>
            <a:endParaRPr lang="en-JM"/>
          </a:p>
        </p:txBody>
      </p:sp>
    </p:spTree>
    <p:extLst>
      <p:ext uri="{BB962C8B-B14F-4D97-AF65-F5344CB8AC3E}">
        <p14:creationId xmlns:p14="http://schemas.microsoft.com/office/powerpoint/2010/main" val="180495594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Espace réservé de l'image des diapositives 1"/>
          <p:cNvSpPr>
            <a:spLocks noGrp="1" noRot="1" noChangeAspect="1" noTextEdit="1"/>
          </p:cNvSpPr>
          <p:nvPr>
            <p:ph type="sldImg"/>
          </p:nvPr>
        </p:nvSpPr>
        <p:spPr bwMode="auto">
          <a:noFill/>
          <a:ln>
            <a:solidFill>
              <a:srgbClr val="000000"/>
            </a:solidFill>
            <a:miter lim="800000"/>
            <a:headEnd/>
            <a:tailEnd/>
          </a:ln>
        </p:spPr>
        <p:txBody>
          <a:bodyPr/>
          <a:lstStyle/>
          <a:p>
            <a:endParaRPr lang="fr-FR"/>
          </a:p>
        </p:txBody>
      </p:sp>
      <p:sp>
        <p:nvSpPr>
          <p:cNvPr id="272387" name="Espace réservé des commentaires 2"/>
          <p:cNvSpPr>
            <a:spLocks noGrp="1"/>
          </p:cNvSpPr>
          <p:nvPr>
            <p:ph type="body" idx="1"/>
          </p:nvPr>
        </p:nvSpPr>
        <p:spPr bwMode="auto">
          <a:noFill/>
        </p:spPr>
        <p:txBody>
          <a:bodyPr wrap="square" numCol="1" anchor="t" anchorCtr="0" compatLnSpc="1">
            <a:prstTxWarp prst="textNoShape">
              <a:avLst/>
            </a:prstTxWarp>
          </a:bodyPr>
          <a:lstStyle/>
          <a:p>
            <a:endParaRPr lang="fr-FR"/>
          </a:p>
        </p:txBody>
      </p:sp>
      <p:sp>
        <p:nvSpPr>
          <p:cNvPr id="4" name="Espace réservé du numéro de diapositive 3"/>
          <p:cNvSpPr>
            <a:spLocks noGrp="1"/>
          </p:cNvSpPr>
          <p:nvPr>
            <p:ph type="sldNum" sz="quarter" idx="5"/>
          </p:nvPr>
        </p:nvSpPr>
        <p:spPr/>
        <p:txBody>
          <a:bodyPr/>
          <a:lstStyle/>
          <a:p>
            <a:pPr>
              <a:defRPr/>
            </a:pPr>
            <a:fld id="{741C22CF-7881-4C3C-9BC6-098D6D5C2F7A}" type="slidenum">
              <a:rPr lang="en-JM" smtClean="0"/>
              <a:pPr>
                <a:defRPr/>
              </a:pPr>
              <a:t>159</a:t>
            </a:fld>
            <a:endParaRPr lang="en-JM"/>
          </a:p>
        </p:txBody>
      </p:sp>
    </p:spTree>
    <p:extLst>
      <p:ext uri="{BB962C8B-B14F-4D97-AF65-F5344CB8AC3E}">
        <p14:creationId xmlns:p14="http://schemas.microsoft.com/office/powerpoint/2010/main" val="632721226"/>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t>160</a:t>
            </a:fld>
            <a:endParaRPr lang="fr-FR" dirty="0"/>
          </a:p>
        </p:txBody>
      </p:sp>
    </p:spTree>
    <p:extLst>
      <p:ext uri="{BB962C8B-B14F-4D97-AF65-F5344CB8AC3E}">
        <p14:creationId xmlns:p14="http://schemas.microsoft.com/office/powerpoint/2010/main" val="2744928155"/>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t>161</a:t>
            </a:fld>
            <a:endParaRPr lang="fr-FR" dirty="0"/>
          </a:p>
        </p:txBody>
      </p:sp>
    </p:spTree>
    <p:extLst>
      <p:ext uri="{BB962C8B-B14F-4D97-AF65-F5344CB8AC3E}">
        <p14:creationId xmlns:p14="http://schemas.microsoft.com/office/powerpoint/2010/main" val="349325298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t>162</a:t>
            </a:fld>
            <a:endParaRPr lang="fr-FR" dirty="0"/>
          </a:p>
        </p:txBody>
      </p:sp>
    </p:spTree>
    <p:extLst>
      <p:ext uri="{BB962C8B-B14F-4D97-AF65-F5344CB8AC3E}">
        <p14:creationId xmlns:p14="http://schemas.microsoft.com/office/powerpoint/2010/main" val="2782081328"/>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FR"/>
          </a:p>
        </p:txBody>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C73AD29E-BFB6-4815-B580-52E0FFE6B461}" type="slidenum">
              <a:rPr lang="fr-FR" smtClean="0"/>
              <a:pPr/>
              <a:t>163</a:t>
            </a:fld>
            <a:endParaRPr lang="fr-FR"/>
          </a:p>
        </p:txBody>
      </p:sp>
    </p:spTree>
    <p:extLst>
      <p:ext uri="{BB962C8B-B14F-4D97-AF65-F5344CB8AC3E}">
        <p14:creationId xmlns:p14="http://schemas.microsoft.com/office/powerpoint/2010/main" val="15059161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hyperlink" Target="http://pizplomb.fr/" TargetMode="External"/></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8.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re GRAPH">
    <p:spTree>
      <p:nvGrpSpPr>
        <p:cNvPr id="1" name=""/>
        <p:cNvGrpSpPr/>
        <p:nvPr/>
      </p:nvGrpSpPr>
      <p:grpSpPr>
        <a:xfrm>
          <a:off x="0" y="0"/>
          <a:ext cx="0" cy="0"/>
          <a:chOff x="0" y="0"/>
          <a:chExt cx="0" cy="0"/>
        </a:xfrm>
      </p:grpSpPr>
      <p:sp>
        <p:nvSpPr>
          <p:cNvPr id="3" name="Sous-titre 2"/>
          <p:cNvSpPr>
            <a:spLocks noGrp="1"/>
          </p:cNvSpPr>
          <p:nvPr>
            <p:ph type="subTitle" idx="1"/>
          </p:nvPr>
        </p:nvSpPr>
        <p:spPr>
          <a:xfrm rot="20916814">
            <a:off x="2858207" y="1715653"/>
            <a:ext cx="6422590" cy="642942"/>
          </a:xfrm>
          <a:noFill/>
          <a:ln>
            <a:noFill/>
          </a:ln>
        </p:spPr>
        <p:txBody>
          <a:bodyPr>
            <a:noAutofit/>
          </a:bodyPr>
          <a:lstStyle>
            <a:lvl1pPr marL="0" indent="0" algn="ctr">
              <a:buNone/>
              <a:defRPr sz="2800">
                <a:solidFill>
                  <a:schemeClr val="tx1">
                    <a:tint val="75000"/>
                  </a:schemeClr>
                </a:solidFill>
                <a:latin typeface="Permanent Marker" pitchFamily="2" charset="0"/>
                <a:ea typeface="Permanent Marker"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fr-FR" dirty="0"/>
          </a:p>
        </p:txBody>
      </p:sp>
      <p:sp>
        <p:nvSpPr>
          <p:cNvPr id="6" name="Espace réservé du numéro de diapositive 5"/>
          <p:cNvSpPr>
            <a:spLocks noGrp="1"/>
          </p:cNvSpPr>
          <p:nvPr>
            <p:ph type="sldNum" sz="quarter" idx="12"/>
          </p:nvPr>
        </p:nvSpPr>
        <p:spPr/>
        <p:txBody>
          <a:bodyPr/>
          <a:lstStyle/>
          <a:p>
            <a:fld id="{BC6F2980-C15E-4A6C-B3EA-12E3F1929291}" type="slidenum">
              <a:rPr lang="fr-FR" smtClean="0"/>
              <a:pPr/>
              <a:t>‹N°›</a:t>
            </a:fld>
            <a:endParaRPr lang="fr-FR"/>
          </a:p>
        </p:txBody>
      </p:sp>
      <p:sp>
        <p:nvSpPr>
          <p:cNvPr id="2" name="Titre 1"/>
          <p:cNvSpPr>
            <a:spLocks noGrp="1"/>
          </p:cNvSpPr>
          <p:nvPr>
            <p:ph type="ctrTitle" hasCustomPrompt="1"/>
          </p:nvPr>
        </p:nvSpPr>
        <p:spPr>
          <a:xfrm>
            <a:off x="0" y="4929198"/>
            <a:ext cx="9144000" cy="755645"/>
          </a:xfrm>
        </p:spPr>
        <p:style>
          <a:lnRef idx="0">
            <a:schemeClr val="accent2"/>
          </a:lnRef>
          <a:fillRef idx="3">
            <a:schemeClr val="accent2"/>
          </a:fillRef>
          <a:effectRef idx="3">
            <a:schemeClr val="accent2"/>
          </a:effectRef>
          <a:fontRef idx="none"/>
        </p:style>
        <p:txBody>
          <a:bodyPr>
            <a:normAutofit/>
          </a:bodyPr>
          <a:lstStyle>
            <a:lvl1pPr>
              <a:defRPr sz="4000" baseline="0">
                <a:solidFill>
                  <a:schemeClr val="bg1"/>
                </a:solidFill>
              </a:defRPr>
            </a:lvl1pPr>
          </a:lstStyle>
          <a:p>
            <a:r>
              <a:rPr lang="fr-FR" dirty="0"/>
              <a:t>Ecrire un plugin </a:t>
            </a:r>
            <a:r>
              <a:rPr lang="fr-FR" dirty="0" err="1"/>
              <a:t>Wordpress</a:t>
            </a:r>
            <a:endParaRPr lang="fr-FR" dirty="0"/>
          </a:p>
        </p:txBody>
      </p:sp>
      <p:pic>
        <p:nvPicPr>
          <p:cNvPr id="1026" name="Picture 2" descr="ORSYS - Organisme de formation en IT, management et autres ...">
            <a:extLst>
              <a:ext uri="{FF2B5EF4-FFF2-40B4-BE49-F238E27FC236}">
                <a16:creationId xmlns:a16="http://schemas.microsoft.com/office/drawing/2014/main" id="{751389F3-9AF4-299A-DAF0-CB587483C2A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520" y="116632"/>
            <a:ext cx="4105275" cy="143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27303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re GRAPH">
    <p:spTree>
      <p:nvGrpSpPr>
        <p:cNvPr id="1" name=""/>
        <p:cNvGrpSpPr/>
        <p:nvPr/>
      </p:nvGrpSpPr>
      <p:grpSpPr>
        <a:xfrm>
          <a:off x="0" y="0"/>
          <a:ext cx="0" cy="0"/>
          <a:chOff x="0" y="0"/>
          <a:chExt cx="0" cy="0"/>
        </a:xfrm>
      </p:grpSpPr>
      <p:sp>
        <p:nvSpPr>
          <p:cNvPr id="3" name="Sous-titre 2"/>
          <p:cNvSpPr>
            <a:spLocks noGrp="1"/>
          </p:cNvSpPr>
          <p:nvPr>
            <p:ph type="subTitle" idx="1" hasCustomPrompt="1"/>
          </p:nvPr>
        </p:nvSpPr>
        <p:spPr>
          <a:xfrm rot="20916814">
            <a:off x="3214939" y="5128233"/>
            <a:ext cx="6422590" cy="642942"/>
          </a:xfrm>
          <a:noFill/>
          <a:ln>
            <a:noFill/>
          </a:ln>
        </p:spPr>
        <p:txBody>
          <a:bodyPr>
            <a:noAutofit/>
          </a:bodyPr>
          <a:lstStyle>
            <a:lvl1pPr marL="0" indent="0" algn="ctr">
              <a:buNone/>
              <a:defRPr sz="2800">
                <a:solidFill>
                  <a:schemeClr val="tx1">
                    <a:tint val="75000"/>
                  </a:schemeClr>
                </a:solidFill>
                <a:latin typeface="Permanent Marker" pitchFamily="2" charset="0"/>
                <a:ea typeface="Permanent Marker"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dirty="0"/>
              <a:t>A BIENTÔT</a:t>
            </a:r>
          </a:p>
        </p:txBody>
      </p:sp>
      <p:sp>
        <p:nvSpPr>
          <p:cNvPr id="6" name="Espace réservé du numéro de diapositive 5"/>
          <p:cNvSpPr>
            <a:spLocks noGrp="1"/>
          </p:cNvSpPr>
          <p:nvPr>
            <p:ph type="sldNum" sz="quarter" idx="12"/>
          </p:nvPr>
        </p:nvSpPr>
        <p:spPr/>
        <p:txBody>
          <a:bodyPr/>
          <a:lstStyle/>
          <a:p>
            <a:fld id="{BC6F2980-C15E-4A6C-B3EA-12E3F1929291}" type="slidenum">
              <a:rPr lang="fr-FR" smtClean="0"/>
              <a:pPr/>
              <a:t>‹N°›</a:t>
            </a:fld>
            <a:endParaRPr lang="fr-FR"/>
          </a:p>
        </p:txBody>
      </p:sp>
      <p:pic>
        <p:nvPicPr>
          <p:cNvPr id="2050" name="Picture 2" descr="ORSYS - Organisme de formation en IT, management et autres ...">
            <a:extLst>
              <a:ext uri="{FF2B5EF4-FFF2-40B4-BE49-F238E27FC236}">
                <a16:creationId xmlns:a16="http://schemas.microsoft.com/office/drawing/2014/main" id="{3DE71559-4995-D922-F2CD-FBEA26DF988B}"/>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9362" y="1916832"/>
            <a:ext cx="4105275" cy="143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1848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re">
    <p:spTree>
      <p:nvGrpSpPr>
        <p:cNvPr id="1" name=""/>
        <p:cNvGrpSpPr/>
        <p:nvPr/>
      </p:nvGrpSpPr>
      <p:grpSpPr>
        <a:xfrm>
          <a:off x="0" y="0"/>
          <a:ext cx="0" cy="0"/>
          <a:chOff x="0" y="0"/>
          <a:chExt cx="0" cy="0"/>
        </a:xfrm>
      </p:grpSpPr>
      <p:sp>
        <p:nvSpPr>
          <p:cNvPr id="3" name="Sous-titre 2"/>
          <p:cNvSpPr>
            <a:spLocks noGrp="1"/>
          </p:cNvSpPr>
          <p:nvPr>
            <p:ph type="subTitle" idx="1"/>
          </p:nvPr>
        </p:nvSpPr>
        <p:spPr>
          <a:xfrm>
            <a:off x="-32" y="5857892"/>
            <a:ext cx="9144032" cy="642942"/>
          </a:xfrm>
          <a:noFill/>
          <a:ln>
            <a:noFill/>
          </a:ln>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fr-FR" dirty="0"/>
          </a:p>
        </p:txBody>
      </p:sp>
      <p:sp>
        <p:nvSpPr>
          <p:cNvPr id="6" name="Espace réservé du numéro de diapositive 5"/>
          <p:cNvSpPr>
            <a:spLocks noGrp="1"/>
          </p:cNvSpPr>
          <p:nvPr>
            <p:ph type="sldNum" sz="quarter" idx="12"/>
          </p:nvPr>
        </p:nvSpPr>
        <p:spPr/>
        <p:txBody>
          <a:bodyPr/>
          <a:lstStyle/>
          <a:p>
            <a:fld id="{BC6F2980-C15E-4A6C-B3EA-12E3F1929291}" type="slidenum">
              <a:rPr lang="fr-FR" smtClean="0"/>
              <a:pPr/>
              <a:t>‹N°›</a:t>
            </a:fld>
            <a:endParaRPr lang="fr-FR"/>
          </a:p>
        </p:txBody>
      </p:sp>
      <p:sp>
        <p:nvSpPr>
          <p:cNvPr id="2" name="Titre 1"/>
          <p:cNvSpPr>
            <a:spLocks noGrp="1"/>
          </p:cNvSpPr>
          <p:nvPr>
            <p:ph type="ctrTitle"/>
          </p:nvPr>
        </p:nvSpPr>
        <p:spPr>
          <a:xfrm>
            <a:off x="0" y="5143512"/>
            <a:ext cx="9144000" cy="755645"/>
          </a:xfrm>
        </p:spPr>
        <p:style>
          <a:lnRef idx="0">
            <a:schemeClr val="accent2"/>
          </a:lnRef>
          <a:fillRef idx="3">
            <a:schemeClr val="accent2"/>
          </a:fillRef>
          <a:effectRef idx="3">
            <a:schemeClr val="accent2"/>
          </a:effectRef>
          <a:fontRef idx="none"/>
        </p:style>
        <p:txBody>
          <a:bodyPr>
            <a:normAutofit/>
          </a:bodyPr>
          <a:lstStyle>
            <a:lvl1pPr>
              <a:defRPr sz="4000">
                <a:solidFill>
                  <a:schemeClr val="bg1"/>
                </a:solidFill>
              </a:defRPr>
            </a:lvl1pPr>
          </a:lstStyle>
          <a:p>
            <a:r>
              <a:rPr lang="fr-FR"/>
              <a:t>Modifiez le style du titre</a:t>
            </a:r>
            <a:endParaRPr lang="fr-FR" dirty="0"/>
          </a:p>
        </p:txBody>
      </p:sp>
      <p:pic>
        <p:nvPicPr>
          <p:cNvPr id="3074" name="Picture 2" descr="ORSYS - Organisme de formation en IT, management et autres ...">
            <a:extLst>
              <a:ext uri="{FF2B5EF4-FFF2-40B4-BE49-F238E27FC236}">
                <a16:creationId xmlns:a16="http://schemas.microsoft.com/office/drawing/2014/main" id="{7E1D4AAA-7AC6-C501-292C-28CEC5AB721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9346" y="1700808"/>
            <a:ext cx="4105275" cy="143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0574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ous-titre">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a:noFill/>
          <a:ln>
            <a:noFill/>
          </a:ln>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204751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ous-titre GRAPH">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rot="20527304">
            <a:off x="238372" y="747695"/>
            <a:ext cx="7772400" cy="1159053"/>
          </a:xfrm>
          <a:noFill/>
          <a:ln>
            <a:noFill/>
          </a:ln>
          <a:effectLst>
            <a:outerShdw blurRad="50800" dist="38100" dir="5400000" algn="t" rotWithShape="0">
              <a:prstClr val="black">
                <a:alpha val="23000"/>
              </a:prstClr>
            </a:outerShdw>
          </a:effectLst>
        </p:spPr>
        <p:txBody>
          <a:bodyPr anchor="b">
            <a:normAutofit/>
          </a:bodyPr>
          <a:lstStyle>
            <a:lvl1pPr marL="0" indent="0">
              <a:buNone/>
              <a:defRPr sz="3200">
                <a:solidFill>
                  <a:schemeClr val="tx1">
                    <a:tint val="75000"/>
                  </a:schemeClr>
                </a:solidFill>
                <a:latin typeface="Permanent Marker" pitchFamily="2" charset="0"/>
                <a:ea typeface="Permanent Marker" pitchFamily="2"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330786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ORSYS_logistique">
    <p:spTree>
      <p:nvGrpSpPr>
        <p:cNvPr id="1" name=""/>
        <p:cNvGrpSpPr/>
        <p:nvPr/>
      </p:nvGrpSpPr>
      <p:grpSpPr>
        <a:xfrm>
          <a:off x="0" y="0"/>
          <a:ext cx="0" cy="0"/>
          <a:chOff x="0" y="0"/>
          <a:chExt cx="0" cy="0"/>
        </a:xfrm>
      </p:grpSpPr>
      <p:sp>
        <p:nvSpPr>
          <p:cNvPr id="2" name="Titre 1"/>
          <p:cNvSpPr>
            <a:spLocks noGrp="1"/>
          </p:cNvSpPr>
          <p:nvPr>
            <p:ph type="title"/>
          </p:nvPr>
        </p:nvSpPr>
        <p:spPr>
          <a:xfrm>
            <a:off x="277803" y="273050"/>
            <a:ext cx="3008313" cy="1162050"/>
          </a:xfrm>
        </p:spPr>
        <p:txBody>
          <a:bodyPr anchor="b"/>
          <a:lstStyle>
            <a:lvl1pPr algn="l">
              <a:defRPr sz="2000" b="1"/>
            </a:lvl1pPr>
          </a:lstStyle>
          <a:p>
            <a:r>
              <a:rPr lang="fr-FR"/>
              <a:t>Modifiez le style du titre</a:t>
            </a:r>
          </a:p>
        </p:txBody>
      </p:sp>
      <p:sp>
        <p:nvSpPr>
          <p:cNvPr id="5" name="Espace réservé de la date 4"/>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C6F2980-C15E-4A6C-B3EA-12E3F1929291}" type="slidenum">
              <a:rPr lang="fr-FR" smtClean="0"/>
              <a:pPr/>
              <a:t>‹N°›</a:t>
            </a:fld>
            <a:endParaRPr lang="fr-FR"/>
          </a:p>
        </p:txBody>
      </p:sp>
      <p:sp>
        <p:nvSpPr>
          <p:cNvPr id="8" name="Espace réservé du contenu 4"/>
          <p:cNvSpPr>
            <a:spLocks noGrp="1"/>
          </p:cNvSpPr>
          <p:nvPr>
            <p:ph idx="1" hasCustomPrompt="1"/>
          </p:nvPr>
        </p:nvSpPr>
        <p:spPr>
          <a:xfrm>
            <a:off x="3357554" y="273050"/>
            <a:ext cx="5572164" cy="6156346"/>
          </a:xfrm>
        </p:spPr>
        <p:txBody>
          <a:bodyPr/>
          <a:lstStyle>
            <a:lvl2pPr>
              <a:defRPr baseline="0"/>
            </a:lvl2pPr>
          </a:lstStyle>
          <a:p>
            <a:r>
              <a:rPr lang="fr-FR" dirty="0"/>
              <a:t>Nombre de jours : </a:t>
            </a:r>
          </a:p>
          <a:p>
            <a:pPr lvl="1"/>
            <a:r>
              <a:rPr lang="fr-FR" dirty="0"/>
              <a:t>      jour(s) </a:t>
            </a:r>
          </a:p>
          <a:p>
            <a:pPr lvl="1"/>
            <a:endParaRPr lang="fr-FR" dirty="0"/>
          </a:p>
          <a:p>
            <a:r>
              <a:rPr lang="fr-FR" dirty="0"/>
              <a:t>Horaires </a:t>
            </a:r>
          </a:p>
          <a:p>
            <a:pPr lvl="1"/>
            <a:r>
              <a:rPr lang="fr-FR" dirty="0"/>
              <a:t>Début : 9h </a:t>
            </a:r>
          </a:p>
          <a:p>
            <a:pPr lvl="1"/>
            <a:r>
              <a:rPr lang="fr-FR" dirty="0"/>
              <a:t>Fin : 17h30 </a:t>
            </a:r>
            <a:r>
              <a:rPr lang="fr-FR" sz="1600" b="1" dirty="0" err="1">
                <a:solidFill>
                  <a:prstClr val="black"/>
                </a:solidFill>
              </a:rPr>
              <a:t>approx</a:t>
            </a:r>
            <a:r>
              <a:rPr lang="fr-FR" sz="1600" b="1" dirty="0">
                <a:solidFill>
                  <a:prstClr val="black"/>
                </a:solidFill>
              </a:rPr>
              <a:t>.</a:t>
            </a:r>
            <a:endParaRPr lang="fr-FR" dirty="0"/>
          </a:p>
          <a:p>
            <a:endParaRPr lang="fr-FR" dirty="0"/>
          </a:p>
          <a:p>
            <a:r>
              <a:rPr lang="fr-FR" dirty="0"/>
              <a:t>Pause </a:t>
            </a:r>
          </a:p>
          <a:p>
            <a:pPr lvl="1"/>
            <a:r>
              <a:rPr lang="fr-FR" dirty="0"/>
              <a:t>10h30 </a:t>
            </a:r>
            <a:r>
              <a:rPr lang="fr-FR" sz="1600" b="1" dirty="0" err="1"/>
              <a:t>approx</a:t>
            </a:r>
            <a:r>
              <a:rPr lang="fr-FR" sz="1600" b="1" dirty="0"/>
              <a:t>. </a:t>
            </a:r>
            <a:r>
              <a:rPr lang="fr-FR" dirty="0"/>
              <a:t>Matin</a:t>
            </a:r>
          </a:p>
          <a:p>
            <a:pPr lvl="1"/>
            <a:r>
              <a:rPr lang="fr-FR" dirty="0"/>
              <a:t>12h30 </a:t>
            </a:r>
            <a:r>
              <a:rPr lang="fr-FR" sz="1600" b="1" dirty="0" err="1">
                <a:solidFill>
                  <a:prstClr val="black"/>
                </a:solidFill>
              </a:rPr>
              <a:t>approx</a:t>
            </a:r>
            <a:r>
              <a:rPr lang="fr-FR" sz="1600" b="1" dirty="0">
                <a:solidFill>
                  <a:prstClr val="black"/>
                </a:solidFill>
              </a:rPr>
              <a:t>. </a:t>
            </a:r>
            <a:r>
              <a:rPr lang="fr-FR" dirty="0"/>
              <a:t>Midi</a:t>
            </a:r>
          </a:p>
          <a:p>
            <a:pPr lvl="1"/>
            <a:r>
              <a:rPr lang="fr-FR" dirty="0"/>
              <a:t>15h30 </a:t>
            </a:r>
            <a:r>
              <a:rPr lang="fr-FR" sz="1600" b="1" dirty="0" err="1">
                <a:solidFill>
                  <a:prstClr val="black"/>
                </a:solidFill>
              </a:rPr>
              <a:t>approx</a:t>
            </a:r>
            <a:r>
              <a:rPr lang="fr-FR" sz="1600" b="1" dirty="0">
                <a:solidFill>
                  <a:prstClr val="black"/>
                </a:solidFill>
              </a:rPr>
              <a:t>. </a:t>
            </a:r>
            <a:r>
              <a:rPr lang="fr-FR" dirty="0" err="1"/>
              <a:t>Apres-midi</a:t>
            </a:r>
            <a:endParaRPr lang="fr-FR" dirty="0"/>
          </a:p>
          <a:p>
            <a:endParaRPr lang="fr-FR" dirty="0"/>
          </a:p>
        </p:txBody>
      </p:sp>
      <p:grpSp>
        <p:nvGrpSpPr>
          <p:cNvPr id="3" name="Groupe 13"/>
          <p:cNvGrpSpPr/>
          <p:nvPr/>
        </p:nvGrpSpPr>
        <p:grpSpPr>
          <a:xfrm>
            <a:off x="1071538" y="1643050"/>
            <a:ext cx="1500198" cy="1928826"/>
            <a:chOff x="714348" y="2071678"/>
            <a:chExt cx="1500198" cy="1928826"/>
          </a:xfrm>
        </p:grpSpPr>
        <p:pic>
          <p:nvPicPr>
            <p:cNvPr id="10" name="Picture 3"/>
            <p:cNvPicPr>
              <a:picLocks noChangeAspect="1" noChangeArrowheads="1"/>
            </p:cNvPicPr>
            <p:nvPr/>
          </p:nvPicPr>
          <p:blipFill>
            <a:blip r:embed="rId2"/>
            <a:srcRect/>
            <a:stretch>
              <a:fillRect/>
            </a:stretch>
          </p:blipFill>
          <p:spPr bwMode="auto">
            <a:xfrm>
              <a:off x="714348" y="2071678"/>
              <a:ext cx="1500198" cy="1928826"/>
            </a:xfrm>
            <a:prstGeom prst="rect">
              <a:avLst/>
            </a:prstGeom>
            <a:noFill/>
            <a:ln w="9525">
              <a:noFill/>
              <a:miter lim="800000"/>
              <a:headEnd/>
              <a:tailEnd/>
            </a:ln>
            <a:effectLst/>
          </p:spPr>
        </p:pic>
        <p:pic>
          <p:nvPicPr>
            <p:cNvPr id="11" name="Picture 3" descr="C:\Users\Alex\Desktop\0021uzlj09b563yl.jpg"/>
            <p:cNvPicPr>
              <a:picLocks noChangeAspect="1" noChangeArrowheads="1"/>
            </p:cNvPicPr>
            <p:nvPr/>
          </p:nvPicPr>
          <p:blipFill>
            <a:blip r:embed="rId3"/>
            <a:srcRect/>
            <a:stretch>
              <a:fillRect/>
            </a:stretch>
          </p:blipFill>
          <p:spPr bwMode="auto">
            <a:xfrm>
              <a:off x="1039558" y="2500306"/>
              <a:ext cx="858620" cy="1071570"/>
            </a:xfrm>
            <a:prstGeom prst="rect">
              <a:avLst/>
            </a:prstGeom>
            <a:noFill/>
          </p:spPr>
        </p:pic>
      </p:grpSp>
      <p:pic>
        <p:nvPicPr>
          <p:cNvPr id="12" name="Picture 2"/>
          <p:cNvPicPr>
            <a:picLocks noChangeAspect="1" noChangeArrowheads="1"/>
          </p:cNvPicPr>
          <p:nvPr/>
        </p:nvPicPr>
        <p:blipFill>
          <a:blip r:embed="rId4"/>
          <a:srcRect/>
          <a:stretch>
            <a:fillRect/>
          </a:stretch>
        </p:blipFill>
        <p:spPr bwMode="auto">
          <a:xfrm>
            <a:off x="1" y="3602764"/>
            <a:ext cx="3571868" cy="3440962"/>
          </a:xfrm>
          <a:prstGeom prst="rect">
            <a:avLst/>
          </a:prstGeom>
          <a:noFill/>
          <a:ln w="9525">
            <a:noFill/>
            <a:miter lim="800000"/>
            <a:headEnd/>
            <a:tailEnd/>
          </a:ln>
          <a:effectLst/>
        </p:spPr>
      </p:pic>
      <p:sp>
        <p:nvSpPr>
          <p:cNvPr id="13" name="Espace réservé du contenu 4"/>
          <p:cNvSpPr>
            <a:spLocks noGrp="1"/>
          </p:cNvSpPr>
          <p:nvPr>
            <p:ph idx="1" hasCustomPrompt="1"/>
          </p:nvPr>
        </p:nvSpPr>
        <p:spPr>
          <a:xfrm>
            <a:off x="3357554" y="273050"/>
            <a:ext cx="5572164" cy="6156346"/>
          </a:xfrm>
        </p:spPr>
        <p:txBody>
          <a:bodyPr/>
          <a:lstStyle>
            <a:lvl2pPr>
              <a:defRPr baseline="0"/>
            </a:lvl2pPr>
          </a:lstStyle>
          <a:p>
            <a:r>
              <a:rPr lang="fr-FR" dirty="0"/>
              <a:t>Nombre de jours : </a:t>
            </a:r>
          </a:p>
          <a:p>
            <a:pPr lvl="1"/>
            <a:r>
              <a:rPr lang="fr-FR" dirty="0"/>
              <a:t>      jour(s) </a:t>
            </a:r>
          </a:p>
          <a:p>
            <a:pPr lvl="1"/>
            <a:endParaRPr lang="fr-FR" dirty="0"/>
          </a:p>
          <a:p>
            <a:r>
              <a:rPr lang="fr-FR" dirty="0"/>
              <a:t>Horaires </a:t>
            </a:r>
          </a:p>
          <a:p>
            <a:pPr lvl="1"/>
            <a:r>
              <a:rPr lang="fr-FR" dirty="0"/>
              <a:t>Début : 9h </a:t>
            </a:r>
          </a:p>
          <a:p>
            <a:pPr lvl="1"/>
            <a:r>
              <a:rPr lang="fr-FR" dirty="0"/>
              <a:t>Fin : 17h30 </a:t>
            </a:r>
            <a:r>
              <a:rPr lang="fr-FR" sz="1600" b="1" dirty="0" err="1">
                <a:solidFill>
                  <a:prstClr val="black"/>
                </a:solidFill>
              </a:rPr>
              <a:t>approx</a:t>
            </a:r>
            <a:r>
              <a:rPr lang="fr-FR" sz="1600" b="1" dirty="0">
                <a:solidFill>
                  <a:prstClr val="black"/>
                </a:solidFill>
              </a:rPr>
              <a:t>.</a:t>
            </a:r>
            <a:endParaRPr lang="fr-FR" dirty="0"/>
          </a:p>
          <a:p>
            <a:endParaRPr lang="fr-FR" dirty="0"/>
          </a:p>
          <a:p>
            <a:r>
              <a:rPr lang="fr-FR" dirty="0"/>
              <a:t>Pause </a:t>
            </a:r>
          </a:p>
          <a:p>
            <a:pPr lvl="1"/>
            <a:r>
              <a:rPr lang="fr-FR" dirty="0"/>
              <a:t>10h30 </a:t>
            </a:r>
            <a:r>
              <a:rPr lang="fr-FR" sz="1600" b="1" dirty="0" err="1"/>
              <a:t>approx</a:t>
            </a:r>
            <a:r>
              <a:rPr lang="fr-FR" sz="1600" b="1" dirty="0"/>
              <a:t>. </a:t>
            </a:r>
            <a:r>
              <a:rPr lang="fr-FR" dirty="0"/>
              <a:t>Matin</a:t>
            </a:r>
          </a:p>
          <a:p>
            <a:pPr lvl="1"/>
            <a:r>
              <a:rPr lang="fr-FR" dirty="0"/>
              <a:t>12h30 </a:t>
            </a:r>
            <a:r>
              <a:rPr lang="fr-FR" sz="1600" b="1" dirty="0" err="1">
                <a:solidFill>
                  <a:prstClr val="black"/>
                </a:solidFill>
              </a:rPr>
              <a:t>approx</a:t>
            </a:r>
            <a:r>
              <a:rPr lang="fr-FR" sz="1600" b="1" dirty="0">
                <a:solidFill>
                  <a:prstClr val="black"/>
                </a:solidFill>
              </a:rPr>
              <a:t>. </a:t>
            </a:r>
            <a:r>
              <a:rPr lang="fr-FR" dirty="0"/>
              <a:t>Midi</a:t>
            </a:r>
          </a:p>
          <a:p>
            <a:pPr lvl="1"/>
            <a:r>
              <a:rPr lang="fr-FR" dirty="0"/>
              <a:t>15h30 </a:t>
            </a:r>
            <a:r>
              <a:rPr lang="fr-FR" sz="1600" b="1" dirty="0" err="1">
                <a:solidFill>
                  <a:prstClr val="black"/>
                </a:solidFill>
              </a:rPr>
              <a:t>approx</a:t>
            </a:r>
            <a:r>
              <a:rPr lang="fr-FR" sz="1600" b="1" dirty="0">
                <a:solidFill>
                  <a:prstClr val="black"/>
                </a:solidFill>
              </a:rPr>
              <a:t>. </a:t>
            </a:r>
            <a:r>
              <a:rPr lang="fr-FR" dirty="0" err="1"/>
              <a:t>Apres-midi</a:t>
            </a:r>
            <a:endParaRPr lang="fr-FR" dirty="0"/>
          </a:p>
          <a:p>
            <a:endParaRPr lang="fr-FR" dirty="0"/>
          </a:p>
        </p:txBody>
      </p:sp>
      <p:pic>
        <p:nvPicPr>
          <p:cNvPr id="15" name="Picture 3"/>
          <p:cNvPicPr>
            <a:picLocks noChangeAspect="1" noChangeArrowheads="1"/>
          </p:cNvPicPr>
          <p:nvPr/>
        </p:nvPicPr>
        <p:blipFill>
          <a:blip r:embed="rId2"/>
          <a:srcRect/>
          <a:stretch>
            <a:fillRect/>
          </a:stretch>
        </p:blipFill>
        <p:spPr bwMode="auto">
          <a:xfrm>
            <a:off x="1071538" y="1643050"/>
            <a:ext cx="1500198" cy="1928826"/>
          </a:xfrm>
          <a:prstGeom prst="rect">
            <a:avLst/>
          </a:prstGeom>
          <a:noFill/>
          <a:ln w="9525">
            <a:noFill/>
            <a:miter lim="800000"/>
            <a:headEnd/>
            <a:tailEnd/>
          </a:ln>
          <a:effectLst/>
        </p:spPr>
      </p:pic>
      <p:pic>
        <p:nvPicPr>
          <p:cNvPr id="17" name="Picture 2"/>
          <p:cNvPicPr>
            <a:picLocks noChangeAspect="1" noChangeArrowheads="1"/>
          </p:cNvPicPr>
          <p:nvPr/>
        </p:nvPicPr>
        <p:blipFill>
          <a:blip r:embed="rId4"/>
          <a:srcRect/>
          <a:stretch>
            <a:fillRect/>
          </a:stretch>
        </p:blipFill>
        <p:spPr bwMode="auto">
          <a:xfrm>
            <a:off x="1" y="3602764"/>
            <a:ext cx="3571868" cy="3440962"/>
          </a:xfrm>
          <a:prstGeom prst="rect">
            <a:avLst/>
          </a:prstGeom>
          <a:noFill/>
          <a:ln w="9525">
            <a:noFill/>
            <a:miter lim="800000"/>
            <a:headEnd/>
            <a:tailEnd/>
          </a:ln>
          <a:effectLst/>
        </p:spPr>
      </p:pic>
      <p:grpSp>
        <p:nvGrpSpPr>
          <p:cNvPr id="19" name="Groupe 18">
            <a:extLst>
              <a:ext uri="{FF2B5EF4-FFF2-40B4-BE49-F238E27FC236}">
                <a16:creationId xmlns:a16="http://schemas.microsoft.com/office/drawing/2014/main" id="{36DCC9AB-C2D2-BA28-2894-441A105E2885}"/>
              </a:ext>
            </a:extLst>
          </p:cNvPr>
          <p:cNvGrpSpPr/>
          <p:nvPr userDrawn="1"/>
        </p:nvGrpSpPr>
        <p:grpSpPr>
          <a:xfrm>
            <a:off x="1393466" y="2071678"/>
            <a:ext cx="861902" cy="1069290"/>
            <a:chOff x="1393466" y="2071678"/>
            <a:chExt cx="861902" cy="1069290"/>
          </a:xfrm>
        </p:grpSpPr>
        <p:sp>
          <p:nvSpPr>
            <p:cNvPr id="18" name="Rectangle 17">
              <a:extLst>
                <a:ext uri="{FF2B5EF4-FFF2-40B4-BE49-F238E27FC236}">
                  <a16:creationId xmlns:a16="http://schemas.microsoft.com/office/drawing/2014/main" id="{15429492-3D30-52B6-8433-1653B17095CA}"/>
                </a:ext>
              </a:extLst>
            </p:cNvPr>
            <p:cNvSpPr/>
            <p:nvPr userDrawn="1"/>
          </p:nvSpPr>
          <p:spPr>
            <a:xfrm flipH="1">
              <a:off x="1393466" y="2071678"/>
              <a:ext cx="858620" cy="10692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4" name="Image 13">
              <a:extLst>
                <a:ext uri="{FF2B5EF4-FFF2-40B4-BE49-F238E27FC236}">
                  <a16:creationId xmlns:a16="http://schemas.microsoft.com/office/drawing/2014/main" id="{FD62E220-697D-7EA3-10FD-2573C23736DA}"/>
                </a:ext>
              </a:extLst>
            </p:cNvPr>
            <p:cNvPicPr>
              <a:picLocks noChangeAspect="1"/>
            </p:cNvPicPr>
            <p:nvPr userDrawn="1"/>
          </p:nvPicPr>
          <p:blipFill>
            <a:blip r:embed="rId5"/>
            <a:stretch>
              <a:fillRect/>
            </a:stretch>
          </p:blipFill>
          <p:spPr>
            <a:xfrm>
              <a:off x="1393467" y="2130576"/>
              <a:ext cx="861901" cy="938384"/>
            </a:xfrm>
            <a:prstGeom prst="rect">
              <a:avLst/>
            </a:prstGeom>
          </p:spPr>
        </p:pic>
      </p:grpSp>
    </p:spTree>
    <p:extLst>
      <p:ext uri="{BB962C8B-B14F-4D97-AF65-F5344CB8AC3E}">
        <p14:creationId xmlns:p14="http://schemas.microsoft.com/office/powerpoint/2010/main" val="684552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ORSYS_generique">
    <p:spTree>
      <p:nvGrpSpPr>
        <p:cNvPr id="1" name=""/>
        <p:cNvGrpSpPr/>
        <p:nvPr/>
      </p:nvGrpSpPr>
      <p:grpSpPr>
        <a:xfrm>
          <a:off x="0" y="0"/>
          <a:ext cx="0" cy="0"/>
          <a:chOff x="0" y="0"/>
          <a:chExt cx="0" cy="0"/>
        </a:xfrm>
      </p:grpSpPr>
      <p:sp>
        <p:nvSpPr>
          <p:cNvPr id="2" name="Titre 1"/>
          <p:cNvSpPr>
            <a:spLocks noGrp="1"/>
          </p:cNvSpPr>
          <p:nvPr>
            <p:ph type="title"/>
          </p:nvPr>
        </p:nvSpPr>
        <p:spPr>
          <a:xfrm>
            <a:off x="277803" y="273050"/>
            <a:ext cx="3008313" cy="1162050"/>
          </a:xfrm>
        </p:spPr>
        <p:txBody>
          <a:bodyPr anchor="b"/>
          <a:lstStyle>
            <a:lvl1pPr algn="l">
              <a:defRPr sz="2000" b="1"/>
            </a:lvl1pPr>
          </a:lstStyle>
          <a:p>
            <a:r>
              <a:rPr lang="fr-FR"/>
              <a:t>Modifiez le style du titre</a:t>
            </a:r>
            <a:endParaRPr lang="fr-FR" dirty="0"/>
          </a:p>
        </p:txBody>
      </p:sp>
      <p:sp>
        <p:nvSpPr>
          <p:cNvPr id="5" name="Espace réservé de la date 4"/>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C6F2980-C15E-4A6C-B3EA-12E3F1929291}" type="slidenum">
              <a:rPr lang="fr-FR" smtClean="0"/>
              <a:pPr/>
              <a:t>‹N°›</a:t>
            </a:fld>
            <a:endParaRPr lang="fr-FR"/>
          </a:p>
        </p:txBody>
      </p:sp>
      <p:pic>
        <p:nvPicPr>
          <p:cNvPr id="10" name="Picture 3"/>
          <p:cNvPicPr>
            <a:picLocks noChangeAspect="1" noChangeArrowheads="1"/>
          </p:cNvPicPr>
          <p:nvPr/>
        </p:nvPicPr>
        <p:blipFill>
          <a:blip r:embed="rId2"/>
          <a:srcRect/>
          <a:stretch>
            <a:fillRect/>
          </a:stretch>
        </p:blipFill>
        <p:spPr bwMode="auto">
          <a:xfrm>
            <a:off x="1142976" y="1655474"/>
            <a:ext cx="1571636" cy="1844964"/>
          </a:xfrm>
          <a:prstGeom prst="rect">
            <a:avLst/>
          </a:prstGeom>
          <a:noFill/>
          <a:ln w="9525">
            <a:noFill/>
            <a:miter lim="800000"/>
            <a:headEnd/>
            <a:tailEnd/>
          </a:ln>
          <a:effectLst/>
        </p:spPr>
      </p:pic>
      <p:sp>
        <p:nvSpPr>
          <p:cNvPr id="14" name="Espace réservé pour une image  13"/>
          <p:cNvSpPr>
            <a:spLocks noGrp="1"/>
          </p:cNvSpPr>
          <p:nvPr>
            <p:ph type="pic" sz="quarter" idx="13" hasCustomPrompt="1"/>
          </p:nvPr>
        </p:nvSpPr>
        <p:spPr>
          <a:xfrm>
            <a:off x="1500188" y="2012674"/>
            <a:ext cx="857250" cy="1071563"/>
          </a:xfrm>
          <a:solidFill>
            <a:schemeClr val="bg1"/>
          </a:solidFill>
        </p:spPr>
        <p:txBody>
          <a:bodyPr>
            <a:noAutofit/>
          </a:bodyPr>
          <a:lstStyle>
            <a:lvl1pPr algn="ctr">
              <a:buNone/>
              <a:defRPr sz="1600"/>
            </a:lvl1pPr>
          </a:lstStyle>
          <a:p>
            <a:r>
              <a:rPr lang="fr-FR" dirty="0"/>
              <a:t>image</a:t>
            </a:r>
          </a:p>
        </p:txBody>
      </p:sp>
      <p:sp>
        <p:nvSpPr>
          <p:cNvPr id="16" name="Espace réservé du contenu 15"/>
          <p:cNvSpPr>
            <a:spLocks noGrp="1"/>
          </p:cNvSpPr>
          <p:nvPr>
            <p:ph sz="quarter" idx="14"/>
          </p:nvPr>
        </p:nvSpPr>
        <p:spPr>
          <a:xfrm>
            <a:off x="3357563" y="285750"/>
            <a:ext cx="5572125" cy="6215063"/>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pic>
        <p:nvPicPr>
          <p:cNvPr id="12" name="Picture 2"/>
          <p:cNvPicPr>
            <a:picLocks noChangeAspect="1" noChangeArrowheads="1"/>
          </p:cNvPicPr>
          <p:nvPr/>
        </p:nvPicPr>
        <p:blipFill>
          <a:blip r:embed="rId3"/>
          <a:srcRect/>
          <a:stretch>
            <a:fillRect/>
          </a:stretch>
        </p:blipFill>
        <p:spPr bwMode="auto">
          <a:xfrm>
            <a:off x="1" y="3602764"/>
            <a:ext cx="3571868" cy="3440962"/>
          </a:xfrm>
          <a:prstGeom prst="rect">
            <a:avLst/>
          </a:prstGeom>
          <a:noFill/>
          <a:ln w="9525">
            <a:noFill/>
            <a:miter lim="800000"/>
            <a:headEnd/>
            <a:tailEnd/>
          </a:ln>
          <a:effectLst/>
        </p:spPr>
      </p:pic>
      <p:pic>
        <p:nvPicPr>
          <p:cNvPr id="11" name="Picture 2"/>
          <p:cNvPicPr>
            <a:picLocks noChangeAspect="1" noChangeArrowheads="1"/>
          </p:cNvPicPr>
          <p:nvPr/>
        </p:nvPicPr>
        <p:blipFill>
          <a:blip r:embed="rId3"/>
          <a:srcRect/>
          <a:stretch>
            <a:fillRect/>
          </a:stretch>
        </p:blipFill>
        <p:spPr bwMode="auto">
          <a:xfrm>
            <a:off x="1" y="3602764"/>
            <a:ext cx="3571868" cy="3440962"/>
          </a:xfrm>
          <a:prstGeom prst="rect">
            <a:avLst/>
          </a:prstGeom>
          <a:noFill/>
          <a:ln w="9525">
            <a:noFill/>
            <a:miter lim="800000"/>
            <a:headEnd/>
            <a:tailEnd/>
          </a:ln>
          <a:effectLst/>
        </p:spPr>
      </p:pic>
    </p:spTree>
    <p:extLst>
      <p:ext uri="{BB962C8B-B14F-4D97-AF65-F5344CB8AC3E}">
        <p14:creationId xmlns:p14="http://schemas.microsoft.com/office/powerpoint/2010/main" val="15162535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lvl1pPr>
              <a:defRPr/>
            </a:lvl1pPr>
            <a:lvl2pPr>
              <a:defRPr/>
            </a:lvl2pPr>
            <a:lvl3pPr>
              <a:defRPr/>
            </a:lvl3pPr>
            <a:lvl4pPr>
              <a:defRPr/>
            </a:lvl4pPr>
            <a:lvl5pPr>
              <a:defRPr/>
            </a:lvl5pPr>
            <a:lvl6pPr>
              <a:defRPr/>
            </a:lvl6pPr>
            <a:lvl7pPr>
              <a:defRPr/>
            </a:lvl7pPr>
            <a:lvl8pPr marL="625475" indent="-228600">
              <a:buFont typeface="Wingdings" pitchFamily="2" charset="2"/>
              <a:buChar char="2"/>
              <a:defRPr/>
            </a:lvl8pPr>
            <a:lvl9pPr marL="625475" indent="-228600">
              <a:buSzPct val="150000"/>
              <a:buFont typeface="Wingdings" pitchFamily="2" charset="2"/>
              <a:buChar char="C"/>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858148" y="6500834"/>
            <a:ext cx="571504" cy="220641"/>
          </a:xfrm>
        </p:spPr>
        <p:txBody>
          <a:bodyPr/>
          <a:lstStyle/>
          <a:p>
            <a:fld id="{BC6F2980-C15E-4A6C-B3EA-12E3F1929291}"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Bouton d'action : Suivant 8">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Bouton d'action : Précédent 9">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2758131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0" y="285728"/>
            <a:ext cx="7429520" cy="1071570"/>
          </a:xfrm>
        </p:spPr>
        <p:txBody>
          <a:bodyPr/>
          <a:lstStyle>
            <a:lvl1pPr>
              <a:defRPr/>
            </a:lvl1pPr>
          </a:lstStyle>
          <a:p>
            <a:r>
              <a:rPr lang="fr-FR" dirty="0"/>
              <a:t>Conclusion</a:t>
            </a:r>
          </a:p>
        </p:txBody>
      </p:sp>
      <p:sp>
        <p:nvSpPr>
          <p:cNvPr id="3" name="Espace réservé du contenu 2"/>
          <p:cNvSpPr>
            <a:spLocks noGrp="1"/>
          </p:cNvSpPr>
          <p:nvPr>
            <p:ph idx="1"/>
          </p:nvPr>
        </p:nvSpPr>
        <p:spPr>
          <a:xfrm>
            <a:off x="1571604" y="1500174"/>
            <a:ext cx="7286676" cy="4786346"/>
          </a:xfrm>
        </p:spPr>
        <p:txBody>
          <a:bodyPr/>
          <a:lstStyle>
            <a:lvl1pPr>
              <a:buFont typeface="Wingdings" pitchFamily="2" charset="2"/>
              <a:buChar char="q"/>
              <a:defRPr/>
            </a:lvl1pPr>
            <a:lvl2pPr marL="971550" marR="0" indent="-514350" algn="l" defTabSz="914400" rtl="0" eaLnBrk="1" fontAlgn="auto" latinLnBrk="0" hangingPunct="1">
              <a:lnSpc>
                <a:spcPct val="100000"/>
              </a:lnSpc>
              <a:spcBef>
                <a:spcPct val="20000"/>
              </a:spcBef>
              <a:spcAft>
                <a:spcPts val="0"/>
              </a:spcAft>
              <a:buClrTx/>
              <a:buSzTx/>
              <a:buFont typeface="Wingdings" pitchFamily="2" charset="2"/>
              <a:buChar char="ü"/>
              <a:tabLst/>
              <a:defRPr/>
            </a:lvl2pPr>
            <a:lvl3pPr>
              <a:buNone/>
              <a:defRPr/>
            </a:lvl3pPr>
            <a:lvl5pPr>
              <a:defRPr/>
            </a:lvl5pPr>
            <a:lvl6pPr marL="454025" indent="-228600">
              <a:buSzPct val="119000"/>
              <a:buFont typeface="Wingdings" pitchFamily="2" charset="2"/>
              <a:buChar char="C"/>
              <a:defRPr sz="2400"/>
            </a:lvl6pPr>
            <a:lvl7pPr>
              <a:defRPr/>
            </a:lvl7pPr>
            <a:lvl8pPr marL="625475" indent="-228600">
              <a:buFont typeface="Wingdings" pitchFamily="2" charset="2"/>
              <a:buChar char="2"/>
              <a:defRPr/>
            </a:lvl8pPr>
            <a:lvl9pPr marL="625475" indent="-228600">
              <a:buSzPct val="150000"/>
              <a:buFont typeface="Wingdings" pitchFamily="2" charset="2"/>
              <a:buChar char="C"/>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6DBA3327-A22A-4705-A988-BAFB87645CAF}" type="datetime1">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858148" y="6500834"/>
            <a:ext cx="571504" cy="220641"/>
          </a:xfrm>
        </p:spPr>
        <p:txBody>
          <a:bodyPr/>
          <a:lstStyle/>
          <a:p>
            <a:fld id="{5A33B5BC-E3F1-4ABE-A1A6-D2608D40EC2E}"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Bouton d'action : Suivant 8">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Bouton d'action : Précédent 9">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371813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lvl1pPr>
              <a:defRPr/>
            </a:lvl1pPr>
            <a:lvl2pPr>
              <a:defRPr/>
            </a:lvl2pPr>
            <a:lvl3pPr>
              <a:defRPr/>
            </a:lvl3pPr>
            <a:lvl4pPr>
              <a:defRPr/>
            </a:lvl4pPr>
            <a:lvl5pPr>
              <a:defRPr/>
            </a:lvl5pPr>
            <a:lvl6pPr>
              <a:defRPr/>
            </a:lvl6pPr>
            <a:lvl7pPr>
              <a:defRPr/>
            </a:lvl7pPr>
            <a:lvl8pPr marL="625475" indent="-228600">
              <a:buFont typeface="Wingdings" pitchFamily="2" charset="2"/>
              <a:buChar char="2"/>
              <a:defRPr/>
            </a:lvl8pPr>
            <a:lvl9pPr marL="625475" indent="-228600">
              <a:buSzPct val="150000"/>
              <a:buFont typeface="Wingdings" pitchFamily="2" charset="2"/>
              <a:buChar char="C"/>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858148" y="6500834"/>
            <a:ext cx="571504" cy="220641"/>
          </a:xfrm>
        </p:spPr>
        <p:txBody>
          <a:bodyPr/>
          <a:lstStyle/>
          <a:p>
            <a:fld id="{BC6F2980-C15E-4A6C-B3EA-12E3F1929291}"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Bouton d'action : Suivant 8">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Bouton d'action : Précédent 9">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Picture 3" descr="C:\Users\Alex\Desktop\3998752.png"/>
          <p:cNvPicPr>
            <a:picLocks noChangeAspect="1" noChangeArrowheads="1"/>
          </p:cNvPicPr>
          <p:nvPr/>
        </p:nvPicPr>
        <p:blipFill>
          <a:blip r:embed="rId2"/>
          <a:srcRect/>
          <a:stretch>
            <a:fillRect/>
          </a:stretch>
        </p:blipFill>
        <p:spPr bwMode="auto">
          <a:xfrm>
            <a:off x="5143504" y="2857496"/>
            <a:ext cx="4403463" cy="4572032"/>
          </a:xfrm>
          <a:prstGeom prst="rect">
            <a:avLst/>
          </a:prstGeom>
          <a:noFill/>
        </p:spPr>
      </p:pic>
      <p:sp>
        <p:nvSpPr>
          <p:cNvPr id="17" name="Espace réservé du contenu 11"/>
          <p:cNvSpPr>
            <a:spLocks noGrp="1"/>
          </p:cNvSpPr>
          <p:nvPr>
            <p:ph sz="quarter" idx="13" hasCustomPrompt="1"/>
          </p:nvPr>
        </p:nvSpPr>
        <p:spPr>
          <a:xfrm rot="160723">
            <a:off x="6035526" y="3985042"/>
            <a:ext cx="2452946" cy="2459816"/>
          </a:xfrm>
          <a:noFill/>
          <a:ln>
            <a:noFill/>
          </a:ln>
        </p:spPr>
        <p:txBody>
          <a:bodyPr>
            <a:noAutofit/>
          </a:bodyPr>
          <a:lstStyle>
            <a:lvl1pPr>
              <a:defRPr sz="2800" baseline="30000">
                <a:latin typeface="Permanent Marker" pitchFamily="2" charset="0"/>
                <a:ea typeface="Permanent Marker" pitchFamily="2" charset="0"/>
              </a:defRPr>
            </a:lvl1pPr>
            <a:lvl2pPr marL="365125" indent="-182563">
              <a:defRPr sz="1600">
                <a:latin typeface="Permanent Marker" pitchFamily="2" charset="0"/>
                <a:ea typeface="Permanent Marker" pitchFamily="2" charset="0"/>
              </a:defRPr>
            </a:lvl2pPr>
            <a:lvl3pPr marL="450850" indent="-139700">
              <a:defRPr sz="1400">
                <a:latin typeface="Permanent Marker" pitchFamily="2" charset="0"/>
                <a:ea typeface="Permanent Marker" pitchFamily="2" charset="0"/>
              </a:defRPr>
            </a:lvl3pPr>
            <a:lvl4pPr marL="534988" indent="-147638">
              <a:defRPr sz="1200">
                <a:latin typeface="Permanent Marker" pitchFamily="2" charset="0"/>
                <a:ea typeface="Permanent Marker" pitchFamily="2" charset="0"/>
              </a:defRPr>
            </a:lvl4pPr>
            <a:lvl5pPr marL="717550" indent="-182563">
              <a:defRPr sz="1200">
                <a:latin typeface="Permanent Marker" pitchFamily="2" charset="0"/>
                <a:ea typeface="Permanent Marker" pitchFamily="2" charset="0"/>
              </a:defRPr>
            </a:lvl5pPr>
            <a:lvl6pPr marL="903288" indent="-228600">
              <a:defRPr sz="1200">
                <a:latin typeface="Permanent Marker" pitchFamily="2" charset="0"/>
                <a:ea typeface="Permanent Marker" pitchFamily="2" charset="0"/>
              </a:defRPr>
            </a:lvl6pPr>
            <a:lvl7pPr marL="987425" indent="-228600">
              <a:defRPr sz="1200">
                <a:latin typeface="Permanent Marker" pitchFamily="2" charset="0"/>
                <a:ea typeface="Permanent Marker" pitchFamily="2" charset="0"/>
              </a:defRPr>
            </a:lvl7pPr>
            <a:lvl8pPr>
              <a:defRPr sz="1200">
                <a:latin typeface="Permanent Marker" pitchFamily="2" charset="0"/>
                <a:ea typeface="Permanent Marker" pitchFamily="2" charset="0"/>
              </a:defRPr>
            </a:lvl8pPr>
            <a:lvl9pPr>
              <a:defRPr sz="1200">
                <a:latin typeface="Permanent Marker" pitchFamily="2" charset="0"/>
                <a:ea typeface="Permanent Marker" pitchFamily="2" charset="0"/>
              </a:defRPr>
            </a:lvl9pPr>
          </a:lstStyle>
          <a:p>
            <a:pPr lvl="0"/>
            <a:r>
              <a:rPr lang="fr-FR" dirty="0"/>
              <a:t>1er Niveau</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err="1"/>
              <a:t>Gg</a:t>
            </a:r>
            <a:endParaRPr lang="fr-FR" dirty="0"/>
          </a:p>
          <a:p>
            <a:pPr lvl="6"/>
            <a:r>
              <a:rPr lang="fr-FR" dirty="0"/>
              <a:t>D</a:t>
            </a:r>
          </a:p>
          <a:p>
            <a:pPr lvl="7"/>
            <a:r>
              <a:rPr lang="fr-FR" dirty="0" err="1"/>
              <a:t>Fichier.php</a:t>
            </a:r>
            <a:endParaRPr lang="fr-FR" dirty="0"/>
          </a:p>
          <a:p>
            <a:pPr lvl="8"/>
            <a:r>
              <a:rPr lang="fr-FR" dirty="0"/>
              <a:t>Bonnes pratiques</a:t>
            </a:r>
          </a:p>
        </p:txBody>
      </p:sp>
    </p:spTree>
    <p:extLst>
      <p:ext uri="{BB962C8B-B14F-4D97-AF65-F5344CB8AC3E}">
        <p14:creationId xmlns:p14="http://schemas.microsoft.com/office/powerpoint/2010/main" val="38423562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2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285720" y="1142984"/>
            <a:ext cx="6215106" cy="5286412"/>
          </a:xfrm>
        </p:spPr>
        <p:txBody>
          <a:bodyPr/>
          <a:lstStyle>
            <a:lvl1pPr>
              <a:defRPr/>
            </a:lvl1pPr>
            <a:lvl2pPr>
              <a:defRPr/>
            </a:lvl2pPr>
            <a:lvl3pPr>
              <a:defRPr/>
            </a:lvl3pPr>
            <a:lvl4pPr>
              <a:defRPr/>
            </a:lvl4pPr>
            <a:lvl5pPr>
              <a:defRPr/>
            </a:lvl5pPr>
            <a:lvl6pPr>
              <a:defRPr/>
            </a:lvl6pPr>
            <a:lvl7pPr>
              <a:defRPr/>
            </a:lvl7pPr>
            <a:lvl8pPr marL="625475" indent="-228600">
              <a:buFont typeface="Wingdings" pitchFamily="2" charset="2"/>
              <a:buChar char="2"/>
              <a:defRPr/>
            </a:lvl8pPr>
            <a:lvl9pPr marL="625475" indent="-228600">
              <a:buSzPct val="150000"/>
              <a:buFont typeface="Wingdings" pitchFamily="2" charset="2"/>
              <a:buChar char="C"/>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858148" y="6500834"/>
            <a:ext cx="571504" cy="220641"/>
          </a:xfrm>
        </p:spPr>
        <p:txBody>
          <a:bodyPr/>
          <a:lstStyle/>
          <a:p>
            <a:fld id="{BC6F2980-C15E-4A6C-B3EA-12E3F1929291}"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3"/>
          <p:cNvPicPr>
            <a:picLocks noChangeAspect="1" noChangeArrowheads="1"/>
          </p:cNvPicPr>
          <p:nvPr/>
        </p:nvPicPr>
        <p:blipFill>
          <a:blip r:embed="rId2" cstate="print"/>
          <a:srcRect/>
          <a:stretch>
            <a:fillRect/>
          </a:stretch>
        </p:blipFill>
        <p:spPr bwMode="auto">
          <a:xfrm>
            <a:off x="6572264" y="1857364"/>
            <a:ext cx="2571736" cy="2682746"/>
          </a:xfrm>
          <a:prstGeom prst="rect">
            <a:avLst/>
          </a:prstGeom>
          <a:noFill/>
          <a:ln w="9525">
            <a:noFill/>
            <a:miter lim="800000"/>
            <a:headEnd/>
            <a:tailEnd/>
          </a:ln>
          <a:effectLst/>
        </p:spPr>
      </p:pic>
      <p:sp>
        <p:nvSpPr>
          <p:cNvPr id="12" name="Espace réservé du contenu 11"/>
          <p:cNvSpPr>
            <a:spLocks noGrp="1"/>
          </p:cNvSpPr>
          <p:nvPr>
            <p:ph sz="quarter" idx="13" hasCustomPrompt="1"/>
          </p:nvPr>
        </p:nvSpPr>
        <p:spPr>
          <a:xfrm rot="160723">
            <a:off x="6789172" y="2148452"/>
            <a:ext cx="2071044" cy="2002477"/>
          </a:xfrm>
          <a:noFill/>
          <a:ln>
            <a:noFill/>
          </a:ln>
        </p:spPr>
        <p:txBody>
          <a:bodyPr>
            <a:normAutofit/>
          </a:bodyPr>
          <a:lstStyle>
            <a:lvl1pPr>
              <a:defRPr sz="1600" baseline="30000">
                <a:latin typeface="Permanent Marker" pitchFamily="2" charset="0"/>
                <a:ea typeface="Permanent Marker" pitchFamily="2" charset="0"/>
              </a:defRPr>
            </a:lvl1pPr>
            <a:lvl2pPr marL="365125" indent="-182563">
              <a:defRPr sz="1200">
                <a:latin typeface="Permanent Marker" pitchFamily="2" charset="0"/>
                <a:ea typeface="Permanent Marker" pitchFamily="2" charset="0"/>
              </a:defRPr>
            </a:lvl2pPr>
            <a:lvl3pPr marL="450850" indent="-139700">
              <a:defRPr sz="1100">
                <a:latin typeface="Permanent Marker" pitchFamily="2" charset="0"/>
                <a:ea typeface="Permanent Marker" pitchFamily="2" charset="0"/>
              </a:defRPr>
            </a:lvl3pPr>
            <a:lvl4pPr marL="534988" indent="-147638">
              <a:defRPr sz="1050">
                <a:latin typeface="Permanent Marker" pitchFamily="2" charset="0"/>
                <a:ea typeface="Permanent Marker" pitchFamily="2" charset="0"/>
              </a:defRPr>
            </a:lvl4pPr>
            <a:lvl5pPr marL="717550" indent="-182563">
              <a:defRPr sz="1050">
                <a:latin typeface="Permanent Marker" pitchFamily="2" charset="0"/>
                <a:ea typeface="Permanent Marker" pitchFamily="2" charset="0"/>
              </a:defRPr>
            </a:lvl5pPr>
            <a:lvl6pPr marL="903288" indent="-228600">
              <a:defRPr sz="1050">
                <a:latin typeface="Permanent Marker" pitchFamily="2" charset="0"/>
                <a:ea typeface="Permanent Marker" pitchFamily="2" charset="0"/>
              </a:defRPr>
            </a:lvl6pPr>
            <a:lvl7pPr marL="987425" indent="-228600">
              <a:defRPr sz="1050">
                <a:latin typeface="Permanent Marker" pitchFamily="2" charset="0"/>
                <a:ea typeface="Permanent Marker" pitchFamily="2" charset="0"/>
              </a:defRPr>
            </a:lvl7pPr>
            <a:lvl8pPr>
              <a:defRPr sz="1050">
                <a:latin typeface="Permanent Marker" pitchFamily="2" charset="0"/>
                <a:ea typeface="Permanent Marker" pitchFamily="2" charset="0"/>
              </a:defRPr>
            </a:lvl8pPr>
            <a:lvl9pPr>
              <a:defRPr sz="1050">
                <a:latin typeface="Permanent Marker" pitchFamily="2" charset="0"/>
                <a:ea typeface="Permanent Marker" pitchFamily="2" charset="0"/>
              </a:defRPr>
            </a:lvl9pPr>
          </a:lstStyle>
          <a:p>
            <a:pPr lvl="0"/>
            <a:r>
              <a:rPr lang="fr-FR" dirty="0"/>
              <a:t>1er Niveau</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err="1"/>
              <a:t>Gg</a:t>
            </a:r>
            <a:endParaRPr lang="fr-FR" dirty="0"/>
          </a:p>
          <a:p>
            <a:pPr lvl="6"/>
            <a:r>
              <a:rPr lang="fr-FR" dirty="0"/>
              <a:t>D</a:t>
            </a:r>
          </a:p>
          <a:p>
            <a:pPr lvl="7"/>
            <a:r>
              <a:rPr lang="fr-FR" dirty="0" err="1"/>
              <a:t>Fichier.php</a:t>
            </a:r>
            <a:endParaRPr lang="fr-FR" dirty="0"/>
          </a:p>
          <a:p>
            <a:pPr lvl="8"/>
            <a:r>
              <a:rPr lang="fr-FR" dirty="0"/>
              <a:t>Bonnes pratiques</a:t>
            </a:r>
          </a:p>
        </p:txBody>
      </p:sp>
    </p:spTree>
    <p:extLst>
      <p:ext uri="{BB962C8B-B14F-4D97-AF65-F5344CB8AC3E}">
        <p14:creationId xmlns:p14="http://schemas.microsoft.com/office/powerpoint/2010/main" val="8994083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3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285720" y="1142984"/>
            <a:ext cx="5000660" cy="5286412"/>
          </a:xfrm>
        </p:spPr>
        <p:txBody>
          <a:bodyPr/>
          <a:lstStyle>
            <a:lvl1pPr>
              <a:defRPr/>
            </a:lvl1pPr>
            <a:lvl2pPr>
              <a:defRPr/>
            </a:lvl2pPr>
            <a:lvl3pPr>
              <a:defRPr/>
            </a:lvl3pPr>
            <a:lvl4pPr>
              <a:defRPr/>
            </a:lvl4pPr>
            <a:lvl5pPr>
              <a:defRPr/>
            </a:lvl5pPr>
            <a:lvl6pPr>
              <a:defRPr/>
            </a:lvl6pPr>
            <a:lvl7pPr>
              <a:defRPr/>
            </a:lvl7pPr>
            <a:lvl8pPr marL="625475" indent="-228600">
              <a:buFont typeface="Wingdings" pitchFamily="2" charset="2"/>
              <a:buChar char="2"/>
              <a:defRPr/>
            </a:lvl8pPr>
            <a:lvl9pPr marL="625475" indent="-228600">
              <a:buSzPct val="150000"/>
              <a:buFont typeface="Wingdings" pitchFamily="2" charset="2"/>
              <a:buChar char="C"/>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858148" y="6500834"/>
            <a:ext cx="571504" cy="220641"/>
          </a:xfrm>
        </p:spPr>
        <p:txBody>
          <a:bodyPr/>
          <a:lstStyle/>
          <a:p>
            <a:fld id="{BC6F2980-C15E-4A6C-B3EA-12E3F1929291}"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3"/>
          <p:cNvPicPr>
            <a:picLocks noChangeAspect="1" noChangeArrowheads="1"/>
          </p:cNvPicPr>
          <p:nvPr/>
        </p:nvPicPr>
        <p:blipFill>
          <a:blip r:embed="rId2" cstate="print"/>
          <a:srcRect/>
          <a:stretch>
            <a:fillRect/>
          </a:stretch>
        </p:blipFill>
        <p:spPr bwMode="auto">
          <a:xfrm>
            <a:off x="5357818" y="1214422"/>
            <a:ext cx="3714744" cy="4321272"/>
          </a:xfrm>
          <a:prstGeom prst="rect">
            <a:avLst/>
          </a:prstGeom>
          <a:noFill/>
          <a:ln w="9525">
            <a:noFill/>
            <a:miter lim="800000"/>
            <a:headEnd/>
            <a:tailEnd/>
          </a:ln>
          <a:effectLst/>
        </p:spPr>
      </p:pic>
      <p:sp>
        <p:nvSpPr>
          <p:cNvPr id="11" name="Espace réservé du contenu 11"/>
          <p:cNvSpPr>
            <a:spLocks noGrp="1"/>
          </p:cNvSpPr>
          <p:nvPr>
            <p:ph sz="quarter" idx="14" hasCustomPrompt="1"/>
          </p:nvPr>
        </p:nvSpPr>
        <p:spPr>
          <a:xfrm rot="160723">
            <a:off x="5656857" y="1641906"/>
            <a:ext cx="2992530" cy="3219122"/>
          </a:xfrm>
          <a:noFill/>
          <a:ln>
            <a:noFill/>
          </a:ln>
        </p:spPr>
        <p:txBody>
          <a:bodyPr>
            <a:normAutofit/>
          </a:bodyPr>
          <a:lstStyle>
            <a:lvl1pPr>
              <a:defRPr sz="2400" baseline="30000">
                <a:latin typeface="Permanent Marker" pitchFamily="2" charset="0"/>
                <a:ea typeface="Permanent Marker" pitchFamily="2" charset="0"/>
              </a:defRPr>
            </a:lvl1pPr>
            <a:lvl2pPr marL="365125" indent="-182563">
              <a:defRPr sz="1800">
                <a:latin typeface="Permanent Marker" pitchFamily="2" charset="0"/>
                <a:ea typeface="Permanent Marker" pitchFamily="2" charset="0"/>
              </a:defRPr>
            </a:lvl2pPr>
            <a:lvl3pPr marL="450850" indent="-139700">
              <a:defRPr sz="1600">
                <a:latin typeface="Permanent Marker" pitchFamily="2" charset="0"/>
                <a:ea typeface="Permanent Marker" pitchFamily="2" charset="0"/>
              </a:defRPr>
            </a:lvl3pPr>
            <a:lvl4pPr marL="534988" indent="-147638">
              <a:defRPr sz="1400">
                <a:latin typeface="Permanent Marker" pitchFamily="2" charset="0"/>
                <a:ea typeface="Permanent Marker" pitchFamily="2" charset="0"/>
              </a:defRPr>
            </a:lvl4pPr>
            <a:lvl5pPr marL="717550" indent="-182563">
              <a:defRPr sz="1400">
                <a:latin typeface="Permanent Marker" pitchFamily="2" charset="0"/>
                <a:ea typeface="Permanent Marker" pitchFamily="2" charset="0"/>
              </a:defRPr>
            </a:lvl5pPr>
            <a:lvl6pPr marL="903288" indent="-228600">
              <a:defRPr sz="1400">
                <a:latin typeface="Permanent Marker" pitchFamily="2" charset="0"/>
                <a:ea typeface="Permanent Marker" pitchFamily="2" charset="0"/>
              </a:defRPr>
            </a:lvl6pPr>
            <a:lvl7pPr marL="987425" indent="-228600">
              <a:defRPr sz="1400">
                <a:latin typeface="Permanent Marker" pitchFamily="2" charset="0"/>
                <a:ea typeface="Permanent Marker" pitchFamily="2" charset="0"/>
              </a:defRPr>
            </a:lvl7pPr>
            <a:lvl8pPr>
              <a:defRPr sz="1400">
                <a:latin typeface="Permanent Marker" pitchFamily="2" charset="0"/>
                <a:ea typeface="Permanent Marker" pitchFamily="2" charset="0"/>
              </a:defRPr>
            </a:lvl8pPr>
            <a:lvl9pPr>
              <a:defRPr sz="1400">
                <a:latin typeface="Permanent Marker" pitchFamily="2" charset="0"/>
                <a:ea typeface="Permanent Marker" pitchFamily="2" charset="0"/>
              </a:defRPr>
            </a:lvl9pPr>
          </a:lstStyle>
          <a:p>
            <a:pPr lvl="0"/>
            <a:r>
              <a:rPr lang="fr-FR" dirty="0"/>
              <a:t>1er Niveau</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err="1"/>
              <a:t>Gg</a:t>
            </a:r>
            <a:endParaRPr lang="fr-FR" dirty="0"/>
          </a:p>
          <a:p>
            <a:pPr lvl="6"/>
            <a:r>
              <a:rPr lang="fr-FR" dirty="0"/>
              <a:t>D</a:t>
            </a:r>
          </a:p>
          <a:p>
            <a:pPr lvl="7"/>
            <a:r>
              <a:rPr lang="fr-FR" dirty="0" err="1"/>
              <a:t>Fichier.php</a:t>
            </a:r>
            <a:endParaRPr lang="fr-FR" dirty="0"/>
          </a:p>
          <a:p>
            <a:pPr lvl="8"/>
            <a:r>
              <a:rPr lang="fr-FR" dirty="0"/>
              <a:t>Bonnes pratiques</a:t>
            </a:r>
          </a:p>
        </p:txBody>
      </p:sp>
    </p:spTree>
    <p:extLst>
      <p:ext uri="{BB962C8B-B14F-4D97-AF65-F5344CB8AC3E}">
        <p14:creationId xmlns:p14="http://schemas.microsoft.com/office/powerpoint/2010/main" val="2050404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7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285720" y="1142984"/>
            <a:ext cx="5000660" cy="5286412"/>
          </a:xfrm>
        </p:spPr>
        <p:txBody>
          <a:bodyPr/>
          <a:lstStyle>
            <a:lvl1pPr>
              <a:defRPr/>
            </a:lvl1pPr>
            <a:lvl2pPr>
              <a:defRPr/>
            </a:lvl2pPr>
            <a:lvl3pPr>
              <a:defRPr/>
            </a:lvl3pPr>
            <a:lvl4pPr>
              <a:defRPr/>
            </a:lvl4pPr>
            <a:lvl5pPr>
              <a:defRPr/>
            </a:lvl5pPr>
            <a:lvl6pPr>
              <a:defRPr/>
            </a:lvl6pPr>
            <a:lvl7pPr>
              <a:defRPr/>
            </a:lvl7pPr>
            <a:lvl8pPr marL="625475" indent="-228600">
              <a:buFont typeface="Wingdings" pitchFamily="2" charset="2"/>
              <a:buChar char="2"/>
              <a:defRPr/>
            </a:lvl8pPr>
            <a:lvl9pPr marL="625475" indent="-228600">
              <a:buSzPct val="150000"/>
              <a:buFont typeface="Wingdings" pitchFamily="2" charset="2"/>
              <a:buChar char="C"/>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12DF7853-8071-40BC-998E-1F90672835CF}" type="datetime1">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858148" y="6500834"/>
            <a:ext cx="571504" cy="220641"/>
          </a:xfrm>
        </p:spPr>
        <p:txBody>
          <a:bodyPr/>
          <a:lstStyle/>
          <a:p>
            <a:fld id="{5A33B5BC-E3F1-4ABE-A1A6-D2608D40EC2E}"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3"/>
          <p:cNvPicPr>
            <a:picLocks noChangeAspect="1" noChangeArrowheads="1"/>
          </p:cNvPicPr>
          <p:nvPr/>
        </p:nvPicPr>
        <p:blipFill>
          <a:blip r:embed="rId2" cstate="print"/>
          <a:srcRect/>
          <a:stretch>
            <a:fillRect/>
          </a:stretch>
        </p:blipFill>
        <p:spPr bwMode="auto">
          <a:xfrm>
            <a:off x="5000628" y="1608058"/>
            <a:ext cx="4429156" cy="4106958"/>
          </a:xfrm>
          <a:prstGeom prst="rect">
            <a:avLst/>
          </a:prstGeom>
          <a:noFill/>
          <a:ln w="9525">
            <a:noFill/>
            <a:miter lim="800000"/>
            <a:headEnd/>
            <a:tailEnd/>
          </a:ln>
          <a:effectLst/>
        </p:spPr>
      </p:pic>
      <p:sp>
        <p:nvSpPr>
          <p:cNvPr id="11" name="Espace réservé du contenu 11"/>
          <p:cNvSpPr>
            <a:spLocks noGrp="1"/>
          </p:cNvSpPr>
          <p:nvPr>
            <p:ph sz="quarter" idx="14" hasCustomPrompt="1"/>
          </p:nvPr>
        </p:nvSpPr>
        <p:spPr>
          <a:xfrm rot="160723">
            <a:off x="5359727" y="2007319"/>
            <a:ext cx="3435292" cy="3219122"/>
          </a:xfrm>
          <a:noFill/>
          <a:ln>
            <a:noFill/>
          </a:ln>
        </p:spPr>
        <p:txBody>
          <a:bodyPr>
            <a:normAutofit/>
          </a:bodyPr>
          <a:lstStyle>
            <a:lvl1pPr>
              <a:defRPr sz="2400" baseline="30000">
                <a:latin typeface="Permanent Marker" pitchFamily="2" charset="0"/>
                <a:ea typeface="Permanent Marker" pitchFamily="2" charset="0"/>
              </a:defRPr>
            </a:lvl1pPr>
            <a:lvl2pPr marL="365125" indent="-182563">
              <a:defRPr sz="1800">
                <a:latin typeface="Permanent Marker" pitchFamily="2" charset="0"/>
                <a:ea typeface="Permanent Marker" pitchFamily="2" charset="0"/>
              </a:defRPr>
            </a:lvl2pPr>
            <a:lvl3pPr marL="450850" indent="-139700">
              <a:defRPr sz="1600">
                <a:latin typeface="Permanent Marker" pitchFamily="2" charset="0"/>
                <a:ea typeface="Permanent Marker" pitchFamily="2" charset="0"/>
              </a:defRPr>
            </a:lvl3pPr>
            <a:lvl4pPr marL="534988" indent="-147638">
              <a:defRPr sz="1400">
                <a:latin typeface="Permanent Marker" pitchFamily="2" charset="0"/>
                <a:ea typeface="Permanent Marker" pitchFamily="2" charset="0"/>
              </a:defRPr>
            </a:lvl4pPr>
            <a:lvl5pPr marL="717550" indent="-182563">
              <a:defRPr sz="1400">
                <a:latin typeface="Permanent Marker" pitchFamily="2" charset="0"/>
                <a:ea typeface="Permanent Marker" pitchFamily="2" charset="0"/>
              </a:defRPr>
            </a:lvl5pPr>
            <a:lvl6pPr marL="903288" indent="-228600">
              <a:defRPr sz="1400">
                <a:latin typeface="Permanent Marker" pitchFamily="2" charset="0"/>
                <a:ea typeface="Permanent Marker" pitchFamily="2" charset="0"/>
              </a:defRPr>
            </a:lvl6pPr>
            <a:lvl7pPr marL="987425" indent="-228600">
              <a:defRPr sz="1400">
                <a:latin typeface="Permanent Marker" pitchFamily="2" charset="0"/>
                <a:ea typeface="Permanent Marker" pitchFamily="2" charset="0"/>
              </a:defRPr>
            </a:lvl7pPr>
            <a:lvl8pPr>
              <a:defRPr sz="1400">
                <a:latin typeface="Permanent Marker" pitchFamily="2" charset="0"/>
                <a:ea typeface="Permanent Marker" pitchFamily="2" charset="0"/>
              </a:defRPr>
            </a:lvl8pPr>
            <a:lvl9pPr>
              <a:defRPr sz="1400">
                <a:latin typeface="Permanent Marker" pitchFamily="2" charset="0"/>
                <a:ea typeface="Permanent Marker" pitchFamily="2" charset="0"/>
              </a:defRPr>
            </a:lvl9pPr>
          </a:lstStyle>
          <a:p>
            <a:pPr lvl="0"/>
            <a:r>
              <a:rPr lang="fr-FR" dirty="0"/>
              <a:t>1er Niveau</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err="1"/>
              <a:t>Gg</a:t>
            </a:r>
            <a:endParaRPr lang="fr-FR" dirty="0"/>
          </a:p>
          <a:p>
            <a:pPr lvl="6"/>
            <a:r>
              <a:rPr lang="fr-FR" dirty="0"/>
              <a:t>D</a:t>
            </a:r>
          </a:p>
          <a:p>
            <a:pPr lvl="7"/>
            <a:r>
              <a:rPr lang="fr-FR" dirty="0" err="1"/>
              <a:t>Fichier.php</a:t>
            </a:r>
            <a:endParaRPr lang="fr-FR" dirty="0"/>
          </a:p>
          <a:p>
            <a:pPr lvl="8"/>
            <a:r>
              <a:rPr lang="fr-FR" dirty="0"/>
              <a:t>Bonnes pratiques</a:t>
            </a:r>
          </a:p>
        </p:txBody>
      </p:sp>
    </p:spTree>
    <p:extLst>
      <p:ext uri="{BB962C8B-B14F-4D97-AF65-F5344CB8AC3E}">
        <p14:creationId xmlns:p14="http://schemas.microsoft.com/office/powerpoint/2010/main" val="380646209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285720" y="1142984"/>
            <a:ext cx="5000660" cy="5286412"/>
          </a:xfrm>
        </p:spPr>
        <p:txBody>
          <a:bodyPr/>
          <a:lstStyle>
            <a:lvl1pPr>
              <a:defRPr/>
            </a:lvl1pPr>
            <a:lvl2pPr>
              <a:defRPr/>
            </a:lvl2pPr>
            <a:lvl3pPr>
              <a:defRPr/>
            </a:lvl3pPr>
            <a:lvl4pPr>
              <a:defRPr/>
            </a:lvl4pPr>
            <a:lvl5pPr>
              <a:defRPr/>
            </a:lvl5pPr>
            <a:lvl6pPr>
              <a:defRPr/>
            </a:lvl6pPr>
            <a:lvl7pPr>
              <a:defRPr/>
            </a:lvl7pPr>
            <a:lvl8pPr marL="625475" indent="-228600">
              <a:buFont typeface="Wingdings" pitchFamily="2" charset="2"/>
              <a:buChar char="2"/>
              <a:defRPr/>
            </a:lvl8pPr>
            <a:lvl9pPr marL="625475" indent="-228600">
              <a:buSzPct val="150000"/>
              <a:buFont typeface="Wingdings" pitchFamily="2" charset="2"/>
              <a:buChar char="C"/>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12DF7853-8071-40BC-998E-1F90672835CF}" type="datetime1">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858148" y="6500834"/>
            <a:ext cx="571504" cy="220641"/>
          </a:xfrm>
        </p:spPr>
        <p:txBody>
          <a:bodyPr/>
          <a:lstStyle/>
          <a:p>
            <a:fld id="{5A33B5BC-E3F1-4ABE-A1A6-D2608D40EC2E}"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9" name="Picture 3"/>
          <p:cNvPicPr>
            <a:picLocks noChangeAspect="1" noChangeArrowheads="1"/>
          </p:cNvPicPr>
          <p:nvPr/>
        </p:nvPicPr>
        <p:blipFill>
          <a:blip r:embed="rId2" cstate="print"/>
          <a:srcRect/>
          <a:stretch>
            <a:fillRect/>
          </a:stretch>
        </p:blipFill>
        <p:spPr bwMode="auto">
          <a:xfrm>
            <a:off x="5143504" y="1214421"/>
            <a:ext cx="4143404" cy="5286413"/>
          </a:xfrm>
          <a:prstGeom prst="rect">
            <a:avLst/>
          </a:prstGeom>
          <a:noFill/>
          <a:ln w="9525">
            <a:noFill/>
            <a:miter lim="800000"/>
            <a:headEnd/>
            <a:tailEnd/>
          </a:ln>
          <a:effectLst/>
        </p:spPr>
      </p:pic>
      <p:sp>
        <p:nvSpPr>
          <p:cNvPr id="11" name="Espace réservé du contenu 11"/>
          <p:cNvSpPr>
            <a:spLocks noGrp="1"/>
          </p:cNvSpPr>
          <p:nvPr>
            <p:ph sz="quarter" idx="14" hasCustomPrompt="1"/>
          </p:nvPr>
        </p:nvSpPr>
        <p:spPr>
          <a:xfrm>
            <a:off x="5572133" y="1714488"/>
            <a:ext cx="3071834" cy="3857652"/>
          </a:xfrm>
          <a:noFill/>
          <a:ln>
            <a:noFill/>
          </a:ln>
          <a:scene3d>
            <a:camera prst="orthographicFront">
              <a:rot lat="0" lon="0" rev="21594000"/>
            </a:camera>
            <a:lightRig rig="threePt" dir="t"/>
          </a:scene3d>
        </p:spPr>
        <p:txBody>
          <a:bodyPr>
            <a:normAutofit/>
          </a:bodyPr>
          <a:lstStyle>
            <a:lvl1pPr>
              <a:defRPr sz="2400" baseline="30000">
                <a:latin typeface="Permanent Marker" pitchFamily="2" charset="0"/>
                <a:ea typeface="Permanent Marker" pitchFamily="2" charset="0"/>
              </a:defRPr>
            </a:lvl1pPr>
            <a:lvl2pPr marL="365125" indent="-182563">
              <a:defRPr sz="1800">
                <a:latin typeface="Permanent Marker" pitchFamily="2" charset="0"/>
                <a:ea typeface="Permanent Marker" pitchFamily="2" charset="0"/>
              </a:defRPr>
            </a:lvl2pPr>
            <a:lvl3pPr marL="450850" indent="-139700">
              <a:defRPr sz="1600">
                <a:latin typeface="Permanent Marker" pitchFamily="2" charset="0"/>
                <a:ea typeface="Permanent Marker" pitchFamily="2" charset="0"/>
              </a:defRPr>
            </a:lvl3pPr>
            <a:lvl4pPr marL="534988" indent="-147638">
              <a:defRPr sz="1400">
                <a:latin typeface="Permanent Marker" pitchFamily="2" charset="0"/>
                <a:ea typeface="Permanent Marker" pitchFamily="2" charset="0"/>
              </a:defRPr>
            </a:lvl4pPr>
            <a:lvl5pPr marL="717550" indent="-182563">
              <a:defRPr sz="1400">
                <a:latin typeface="Permanent Marker" pitchFamily="2" charset="0"/>
                <a:ea typeface="Permanent Marker" pitchFamily="2" charset="0"/>
              </a:defRPr>
            </a:lvl5pPr>
            <a:lvl6pPr marL="903288" indent="-228600">
              <a:defRPr sz="1400">
                <a:latin typeface="Permanent Marker" pitchFamily="2" charset="0"/>
                <a:ea typeface="Permanent Marker" pitchFamily="2" charset="0"/>
              </a:defRPr>
            </a:lvl6pPr>
            <a:lvl7pPr marL="987425" indent="-228600">
              <a:defRPr sz="1400">
                <a:latin typeface="Permanent Marker" pitchFamily="2" charset="0"/>
                <a:ea typeface="Permanent Marker" pitchFamily="2" charset="0"/>
              </a:defRPr>
            </a:lvl7pPr>
            <a:lvl8pPr>
              <a:defRPr sz="1400">
                <a:latin typeface="Permanent Marker" pitchFamily="2" charset="0"/>
                <a:ea typeface="Permanent Marker" pitchFamily="2" charset="0"/>
              </a:defRPr>
            </a:lvl8pPr>
            <a:lvl9pPr>
              <a:defRPr sz="1400">
                <a:latin typeface="Permanent Marker" pitchFamily="2" charset="0"/>
                <a:ea typeface="Permanent Marker" pitchFamily="2" charset="0"/>
              </a:defRPr>
            </a:lvl9pPr>
          </a:lstStyle>
          <a:p>
            <a:pPr lvl="0"/>
            <a:r>
              <a:rPr lang="fr-FR" dirty="0"/>
              <a:t>1er Niveau</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err="1"/>
              <a:t>Gg</a:t>
            </a:r>
            <a:endParaRPr lang="fr-FR" dirty="0"/>
          </a:p>
          <a:p>
            <a:pPr lvl="6"/>
            <a:r>
              <a:rPr lang="fr-FR" dirty="0"/>
              <a:t>D</a:t>
            </a:r>
          </a:p>
          <a:p>
            <a:pPr lvl="7"/>
            <a:r>
              <a:rPr lang="fr-FR" dirty="0" err="1"/>
              <a:t>Fichier.php</a:t>
            </a:r>
            <a:endParaRPr lang="fr-FR" dirty="0"/>
          </a:p>
          <a:p>
            <a:pPr lvl="8"/>
            <a:r>
              <a:rPr lang="fr-FR" dirty="0"/>
              <a:t>Bonnes pratiques</a:t>
            </a:r>
          </a:p>
        </p:txBody>
      </p:sp>
    </p:spTree>
    <p:extLst>
      <p:ext uri="{BB962C8B-B14F-4D97-AF65-F5344CB8AC3E}">
        <p14:creationId xmlns:p14="http://schemas.microsoft.com/office/powerpoint/2010/main" val="348846588"/>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285720" y="1142984"/>
            <a:ext cx="8572560" cy="1714512"/>
          </a:xfrm>
        </p:spPr>
        <p:txBody>
          <a:bodyPr/>
          <a:lstStyle>
            <a:lvl5pPr>
              <a:defRPr/>
            </a:lvl5pPr>
            <a:lvl6pPr>
              <a:defRPr/>
            </a:lvl6pPr>
            <a:lvl7pPr>
              <a:defRPr/>
            </a:lvl7pPr>
            <a:lvl8pPr marL="625475" indent="-228600">
              <a:buFont typeface="Wingdings" pitchFamily="2" charset="2"/>
              <a:buChar char="2"/>
              <a:defRPr/>
            </a:lvl8pPr>
            <a:lvl9pPr marL="625475" indent="-228600">
              <a:buSzPct val="150000"/>
              <a:buFont typeface="Wingdings" pitchFamily="2" charset="2"/>
              <a:buChar char="C"/>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858148" y="6500834"/>
            <a:ext cx="571504" cy="220641"/>
          </a:xfrm>
        </p:spPr>
        <p:txBody>
          <a:bodyPr/>
          <a:lstStyle/>
          <a:p>
            <a:fld id="{BC6F2980-C15E-4A6C-B3EA-12E3F1929291}"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7"/>
          <p:cNvSpPr>
            <a:spLocks noGrp="1"/>
          </p:cNvSpPr>
          <p:nvPr>
            <p:ph type="body" idx="13"/>
          </p:nvPr>
        </p:nvSpPr>
        <p:spPr>
          <a:xfrm>
            <a:off x="214282" y="2928934"/>
            <a:ext cx="4283106" cy="639762"/>
          </a:xfrm>
        </p:spPr>
        <p:txBody>
          <a:bodyPr/>
          <a:lstStyle/>
          <a:p>
            <a:pPr lvl="0" algn="r"/>
            <a:r>
              <a:rPr lang="fr-FR"/>
              <a:t>Cliquez pour modifier les styles du texte du masque</a:t>
            </a:r>
          </a:p>
        </p:txBody>
      </p:sp>
      <p:sp>
        <p:nvSpPr>
          <p:cNvPr id="11" name="Espace réservé du texte 8"/>
          <p:cNvSpPr>
            <a:spLocks noGrp="1"/>
          </p:cNvSpPr>
          <p:nvPr>
            <p:ph type="body" sz="quarter" idx="3"/>
          </p:nvPr>
        </p:nvSpPr>
        <p:spPr>
          <a:xfrm>
            <a:off x="4645025" y="2928934"/>
            <a:ext cx="4284693" cy="639762"/>
          </a:xfrm>
        </p:spPr>
        <p:txBody>
          <a:bodyPr/>
          <a:lstStyle/>
          <a:p>
            <a:pPr lvl="0"/>
            <a:r>
              <a:rPr lang="fr-FR"/>
              <a:t>Cliquez pour modifier les styles du texte du masque</a:t>
            </a:r>
          </a:p>
        </p:txBody>
      </p:sp>
      <p:sp>
        <p:nvSpPr>
          <p:cNvPr id="12" name="Espace réservé du contenu 9"/>
          <p:cNvSpPr>
            <a:spLocks noGrp="1"/>
          </p:cNvSpPr>
          <p:nvPr>
            <p:ph sz="quarter" idx="4" hasCustomPrompt="1"/>
          </p:nvPr>
        </p:nvSpPr>
        <p:spPr>
          <a:xfrm>
            <a:off x="6286511" y="3643314"/>
            <a:ext cx="1928827" cy="2643206"/>
          </a:xfrm>
        </p:spPr>
        <p:txBody>
          <a:bodyPr>
            <a:noAutofit/>
          </a:bodyPr>
          <a:lstStyle>
            <a:lvl1pPr>
              <a:defRPr sz="2000"/>
            </a:lvl1pPr>
          </a:lstStyle>
          <a:p>
            <a:pPr algn="ctr">
              <a:buNone/>
            </a:pPr>
            <a:r>
              <a:rPr lang="fr-FR" dirty="0"/>
              <a:t>NON</a:t>
            </a:r>
          </a:p>
          <a:p>
            <a:pPr algn="ctr">
              <a:buNone/>
            </a:pPr>
            <a:endParaRPr lang="fr-FR" dirty="0"/>
          </a:p>
          <a:p>
            <a:pPr algn="ctr">
              <a:buNone/>
            </a:pPr>
            <a:r>
              <a:rPr lang="fr-FR" dirty="0"/>
              <a:t>NON</a:t>
            </a:r>
          </a:p>
          <a:p>
            <a:pPr algn="ctr">
              <a:buNone/>
            </a:pPr>
            <a:endParaRPr lang="fr-FR" dirty="0"/>
          </a:p>
          <a:p>
            <a:pPr algn="ctr">
              <a:buNone/>
            </a:pPr>
            <a:r>
              <a:rPr lang="fr-FR" dirty="0"/>
              <a:t>OUI</a:t>
            </a:r>
          </a:p>
          <a:p>
            <a:pPr algn="ctr">
              <a:buNone/>
            </a:pPr>
            <a:endParaRPr lang="fr-FR" dirty="0"/>
          </a:p>
          <a:p>
            <a:pPr algn="ctr">
              <a:buNone/>
            </a:pPr>
            <a:r>
              <a:rPr lang="fr-FR" dirty="0"/>
              <a:t>OUI</a:t>
            </a:r>
          </a:p>
        </p:txBody>
      </p:sp>
      <p:sp>
        <p:nvSpPr>
          <p:cNvPr id="13" name="Double flèche horizontale 12"/>
          <p:cNvSpPr/>
          <p:nvPr/>
        </p:nvSpPr>
        <p:spPr>
          <a:xfrm>
            <a:off x="3357554" y="3571876"/>
            <a:ext cx="2428892" cy="5000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Flush cache / TMP</a:t>
            </a:r>
          </a:p>
        </p:txBody>
      </p:sp>
      <p:sp>
        <p:nvSpPr>
          <p:cNvPr id="14" name="Double flèche horizontale 13"/>
          <p:cNvSpPr/>
          <p:nvPr/>
        </p:nvSpPr>
        <p:spPr>
          <a:xfrm>
            <a:off x="3357554" y="4357694"/>
            <a:ext cx="2428892" cy="5000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Flush </a:t>
            </a:r>
            <a:r>
              <a:rPr lang="fr-FR" dirty="0" err="1"/>
              <a:t>permalink</a:t>
            </a:r>
            <a:endParaRPr lang="fr-FR" dirty="0"/>
          </a:p>
        </p:txBody>
      </p:sp>
      <p:sp>
        <p:nvSpPr>
          <p:cNvPr id="15" name="Double flèche horizontale 14"/>
          <p:cNvSpPr/>
          <p:nvPr/>
        </p:nvSpPr>
        <p:spPr>
          <a:xfrm>
            <a:off x="3357554" y="5072074"/>
            <a:ext cx="2428892" cy="5000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remove</a:t>
            </a:r>
            <a:r>
              <a:rPr lang="fr-FR" dirty="0"/>
              <a:t> Options </a:t>
            </a:r>
            <a:r>
              <a:rPr lang="fr-FR" sz="1100" dirty="0"/>
              <a:t>(</a:t>
            </a:r>
            <a:r>
              <a:rPr lang="fr-FR" sz="1100" dirty="0" err="1"/>
              <a:t>wp</a:t>
            </a:r>
            <a:r>
              <a:rPr lang="fr-FR" sz="1100" dirty="0"/>
              <a:t> db)</a:t>
            </a:r>
            <a:endParaRPr lang="fr-FR" dirty="0"/>
          </a:p>
        </p:txBody>
      </p:sp>
      <p:sp>
        <p:nvSpPr>
          <p:cNvPr id="16" name="Double flèche horizontale 15"/>
          <p:cNvSpPr/>
          <p:nvPr/>
        </p:nvSpPr>
        <p:spPr>
          <a:xfrm>
            <a:off x="3357554" y="5786454"/>
            <a:ext cx="2428892" cy="500066"/>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err="1"/>
              <a:t>remove</a:t>
            </a:r>
            <a:r>
              <a:rPr lang="fr-FR" dirty="0"/>
              <a:t> tables</a:t>
            </a:r>
            <a:r>
              <a:rPr lang="fr-FR" sz="1100" dirty="0"/>
              <a:t>(</a:t>
            </a:r>
            <a:r>
              <a:rPr lang="fr-FR" sz="1100" dirty="0" err="1"/>
              <a:t>wp</a:t>
            </a:r>
            <a:r>
              <a:rPr lang="fr-FR" sz="1100" dirty="0"/>
              <a:t> db)</a:t>
            </a:r>
            <a:endParaRPr lang="fr-FR" dirty="0"/>
          </a:p>
        </p:txBody>
      </p:sp>
      <p:sp>
        <p:nvSpPr>
          <p:cNvPr id="17" name="Espace réservé du contenu 9"/>
          <p:cNvSpPr>
            <a:spLocks noGrp="1"/>
          </p:cNvSpPr>
          <p:nvPr>
            <p:ph sz="quarter" idx="14" hasCustomPrompt="1"/>
          </p:nvPr>
        </p:nvSpPr>
        <p:spPr>
          <a:xfrm>
            <a:off x="714347" y="3643314"/>
            <a:ext cx="1928827" cy="2643206"/>
          </a:xfrm>
        </p:spPr>
        <p:txBody>
          <a:bodyPr>
            <a:noAutofit/>
          </a:bodyPr>
          <a:lstStyle>
            <a:lvl1pPr>
              <a:defRPr sz="2000"/>
            </a:lvl1pPr>
          </a:lstStyle>
          <a:p>
            <a:pPr algn="ctr">
              <a:buNone/>
            </a:pPr>
            <a:r>
              <a:rPr lang="fr-FR" dirty="0"/>
              <a:t>NON</a:t>
            </a:r>
          </a:p>
          <a:p>
            <a:pPr algn="ctr">
              <a:buNone/>
            </a:pPr>
            <a:endParaRPr lang="fr-FR" dirty="0"/>
          </a:p>
          <a:p>
            <a:pPr algn="ctr">
              <a:buNone/>
            </a:pPr>
            <a:r>
              <a:rPr lang="fr-FR" dirty="0"/>
              <a:t>NON</a:t>
            </a:r>
          </a:p>
          <a:p>
            <a:pPr algn="ctr">
              <a:buNone/>
            </a:pPr>
            <a:endParaRPr lang="fr-FR" dirty="0"/>
          </a:p>
          <a:p>
            <a:pPr algn="ctr">
              <a:buNone/>
            </a:pPr>
            <a:r>
              <a:rPr lang="fr-FR" dirty="0"/>
              <a:t>OUI</a:t>
            </a:r>
          </a:p>
          <a:p>
            <a:pPr algn="ctr">
              <a:buNone/>
            </a:pPr>
            <a:endParaRPr lang="fr-FR" dirty="0"/>
          </a:p>
          <a:p>
            <a:pPr algn="ctr">
              <a:buNone/>
            </a:pPr>
            <a:r>
              <a:rPr lang="fr-FR" dirty="0"/>
              <a:t>OUI</a:t>
            </a:r>
          </a:p>
        </p:txBody>
      </p:sp>
    </p:spTree>
    <p:extLst>
      <p:ext uri="{BB962C8B-B14F-4D97-AF65-F5344CB8AC3E}">
        <p14:creationId xmlns:p14="http://schemas.microsoft.com/office/powerpoint/2010/main" val="33396508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5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285720" y="1142984"/>
            <a:ext cx="8572560" cy="1714512"/>
          </a:xfrm>
        </p:spPr>
        <p:txBody>
          <a:bodyPr/>
          <a:lstStyle>
            <a:lvl5pPr>
              <a:defRPr/>
            </a:lvl5pPr>
            <a:lvl6pPr>
              <a:defRPr/>
            </a:lvl6pPr>
            <a:lvl7pPr>
              <a:defRPr/>
            </a:lvl7pPr>
            <a:lvl8pPr marL="625475" indent="-228600">
              <a:buFont typeface="Wingdings" pitchFamily="2" charset="2"/>
              <a:buChar char="2"/>
              <a:defRPr/>
            </a:lvl8pPr>
            <a:lvl9pPr marL="625475" indent="-228600">
              <a:buSzPct val="150000"/>
              <a:buFont typeface="Wingdings" pitchFamily="2" charset="2"/>
              <a:buChar char="C"/>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7858148" y="6500834"/>
            <a:ext cx="571504" cy="220641"/>
          </a:xfrm>
        </p:spPr>
        <p:txBody>
          <a:bodyPr/>
          <a:lstStyle/>
          <a:p>
            <a:fld id="{BC6F2980-C15E-4A6C-B3EA-12E3F1929291}"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7"/>
          <p:cNvSpPr>
            <a:spLocks noGrp="1"/>
          </p:cNvSpPr>
          <p:nvPr>
            <p:ph type="body" idx="13"/>
          </p:nvPr>
        </p:nvSpPr>
        <p:spPr>
          <a:xfrm>
            <a:off x="214282" y="2928934"/>
            <a:ext cx="4283106" cy="639762"/>
          </a:xfrm>
        </p:spPr>
        <p:txBody>
          <a:bodyPr/>
          <a:lstStyle/>
          <a:p>
            <a:pPr lvl="0" algn="r"/>
            <a:r>
              <a:rPr lang="fr-FR"/>
              <a:t>Cliquez pour modifier les styles du texte du masque</a:t>
            </a:r>
          </a:p>
        </p:txBody>
      </p:sp>
      <p:sp>
        <p:nvSpPr>
          <p:cNvPr id="11" name="Espace réservé du texte 8"/>
          <p:cNvSpPr>
            <a:spLocks noGrp="1"/>
          </p:cNvSpPr>
          <p:nvPr>
            <p:ph type="body" sz="quarter" idx="3"/>
          </p:nvPr>
        </p:nvSpPr>
        <p:spPr>
          <a:xfrm>
            <a:off x="4645025" y="2928934"/>
            <a:ext cx="4284693" cy="639762"/>
          </a:xfrm>
        </p:spPr>
        <p:txBody>
          <a:bodyPr/>
          <a:lstStyle/>
          <a:p>
            <a:pPr lvl="0"/>
            <a:r>
              <a:rPr lang="fr-FR"/>
              <a:t>Cliquez pour modifier les styles du texte du masque</a:t>
            </a:r>
          </a:p>
        </p:txBody>
      </p:sp>
    </p:spTree>
    <p:extLst>
      <p:ext uri="{BB962C8B-B14F-4D97-AF65-F5344CB8AC3E}">
        <p14:creationId xmlns:p14="http://schemas.microsoft.com/office/powerpoint/2010/main" val="3953232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214282" y="1071546"/>
            <a:ext cx="4214842" cy="5357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contenu 3"/>
          <p:cNvSpPr>
            <a:spLocks noGrp="1"/>
          </p:cNvSpPr>
          <p:nvPr>
            <p:ph sz="half" idx="2"/>
          </p:nvPr>
        </p:nvSpPr>
        <p:spPr>
          <a:xfrm>
            <a:off x="4714876" y="1071546"/>
            <a:ext cx="4214842" cy="5357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e la date 4"/>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40313221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214282" y="1071546"/>
            <a:ext cx="428310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214282" y="1785926"/>
            <a:ext cx="4283106" cy="46434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texte 4"/>
          <p:cNvSpPr>
            <a:spLocks noGrp="1"/>
          </p:cNvSpPr>
          <p:nvPr>
            <p:ph type="body" sz="quarter" idx="3"/>
          </p:nvPr>
        </p:nvSpPr>
        <p:spPr>
          <a:xfrm>
            <a:off x="4645025" y="1071546"/>
            <a:ext cx="428469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1785926"/>
            <a:ext cx="4284693" cy="46434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e la date 6"/>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389023257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3_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214282" y="1071546"/>
            <a:ext cx="871543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214282" y="1785926"/>
            <a:ext cx="8715436" cy="46434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e la date 6"/>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14055734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214282" y="2432048"/>
            <a:ext cx="428310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214282" y="3143248"/>
            <a:ext cx="4283106" cy="328614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texte 4"/>
          <p:cNvSpPr>
            <a:spLocks noGrp="1"/>
          </p:cNvSpPr>
          <p:nvPr>
            <p:ph type="body" sz="quarter" idx="3"/>
          </p:nvPr>
        </p:nvSpPr>
        <p:spPr>
          <a:xfrm>
            <a:off x="4645025" y="2432048"/>
            <a:ext cx="428469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7" name="Espace réservé de la date 6"/>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C6F2980-C15E-4A6C-B3EA-12E3F1929291}" type="slidenum">
              <a:rPr lang="fr-FR" smtClean="0"/>
              <a:pPr/>
              <a:t>‹N°›</a:t>
            </a:fld>
            <a:endParaRPr lang="fr-FR"/>
          </a:p>
        </p:txBody>
      </p:sp>
      <p:sp>
        <p:nvSpPr>
          <p:cNvPr id="10" name="Espace réservé du contenu 3"/>
          <p:cNvSpPr>
            <a:spLocks noGrp="1"/>
          </p:cNvSpPr>
          <p:nvPr>
            <p:ph sz="half" idx="13"/>
          </p:nvPr>
        </p:nvSpPr>
        <p:spPr>
          <a:xfrm>
            <a:off x="4646612" y="3143248"/>
            <a:ext cx="4283106" cy="328614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11" name="Espace réservé du contenu 3"/>
          <p:cNvSpPr>
            <a:spLocks noGrp="1"/>
          </p:cNvSpPr>
          <p:nvPr>
            <p:ph sz="half" idx="14"/>
          </p:nvPr>
        </p:nvSpPr>
        <p:spPr>
          <a:xfrm>
            <a:off x="214282" y="1071546"/>
            <a:ext cx="8786874" cy="121444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3573760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1_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214282" y="1071546"/>
            <a:ext cx="4283106" cy="639762"/>
          </a:xfrm>
        </p:spPr>
        <p:txBody>
          <a:bodyPr anchor="b"/>
          <a:lstStyle>
            <a:lvl1pPr marL="0" indent="0" algn="r">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214282" y="1785926"/>
            <a:ext cx="4283106" cy="4643470"/>
          </a:xfrm>
          <a:solidFill>
            <a:schemeClr val="accent2">
              <a:lumMod val="40000"/>
              <a:lumOff val="60000"/>
              <a:alpha val="74000"/>
            </a:schemeClr>
          </a:solidFill>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5" name="Espace réservé du texte 4"/>
          <p:cNvSpPr>
            <a:spLocks noGrp="1"/>
          </p:cNvSpPr>
          <p:nvPr>
            <p:ph type="body" sz="quarter" idx="3"/>
          </p:nvPr>
        </p:nvSpPr>
        <p:spPr>
          <a:xfrm>
            <a:off x="4645025" y="1071546"/>
            <a:ext cx="428469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1785926"/>
            <a:ext cx="4284693" cy="4643470"/>
          </a:xfrm>
          <a:solidFill>
            <a:schemeClr val="accent3">
              <a:lumMod val="60000"/>
              <a:lumOff val="40000"/>
              <a:alpha val="74000"/>
            </a:schemeClr>
          </a:solidFill>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e la date 6"/>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797579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mparaison alt">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C6F2980-C15E-4A6C-B3EA-12E3F1929291}" type="slidenum">
              <a:rPr lang="fr-FR" smtClean="0"/>
              <a:pPr/>
              <a:t>‹N°›</a:t>
            </a:fld>
            <a:endParaRPr lang="fr-FR"/>
          </a:p>
        </p:txBody>
      </p:sp>
      <p:sp>
        <p:nvSpPr>
          <p:cNvPr id="6" name="Espace réservé du texte 5"/>
          <p:cNvSpPr>
            <a:spLocks noGrp="1"/>
          </p:cNvSpPr>
          <p:nvPr>
            <p:ph type="body" idx="1"/>
          </p:nvPr>
        </p:nvSpPr>
        <p:spPr>
          <a:xfrm>
            <a:off x="607224" y="285728"/>
            <a:ext cx="3931920" cy="792162"/>
          </a:xfrm>
        </p:spPr>
        <p:txBody>
          <a:bodyPr/>
          <a:lstStyle/>
          <a:p>
            <a:pPr lvl="0"/>
            <a:r>
              <a:rPr lang="fr-FR"/>
              <a:t>Cliquez pour modifier les styles du texte du masque</a:t>
            </a:r>
          </a:p>
        </p:txBody>
      </p:sp>
      <p:sp>
        <p:nvSpPr>
          <p:cNvPr id="7" name="Espace réservé du texte 7"/>
          <p:cNvSpPr>
            <a:spLocks noGrp="1"/>
          </p:cNvSpPr>
          <p:nvPr>
            <p:ph type="body" sz="half" idx="3"/>
          </p:nvPr>
        </p:nvSpPr>
        <p:spPr>
          <a:xfrm>
            <a:off x="4652169" y="285728"/>
            <a:ext cx="3931920" cy="792162"/>
          </a:xfrm>
        </p:spPr>
        <p:txBody>
          <a:bodyPr/>
          <a:lstStyle/>
          <a:p>
            <a:pPr lvl="0"/>
            <a:r>
              <a:rPr lang="fr-FR"/>
              <a:t>Cliquez pour modifier les styles du texte du masque</a:t>
            </a:r>
          </a:p>
        </p:txBody>
      </p:sp>
      <p:sp>
        <p:nvSpPr>
          <p:cNvPr id="8" name="Espace réservé du contenu 6"/>
          <p:cNvSpPr>
            <a:spLocks noGrp="1"/>
          </p:cNvSpPr>
          <p:nvPr>
            <p:ph sz="quarter" idx="2"/>
          </p:nvPr>
        </p:nvSpPr>
        <p:spPr>
          <a:xfrm>
            <a:off x="607224" y="939776"/>
            <a:ext cx="3931920" cy="3060728"/>
          </a:xfrm>
        </p:spPr>
        <p:txBody>
          <a:bodyPr/>
          <a:lstStyle/>
          <a:p>
            <a:pPr lvl="0"/>
            <a:r>
              <a:rPr lang="fr-FR"/>
              <a:t>Cliquez pour modifier les styles du texte du masque</a:t>
            </a:r>
          </a:p>
          <a:p>
            <a:pPr lvl="1"/>
            <a:r>
              <a:rPr lang="fr-FR"/>
              <a:t>Deuxième niveau</a:t>
            </a:r>
          </a:p>
        </p:txBody>
      </p:sp>
      <p:sp>
        <p:nvSpPr>
          <p:cNvPr id="9" name="Espace réservé du contenu 8"/>
          <p:cNvSpPr>
            <a:spLocks noGrp="1"/>
          </p:cNvSpPr>
          <p:nvPr>
            <p:ph sz="quarter" idx="4"/>
          </p:nvPr>
        </p:nvSpPr>
        <p:spPr>
          <a:xfrm>
            <a:off x="4652169" y="939776"/>
            <a:ext cx="3931920" cy="3060728"/>
          </a:xfrm>
        </p:spPr>
        <p:txBody>
          <a:bodyPr/>
          <a:lstStyle/>
          <a:p>
            <a:pPr lvl="0"/>
            <a:r>
              <a:rPr lang="fr-FR"/>
              <a:t>Cliquez pour modifier les styles du texte du masque</a:t>
            </a:r>
          </a:p>
          <a:p>
            <a:pPr lvl="1"/>
            <a:r>
              <a:rPr lang="fr-FR"/>
              <a:t>Deuxième niveau</a:t>
            </a:r>
          </a:p>
        </p:txBody>
      </p:sp>
      <p:pic>
        <p:nvPicPr>
          <p:cNvPr id="11" name="Picture 2"/>
          <p:cNvPicPr>
            <a:picLocks noChangeAspect="1" noChangeArrowheads="1"/>
          </p:cNvPicPr>
          <p:nvPr/>
        </p:nvPicPr>
        <p:blipFill>
          <a:blip r:embed="rId2"/>
          <a:srcRect/>
          <a:stretch>
            <a:fillRect/>
          </a:stretch>
        </p:blipFill>
        <p:spPr bwMode="auto">
          <a:xfrm>
            <a:off x="928662" y="3500438"/>
            <a:ext cx="3357586" cy="2714621"/>
          </a:xfrm>
          <a:prstGeom prst="rect">
            <a:avLst/>
          </a:prstGeom>
          <a:noFill/>
          <a:ln w="9525">
            <a:noFill/>
            <a:miter lim="800000"/>
            <a:headEnd/>
            <a:tailEnd/>
          </a:ln>
          <a:effectLst/>
        </p:spPr>
      </p:pic>
      <p:pic>
        <p:nvPicPr>
          <p:cNvPr id="12" name="Picture 3"/>
          <p:cNvPicPr>
            <a:picLocks noChangeAspect="1" noChangeArrowheads="1"/>
          </p:cNvPicPr>
          <p:nvPr/>
        </p:nvPicPr>
        <p:blipFill>
          <a:blip r:embed="rId3"/>
          <a:srcRect/>
          <a:stretch>
            <a:fillRect/>
          </a:stretch>
        </p:blipFill>
        <p:spPr bwMode="auto">
          <a:xfrm>
            <a:off x="4929190" y="3571876"/>
            <a:ext cx="3397286" cy="2571768"/>
          </a:xfrm>
          <a:prstGeom prst="rect">
            <a:avLst/>
          </a:prstGeom>
          <a:noFill/>
          <a:ln w="9525">
            <a:noFill/>
            <a:miter lim="800000"/>
            <a:headEnd/>
            <a:tailEnd/>
          </a:ln>
          <a:effectLst/>
        </p:spPr>
      </p:pic>
      <p:sp>
        <p:nvSpPr>
          <p:cNvPr id="2" name="Titre 1"/>
          <p:cNvSpPr>
            <a:spLocks noGrp="1"/>
          </p:cNvSpPr>
          <p:nvPr>
            <p:ph type="title"/>
          </p:nvPr>
        </p:nvSpPr>
        <p:spPr>
          <a:xfrm>
            <a:off x="0" y="5929330"/>
            <a:ext cx="9144000" cy="785818"/>
          </a:xfrm>
        </p:spPr>
        <p:txBody>
          <a:bodyPr/>
          <a:lstStyle/>
          <a:p>
            <a:r>
              <a:rPr lang="fr-FR"/>
              <a:t>Modifiez le style du titre</a:t>
            </a:r>
            <a:endParaRPr lang="fr-FR" dirty="0"/>
          </a:p>
        </p:txBody>
      </p:sp>
      <p:sp>
        <p:nvSpPr>
          <p:cNvPr id="13" name="Espace réservé du texte 5"/>
          <p:cNvSpPr>
            <a:spLocks noGrp="1"/>
          </p:cNvSpPr>
          <p:nvPr>
            <p:ph type="body" idx="1"/>
          </p:nvPr>
        </p:nvSpPr>
        <p:spPr>
          <a:xfrm>
            <a:off x="607224" y="285728"/>
            <a:ext cx="3931920" cy="792162"/>
          </a:xfrm>
        </p:spPr>
        <p:txBody>
          <a:bodyPr/>
          <a:lstStyle/>
          <a:p>
            <a:pPr lvl="0"/>
            <a:r>
              <a:rPr lang="fr-FR"/>
              <a:t>Cliquez pour modifier les styles du texte du masque</a:t>
            </a:r>
          </a:p>
        </p:txBody>
      </p:sp>
      <p:sp>
        <p:nvSpPr>
          <p:cNvPr id="14" name="Espace réservé du texte 7"/>
          <p:cNvSpPr>
            <a:spLocks noGrp="1"/>
          </p:cNvSpPr>
          <p:nvPr>
            <p:ph type="body" sz="half" idx="3"/>
          </p:nvPr>
        </p:nvSpPr>
        <p:spPr>
          <a:xfrm>
            <a:off x="4652169" y="285728"/>
            <a:ext cx="3931920" cy="792162"/>
          </a:xfrm>
        </p:spPr>
        <p:txBody>
          <a:bodyPr/>
          <a:lstStyle/>
          <a:p>
            <a:pPr lvl="0"/>
            <a:r>
              <a:rPr lang="fr-FR"/>
              <a:t>Cliquez pour modifier les styles du texte du masque</a:t>
            </a:r>
          </a:p>
        </p:txBody>
      </p:sp>
      <p:sp>
        <p:nvSpPr>
          <p:cNvPr id="15" name="Espace réservé du contenu 6"/>
          <p:cNvSpPr>
            <a:spLocks noGrp="1"/>
          </p:cNvSpPr>
          <p:nvPr>
            <p:ph sz="quarter" idx="2"/>
          </p:nvPr>
        </p:nvSpPr>
        <p:spPr>
          <a:xfrm>
            <a:off x="607224" y="939776"/>
            <a:ext cx="3931920" cy="3060728"/>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16" name="Espace réservé du contenu 8"/>
          <p:cNvSpPr>
            <a:spLocks noGrp="1"/>
          </p:cNvSpPr>
          <p:nvPr>
            <p:ph sz="quarter" idx="4"/>
          </p:nvPr>
        </p:nvSpPr>
        <p:spPr>
          <a:xfrm>
            <a:off x="4652169" y="939776"/>
            <a:ext cx="3931920" cy="3060728"/>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pic>
        <p:nvPicPr>
          <p:cNvPr id="17" name="Picture 2"/>
          <p:cNvPicPr>
            <a:picLocks noChangeAspect="1" noChangeArrowheads="1"/>
          </p:cNvPicPr>
          <p:nvPr/>
        </p:nvPicPr>
        <p:blipFill>
          <a:blip r:embed="rId2"/>
          <a:srcRect/>
          <a:stretch>
            <a:fillRect/>
          </a:stretch>
        </p:blipFill>
        <p:spPr bwMode="auto">
          <a:xfrm>
            <a:off x="928662" y="3500438"/>
            <a:ext cx="3357586" cy="2714621"/>
          </a:xfrm>
          <a:prstGeom prst="rect">
            <a:avLst/>
          </a:prstGeom>
          <a:noFill/>
          <a:ln w="9525">
            <a:noFill/>
            <a:miter lim="800000"/>
            <a:headEnd/>
            <a:tailEnd/>
          </a:ln>
          <a:effectLst/>
        </p:spPr>
      </p:pic>
      <p:pic>
        <p:nvPicPr>
          <p:cNvPr id="18" name="Picture 3"/>
          <p:cNvPicPr>
            <a:picLocks noChangeAspect="1" noChangeArrowheads="1"/>
          </p:cNvPicPr>
          <p:nvPr/>
        </p:nvPicPr>
        <p:blipFill>
          <a:blip r:embed="rId3"/>
          <a:srcRect/>
          <a:stretch>
            <a:fillRect/>
          </a:stretch>
        </p:blipFill>
        <p:spPr bwMode="auto">
          <a:xfrm>
            <a:off x="4929190" y="3571876"/>
            <a:ext cx="3397286" cy="2571768"/>
          </a:xfrm>
          <a:prstGeom prst="rect">
            <a:avLst/>
          </a:prstGeom>
          <a:noFill/>
          <a:ln w="9525">
            <a:noFill/>
            <a:miter lim="800000"/>
            <a:headEnd/>
            <a:tailEnd/>
          </a:ln>
          <a:effectLst/>
        </p:spPr>
      </p:pic>
    </p:spTree>
    <p:extLst>
      <p:ext uri="{BB962C8B-B14F-4D97-AF65-F5344CB8AC3E}">
        <p14:creationId xmlns:p14="http://schemas.microsoft.com/office/powerpoint/2010/main" val="4518870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u gauch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C6F2980-C15E-4A6C-B3EA-12E3F1929291}" type="slidenum">
              <a:rPr lang="fr-FR" smtClean="0"/>
              <a:pPr/>
              <a:t>‹N°›</a:t>
            </a:fld>
            <a:endParaRPr lang="fr-FR"/>
          </a:p>
        </p:txBody>
      </p:sp>
      <p:sp>
        <p:nvSpPr>
          <p:cNvPr id="7" name="Espace réservé du contenu 2"/>
          <p:cNvSpPr>
            <a:spLocks noGrp="1"/>
          </p:cNvSpPr>
          <p:nvPr>
            <p:ph sz="half" idx="1"/>
          </p:nvPr>
        </p:nvSpPr>
        <p:spPr>
          <a:xfrm>
            <a:off x="214282" y="1071546"/>
            <a:ext cx="6715172" cy="5357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10" name="Espace réservé pour une image  8"/>
          <p:cNvSpPr>
            <a:spLocks noGrp="1"/>
          </p:cNvSpPr>
          <p:nvPr>
            <p:ph type="pic" sz="quarter" idx="13"/>
          </p:nvPr>
        </p:nvSpPr>
        <p:spPr>
          <a:xfrm>
            <a:off x="7143768" y="1143000"/>
            <a:ext cx="1785938" cy="2286000"/>
          </a:xfrm>
          <a:noFill/>
          <a:ln>
            <a:noFill/>
          </a:ln>
        </p:spPr>
        <p:txBody>
          <a:bodyPr/>
          <a:lstStyle/>
          <a:p>
            <a:r>
              <a:rPr lang="fr-FR"/>
              <a:t>Cliquez sur l'icône pour ajouter une image</a:t>
            </a:r>
          </a:p>
        </p:txBody>
      </p:sp>
    </p:spTree>
    <p:extLst>
      <p:ext uri="{BB962C8B-B14F-4D97-AF65-F5344CB8AC3E}">
        <p14:creationId xmlns:p14="http://schemas.microsoft.com/office/powerpoint/2010/main" val="205846439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u droit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C6F2980-C15E-4A6C-B3EA-12E3F1929291}" type="slidenum">
              <a:rPr lang="fr-FR" smtClean="0"/>
              <a:pPr/>
              <a:t>‹N°›</a:t>
            </a:fld>
            <a:endParaRPr lang="fr-FR"/>
          </a:p>
        </p:txBody>
      </p:sp>
      <p:sp>
        <p:nvSpPr>
          <p:cNvPr id="7" name="Espace réservé du contenu 2"/>
          <p:cNvSpPr>
            <a:spLocks noGrp="1"/>
          </p:cNvSpPr>
          <p:nvPr>
            <p:ph sz="half" idx="1"/>
          </p:nvPr>
        </p:nvSpPr>
        <p:spPr>
          <a:xfrm>
            <a:off x="2214546" y="1071546"/>
            <a:ext cx="6715172" cy="5357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8" name="Espace réservé pour une image  8"/>
          <p:cNvSpPr>
            <a:spLocks noGrp="1"/>
          </p:cNvSpPr>
          <p:nvPr>
            <p:ph type="pic" sz="quarter" idx="13"/>
          </p:nvPr>
        </p:nvSpPr>
        <p:spPr>
          <a:xfrm>
            <a:off x="214282" y="1143000"/>
            <a:ext cx="1785938" cy="2286000"/>
          </a:xfrm>
          <a:noFill/>
          <a:ln>
            <a:noFill/>
          </a:ln>
        </p:spPr>
        <p:txBody>
          <a:bodyPr/>
          <a:lstStyle/>
          <a:p>
            <a:r>
              <a:rPr lang="fr-FR"/>
              <a:t>Cliquez sur l'icône pour ajouter une image</a:t>
            </a:r>
          </a:p>
        </p:txBody>
      </p:sp>
    </p:spTree>
    <p:extLst>
      <p:ext uri="{BB962C8B-B14F-4D97-AF65-F5344CB8AC3E}">
        <p14:creationId xmlns:p14="http://schemas.microsoft.com/office/powerpoint/2010/main" val="11700279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370655556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a bientot">
    <p:spTree>
      <p:nvGrpSpPr>
        <p:cNvPr id="1" name=""/>
        <p:cNvGrpSpPr/>
        <p:nvPr/>
      </p:nvGrpSpPr>
      <p:grpSpPr>
        <a:xfrm>
          <a:off x="0" y="0"/>
          <a:ext cx="0" cy="0"/>
          <a:chOff x="0" y="0"/>
          <a:chExt cx="0" cy="0"/>
        </a:xfrm>
      </p:grpSpPr>
      <p:sp>
        <p:nvSpPr>
          <p:cNvPr id="5" name="ZoneTexte 4"/>
          <p:cNvSpPr txBox="1"/>
          <p:nvPr/>
        </p:nvSpPr>
        <p:spPr>
          <a:xfrm>
            <a:off x="7858148" y="6429396"/>
            <a:ext cx="642942" cy="369332"/>
          </a:xfrm>
          <a:prstGeom prst="rect">
            <a:avLst/>
          </a:prstGeom>
          <a:noFill/>
        </p:spPr>
        <p:txBody>
          <a:bodyPr wrap="square" rtlCol="0">
            <a:spAutoFit/>
          </a:bodyPr>
          <a:lstStyle/>
          <a:p>
            <a:pPr algn="ctr"/>
            <a:r>
              <a:rPr lang="fr-FR" dirty="0"/>
              <a:t>FIN</a:t>
            </a:r>
          </a:p>
        </p:txBody>
      </p:sp>
      <p:sp>
        <p:nvSpPr>
          <p:cNvPr id="6" name="ZoneTexte 5"/>
          <p:cNvSpPr txBox="1"/>
          <p:nvPr/>
        </p:nvSpPr>
        <p:spPr>
          <a:xfrm>
            <a:off x="1142976" y="428604"/>
            <a:ext cx="6643734" cy="769441"/>
          </a:xfrm>
          <a:prstGeom prst="rect">
            <a:avLst/>
          </a:prstGeom>
          <a:noFill/>
        </p:spPr>
        <p:txBody>
          <a:bodyPr wrap="square" rtlCol="0">
            <a:spAutoFit/>
          </a:bodyPr>
          <a:lstStyle/>
          <a:p>
            <a:pPr algn="ctr"/>
            <a:r>
              <a:rPr lang="fr-FR" sz="4400" b="1" dirty="0">
                <a:solidFill>
                  <a:schemeClr val="bg1">
                    <a:lumMod val="50000"/>
                  </a:schemeClr>
                </a:solidFill>
              </a:rPr>
              <a:t>A bientôt</a:t>
            </a:r>
          </a:p>
        </p:txBody>
      </p:sp>
      <p:sp>
        <p:nvSpPr>
          <p:cNvPr id="7" name="ZoneTexte 6"/>
          <p:cNvSpPr txBox="1"/>
          <p:nvPr/>
        </p:nvSpPr>
        <p:spPr>
          <a:xfrm>
            <a:off x="7858148" y="6429396"/>
            <a:ext cx="642942" cy="369332"/>
          </a:xfrm>
          <a:prstGeom prst="rect">
            <a:avLst/>
          </a:prstGeom>
          <a:noFill/>
        </p:spPr>
        <p:txBody>
          <a:bodyPr wrap="square" rtlCol="0">
            <a:spAutoFit/>
          </a:bodyPr>
          <a:lstStyle/>
          <a:p>
            <a:pPr algn="ctr"/>
            <a:r>
              <a:rPr lang="fr-FR" dirty="0"/>
              <a:t>FIN</a:t>
            </a:r>
          </a:p>
        </p:txBody>
      </p:sp>
      <p:sp>
        <p:nvSpPr>
          <p:cNvPr id="8" name="ZoneTexte 7"/>
          <p:cNvSpPr txBox="1"/>
          <p:nvPr/>
        </p:nvSpPr>
        <p:spPr>
          <a:xfrm>
            <a:off x="1142976" y="428604"/>
            <a:ext cx="6643734" cy="769441"/>
          </a:xfrm>
          <a:prstGeom prst="rect">
            <a:avLst/>
          </a:prstGeom>
          <a:noFill/>
        </p:spPr>
        <p:txBody>
          <a:bodyPr wrap="square" rtlCol="0">
            <a:spAutoFit/>
          </a:bodyPr>
          <a:lstStyle/>
          <a:p>
            <a:pPr algn="ctr"/>
            <a:r>
              <a:rPr lang="fr-FR" sz="4400" b="1" dirty="0">
                <a:solidFill>
                  <a:schemeClr val="bg1">
                    <a:lumMod val="50000"/>
                  </a:schemeClr>
                </a:solidFill>
              </a:rPr>
              <a:t>A bientôt</a:t>
            </a:r>
          </a:p>
        </p:txBody>
      </p:sp>
      <p:pic>
        <p:nvPicPr>
          <p:cNvPr id="4098" name="Picture 2" descr="ORSYS - Organisme de formation en IT, management et autres ...">
            <a:extLst>
              <a:ext uri="{FF2B5EF4-FFF2-40B4-BE49-F238E27FC236}">
                <a16:creationId xmlns:a16="http://schemas.microsoft.com/office/drawing/2014/main" id="{1D853761-CB22-CA7D-6B9D-803A423F289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9363" y="2709863"/>
            <a:ext cx="4105275" cy="143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205204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a bientot GRAPH">
    <p:spTree>
      <p:nvGrpSpPr>
        <p:cNvPr id="1" name=""/>
        <p:cNvGrpSpPr/>
        <p:nvPr/>
      </p:nvGrpSpPr>
      <p:grpSpPr>
        <a:xfrm>
          <a:off x="0" y="0"/>
          <a:ext cx="0" cy="0"/>
          <a:chOff x="0" y="0"/>
          <a:chExt cx="0" cy="0"/>
        </a:xfrm>
      </p:grpSpPr>
      <p:sp>
        <p:nvSpPr>
          <p:cNvPr id="5" name="ZoneTexte 4"/>
          <p:cNvSpPr txBox="1"/>
          <p:nvPr/>
        </p:nvSpPr>
        <p:spPr>
          <a:xfrm>
            <a:off x="7858148" y="6429396"/>
            <a:ext cx="642942" cy="369332"/>
          </a:xfrm>
          <a:prstGeom prst="rect">
            <a:avLst/>
          </a:prstGeom>
          <a:noFill/>
        </p:spPr>
        <p:txBody>
          <a:bodyPr wrap="square" rtlCol="0">
            <a:spAutoFit/>
          </a:bodyPr>
          <a:lstStyle/>
          <a:p>
            <a:pPr algn="ctr"/>
            <a:r>
              <a:rPr lang="fr-FR" dirty="0"/>
              <a:t>FIN</a:t>
            </a:r>
          </a:p>
        </p:txBody>
      </p:sp>
      <p:sp>
        <p:nvSpPr>
          <p:cNvPr id="7" name="ZoneTexte 6"/>
          <p:cNvSpPr txBox="1"/>
          <p:nvPr/>
        </p:nvSpPr>
        <p:spPr>
          <a:xfrm>
            <a:off x="7858148" y="6429396"/>
            <a:ext cx="642942" cy="369332"/>
          </a:xfrm>
          <a:prstGeom prst="rect">
            <a:avLst/>
          </a:prstGeom>
          <a:noFill/>
        </p:spPr>
        <p:txBody>
          <a:bodyPr wrap="square" rtlCol="0">
            <a:spAutoFit/>
          </a:bodyPr>
          <a:lstStyle/>
          <a:p>
            <a:pPr algn="ctr"/>
            <a:r>
              <a:rPr lang="fr-FR" dirty="0"/>
              <a:t>FIN</a:t>
            </a:r>
          </a:p>
        </p:txBody>
      </p:sp>
      <p:sp>
        <p:nvSpPr>
          <p:cNvPr id="8" name="ZoneTexte 7"/>
          <p:cNvSpPr txBox="1"/>
          <p:nvPr/>
        </p:nvSpPr>
        <p:spPr>
          <a:xfrm rot="19535488">
            <a:off x="-1320511" y="1010534"/>
            <a:ext cx="6643734" cy="923330"/>
          </a:xfrm>
          <a:prstGeom prst="rect">
            <a:avLst/>
          </a:prstGeom>
          <a:noFill/>
        </p:spPr>
        <p:txBody>
          <a:bodyPr wrap="square" rtlCol="0">
            <a:spAutoFit/>
          </a:bodyPr>
          <a:lstStyle/>
          <a:p>
            <a:pPr algn="ctr"/>
            <a:r>
              <a:rPr lang="fr-FR" sz="5400" b="1" dirty="0">
                <a:solidFill>
                  <a:schemeClr val="bg1">
                    <a:lumMod val="50000"/>
                  </a:schemeClr>
                </a:solidFill>
                <a:latin typeface="Permanent Marker" pitchFamily="2" charset="0"/>
                <a:ea typeface="Permanent Marker" pitchFamily="2" charset="0"/>
              </a:rPr>
              <a:t>A bientôt</a:t>
            </a:r>
          </a:p>
        </p:txBody>
      </p:sp>
      <p:pic>
        <p:nvPicPr>
          <p:cNvPr id="5122" name="Picture 2" descr="ORSYS - Organisme de formation en IT, management et autres ...">
            <a:extLst>
              <a:ext uri="{FF2B5EF4-FFF2-40B4-BE49-F238E27FC236}">
                <a16:creationId xmlns:a16="http://schemas.microsoft.com/office/drawing/2014/main" id="{005C782F-E85F-1FCB-5EF1-77AB8B85AA0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457449" y="4431709"/>
            <a:ext cx="6229101" cy="21823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87122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277803"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357554" y="273050"/>
            <a:ext cx="5572164" cy="615634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texte 3"/>
          <p:cNvSpPr>
            <a:spLocks noGrp="1"/>
          </p:cNvSpPr>
          <p:nvPr>
            <p:ph type="body" sz="half" idx="2"/>
          </p:nvPr>
        </p:nvSpPr>
        <p:spPr>
          <a:xfrm>
            <a:off x="277803" y="1435100"/>
            <a:ext cx="3008313" cy="493409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292457555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986358"/>
            <a:ext cx="5486400" cy="566738"/>
          </a:xfrm>
        </p:spPr>
        <p:txBody>
          <a:bodyPr anchor="b"/>
          <a:lstStyle>
            <a:lvl1pPr algn="l">
              <a:defRPr sz="2000" b="1"/>
            </a:lvl1pPr>
          </a:lstStyle>
          <a:p>
            <a:r>
              <a:rPr lang="fr-FR"/>
              <a:t>Modifiez le style du titre</a:t>
            </a:r>
            <a:endParaRPr lang="fr-FR" dirty="0"/>
          </a:p>
        </p:txBody>
      </p:sp>
      <p:sp>
        <p:nvSpPr>
          <p:cNvPr id="3" name="Espace réservé pour une image  2"/>
          <p:cNvSpPr>
            <a:spLocks noGrp="1"/>
          </p:cNvSpPr>
          <p:nvPr>
            <p:ph type="pic" idx="1"/>
          </p:nvPr>
        </p:nvSpPr>
        <p:spPr>
          <a:xfrm>
            <a:off x="1142976" y="415913"/>
            <a:ext cx="6786610" cy="4370409"/>
          </a:xfrm>
          <a:effectLst>
            <a:outerShdw blurRad="50800" dist="38100" dir="2700000" algn="tl" rotWithShape="0">
              <a:prstClr val="black">
                <a:alpha val="4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fr-FR" dirty="0"/>
          </a:p>
        </p:txBody>
      </p:sp>
      <p:sp>
        <p:nvSpPr>
          <p:cNvPr id="4" name="Espace réservé du texte 3"/>
          <p:cNvSpPr>
            <a:spLocks noGrp="1"/>
          </p:cNvSpPr>
          <p:nvPr>
            <p:ph type="body" sz="half" idx="2"/>
          </p:nvPr>
        </p:nvSpPr>
        <p:spPr>
          <a:xfrm>
            <a:off x="1792288" y="5553096"/>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Espace réservé de la date 4"/>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11772680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1_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5572140"/>
            <a:ext cx="5486400" cy="566738"/>
          </a:xfrm>
        </p:spPr>
        <p:txBody>
          <a:bodyPr anchor="b"/>
          <a:lstStyle>
            <a:lvl1pPr algn="l">
              <a:defRPr sz="2000" b="1"/>
            </a:lvl1pPr>
          </a:lstStyle>
          <a:p>
            <a:r>
              <a:rPr lang="fr-FR"/>
              <a:t>Modifiez le style du titre</a:t>
            </a:r>
            <a:endParaRPr lang="fr-FR" dirty="0"/>
          </a:p>
        </p:txBody>
      </p:sp>
      <p:sp>
        <p:nvSpPr>
          <p:cNvPr id="4" name="Espace réservé du texte 3"/>
          <p:cNvSpPr>
            <a:spLocks noGrp="1"/>
          </p:cNvSpPr>
          <p:nvPr>
            <p:ph type="body" sz="half" idx="2" hasCustomPrompt="1"/>
          </p:nvPr>
        </p:nvSpPr>
        <p:spPr>
          <a:xfrm>
            <a:off x="5072066" y="4857760"/>
            <a:ext cx="2771756" cy="357190"/>
          </a:xfrm>
          <a:solidFill>
            <a:schemeClr val="bg1"/>
          </a:solidFill>
          <a:effectLst>
            <a:outerShdw blurRad="50800" dist="38100" dir="2700000" algn="tl" rotWithShape="0">
              <a:prstClr val="black">
                <a:alpha val="40000"/>
              </a:prstClr>
            </a:outerShdw>
          </a:effectLst>
        </p:spPr>
        <p:txBody>
          <a:bodyPr/>
          <a:lstStyle>
            <a:lvl1pPr marL="0" indent="0" algn="ctr">
              <a:buNone/>
              <a:defRPr sz="1400" i="1"/>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dirty="0"/>
              <a:t>Légende</a:t>
            </a:r>
          </a:p>
        </p:txBody>
      </p:sp>
      <p:sp>
        <p:nvSpPr>
          <p:cNvPr id="5" name="Espace réservé de la date 4"/>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C6F2980-C15E-4A6C-B3EA-12E3F1929291}" type="slidenum">
              <a:rPr lang="fr-FR" smtClean="0"/>
              <a:pPr/>
              <a:t>‹N°›</a:t>
            </a:fld>
            <a:endParaRPr lang="fr-FR"/>
          </a:p>
        </p:txBody>
      </p:sp>
      <p:sp>
        <p:nvSpPr>
          <p:cNvPr id="3" name="Espace réservé pour une image  2"/>
          <p:cNvSpPr>
            <a:spLocks noGrp="1"/>
          </p:cNvSpPr>
          <p:nvPr>
            <p:ph type="pic" idx="1"/>
          </p:nvPr>
        </p:nvSpPr>
        <p:spPr>
          <a:xfrm>
            <a:off x="1142976" y="415913"/>
            <a:ext cx="6786610" cy="4370409"/>
          </a:xfrm>
          <a:effectLst>
            <a:outerShdw blurRad="50800" dist="38100" dir="2700000" algn="tl" rotWithShape="0">
              <a:prstClr val="black">
                <a:alpha val="4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fr-FR" dirty="0"/>
          </a:p>
        </p:txBody>
      </p:sp>
    </p:spTree>
    <p:extLst>
      <p:ext uri="{BB962C8B-B14F-4D97-AF65-F5344CB8AC3E}">
        <p14:creationId xmlns:p14="http://schemas.microsoft.com/office/powerpoint/2010/main" val="5174980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a:xfrm>
            <a:off x="285720" y="1071546"/>
            <a:ext cx="8572560" cy="5357850"/>
          </a:xfrm>
        </p:spPr>
        <p:txBody>
          <a:bodyPr vert="eaVert"/>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28532719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7643834" y="274638"/>
            <a:ext cx="1285884" cy="6083320"/>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214282" y="274638"/>
            <a:ext cx="7215238" cy="6083320"/>
          </a:xfrm>
        </p:spPr>
        <p:txBody>
          <a:bodyPr vert="eaVert"/>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202174661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C6F2980-C15E-4A6C-B3EA-12E3F1929291}" type="slidenum">
              <a:rPr lang="fr-FR" smtClean="0"/>
              <a:pPr/>
              <a:t>‹N°›</a:t>
            </a:fld>
            <a:endParaRPr lang="fr-FR"/>
          </a:p>
        </p:txBody>
      </p:sp>
      <p:pic>
        <p:nvPicPr>
          <p:cNvPr id="6" name="Picture 2" descr="C:\Users\Alex\Desktop\7345610a78ba71a45f37XL.png"/>
          <p:cNvPicPr>
            <a:picLocks noChangeAspect="1" noChangeArrowheads="1"/>
          </p:cNvPicPr>
          <p:nvPr/>
        </p:nvPicPr>
        <p:blipFill>
          <a:blip r:embed="rId2" cstate="print"/>
          <a:srcRect/>
          <a:stretch>
            <a:fillRect/>
          </a:stretch>
        </p:blipFill>
        <p:spPr bwMode="auto">
          <a:xfrm>
            <a:off x="7077075" y="-214338"/>
            <a:ext cx="2066925" cy="2309813"/>
          </a:xfrm>
          <a:prstGeom prst="rect">
            <a:avLst/>
          </a:prstGeom>
          <a:noFill/>
        </p:spPr>
      </p:pic>
      <p:pic>
        <p:nvPicPr>
          <p:cNvPr id="7" name="Picture 2" descr="C:\Users\Alex\Desktop\7345610a78ba71a45f37XL.png"/>
          <p:cNvPicPr>
            <a:picLocks noChangeAspect="1" noChangeArrowheads="1"/>
          </p:cNvPicPr>
          <p:nvPr/>
        </p:nvPicPr>
        <p:blipFill>
          <a:blip r:embed="rId2" cstate="print"/>
          <a:srcRect/>
          <a:stretch>
            <a:fillRect/>
          </a:stretch>
        </p:blipFill>
        <p:spPr bwMode="auto">
          <a:xfrm rot="450626">
            <a:off x="5285593" y="-89165"/>
            <a:ext cx="2066925" cy="2309813"/>
          </a:xfrm>
          <a:prstGeom prst="rect">
            <a:avLst/>
          </a:prstGeom>
          <a:noFill/>
        </p:spPr>
      </p:pic>
      <p:grpSp>
        <p:nvGrpSpPr>
          <p:cNvPr id="8" name="Groupe 7"/>
          <p:cNvGrpSpPr/>
          <p:nvPr/>
        </p:nvGrpSpPr>
        <p:grpSpPr>
          <a:xfrm>
            <a:off x="1571604" y="1071546"/>
            <a:ext cx="4403463" cy="4572032"/>
            <a:chOff x="5143504" y="2857496"/>
            <a:chExt cx="4403463" cy="4572032"/>
          </a:xfrm>
        </p:grpSpPr>
        <p:pic>
          <p:nvPicPr>
            <p:cNvPr id="9" name="Picture 3" descr="C:\Users\Alex\Desktop\3998752.png"/>
            <p:cNvPicPr>
              <a:picLocks noChangeAspect="1" noChangeArrowheads="1"/>
            </p:cNvPicPr>
            <p:nvPr/>
          </p:nvPicPr>
          <p:blipFill>
            <a:blip r:embed="rId3"/>
            <a:srcRect/>
            <a:stretch>
              <a:fillRect/>
            </a:stretch>
          </p:blipFill>
          <p:spPr bwMode="auto">
            <a:xfrm>
              <a:off x="5143504" y="2857496"/>
              <a:ext cx="4403463" cy="4572032"/>
            </a:xfrm>
            <a:prstGeom prst="rect">
              <a:avLst/>
            </a:prstGeom>
            <a:noFill/>
          </p:spPr>
        </p:pic>
        <p:sp>
          <p:nvSpPr>
            <p:cNvPr id="10" name="ZoneTexte 9"/>
            <p:cNvSpPr txBox="1"/>
            <p:nvPr/>
          </p:nvSpPr>
          <p:spPr>
            <a:xfrm rot="250041">
              <a:off x="5936693" y="4021724"/>
              <a:ext cx="2846260" cy="2246769"/>
            </a:xfrm>
            <a:prstGeom prst="rect">
              <a:avLst/>
            </a:prstGeom>
            <a:noFill/>
          </p:spPr>
          <p:txBody>
            <a:bodyPr wrap="square" rtlCol="0">
              <a:spAutoFit/>
            </a:bodyPr>
            <a:lstStyle/>
            <a:p>
              <a:r>
                <a:rPr lang="fr-FR" sz="1400" b="1" u="sng" dirty="0">
                  <a:latin typeface="Permanent Marker" pitchFamily="2" charset="0"/>
                  <a:ea typeface="Permanent Marker" pitchFamily="2" charset="0"/>
                </a:rPr>
                <a:t>Les autres </a:t>
              </a:r>
              <a:r>
                <a:rPr lang="fr-FR" sz="1400" b="1" u="sng" dirty="0" err="1">
                  <a:latin typeface="Permanent Marker" pitchFamily="2" charset="0"/>
                  <a:ea typeface="Permanent Marker" pitchFamily="2" charset="0"/>
                </a:rPr>
                <a:t>possibilitEs</a:t>
              </a:r>
              <a:r>
                <a:rPr lang="fr-FR" sz="1400" b="1" u="sng" dirty="0">
                  <a:latin typeface="Permanent Marker" pitchFamily="2" charset="0"/>
                  <a:ea typeface="Permanent Marker" pitchFamily="2" charset="0"/>
                </a:rPr>
                <a:t> :</a:t>
              </a:r>
              <a:r>
                <a:rPr lang="fr-FR" sz="1400" b="1" i="1" u="sng" dirty="0">
                  <a:solidFill>
                    <a:srgbClr val="007400"/>
                  </a:solidFill>
                  <a:latin typeface="Permanent Marker" pitchFamily="2" charset="0"/>
                  <a:ea typeface="Permanent Marker" pitchFamily="2" charset="0"/>
                </a:rPr>
                <a:t> </a:t>
              </a:r>
            </a:p>
            <a:p>
              <a:endParaRPr lang="fr-FR" sz="1400" b="1" i="1" u="sng" dirty="0">
                <a:solidFill>
                  <a:srgbClr val="007400"/>
                </a:solidFill>
                <a:latin typeface="inherit"/>
              </a:endParaRPr>
            </a:p>
            <a:p>
              <a:r>
                <a:rPr lang="fr-FR" sz="1400" b="1" i="1" u="sng" dirty="0">
                  <a:solidFill>
                    <a:srgbClr val="007400"/>
                  </a:solidFill>
                  <a:latin typeface="inherit"/>
                </a:rPr>
                <a:t>Description:</a:t>
              </a:r>
              <a:r>
                <a:rPr lang="fr-FR" sz="1400" b="1" i="1" dirty="0">
                  <a:solidFill>
                    <a:srgbClr val="007400"/>
                  </a:solidFill>
                  <a:latin typeface="inherit"/>
                </a:rPr>
                <a:t> </a:t>
              </a:r>
              <a:r>
                <a:rPr lang="fr-FR" sz="1200" i="1" dirty="0">
                  <a:solidFill>
                    <a:srgbClr val="007400"/>
                  </a:solidFill>
                  <a:latin typeface="inherit"/>
                </a:rPr>
                <a:t>Mon plugin !</a:t>
              </a:r>
              <a:endParaRPr lang="fr-FR" sz="1400" dirty="0">
                <a:solidFill>
                  <a:srgbClr val="000000"/>
                </a:solidFill>
                <a:latin typeface="Monaco"/>
              </a:endParaRPr>
            </a:p>
            <a:p>
              <a:r>
                <a:rPr lang="fr-FR" sz="1400" b="1" i="1" u="sng" dirty="0" err="1">
                  <a:solidFill>
                    <a:srgbClr val="007400"/>
                  </a:solidFill>
                  <a:latin typeface="inherit"/>
                </a:rPr>
                <a:t>Author</a:t>
              </a:r>
              <a:r>
                <a:rPr lang="fr-FR" sz="1400" b="1" i="1" u="sng" dirty="0">
                  <a:solidFill>
                    <a:srgbClr val="007400"/>
                  </a:solidFill>
                  <a:latin typeface="inherit"/>
                </a:rPr>
                <a:t>:</a:t>
              </a:r>
              <a:r>
                <a:rPr lang="fr-FR" sz="1400" b="1" i="1" dirty="0">
                  <a:solidFill>
                    <a:srgbClr val="007400"/>
                  </a:solidFill>
                  <a:latin typeface="inherit"/>
                </a:rPr>
                <a:t> </a:t>
              </a:r>
              <a:r>
                <a:rPr lang="fr-FR" sz="1200" i="1" dirty="0" err="1">
                  <a:solidFill>
                    <a:srgbClr val="007400"/>
                  </a:solidFill>
                  <a:latin typeface="inherit"/>
                </a:rPr>
                <a:t>it’s</a:t>
              </a:r>
              <a:r>
                <a:rPr lang="fr-FR" sz="1200" i="1" dirty="0">
                  <a:solidFill>
                    <a:srgbClr val="007400"/>
                  </a:solidFill>
                  <a:latin typeface="inherit"/>
                </a:rPr>
                <a:t> me Mario</a:t>
              </a:r>
              <a:endParaRPr lang="fr-FR" sz="1400" i="1" dirty="0">
                <a:solidFill>
                  <a:srgbClr val="007400"/>
                </a:solidFill>
                <a:latin typeface="inherit"/>
              </a:endParaRPr>
            </a:p>
            <a:p>
              <a:r>
                <a:rPr lang="fr-FR" sz="1400" b="1" i="1" u="sng" dirty="0">
                  <a:solidFill>
                    <a:srgbClr val="007400"/>
                  </a:solidFill>
                  <a:latin typeface="inherit"/>
                </a:rPr>
                <a:t>Plugin URI:</a:t>
              </a:r>
              <a:r>
                <a:rPr lang="fr-FR" sz="1400" b="1" i="1" dirty="0">
                  <a:solidFill>
                    <a:srgbClr val="007400"/>
                  </a:solidFill>
                  <a:latin typeface="inherit"/>
                </a:rPr>
                <a:t> </a:t>
              </a:r>
              <a:r>
                <a:rPr lang="fr-FR" sz="1200" i="1" dirty="0">
                  <a:solidFill>
                    <a:srgbClr val="007400"/>
                  </a:solidFill>
                  <a:latin typeface="inherit"/>
                  <a:hlinkClick r:id="rId4"/>
                </a:rPr>
                <a:t>http://pizplomb.fr</a:t>
              </a:r>
              <a:endParaRPr lang="fr-FR" sz="1200" i="1" dirty="0">
                <a:solidFill>
                  <a:srgbClr val="007400"/>
                </a:solidFill>
                <a:latin typeface="inherit"/>
              </a:endParaRPr>
            </a:p>
            <a:p>
              <a:r>
                <a:rPr lang="fr-FR" sz="1400" b="1" i="1" u="sng" dirty="0">
                  <a:solidFill>
                    <a:srgbClr val="007400"/>
                  </a:solidFill>
                  <a:latin typeface="inherit"/>
                </a:rPr>
                <a:t>Version:</a:t>
              </a:r>
              <a:r>
                <a:rPr lang="fr-FR" sz="1400" i="1" dirty="0">
                  <a:solidFill>
                    <a:srgbClr val="007400"/>
                  </a:solidFill>
                  <a:latin typeface="inherit"/>
                </a:rPr>
                <a:t> </a:t>
              </a:r>
              <a:r>
                <a:rPr lang="fr-FR" sz="1200" i="1" dirty="0">
                  <a:solidFill>
                    <a:srgbClr val="007400"/>
                  </a:solidFill>
                  <a:latin typeface="inherit"/>
                </a:rPr>
                <a:t>0.0.1</a:t>
              </a:r>
              <a:endParaRPr lang="fr-FR" sz="1400" i="1" dirty="0">
                <a:solidFill>
                  <a:srgbClr val="007400"/>
                </a:solidFill>
                <a:latin typeface="inherit"/>
              </a:endParaRPr>
            </a:p>
            <a:p>
              <a:r>
                <a:rPr lang="fr-FR" sz="1400" b="1" i="1" u="sng" dirty="0">
                  <a:solidFill>
                    <a:srgbClr val="007400"/>
                  </a:solidFill>
                  <a:latin typeface="inherit"/>
                </a:rPr>
                <a:t>Licence:</a:t>
              </a:r>
              <a:r>
                <a:rPr lang="fr-FR" sz="1400" i="1" dirty="0">
                  <a:solidFill>
                    <a:srgbClr val="007400"/>
                  </a:solidFill>
                  <a:latin typeface="inherit"/>
                </a:rPr>
                <a:t> </a:t>
              </a:r>
              <a:r>
                <a:rPr lang="fr-FR" sz="1200" i="1" dirty="0">
                  <a:solidFill>
                    <a:srgbClr val="007400"/>
                  </a:solidFill>
                  <a:latin typeface="inherit"/>
                </a:rPr>
                <a:t>GPL</a:t>
              </a:r>
              <a:endParaRPr lang="fr-FR" sz="1400" i="1" dirty="0">
                <a:solidFill>
                  <a:srgbClr val="007400"/>
                </a:solidFill>
                <a:latin typeface="inherit"/>
              </a:endParaRPr>
            </a:p>
            <a:p>
              <a:endParaRPr lang="fr-FR" sz="1400" i="1" dirty="0">
                <a:solidFill>
                  <a:srgbClr val="007400"/>
                </a:solidFill>
                <a:latin typeface="inherit"/>
              </a:endParaRPr>
            </a:p>
            <a:p>
              <a:r>
                <a:rPr lang="fr-FR" sz="1400" i="1" dirty="0">
                  <a:solidFill>
                    <a:srgbClr val="007400"/>
                  </a:solidFill>
                  <a:latin typeface="inherit"/>
                </a:rPr>
                <a:t>  </a:t>
              </a:r>
              <a:r>
                <a:rPr lang="fr-FR" sz="1400" b="1" i="1" u="sng" dirty="0">
                  <a:solidFill>
                    <a:srgbClr val="007400"/>
                  </a:solidFill>
                  <a:latin typeface="inherit"/>
                </a:rPr>
                <a:t>Text Domain:</a:t>
              </a:r>
              <a:r>
                <a:rPr lang="fr-FR" sz="1400" i="1" dirty="0">
                  <a:solidFill>
                    <a:srgbClr val="007400"/>
                  </a:solidFill>
                  <a:latin typeface="inherit"/>
                </a:rPr>
                <a:t> </a:t>
              </a:r>
              <a:r>
                <a:rPr lang="fr-FR" sz="1200" i="1" dirty="0" err="1">
                  <a:solidFill>
                    <a:srgbClr val="007400"/>
                  </a:solidFill>
                  <a:latin typeface="inherit"/>
                </a:rPr>
                <a:t>monapp</a:t>
              </a:r>
              <a:endParaRPr lang="fr-FR" sz="1400" i="1" dirty="0">
                <a:solidFill>
                  <a:srgbClr val="007400"/>
                </a:solidFill>
                <a:latin typeface="inherit"/>
              </a:endParaRPr>
            </a:p>
            <a:p>
              <a:r>
                <a:rPr lang="fr-FR" sz="1400" i="1" dirty="0">
                  <a:solidFill>
                    <a:srgbClr val="007400"/>
                  </a:solidFill>
                  <a:latin typeface="inherit"/>
                </a:rPr>
                <a:t>  </a:t>
              </a:r>
              <a:r>
                <a:rPr lang="fr-FR" sz="1400" b="1" i="1" u="sng" dirty="0">
                  <a:solidFill>
                    <a:srgbClr val="007400"/>
                  </a:solidFill>
                  <a:latin typeface="inherit"/>
                </a:rPr>
                <a:t>Domain Path:</a:t>
              </a:r>
              <a:r>
                <a:rPr lang="fr-FR" sz="1400" i="1" dirty="0">
                  <a:solidFill>
                    <a:srgbClr val="007400"/>
                  </a:solidFill>
                  <a:latin typeface="inherit"/>
                </a:rPr>
                <a:t> </a:t>
              </a:r>
              <a:r>
                <a:rPr lang="fr-FR" sz="1200" i="1" dirty="0">
                  <a:solidFill>
                    <a:srgbClr val="007400"/>
                  </a:solidFill>
                  <a:latin typeface="inherit"/>
                </a:rPr>
                <a:t>/</a:t>
              </a:r>
              <a:r>
                <a:rPr lang="fr-FR" sz="1200" i="1" dirty="0" err="1">
                  <a:solidFill>
                    <a:srgbClr val="007400"/>
                  </a:solidFill>
                  <a:latin typeface="inherit"/>
                </a:rPr>
                <a:t>languages</a:t>
              </a:r>
              <a:endParaRPr lang="fr-FR" sz="1400" b="0" i="0" dirty="0">
                <a:solidFill>
                  <a:srgbClr val="000000"/>
                </a:solidFill>
                <a:latin typeface="Monaco"/>
              </a:endParaRPr>
            </a:p>
          </p:txBody>
        </p:sp>
      </p:grpSp>
      <p:grpSp>
        <p:nvGrpSpPr>
          <p:cNvPr id="11" name="Groupe 10"/>
          <p:cNvGrpSpPr/>
          <p:nvPr/>
        </p:nvGrpSpPr>
        <p:grpSpPr>
          <a:xfrm>
            <a:off x="7048533" y="1714488"/>
            <a:ext cx="2309813" cy="2066925"/>
            <a:chOff x="7082570" y="3163972"/>
            <a:chExt cx="2309813" cy="2066925"/>
          </a:xfrm>
        </p:grpSpPr>
        <p:pic>
          <p:nvPicPr>
            <p:cNvPr id="12" name="Picture 2" descr="C:\Users\Alex\Desktop\7345610a78ba71a45f37XL.png"/>
            <p:cNvPicPr>
              <a:picLocks noChangeAspect="1" noChangeArrowheads="1"/>
            </p:cNvPicPr>
            <p:nvPr/>
          </p:nvPicPr>
          <p:blipFill>
            <a:blip r:embed="rId2" cstate="print"/>
            <a:srcRect/>
            <a:stretch>
              <a:fillRect/>
            </a:stretch>
          </p:blipFill>
          <p:spPr bwMode="auto">
            <a:xfrm rot="5685244">
              <a:off x="7204014" y="3042528"/>
              <a:ext cx="2066925" cy="2309813"/>
            </a:xfrm>
            <a:prstGeom prst="rect">
              <a:avLst/>
            </a:prstGeom>
            <a:noFill/>
          </p:spPr>
        </p:pic>
        <p:sp>
          <p:nvSpPr>
            <p:cNvPr id="13" name="ZoneTexte 12"/>
            <p:cNvSpPr txBox="1"/>
            <p:nvPr/>
          </p:nvSpPr>
          <p:spPr>
            <a:xfrm>
              <a:off x="7463557" y="3521162"/>
              <a:ext cx="1500198" cy="923330"/>
            </a:xfrm>
            <a:prstGeom prst="rect">
              <a:avLst/>
            </a:prstGeom>
            <a:noFill/>
          </p:spPr>
          <p:txBody>
            <a:bodyPr wrap="square" rtlCol="0">
              <a:spAutoFit/>
            </a:bodyPr>
            <a:lstStyle/>
            <a:p>
              <a:r>
                <a:rPr lang="fr-FR" dirty="0">
                  <a:latin typeface="Permanent Marker" pitchFamily="2" charset="0"/>
                  <a:ea typeface="Permanent Marker" pitchFamily="2" charset="0"/>
                </a:rPr>
                <a:t>      Utilise dans le cours</a:t>
              </a:r>
            </a:p>
          </p:txBody>
        </p:sp>
        <p:sp>
          <p:nvSpPr>
            <p:cNvPr id="14" name="Flèche vers le bas 13"/>
            <p:cNvSpPr/>
            <p:nvPr/>
          </p:nvSpPr>
          <p:spPr>
            <a:xfrm>
              <a:off x="7786710" y="4500570"/>
              <a:ext cx="428628" cy="42862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15" name="Picture 5" descr="C:\Users\Alex\Desktop\unnamed.png"/>
          <p:cNvPicPr>
            <a:picLocks noChangeAspect="1" noChangeArrowheads="1"/>
          </p:cNvPicPr>
          <p:nvPr/>
        </p:nvPicPr>
        <p:blipFill>
          <a:blip r:embed="rId5"/>
          <a:srcRect/>
          <a:stretch>
            <a:fillRect/>
          </a:stretch>
        </p:blipFill>
        <p:spPr bwMode="auto">
          <a:xfrm>
            <a:off x="5572132" y="3571876"/>
            <a:ext cx="2857500" cy="2857500"/>
          </a:xfrm>
          <a:prstGeom prst="rect">
            <a:avLst/>
          </a:prstGeom>
          <a:noFill/>
        </p:spPr>
      </p:pic>
      <p:pic>
        <p:nvPicPr>
          <p:cNvPr id="16" name="Picture 2" descr="C:\Users\Alex\Desktop\6a017d3e74d693970c01b8d2a04749970c.png"/>
          <p:cNvPicPr>
            <a:picLocks noChangeAspect="1" noChangeArrowheads="1"/>
          </p:cNvPicPr>
          <p:nvPr/>
        </p:nvPicPr>
        <p:blipFill>
          <a:blip r:embed="rId6" cstate="print"/>
          <a:srcRect/>
          <a:stretch>
            <a:fillRect/>
          </a:stretch>
        </p:blipFill>
        <p:spPr bwMode="auto">
          <a:xfrm>
            <a:off x="-8" y="857232"/>
            <a:ext cx="1928802" cy="3428981"/>
          </a:xfrm>
          <a:prstGeom prst="rect">
            <a:avLst/>
          </a:prstGeom>
          <a:noFill/>
        </p:spPr>
      </p:pic>
    </p:spTree>
    <p:extLst>
      <p:ext uri="{BB962C8B-B14F-4D97-AF65-F5344CB8AC3E}">
        <p14:creationId xmlns:p14="http://schemas.microsoft.com/office/powerpoint/2010/main" val="9348968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_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C6F2980-C15E-4A6C-B3EA-12E3F1929291}" type="slidenum">
              <a:rPr lang="fr-FR" smtClean="0"/>
              <a:pPr/>
              <a:t>‹N°›</a:t>
            </a:fld>
            <a:endParaRPr lang="fr-FR"/>
          </a:p>
        </p:txBody>
      </p:sp>
      <p:pic>
        <p:nvPicPr>
          <p:cNvPr id="6" name="Picture 2" descr="C:\Users\Alex\Desktop\Post-it-note-transparent.png"/>
          <p:cNvPicPr>
            <a:picLocks noChangeAspect="1" noChangeArrowheads="1"/>
          </p:cNvPicPr>
          <p:nvPr/>
        </p:nvPicPr>
        <p:blipFill>
          <a:blip r:embed="rId2" cstate="print"/>
          <a:srcRect/>
          <a:stretch>
            <a:fillRect/>
          </a:stretch>
        </p:blipFill>
        <p:spPr bwMode="auto">
          <a:xfrm>
            <a:off x="7000892" y="1071546"/>
            <a:ext cx="1928826" cy="1596267"/>
          </a:xfrm>
          <a:prstGeom prst="rect">
            <a:avLst/>
          </a:prstGeom>
          <a:noFill/>
        </p:spPr>
      </p:pic>
      <p:pic>
        <p:nvPicPr>
          <p:cNvPr id="7" name="Picture 2"/>
          <p:cNvPicPr>
            <a:picLocks noChangeAspect="1" noChangeArrowheads="1"/>
          </p:cNvPicPr>
          <p:nvPr/>
        </p:nvPicPr>
        <p:blipFill>
          <a:blip r:embed="rId3" cstate="print"/>
          <a:srcRect/>
          <a:stretch>
            <a:fillRect/>
          </a:stretch>
        </p:blipFill>
        <p:spPr bwMode="auto">
          <a:xfrm>
            <a:off x="7000892" y="2571744"/>
            <a:ext cx="1928826" cy="2012085"/>
          </a:xfrm>
          <a:prstGeom prst="rect">
            <a:avLst/>
          </a:prstGeom>
          <a:noFill/>
          <a:ln w="9525">
            <a:noFill/>
            <a:miter lim="800000"/>
            <a:headEnd/>
            <a:tailEnd/>
          </a:ln>
          <a:effectLst/>
        </p:spPr>
      </p:pic>
      <p:pic>
        <p:nvPicPr>
          <p:cNvPr id="8" name="Picture 3"/>
          <p:cNvPicPr>
            <a:picLocks noChangeAspect="1" noChangeArrowheads="1"/>
          </p:cNvPicPr>
          <p:nvPr/>
        </p:nvPicPr>
        <p:blipFill>
          <a:blip r:embed="rId4" cstate="print"/>
          <a:srcRect/>
          <a:stretch>
            <a:fillRect/>
          </a:stretch>
        </p:blipFill>
        <p:spPr bwMode="auto">
          <a:xfrm>
            <a:off x="7215206" y="4643446"/>
            <a:ext cx="1647818" cy="1718947"/>
          </a:xfrm>
          <a:prstGeom prst="rect">
            <a:avLst/>
          </a:prstGeom>
          <a:noFill/>
          <a:ln w="9525">
            <a:noFill/>
            <a:miter lim="800000"/>
            <a:headEnd/>
            <a:tailEnd/>
          </a:ln>
          <a:effectLst/>
        </p:spPr>
      </p:pic>
      <p:grpSp>
        <p:nvGrpSpPr>
          <p:cNvPr id="9" name="Groupe 8"/>
          <p:cNvGrpSpPr/>
          <p:nvPr/>
        </p:nvGrpSpPr>
        <p:grpSpPr>
          <a:xfrm>
            <a:off x="1785918" y="357166"/>
            <a:ext cx="3500462" cy="3069088"/>
            <a:chOff x="4071934" y="3357562"/>
            <a:chExt cx="3500462" cy="3069088"/>
          </a:xfrm>
        </p:grpSpPr>
        <p:pic>
          <p:nvPicPr>
            <p:cNvPr id="10" name="Picture 1" descr="C:\Users\Alex\Desktop\iStock_000004611428XSmall-stickynote.png"/>
            <p:cNvPicPr>
              <a:picLocks noChangeAspect="1" noChangeArrowheads="1"/>
            </p:cNvPicPr>
            <p:nvPr/>
          </p:nvPicPr>
          <p:blipFill>
            <a:blip r:embed="rId5"/>
            <a:srcRect/>
            <a:stretch>
              <a:fillRect/>
            </a:stretch>
          </p:blipFill>
          <p:spPr bwMode="auto">
            <a:xfrm>
              <a:off x="4071934" y="3357562"/>
              <a:ext cx="3500462" cy="3069088"/>
            </a:xfrm>
            <a:prstGeom prst="rect">
              <a:avLst/>
            </a:prstGeom>
            <a:noFill/>
          </p:spPr>
        </p:pic>
        <p:sp>
          <p:nvSpPr>
            <p:cNvPr id="11" name="ZoneTexte 10"/>
            <p:cNvSpPr txBox="1"/>
            <p:nvPr/>
          </p:nvSpPr>
          <p:spPr>
            <a:xfrm rot="21136573">
              <a:off x="5117395" y="4100561"/>
              <a:ext cx="1940112" cy="1569660"/>
            </a:xfrm>
            <a:prstGeom prst="rect">
              <a:avLst/>
            </a:prstGeom>
            <a:noFill/>
          </p:spPr>
          <p:txBody>
            <a:bodyPr wrap="square" rtlCol="0">
              <a:spAutoFit/>
            </a:bodyPr>
            <a:lstStyle/>
            <a:p>
              <a:pPr algn="ctr"/>
              <a:r>
                <a:rPr lang="fr-FR" sz="1200" b="1" u="sng" dirty="0">
                  <a:latin typeface="Permanent Marker" pitchFamily="2" charset="0"/>
                  <a:ea typeface="Permanent Marker" pitchFamily="2" charset="0"/>
                </a:rPr>
                <a:t>Pour avoir plusieurs versions</a:t>
              </a:r>
              <a:endParaRPr lang="fr-FR" sz="1200" b="1" i="1" u="sng" dirty="0">
                <a:solidFill>
                  <a:srgbClr val="007400"/>
                </a:solidFill>
                <a:latin typeface="Permanent Marker" pitchFamily="2" charset="0"/>
                <a:ea typeface="Permanent Marker" pitchFamily="2" charset="0"/>
              </a:endParaRPr>
            </a:p>
            <a:p>
              <a:pPr algn="ctr"/>
              <a:endParaRPr lang="fr-FR" sz="1200" b="1" i="1" u="sng" dirty="0">
                <a:solidFill>
                  <a:srgbClr val="007400"/>
                </a:solidFill>
                <a:latin typeface="Permanent Marker" pitchFamily="2" charset="0"/>
                <a:ea typeface="Permanent Marker" pitchFamily="2" charset="0"/>
              </a:endParaRPr>
            </a:p>
            <a:p>
              <a:pPr algn="ctr"/>
              <a:r>
                <a:rPr lang="fr-FR" sz="1200" b="1" i="1" u="sng" dirty="0">
                  <a:solidFill>
                    <a:srgbClr val="007400"/>
                  </a:solidFill>
                  <a:latin typeface="Permanent Marker" pitchFamily="2" charset="0"/>
                  <a:ea typeface="Permanent Marker" pitchFamily="2" charset="0"/>
                </a:rPr>
                <a:t>Un répertoire pour chaque</a:t>
              </a:r>
            </a:p>
            <a:p>
              <a:pPr algn="ctr"/>
              <a:endParaRPr lang="fr-FR" sz="1200" b="1" i="1" u="sng" dirty="0">
                <a:solidFill>
                  <a:srgbClr val="007400"/>
                </a:solidFill>
                <a:latin typeface="Permanent Marker" pitchFamily="2" charset="0"/>
                <a:ea typeface="Permanent Marker" pitchFamily="2" charset="0"/>
              </a:endParaRPr>
            </a:p>
            <a:p>
              <a:pPr algn="ctr"/>
              <a:r>
                <a:rPr lang="fr-FR" sz="1200" b="1" i="1" u="sng" dirty="0" err="1">
                  <a:solidFill>
                    <a:srgbClr val="007400"/>
                  </a:solidFill>
                  <a:latin typeface="Permanent Marker" pitchFamily="2" charset="0"/>
                  <a:ea typeface="Permanent Marker" pitchFamily="2" charset="0"/>
                </a:rPr>
                <a:t>Prefixe</a:t>
              </a:r>
              <a:r>
                <a:rPr lang="fr-FR" sz="1200" b="1" i="1" u="sng" dirty="0">
                  <a:solidFill>
                    <a:srgbClr val="007400"/>
                  </a:solidFill>
                  <a:latin typeface="Permanent Marker" pitchFamily="2" charset="0"/>
                  <a:ea typeface="Permanent Marker" pitchFamily="2" charset="0"/>
                </a:rPr>
                <a:t> de SQL différent pour chacune</a:t>
              </a:r>
            </a:p>
          </p:txBody>
        </p:sp>
      </p:grpSp>
      <p:pic>
        <p:nvPicPr>
          <p:cNvPr id="12" name="Picture 4"/>
          <p:cNvPicPr>
            <a:picLocks noChangeAspect="1" noChangeArrowheads="1"/>
          </p:cNvPicPr>
          <p:nvPr/>
        </p:nvPicPr>
        <p:blipFill>
          <a:blip r:embed="rId6"/>
          <a:srcRect/>
          <a:stretch>
            <a:fillRect/>
          </a:stretch>
        </p:blipFill>
        <p:spPr bwMode="auto">
          <a:xfrm>
            <a:off x="0" y="4286256"/>
            <a:ext cx="2857500" cy="2857500"/>
          </a:xfrm>
          <a:prstGeom prst="rect">
            <a:avLst/>
          </a:prstGeom>
          <a:noFill/>
          <a:ln w="9525">
            <a:noFill/>
            <a:miter lim="800000"/>
            <a:headEnd/>
            <a:tailEnd/>
          </a:ln>
          <a:effectLst/>
        </p:spPr>
      </p:pic>
      <p:pic>
        <p:nvPicPr>
          <p:cNvPr id="13" name="Picture 5" descr="C:\Users\Alex\Desktop\iStock_000004611428XSmall-stickynote4.png"/>
          <p:cNvPicPr>
            <a:picLocks noChangeAspect="1" noChangeArrowheads="1"/>
          </p:cNvPicPr>
          <p:nvPr/>
        </p:nvPicPr>
        <p:blipFill>
          <a:blip r:embed="rId7"/>
          <a:srcRect/>
          <a:stretch>
            <a:fillRect/>
          </a:stretch>
        </p:blipFill>
        <p:spPr bwMode="auto">
          <a:xfrm>
            <a:off x="0" y="2214554"/>
            <a:ext cx="2508267" cy="2558923"/>
          </a:xfrm>
          <a:prstGeom prst="rect">
            <a:avLst/>
          </a:prstGeom>
          <a:noFill/>
        </p:spPr>
      </p:pic>
      <p:pic>
        <p:nvPicPr>
          <p:cNvPr id="14" name="Picture 6" descr="C:\Users\Alex\Desktop\iStock_000004611428XSmall-stickynote5.png"/>
          <p:cNvPicPr>
            <a:picLocks noChangeAspect="1" noChangeArrowheads="1"/>
          </p:cNvPicPr>
          <p:nvPr/>
        </p:nvPicPr>
        <p:blipFill>
          <a:blip r:embed="rId8"/>
          <a:srcRect/>
          <a:stretch>
            <a:fillRect/>
          </a:stretch>
        </p:blipFill>
        <p:spPr bwMode="auto">
          <a:xfrm>
            <a:off x="-214346" y="285728"/>
            <a:ext cx="2436829" cy="2486042"/>
          </a:xfrm>
          <a:prstGeom prst="rect">
            <a:avLst/>
          </a:prstGeom>
          <a:noFill/>
        </p:spPr>
      </p:pic>
    </p:spTree>
    <p:extLst>
      <p:ext uri="{BB962C8B-B14F-4D97-AF65-F5344CB8AC3E}">
        <p14:creationId xmlns:p14="http://schemas.microsoft.com/office/powerpoint/2010/main" val="133264174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Disposition personnalisé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7729584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ORSYS_logistique">
    <p:spTree>
      <p:nvGrpSpPr>
        <p:cNvPr id="1" name=""/>
        <p:cNvGrpSpPr/>
        <p:nvPr/>
      </p:nvGrpSpPr>
      <p:grpSpPr>
        <a:xfrm>
          <a:off x="0" y="0"/>
          <a:ext cx="0" cy="0"/>
          <a:chOff x="0" y="0"/>
          <a:chExt cx="0" cy="0"/>
        </a:xfrm>
      </p:grpSpPr>
      <p:sp>
        <p:nvSpPr>
          <p:cNvPr id="2" name="Titre 1"/>
          <p:cNvSpPr>
            <a:spLocks noGrp="1"/>
          </p:cNvSpPr>
          <p:nvPr>
            <p:ph type="title"/>
          </p:nvPr>
        </p:nvSpPr>
        <p:spPr>
          <a:xfrm>
            <a:off x="277803" y="273050"/>
            <a:ext cx="3008313" cy="1162050"/>
          </a:xfrm>
        </p:spPr>
        <p:txBody>
          <a:bodyPr anchor="b"/>
          <a:lstStyle>
            <a:lvl1pPr algn="l">
              <a:defRPr sz="2000" b="1"/>
            </a:lvl1pPr>
          </a:lstStyle>
          <a:p>
            <a:r>
              <a:rPr lang="fr-FR"/>
              <a:t>Modifiez le style du titre</a:t>
            </a:r>
          </a:p>
        </p:txBody>
      </p:sp>
      <p:sp>
        <p:nvSpPr>
          <p:cNvPr id="5" name="Espace réservé de la date 4"/>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C6F2980-C15E-4A6C-B3EA-12E3F1929291}" type="slidenum">
              <a:rPr lang="fr-FR" smtClean="0"/>
              <a:pPr/>
              <a:t>‹N°›</a:t>
            </a:fld>
            <a:endParaRPr lang="fr-FR"/>
          </a:p>
        </p:txBody>
      </p:sp>
      <p:sp>
        <p:nvSpPr>
          <p:cNvPr id="8" name="Espace réservé du contenu 4"/>
          <p:cNvSpPr>
            <a:spLocks noGrp="1"/>
          </p:cNvSpPr>
          <p:nvPr>
            <p:ph idx="1" hasCustomPrompt="1"/>
          </p:nvPr>
        </p:nvSpPr>
        <p:spPr>
          <a:xfrm>
            <a:off x="3357554" y="273050"/>
            <a:ext cx="5572164" cy="6156346"/>
          </a:xfrm>
        </p:spPr>
        <p:txBody>
          <a:bodyPr/>
          <a:lstStyle>
            <a:lvl2pPr>
              <a:defRPr baseline="0"/>
            </a:lvl2pPr>
          </a:lstStyle>
          <a:p>
            <a:r>
              <a:rPr lang="fr-FR" dirty="0"/>
              <a:t>Nombre de jours : </a:t>
            </a:r>
          </a:p>
          <a:p>
            <a:pPr lvl="1"/>
            <a:r>
              <a:rPr lang="fr-FR" dirty="0"/>
              <a:t>      jour(s) </a:t>
            </a:r>
          </a:p>
          <a:p>
            <a:pPr lvl="1"/>
            <a:endParaRPr lang="fr-FR" dirty="0"/>
          </a:p>
          <a:p>
            <a:r>
              <a:rPr lang="fr-FR" dirty="0"/>
              <a:t>Horaires </a:t>
            </a:r>
          </a:p>
          <a:p>
            <a:pPr lvl="1"/>
            <a:r>
              <a:rPr lang="fr-FR" dirty="0"/>
              <a:t>Début : 9h </a:t>
            </a:r>
          </a:p>
          <a:p>
            <a:pPr lvl="1"/>
            <a:r>
              <a:rPr lang="fr-FR" dirty="0"/>
              <a:t>Fin : 17h30 </a:t>
            </a:r>
            <a:r>
              <a:rPr lang="fr-FR" sz="1600" b="1" dirty="0" err="1">
                <a:solidFill>
                  <a:prstClr val="black"/>
                </a:solidFill>
              </a:rPr>
              <a:t>approx</a:t>
            </a:r>
            <a:r>
              <a:rPr lang="fr-FR" sz="1600" b="1" dirty="0">
                <a:solidFill>
                  <a:prstClr val="black"/>
                </a:solidFill>
              </a:rPr>
              <a:t>.</a:t>
            </a:r>
            <a:endParaRPr lang="fr-FR" dirty="0"/>
          </a:p>
          <a:p>
            <a:endParaRPr lang="fr-FR" dirty="0"/>
          </a:p>
          <a:p>
            <a:r>
              <a:rPr lang="fr-FR" dirty="0"/>
              <a:t>Pause </a:t>
            </a:r>
          </a:p>
          <a:p>
            <a:pPr lvl="1"/>
            <a:r>
              <a:rPr lang="fr-FR" dirty="0"/>
              <a:t>10h30 </a:t>
            </a:r>
            <a:r>
              <a:rPr lang="fr-FR" sz="1600" b="1" dirty="0" err="1"/>
              <a:t>approx</a:t>
            </a:r>
            <a:r>
              <a:rPr lang="fr-FR" sz="1600" b="1" dirty="0"/>
              <a:t>. </a:t>
            </a:r>
            <a:r>
              <a:rPr lang="fr-FR" dirty="0"/>
              <a:t>Matin</a:t>
            </a:r>
          </a:p>
          <a:p>
            <a:pPr lvl="1"/>
            <a:r>
              <a:rPr lang="fr-FR" dirty="0"/>
              <a:t>12h30 </a:t>
            </a:r>
            <a:r>
              <a:rPr lang="fr-FR" sz="1600" b="1" dirty="0" err="1">
                <a:solidFill>
                  <a:prstClr val="black"/>
                </a:solidFill>
              </a:rPr>
              <a:t>approx</a:t>
            </a:r>
            <a:r>
              <a:rPr lang="fr-FR" sz="1600" b="1" dirty="0">
                <a:solidFill>
                  <a:prstClr val="black"/>
                </a:solidFill>
              </a:rPr>
              <a:t>. </a:t>
            </a:r>
            <a:r>
              <a:rPr lang="fr-FR" dirty="0"/>
              <a:t>Midi</a:t>
            </a:r>
          </a:p>
          <a:p>
            <a:pPr lvl="1"/>
            <a:r>
              <a:rPr lang="fr-FR" dirty="0"/>
              <a:t>15h30 </a:t>
            </a:r>
            <a:r>
              <a:rPr lang="fr-FR" sz="1600" b="1" dirty="0" err="1">
                <a:solidFill>
                  <a:prstClr val="black"/>
                </a:solidFill>
              </a:rPr>
              <a:t>approx</a:t>
            </a:r>
            <a:r>
              <a:rPr lang="fr-FR" sz="1600" b="1" dirty="0">
                <a:solidFill>
                  <a:prstClr val="black"/>
                </a:solidFill>
              </a:rPr>
              <a:t>. </a:t>
            </a:r>
            <a:r>
              <a:rPr lang="fr-FR" dirty="0" err="1"/>
              <a:t>Apres-midi</a:t>
            </a:r>
            <a:endParaRPr lang="fr-FR" dirty="0"/>
          </a:p>
          <a:p>
            <a:endParaRPr lang="fr-FR" dirty="0"/>
          </a:p>
        </p:txBody>
      </p:sp>
      <p:pic>
        <p:nvPicPr>
          <p:cNvPr id="12" name="Picture 2"/>
          <p:cNvPicPr>
            <a:picLocks noChangeAspect="1" noChangeArrowheads="1"/>
          </p:cNvPicPr>
          <p:nvPr/>
        </p:nvPicPr>
        <p:blipFill>
          <a:blip r:embed="rId2"/>
          <a:srcRect/>
          <a:stretch>
            <a:fillRect/>
          </a:stretch>
        </p:blipFill>
        <p:spPr bwMode="auto">
          <a:xfrm>
            <a:off x="1" y="3602764"/>
            <a:ext cx="3571868" cy="3440962"/>
          </a:xfrm>
          <a:prstGeom prst="rect">
            <a:avLst/>
          </a:prstGeom>
          <a:noFill/>
          <a:ln w="9525">
            <a:noFill/>
            <a:miter lim="800000"/>
            <a:headEnd/>
            <a:tailEnd/>
          </a:ln>
          <a:effectLst/>
        </p:spPr>
      </p:pic>
      <p:grpSp>
        <p:nvGrpSpPr>
          <p:cNvPr id="14" name="Groupe 13">
            <a:extLst>
              <a:ext uri="{FF2B5EF4-FFF2-40B4-BE49-F238E27FC236}">
                <a16:creationId xmlns:a16="http://schemas.microsoft.com/office/drawing/2014/main" id="{98494C39-7F8A-016A-D913-44AE29ECD1FD}"/>
              </a:ext>
            </a:extLst>
          </p:cNvPr>
          <p:cNvGrpSpPr/>
          <p:nvPr userDrawn="1"/>
        </p:nvGrpSpPr>
        <p:grpSpPr>
          <a:xfrm>
            <a:off x="1071538" y="1643050"/>
            <a:ext cx="1500198" cy="1928826"/>
            <a:chOff x="1071538" y="1643050"/>
            <a:chExt cx="1500198" cy="1928826"/>
          </a:xfrm>
        </p:grpSpPr>
        <p:pic>
          <p:nvPicPr>
            <p:cNvPr id="10" name="Picture 3"/>
            <p:cNvPicPr>
              <a:picLocks noChangeAspect="1" noChangeArrowheads="1"/>
            </p:cNvPicPr>
            <p:nvPr/>
          </p:nvPicPr>
          <p:blipFill>
            <a:blip r:embed="rId3"/>
            <a:srcRect/>
            <a:stretch>
              <a:fillRect/>
            </a:stretch>
          </p:blipFill>
          <p:spPr bwMode="auto">
            <a:xfrm>
              <a:off x="1071538" y="1643050"/>
              <a:ext cx="1500198" cy="1928826"/>
            </a:xfrm>
            <a:prstGeom prst="rect">
              <a:avLst/>
            </a:prstGeom>
            <a:noFill/>
            <a:ln w="9525">
              <a:noFill/>
              <a:miter lim="800000"/>
              <a:headEnd/>
              <a:tailEnd/>
            </a:ln>
            <a:effectLst/>
          </p:spPr>
        </p:pic>
        <p:grpSp>
          <p:nvGrpSpPr>
            <p:cNvPr id="4" name="Groupe 3">
              <a:extLst>
                <a:ext uri="{FF2B5EF4-FFF2-40B4-BE49-F238E27FC236}">
                  <a16:creationId xmlns:a16="http://schemas.microsoft.com/office/drawing/2014/main" id="{64FEA7B7-91C9-1B1A-2F16-18D95C795915}"/>
                </a:ext>
              </a:extLst>
            </p:cNvPr>
            <p:cNvGrpSpPr/>
            <p:nvPr userDrawn="1"/>
          </p:nvGrpSpPr>
          <p:grpSpPr>
            <a:xfrm>
              <a:off x="1393466" y="2060848"/>
              <a:ext cx="861902" cy="1069290"/>
              <a:chOff x="1393466" y="2071678"/>
              <a:chExt cx="861902" cy="1069290"/>
            </a:xfrm>
          </p:grpSpPr>
          <p:sp>
            <p:nvSpPr>
              <p:cNvPr id="9" name="Rectangle 8">
                <a:extLst>
                  <a:ext uri="{FF2B5EF4-FFF2-40B4-BE49-F238E27FC236}">
                    <a16:creationId xmlns:a16="http://schemas.microsoft.com/office/drawing/2014/main" id="{D99C9297-6E2D-9AFC-E0FF-08672D7384AD}"/>
                  </a:ext>
                </a:extLst>
              </p:cNvPr>
              <p:cNvSpPr/>
              <p:nvPr userDrawn="1"/>
            </p:nvSpPr>
            <p:spPr>
              <a:xfrm flipH="1">
                <a:off x="1393466" y="2071678"/>
                <a:ext cx="858620" cy="106929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3" name="Image 12">
                <a:extLst>
                  <a:ext uri="{FF2B5EF4-FFF2-40B4-BE49-F238E27FC236}">
                    <a16:creationId xmlns:a16="http://schemas.microsoft.com/office/drawing/2014/main" id="{52B1CF19-E269-4280-A8FC-9567BB98F4EF}"/>
                  </a:ext>
                </a:extLst>
              </p:cNvPr>
              <p:cNvPicPr>
                <a:picLocks noChangeAspect="1"/>
              </p:cNvPicPr>
              <p:nvPr userDrawn="1"/>
            </p:nvPicPr>
            <p:blipFill>
              <a:blip r:embed="rId4"/>
              <a:stretch>
                <a:fillRect/>
              </a:stretch>
            </p:blipFill>
            <p:spPr>
              <a:xfrm>
                <a:off x="1393467" y="2130576"/>
                <a:ext cx="861901" cy="938384"/>
              </a:xfrm>
              <a:prstGeom prst="rect">
                <a:avLst/>
              </a:prstGeom>
            </p:spPr>
          </p:pic>
        </p:grpSp>
      </p:grpSp>
    </p:spTree>
    <p:extLst>
      <p:ext uri="{BB962C8B-B14F-4D97-AF65-F5344CB8AC3E}">
        <p14:creationId xmlns:p14="http://schemas.microsoft.com/office/powerpoint/2010/main" val="251491378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ORSYS_generique">
    <p:spTree>
      <p:nvGrpSpPr>
        <p:cNvPr id="1" name=""/>
        <p:cNvGrpSpPr/>
        <p:nvPr/>
      </p:nvGrpSpPr>
      <p:grpSpPr>
        <a:xfrm>
          <a:off x="0" y="0"/>
          <a:ext cx="0" cy="0"/>
          <a:chOff x="0" y="0"/>
          <a:chExt cx="0" cy="0"/>
        </a:xfrm>
      </p:grpSpPr>
      <p:sp>
        <p:nvSpPr>
          <p:cNvPr id="2" name="Titre 1"/>
          <p:cNvSpPr>
            <a:spLocks noGrp="1"/>
          </p:cNvSpPr>
          <p:nvPr>
            <p:ph type="title"/>
          </p:nvPr>
        </p:nvSpPr>
        <p:spPr>
          <a:xfrm>
            <a:off x="277803" y="273050"/>
            <a:ext cx="3008313" cy="1162050"/>
          </a:xfrm>
        </p:spPr>
        <p:txBody>
          <a:bodyPr anchor="b"/>
          <a:lstStyle>
            <a:lvl1pPr algn="l">
              <a:defRPr sz="2000" b="1"/>
            </a:lvl1pPr>
          </a:lstStyle>
          <a:p>
            <a:r>
              <a:rPr lang="fr-FR"/>
              <a:t>Modifiez le style du titre</a:t>
            </a:r>
            <a:endParaRPr lang="fr-FR" dirty="0"/>
          </a:p>
        </p:txBody>
      </p:sp>
      <p:sp>
        <p:nvSpPr>
          <p:cNvPr id="5" name="Espace réservé de la date 4"/>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BC6F2980-C15E-4A6C-B3EA-12E3F1929291}" type="slidenum">
              <a:rPr lang="fr-FR" smtClean="0"/>
              <a:pPr/>
              <a:t>‹N°›</a:t>
            </a:fld>
            <a:endParaRPr lang="fr-FR"/>
          </a:p>
        </p:txBody>
      </p:sp>
      <p:pic>
        <p:nvPicPr>
          <p:cNvPr id="10" name="Picture 3"/>
          <p:cNvPicPr>
            <a:picLocks noChangeAspect="1" noChangeArrowheads="1"/>
          </p:cNvPicPr>
          <p:nvPr/>
        </p:nvPicPr>
        <p:blipFill>
          <a:blip r:embed="rId2"/>
          <a:srcRect/>
          <a:stretch>
            <a:fillRect/>
          </a:stretch>
        </p:blipFill>
        <p:spPr bwMode="auto">
          <a:xfrm>
            <a:off x="1142976" y="1655474"/>
            <a:ext cx="1571636" cy="1844964"/>
          </a:xfrm>
          <a:prstGeom prst="rect">
            <a:avLst/>
          </a:prstGeom>
          <a:noFill/>
          <a:ln w="9525">
            <a:noFill/>
            <a:miter lim="800000"/>
            <a:headEnd/>
            <a:tailEnd/>
          </a:ln>
          <a:effectLst/>
        </p:spPr>
      </p:pic>
      <p:sp>
        <p:nvSpPr>
          <p:cNvPr id="14" name="Espace réservé pour une image  13"/>
          <p:cNvSpPr>
            <a:spLocks noGrp="1"/>
          </p:cNvSpPr>
          <p:nvPr>
            <p:ph type="pic" sz="quarter" idx="13" hasCustomPrompt="1"/>
          </p:nvPr>
        </p:nvSpPr>
        <p:spPr>
          <a:xfrm>
            <a:off x="1500188" y="2012674"/>
            <a:ext cx="857250" cy="1071563"/>
          </a:xfrm>
          <a:solidFill>
            <a:schemeClr val="bg1"/>
          </a:solidFill>
        </p:spPr>
        <p:txBody>
          <a:bodyPr>
            <a:noAutofit/>
          </a:bodyPr>
          <a:lstStyle>
            <a:lvl1pPr>
              <a:buNone/>
              <a:defRPr sz="1600"/>
            </a:lvl1pPr>
          </a:lstStyle>
          <a:p>
            <a:r>
              <a:rPr lang="fr-FR" dirty="0"/>
              <a:t>Image</a:t>
            </a:r>
          </a:p>
        </p:txBody>
      </p:sp>
      <p:sp>
        <p:nvSpPr>
          <p:cNvPr id="16" name="Espace réservé du contenu 15"/>
          <p:cNvSpPr>
            <a:spLocks noGrp="1"/>
          </p:cNvSpPr>
          <p:nvPr>
            <p:ph sz="quarter" idx="14"/>
          </p:nvPr>
        </p:nvSpPr>
        <p:spPr>
          <a:xfrm>
            <a:off x="3357563" y="285750"/>
            <a:ext cx="5572125" cy="6215063"/>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pic>
        <p:nvPicPr>
          <p:cNvPr id="12" name="Picture 2"/>
          <p:cNvPicPr>
            <a:picLocks noChangeAspect="1" noChangeArrowheads="1"/>
          </p:cNvPicPr>
          <p:nvPr/>
        </p:nvPicPr>
        <p:blipFill>
          <a:blip r:embed="rId3"/>
          <a:srcRect/>
          <a:stretch>
            <a:fillRect/>
          </a:stretch>
        </p:blipFill>
        <p:spPr bwMode="auto">
          <a:xfrm>
            <a:off x="1" y="3602764"/>
            <a:ext cx="3571868" cy="3440962"/>
          </a:xfrm>
          <a:prstGeom prst="rect">
            <a:avLst/>
          </a:prstGeom>
          <a:noFill/>
          <a:ln w="9525">
            <a:noFill/>
            <a:miter lim="800000"/>
            <a:headEnd/>
            <a:tailEnd/>
          </a:ln>
          <a:effectLst/>
        </p:spPr>
      </p:pic>
    </p:spTree>
    <p:extLst>
      <p:ext uri="{BB962C8B-B14F-4D97-AF65-F5344CB8AC3E}">
        <p14:creationId xmlns:p14="http://schemas.microsoft.com/office/powerpoint/2010/main" val="24280129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comparaison alt">
    <p:spTree>
      <p:nvGrpSpPr>
        <p:cNvPr id="1" name=""/>
        <p:cNvGrpSpPr/>
        <p:nvPr/>
      </p:nvGrpSpPr>
      <p:grpSpPr>
        <a:xfrm>
          <a:off x="0" y="0"/>
          <a:ext cx="0" cy="0"/>
          <a:chOff x="0" y="0"/>
          <a:chExt cx="0" cy="0"/>
        </a:xfrm>
      </p:grpSpPr>
      <p:sp>
        <p:nvSpPr>
          <p:cNvPr id="3" name="Espace réservé de la date 2"/>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C6F2980-C15E-4A6C-B3EA-12E3F1929291}" type="slidenum">
              <a:rPr lang="fr-FR" smtClean="0"/>
              <a:pPr/>
              <a:t>‹N°›</a:t>
            </a:fld>
            <a:endParaRPr lang="fr-FR"/>
          </a:p>
        </p:txBody>
      </p:sp>
      <p:sp>
        <p:nvSpPr>
          <p:cNvPr id="6" name="Espace réservé du texte 5"/>
          <p:cNvSpPr>
            <a:spLocks noGrp="1"/>
          </p:cNvSpPr>
          <p:nvPr>
            <p:ph type="body" idx="1"/>
          </p:nvPr>
        </p:nvSpPr>
        <p:spPr>
          <a:xfrm>
            <a:off x="607224" y="285728"/>
            <a:ext cx="3931920" cy="792162"/>
          </a:xfrm>
        </p:spPr>
        <p:txBody>
          <a:bodyPr/>
          <a:lstStyle/>
          <a:p>
            <a:pPr lvl="0"/>
            <a:r>
              <a:rPr lang="fr-FR"/>
              <a:t>Cliquez pour modifier les styles du texte du masque</a:t>
            </a:r>
          </a:p>
        </p:txBody>
      </p:sp>
      <p:sp>
        <p:nvSpPr>
          <p:cNvPr id="7" name="Espace réservé du texte 7"/>
          <p:cNvSpPr>
            <a:spLocks noGrp="1"/>
          </p:cNvSpPr>
          <p:nvPr>
            <p:ph type="body" sz="half" idx="3"/>
          </p:nvPr>
        </p:nvSpPr>
        <p:spPr>
          <a:xfrm>
            <a:off x="4652169" y="285728"/>
            <a:ext cx="3931920" cy="792162"/>
          </a:xfrm>
        </p:spPr>
        <p:txBody>
          <a:bodyPr/>
          <a:lstStyle/>
          <a:p>
            <a:pPr lvl="0"/>
            <a:r>
              <a:rPr lang="fr-FR"/>
              <a:t>Cliquez pour modifier les styles du texte du masque</a:t>
            </a:r>
          </a:p>
        </p:txBody>
      </p:sp>
      <p:sp>
        <p:nvSpPr>
          <p:cNvPr id="8" name="Espace réservé du contenu 6"/>
          <p:cNvSpPr>
            <a:spLocks noGrp="1"/>
          </p:cNvSpPr>
          <p:nvPr>
            <p:ph sz="quarter" idx="2"/>
          </p:nvPr>
        </p:nvSpPr>
        <p:spPr>
          <a:xfrm>
            <a:off x="607224" y="939776"/>
            <a:ext cx="3931920" cy="3060728"/>
          </a:xfrm>
        </p:spPr>
        <p:txBody>
          <a:bodyPr/>
          <a:lstStyle/>
          <a:p>
            <a:pPr lvl="0"/>
            <a:r>
              <a:rPr lang="fr-FR"/>
              <a:t>Cliquez pour modifier les styles du texte du masque</a:t>
            </a:r>
          </a:p>
          <a:p>
            <a:pPr lvl="1"/>
            <a:r>
              <a:rPr lang="fr-FR"/>
              <a:t>Deuxième niveau</a:t>
            </a:r>
          </a:p>
        </p:txBody>
      </p:sp>
      <p:sp>
        <p:nvSpPr>
          <p:cNvPr id="9" name="Espace réservé du contenu 8"/>
          <p:cNvSpPr>
            <a:spLocks noGrp="1"/>
          </p:cNvSpPr>
          <p:nvPr>
            <p:ph sz="quarter" idx="4"/>
          </p:nvPr>
        </p:nvSpPr>
        <p:spPr>
          <a:xfrm>
            <a:off x="4652169" y="939776"/>
            <a:ext cx="3931920" cy="3060728"/>
          </a:xfrm>
        </p:spPr>
        <p:txBody>
          <a:bodyPr/>
          <a:lstStyle/>
          <a:p>
            <a:pPr lvl="0"/>
            <a:r>
              <a:rPr lang="fr-FR"/>
              <a:t>Cliquez pour modifier les styles du texte du masque</a:t>
            </a:r>
          </a:p>
          <a:p>
            <a:pPr lvl="1"/>
            <a:r>
              <a:rPr lang="fr-FR"/>
              <a:t>Deuxième niveau</a:t>
            </a:r>
          </a:p>
        </p:txBody>
      </p:sp>
      <p:pic>
        <p:nvPicPr>
          <p:cNvPr id="11" name="Picture 2"/>
          <p:cNvPicPr>
            <a:picLocks noChangeAspect="1" noChangeArrowheads="1"/>
          </p:cNvPicPr>
          <p:nvPr/>
        </p:nvPicPr>
        <p:blipFill>
          <a:blip r:embed="rId2"/>
          <a:srcRect/>
          <a:stretch>
            <a:fillRect/>
          </a:stretch>
        </p:blipFill>
        <p:spPr bwMode="auto">
          <a:xfrm>
            <a:off x="928662" y="3500438"/>
            <a:ext cx="3357586" cy="2714621"/>
          </a:xfrm>
          <a:prstGeom prst="rect">
            <a:avLst/>
          </a:prstGeom>
          <a:noFill/>
          <a:ln w="9525">
            <a:noFill/>
            <a:miter lim="800000"/>
            <a:headEnd/>
            <a:tailEnd/>
          </a:ln>
          <a:effectLst/>
        </p:spPr>
      </p:pic>
      <p:pic>
        <p:nvPicPr>
          <p:cNvPr id="12" name="Picture 3"/>
          <p:cNvPicPr>
            <a:picLocks noChangeAspect="1" noChangeArrowheads="1"/>
          </p:cNvPicPr>
          <p:nvPr/>
        </p:nvPicPr>
        <p:blipFill>
          <a:blip r:embed="rId3"/>
          <a:srcRect/>
          <a:stretch>
            <a:fillRect/>
          </a:stretch>
        </p:blipFill>
        <p:spPr bwMode="auto">
          <a:xfrm>
            <a:off x="4929190" y="3571876"/>
            <a:ext cx="3397286" cy="2571768"/>
          </a:xfrm>
          <a:prstGeom prst="rect">
            <a:avLst/>
          </a:prstGeom>
          <a:noFill/>
          <a:ln w="9525">
            <a:noFill/>
            <a:miter lim="800000"/>
            <a:headEnd/>
            <a:tailEnd/>
          </a:ln>
          <a:effectLst/>
        </p:spPr>
      </p:pic>
      <p:sp>
        <p:nvSpPr>
          <p:cNvPr id="2" name="Titre 1"/>
          <p:cNvSpPr>
            <a:spLocks noGrp="1"/>
          </p:cNvSpPr>
          <p:nvPr>
            <p:ph type="title"/>
          </p:nvPr>
        </p:nvSpPr>
        <p:spPr>
          <a:xfrm>
            <a:off x="0" y="5929330"/>
            <a:ext cx="9144000" cy="785818"/>
          </a:xfrm>
        </p:spPr>
        <p:txBody>
          <a:bodyPr/>
          <a:lstStyle/>
          <a:p>
            <a:r>
              <a:rPr lang="fr-FR"/>
              <a:t>Modifiez le style du titre</a:t>
            </a:r>
            <a:endParaRPr lang="fr-FR" dirty="0"/>
          </a:p>
        </p:txBody>
      </p:sp>
    </p:spTree>
    <p:extLst>
      <p:ext uri="{BB962C8B-B14F-4D97-AF65-F5344CB8AC3E}">
        <p14:creationId xmlns:p14="http://schemas.microsoft.com/office/powerpoint/2010/main" val="21186971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contenu gauch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C6F2980-C15E-4A6C-B3EA-12E3F1929291}" type="slidenum">
              <a:rPr lang="fr-FR" smtClean="0"/>
              <a:pPr/>
              <a:t>‹N°›</a:t>
            </a:fld>
            <a:endParaRPr lang="fr-FR"/>
          </a:p>
        </p:txBody>
      </p:sp>
      <p:sp>
        <p:nvSpPr>
          <p:cNvPr id="7" name="Espace réservé du contenu 2"/>
          <p:cNvSpPr>
            <a:spLocks noGrp="1"/>
          </p:cNvSpPr>
          <p:nvPr>
            <p:ph sz="half" idx="1"/>
          </p:nvPr>
        </p:nvSpPr>
        <p:spPr>
          <a:xfrm>
            <a:off x="214282" y="1071546"/>
            <a:ext cx="6715172" cy="5357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10" name="Espace réservé pour une image  8"/>
          <p:cNvSpPr>
            <a:spLocks noGrp="1"/>
          </p:cNvSpPr>
          <p:nvPr>
            <p:ph type="pic" sz="quarter" idx="13"/>
          </p:nvPr>
        </p:nvSpPr>
        <p:spPr>
          <a:xfrm>
            <a:off x="7143768" y="1143000"/>
            <a:ext cx="1785938" cy="2286000"/>
          </a:xfrm>
          <a:noFill/>
          <a:ln>
            <a:noFill/>
          </a:ln>
        </p:spPr>
        <p:txBody>
          <a:bodyPr/>
          <a:lstStyle/>
          <a:p>
            <a:r>
              <a:rPr lang="fr-FR"/>
              <a:t>Cliquez sur l'icône pour ajouter une image</a:t>
            </a:r>
          </a:p>
        </p:txBody>
      </p:sp>
    </p:spTree>
    <p:extLst>
      <p:ext uri="{BB962C8B-B14F-4D97-AF65-F5344CB8AC3E}">
        <p14:creationId xmlns:p14="http://schemas.microsoft.com/office/powerpoint/2010/main" val="24576133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contenu droite">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BC6F2980-C15E-4A6C-B3EA-12E3F1929291}" type="slidenum">
              <a:rPr lang="fr-FR" smtClean="0"/>
              <a:pPr/>
              <a:t>‹N°›</a:t>
            </a:fld>
            <a:endParaRPr lang="fr-FR"/>
          </a:p>
        </p:txBody>
      </p:sp>
      <p:sp>
        <p:nvSpPr>
          <p:cNvPr id="7" name="Espace réservé du contenu 2"/>
          <p:cNvSpPr>
            <a:spLocks noGrp="1"/>
          </p:cNvSpPr>
          <p:nvPr>
            <p:ph sz="half" idx="1"/>
          </p:nvPr>
        </p:nvSpPr>
        <p:spPr>
          <a:xfrm>
            <a:off x="2214546" y="1071546"/>
            <a:ext cx="6715172" cy="53578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8" name="Espace réservé pour une image  8"/>
          <p:cNvSpPr>
            <a:spLocks noGrp="1"/>
          </p:cNvSpPr>
          <p:nvPr>
            <p:ph type="pic" sz="quarter" idx="13"/>
          </p:nvPr>
        </p:nvSpPr>
        <p:spPr>
          <a:xfrm>
            <a:off x="214282" y="1143000"/>
            <a:ext cx="1785938" cy="2286000"/>
          </a:xfrm>
          <a:noFill/>
          <a:ln>
            <a:noFill/>
          </a:ln>
        </p:spPr>
        <p:txBody>
          <a:bodyPr/>
          <a:lstStyle/>
          <a:p>
            <a:r>
              <a:rPr lang="fr-FR"/>
              <a:t>Cliquez sur l'icône pour ajouter une image</a:t>
            </a:r>
          </a:p>
        </p:txBody>
      </p:sp>
    </p:spTree>
    <p:extLst>
      <p:ext uri="{BB962C8B-B14F-4D97-AF65-F5344CB8AC3E}">
        <p14:creationId xmlns:p14="http://schemas.microsoft.com/office/powerpoint/2010/main" val="28250359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2contents+desc">
    <p:spTree>
      <p:nvGrpSpPr>
        <p:cNvPr id="1" name=""/>
        <p:cNvGrpSpPr/>
        <p:nvPr/>
      </p:nvGrpSpPr>
      <p:grpSpPr>
        <a:xfrm>
          <a:off x="0" y="0"/>
          <a:ext cx="0" cy="0"/>
          <a:chOff x="0" y="0"/>
          <a:chExt cx="0" cy="0"/>
        </a:xfrm>
      </p:grpSpPr>
      <p:sp>
        <p:nvSpPr>
          <p:cNvPr id="2" name="Titre 1"/>
          <p:cNvSpPr>
            <a:spLocks noGrp="1"/>
          </p:cNvSpPr>
          <p:nvPr>
            <p:ph type="title"/>
          </p:nvPr>
        </p:nvSpPr>
        <p:spPr>
          <a:xfrm>
            <a:off x="457200" y="404664"/>
            <a:ext cx="8229600" cy="1066800"/>
          </a:xfrm>
        </p:spPr>
        <p:txBody>
          <a:bodyPr/>
          <a:lstStyle/>
          <a:p>
            <a:r>
              <a:rPr kumimoji="0" lang="fr-FR"/>
              <a:t>Modifiez le style du titre</a:t>
            </a:r>
            <a:endParaRPr kumimoji="0" lang="en-US" dirty="0"/>
          </a:p>
        </p:txBody>
      </p:sp>
      <p:sp>
        <p:nvSpPr>
          <p:cNvPr id="3" name="Espace réservé du contenu 2"/>
          <p:cNvSpPr>
            <a:spLocks noGrp="1"/>
          </p:cNvSpPr>
          <p:nvPr>
            <p:ph sz="half" idx="1"/>
          </p:nvPr>
        </p:nvSpPr>
        <p:spPr>
          <a:xfrm>
            <a:off x="457200" y="2345941"/>
            <a:ext cx="4038600" cy="4107395"/>
          </a:xfrm>
        </p:spPr>
        <p:txBody>
          <a:bodyPr/>
          <a:lstStyle>
            <a:lvl1pPr>
              <a:defRPr sz="2000"/>
            </a:lvl1pPr>
            <a:lvl2pPr>
              <a:defRPr sz="1900"/>
            </a:lvl2pPr>
            <a:lvl3pPr>
              <a:defRPr sz="1800"/>
            </a:lvl3pPr>
            <a:lvl4pPr>
              <a:defRPr sz="1800"/>
            </a:lvl4pPr>
            <a:lvl5pPr>
              <a:defRPr sz="1800"/>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contenu 3"/>
          <p:cNvSpPr>
            <a:spLocks noGrp="1"/>
          </p:cNvSpPr>
          <p:nvPr>
            <p:ph sz="half" idx="2"/>
          </p:nvPr>
        </p:nvSpPr>
        <p:spPr>
          <a:xfrm>
            <a:off x="4648200" y="2345941"/>
            <a:ext cx="4038600" cy="4107395"/>
          </a:xfrm>
        </p:spPr>
        <p:txBody>
          <a:bodyPr/>
          <a:lstStyle>
            <a:lvl1pPr>
              <a:defRPr sz="2000"/>
            </a:lvl1pPr>
            <a:lvl2pPr>
              <a:defRPr sz="1900"/>
            </a:lvl2pPr>
            <a:lvl3pPr>
              <a:defRPr sz="1800"/>
            </a:lvl3pPr>
            <a:lvl4pPr>
              <a:defRPr sz="1800"/>
            </a:lvl4pPr>
            <a:lvl5pPr>
              <a:defRPr sz="1800"/>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u numéro de diapositive 6"/>
          <p:cNvSpPr>
            <a:spLocks noGrp="1"/>
          </p:cNvSpPr>
          <p:nvPr>
            <p:ph type="sldNum" sz="quarter" idx="12"/>
          </p:nvPr>
        </p:nvSpPr>
        <p:spPr/>
        <p:txBody>
          <a:bodyPr/>
          <a:lstStyle/>
          <a:p>
            <a:fld id="{5A33B5BC-E3F1-4ABE-A1A6-D2608D40EC2E}" type="slidenum">
              <a:rPr lang="fr-FR" smtClean="0"/>
              <a:pPr/>
              <a:t>‹N°›</a:t>
            </a:fld>
            <a:endParaRPr lang="fr-FR"/>
          </a:p>
        </p:txBody>
      </p:sp>
      <p:sp>
        <p:nvSpPr>
          <p:cNvPr id="8" name="Espace réservé du contenu 2"/>
          <p:cNvSpPr>
            <a:spLocks noGrp="1"/>
          </p:cNvSpPr>
          <p:nvPr>
            <p:ph sz="half" idx="13"/>
          </p:nvPr>
        </p:nvSpPr>
        <p:spPr>
          <a:xfrm>
            <a:off x="467544" y="1412777"/>
            <a:ext cx="8280920" cy="836647"/>
          </a:xfrm>
        </p:spPr>
        <p:txBody>
          <a:bodyPr/>
          <a:lstStyle>
            <a:lvl1pPr>
              <a:defRPr sz="2000"/>
            </a:lvl1pPr>
            <a:lvl2pPr>
              <a:defRPr sz="1900"/>
            </a:lvl2pPr>
            <a:lvl3pPr>
              <a:defRPr sz="18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dirty="0"/>
          </a:p>
        </p:txBody>
      </p:sp>
    </p:spTree>
    <p:extLst>
      <p:ext uri="{BB962C8B-B14F-4D97-AF65-F5344CB8AC3E}">
        <p14:creationId xmlns:p14="http://schemas.microsoft.com/office/powerpoint/2010/main" val="22820342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cSld name="Diapositive de titre">
    <p:spTree>
      <p:nvGrpSpPr>
        <p:cNvPr id="1" name=""/>
        <p:cNvGrpSpPr/>
        <p:nvPr/>
      </p:nvGrpSpPr>
      <p:grpSpPr>
        <a:xfrm>
          <a:off x="0" y="0"/>
          <a:ext cx="0" cy="0"/>
          <a:chOff x="0" y="0"/>
          <a:chExt cx="0" cy="0"/>
        </a:xfrm>
      </p:grpSpPr>
      <p:sp>
        <p:nvSpPr>
          <p:cNvPr id="8" name="Titre 7"/>
          <p:cNvSpPr>
            <a:spLocks noGrp="1"/>
          </p:cNvSpPr>
          <p:nvPr>
            <p:ph type="ctrTitle"/>
          </p:nvPr>
        </p:nvSpPr>
        <p:spPr>
          <a:xfrm>
            <a:off x="362272" y="908720"/>
            <a:ext cx="8458200" cy="1470025"/>
          </a:xfrm>
        </p:spPr>
        <p:txBody>
          <a:bodyPr anchor="b"/>
          <a:lstStyle>
            <a:lvl1pPr>
              <a:defRPr sz="4400">
                <a:solidFill>
                  <a:schemeClr val="bg1"/>
                </a:solidFill>
              </a:defRPr>
            </a:lvl1pPr>
          </a:lstStyle>
          <a:p>
            <a:r>
              <a:rPr kumimoji="0" lang="fr-FR"/>
              <a:t>Modifiez le style du titre</a:t>
            </a:r>
            <a:endParaRPr kumimoji="0" lang="en-US" dirty="0"/>
          </a:p>
        </p:txBody>
      </p:sp>
      <p:sp>
        <p:nvSpPr>
          <p:cNvPr id="28" name="Espace réservé de la date 27"/>
          <p:cNvSpPr>
            <a:spLocks noGrp="1"/>
          </p:cNvSpPr>
          <p:nvPr>
            <p:ph type="dt" sz="half" idx="10"/>
          </p:nvPr>
        </p:nvSpPr>
        <p:spPr>
          <a:xfrm>
            <a:off x="8148384" y="6356176"/>
            <a:ext cx="960120" cy="457200"/>
          </a:xfrm>
        </p:spPr>
        <p:txBody>
          <a:bodyPr/>
          <a:lstStyle/>
          <a:p>
            <a:fld id="{B516F9DE-8424-4DA0-8347-64BE6E17B936}" type="datetimeFigureOut">
              <a:rPr lang="fr-FR" smtClean="0"/>
              <a:pPr/>
              <a:t>17/09/2026</a:t>
            </a:fld>
            <a:endParaRPr lang="fr-FR"/>
          </a:p>
        </p:txBody>
      </p:sp>
      <p:sp>
        <p:nvSpPr>
          <p:cNvPr id="17" name="Espace réservé du pied de page 16"/>
          <p:cNvSpPr>
            <a:spLocks noGrp="1"/>
          </p:cNvSpPr>
          <p:nvPr>
            <p:ph type="ftr" sz="quarter" idx="11"/>
          </p:nvPr>
        </p:nvSpPr>
        <p:spPr>
          <a:xfrm>
            <a:off x="6852984" y="6355224"/>
            <a:ext cx="1295400" cy="457200"/>
          </a:xfrm>
        </p:spPr>
        <p:txBody>
          <a:bodyPr/>
          <a:lstStyle/>
          <a:p>
            <a:endParaRPr lang="fr-FR"/>
          </a:p>
        </p:txBody>
      </p:sp>
    </p:spTree>
    <p:extLst>
      <p:ext uri="{BB962C8B-B14F-4D97-AF65-F5344CB8AC3E}">
        <p14:creationId xmlns:p14="http://schemas.microsoft.com/office/powerpoint/2010/main" val="40318930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2contents+desc">
    <p:spTree>
      <p:nvGrpSpPr>
        <p:cNvPr id="1" name=""/>
        <p:cNvGrpSpPr/>
        <p:nvPr/>
      </p:nvGrpSpPr>
      <p:grpSpPr>
        <a:xfrm>
          <a:off x="0" y="0"/>
          <a:ext cx="0" cy="0"/>
          <a:chOff x="0" y="0"/>
          <a:chExt cx="0" cy="0"/>
        </a:xfrm>
      </p:grpSpPr>
      <p:sp>
        <p:nvSpPr>
          <p:cNvPr id="2" name="Titre 1"/>
          <p:cNvSpPr>
            <a:spLocks noGrp="1"/>
          </p:cNvSpPr>
          <p:nvPr>
            <p:ph type="title"/>
          </p:nvPr>
        </p:nvSpPr>
        <p:spPr>
          <a:xfrm>
            <a:off x="457200" y="404664"/>
            <a:ext cx="8229600" cy="1066800"/>
          </a:xfrm>
        </p:spPr>
        <p:txBody>
          <a:bodyPr/>
          <a:lstStyle/>
          <a:p>
            <a:r>
              <a:rPr kumimoji="0" lang="fr-FR"/>
              <a:t>Modifiez le style du titre</a:t>
            </a:r>
            <a:endParaRPr kumimoji="0" lang="en-US" dirty="0"/>
          </a:p>
        </p:txBody>
      </p:sp>
      <p:sp>
        <p:nvSpPr>
          <p:cNvPr id="3" name="Espace réservé du contenu 2"/>
          <p:cNvSpPr>
            <a:spLocks noGrp="1"/>
          </p:cNvSpPr>
          <p:nvPr>
            <p:ph sz="half" idx="1"/>
          </p:nvPr>
        </p:nvSpPr>
        <p:spPr>
          <a:xfrm>
            <a:off x="457200" y="2348881"/>
            <a:ext cx="4038600" cy="4151954"/>
          </a:xfrm>
        </p:spPr>
        <p:txBody>
          <a:bodyPr/>
          <a:lstStyle>
            <a:lvl1pPr>
              <a:defRPr sz="2000"/>
            </a:lvl1pPr>
            <a:lvl2pPr>
              <a:defRPr sz="1900"/>
            </a:lvl2pPr>
            <a:lvl3pPr>
              <a:defRPr sz="1800"/>
            </a:lvl3pPr>
            <a:lvl4pPr>
              <a:defRPr sz="1800"/>
            </a:lvl4pPr>
            <a:lvl5pPr>
              <a:defRPr sz="1800"/>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u contenu 3"/>
          <p:cNvSpPr>
            <a:spLocks noGrp="1"/>
          </p:cNvSpPr>
          <p:nvPr>
            <p:ph sz="half" idx="2"/>
          </p:nvPr>
        </p:nvSpPr>
        <p:spPr>
          <a:xfrm>
            <a:off x="4648200" y="2348881"/>
            <a:ext cx="4038600" cy="4151954"/>
          </a:xfrm>
        </p:spPr>
        <p:txBody>
          <a:bodyPr/>
          <a:lstStyle>
            <a:lvl1pPr>
              <a:defRPr sz="2000"/>
            </a:lvl1pPr>
            <a:lvl2pPr>
              <a:defRPr sz="1900"/>
            </a:lvl2pPr>
            <a:lvl3pPr>
              <a:defRPr sz="1800"/>
            </a:lvl3pPr>
            <a:lvl4pPr>
              <a:defRPr sz="1800"/>
            </a:lvl4pPr>
            <a:lvl5pPr>
              <a:defRPr sz="1800"/>
            </a:lvl5pPr>
            <a:lvl6pPr>
              <a:defRPr/>
            </a:lvl6pPr>
            <a:lvl7pPr>
              <a:defRPr/>
            </a:lvl7pPr>
            <a:lvl8pPr>
              <a:defRPr/>
            </a:lvl8pPr>
            <a:lvl9pPr>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u numéro de diapositive 6"/>
          <p:cNvSpPr>
            <a:spLocks noGrp="1"/>
          </p:cNvSpPr>
          <p:nvPr>
            <p:ph type="sldNum" sz="quarter" idx="12"/>
          </p:nvPr>
        </p:nvSpPr>
        <p:spPr/>
        <p:txBody>
          <a:bodyPr/>
          <a:lstStyle/>
          <a:p>
            <a:fld id="{BC6F2980-C15E-4A6C-B3EA-12E3F1929291}" type="slidenum">
              <a:rPr lang="fr-FR" smtClean="0"/>
              <a:pPr/>
              <a:t>‹N°›</a:t>
            </a:fld>
            <a:endParaRPr lang="fr-FR"/>
          </a:p>
        </p:txBody>
      </p:sp>
      <p:sp>
        <p:nvSpPr>
          <p:cNvPr id="8" name="Espace réservé du contenu 2"/>
          <p:cNvSpPr>
            <a:spLocks noGrp="1"/>
          </p:cNvSpPr>
          <p:nvPr>
            <p:ph sz="half" idx="13"/>
          </p:nvPr>
        </p:nvSpPr>
        <p:spPr>
          <a:xfrm>
            <a:off x="467544" y="1412777"/>
            <a:ext cx="8280920" cy="936104"/>
          </a:xfrm>
        </p:spPr>
        <p:txBody>
          <a:bodyPr/>
          <a:lstStyle>
            <a:lvl1pPr>
              <a:defRPr sz="2000"/>
            </a:lvl1pPr>
            <a:lvl2pPr>
              <a:defRPr sz="1900"/>
            </a:lvl2pPr>
            <a:lvl3pPr>
              <a:defRPr sz="18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extLst>
      <p:ext uri="{BB962C8B-B14F-4D97-AF65-F5344CB8AC3E}">
        <p14:creationId xmlns:p14="http://schemas.microsoft.com/office/powerpoint/2010/main" val="38711100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8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a:xfrm>
            <a:off x="285720" y="1142984"/>
            <a:ext cx="8572560" cy="1714512"/>
          </a:xfrm>
        </p:spPr>
        <p:txBody>
          <a:bodyPr/>
          <a:lstStyle>
            <a:lvl5pPr>
              <a:defRPr/>
            </a:lvl5pPr>
            <a:lvl6pPr>
              <a:defRPr/>
            </a:lvl6pPr>
            <a:lvl7pPr>
              <a:defRPr/>
            </a:lvl7pPr>
            <a:lvl8pPr marL="625475" indent="-228600">
              <a:buFont typeface="Wingdings" pitchFamily="2" charset="2"/>
              <a:buChar char="2"/>
              <a:defRPr/>
            </a:lvl8pPr>
            <a:lvl9pPr marL="625475" indent="-228600">
              <a:buSzPct val="150000"/>
              <a:buFont typeface="Wingdings" pitchFamily="2" charset="2"/>
              <a:buChar char="C"/>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6553200" y="6356350"/>
            <a:ext cx="1876452" cy="365125"/>
          </a:xfrm>
        </p:spPr>
        <p:txBody>
          <a:bodyPr/>
          <a:lstStyle/>
          <a:p>
            <a:fld id="{BC6F2980-C15E-4A6C-B3EA-12E3F1929291}"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7"/>
          <p:cNvSpPr>
            <a:spLocks noGrp="1"/>
          </p:cNvSpPr>
          <p:nvPr>
            <p:ph type="body" idx="13"/>
          </p:nvPr>
        </p:nvSpPr>
        <p:spPr>
          <a:xfrm>
            <a:off x="214282" y="2928934"/>
            <a:ext cx="4283106" cy="639762"/>
          </a:xfrm>
        </p:spPr>
        <p:txBody>
          <a:bodyPr/>
          <a:lstStyle/>
          <a:p>
            <a:pPr lvl="0" algn="r"/>
            <a:r>
              <a:rPr lang="fr-FR"/>
              <a:t>Cliquez pour modifier les styles du texte du masque</a:t>
            </a:r>
          </a:p>
        </p:txBody>
      </p:sp>
      <p:sp>
        <p:nvSpPr>
          <p:cNvPr id="11" name="Espace réservé du texte 8"/>
          <p:cNvSpPr>
            <a:spLocks noGrp="1"/>
          </p:cNvSpPr>
          <p:nvPr>
            <p:ph type="body" sz="quarter" idx="3"/>
          </p:nvPr>
        </p:nvSpPr>
        <p:spPr>
          <a:xfrm>
            <a:off x="4645025" y="2928934"/>
            <a:ext cx="4284693" cy="639762"/>
          </a:xfrm>
        </p:spPr>
        <p:txBody>
          <a:bodyPr/>
          <a:lstStyle/>
          <a:p>
            <a:pPr lvl="0"/>
            <a:r>
              <a:rPr lang="fr-FR"/>
              <a:t>Cliquez pour modifier les styles du texte du masque</a:t>
            </a:r>
          </a:p>
        </p:txBody>
      </p:sp>
    </p:spTree>
    <p:extLst>
      <p:ext uri="{BB962C8B-B14F-4D97-AF65-F5344CB8AC3E}">
        <p14:creationId xmlns:p14="http://schemas.microsoft.com/office/powerpoint/2010/main" val="242788978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214282" y="1071546"/>
            <a:ext cx="871543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214282" y="1785926"/>
            <a:ext cx="8715436" cy="46434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7" name="Espace réservé de la date 6"/>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C6F2980-C15E-4A6C-B3EA-12E3F1929291}" type="slidenum">
              <a:rPr lang="fr-FR" smtClean="0"/>
              <a:pPr/>
              <a:t>‹N°›</a:t>
            </a:fld>
            <a:endParaRPr lang="fr-FR"/>
          </a:p>
        </p:txBody>
      </p:sp>
    </p:spTree>
    <p:extLst>
      <p:ext uri="{BB962C8B-B14F-4D97-AF65-F5344CB8AC3E}">
        <p14:creationId xmlns:p14="http://schemas.microsoft.com/office/powerpoint/2010/main" val="364815137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2_2contents+desc">
    <p:spTree>
      <p:nvGrpSpPr>
        <p:cNvPr id="1" name=""/>
        <p:cNvGrpSpPr/>
        <p:nvPr/>
      </p:nvGrpSpPr>
      <p:grpSpPr>
        <a:xfrm>
          <a:off x="0" y="0"/>
          <a:ext cx="0" cy="0"/>
          <a:chOff x="0" y="0"/>
          <a:chExt cx="0" cy="0"/>
        </a:xfrm>
      </p:grpSpPr>
      <p:sp>
        <p:nvSpPr>
          <p:cNvPr id="2" name="Titre 1"/>
          <p:cNvSpPr>
            <a:spLocks noGrp="1"/>
          </p:cNvSpPr>
          <p:nvPr>
            <p:ph type="title"/>
          </p:nvPr>
        </p:nvSpPr>
        <p:spPr>
          <a:xfrm>
            <a:off x="457200" y="404664"/>
            <a:ext cx="8229600" cy="1066800"/>
          </a:xfrm>
        </p:spPr>
        <p:txBody>
          <a:bodyPr/>
          <a:lstStyle/>
          <a:p>
            <a:r>
              <a:rPr kumimoji="0" lang="fr-FR"/>
              <a:t>Modifiez le style du titre</a:t>
            </a:r>
            <a:endParaRPr kumimoji="0" lang="en-US" dirty="0"/>
          </a:p>
        </p:txBody>
      </p:sp>
      <p:sp>
        <p:nvSpPr>
          <p:cNvPr id="3" name="Espace réservé du contenu 2"/>
          <p:cNvSpPr>
            <a:spLocks noGrp="1"/>
          </p:cNvSpPr>
          <p:nvPr>
            <p:ph sz="half" idx="1"/>
          </p:nvPr>
        </p:nvSpPr>
        <p:spPr>
          <a:xfrm>
            <a:off x="457200" y="2503437"/>
            <a:ext cx="4038600" cy="3949899"/>
          </a:xfrm>
        </p:spPr>
        <p:txBody>
          <a:bodyPr/>
          <a:lstStyle>
            <a:lvl1pPr>
              <a:defRPr sz="2000"/>
            </a:lvl1pPr>
            <a:lvl2pPr>
              <a:defRPr sz="1900"/>
            </a:lvl2pPr>
            <a:lvl3pPr>
              <a:defRPr sz="18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dirty="0"/>
          </a:p>
        </p:txBody>
      </p:sp>
      <p:sp>
        <p:nvSpPr>
          <p:cNvPr id="4" name="Espace réservé du contenu 3"/>
          <p:cNvSpPr>
            <a:spLocks noGrp="1"/>
          </p:cNvSpPr>
          <p:nvPr>
            <p:ph sz="half" idx="2"/>
          </p:nvPr>
        </p:nvSpPr>
        <p:spPr>
          <a:xfrm>
            <a:off x="4648200" y="2503437"/>
            <a:ext cx="4038600" cy="3949899"/>
          </a:xfrm>
        </p:spPr>
        <p:txBody>
          <a:bodyPr/>
          <a:lstStyle>
            <a:lvl1pPr>
              <a:defRPr sz="2000"/>
            </a:lvl1pPr>
            <a:lvl2pPr>
              <a:defRPr sz="1900"/>
            </a:lvl2pPr>
            <a:lvl3pPr>
              <a:defRPr sz="18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u numéro de diapositive 6"/>
          <p:cNvSpPr>
            <a:spLocks noGrp="1"/>
          </p:cNvSpPr>
          <p:nvPr>
            <p:ph type="sldNum" sz="quarter" idx="12"/>
          </p:nvPr>
        </p:nvSpPr>
        <p:spPr/>
        <p:txBody>
          <a:bodyPr/>
          <a:lstStyle/>
          <a:p>
            <a:fld id="{5A33B5BC-E3F1-4ABE-A1A6-D2608D40EC2E}" type="slidenum">
              <a:rPr lang="fr-FR" smtClean="0"/>
              <a:pPr/>
              <a:t>‹N°›</a:t>
            </a:fld>
            <a:endParaRPr lang="fr-FR"/>
          </a:p>
        </p:txBody>
      </p:sp>
      <p:sp>
        <p:nvSpPr>
          <p:cNvPr id="8" name="Espace réservé du contenu 2"/>
          <p:cNvSpPr>
            <a:spLocks noGrp="1"/>
          </p:cNvSpPr>
          <p:nvPr>
            <p:ph sz="half" idx="13"/>
          </p:nvPr>
        </p:nvSpPr>
        <p:spPr>
          <a:xfrm>
            <a:off x="467544" y="1484784"/>
            <a:ext cx="8219256" cy="936104"/>
          </a:xfrm>
        </p:spPr>
        <p:txBody>
          <a:bodyPr/>
          <a:lstStyle>
            <a:lvl1pPr>
              <a:defRPr sz="2000"/>
            </a:lvl1pPr>
            <a:lvl2pPr>
              <a:defRPr sz="1900"/>
            </a:lvl2pPr>
            <a:lvl3pPr>
              <a:defRPr sz="18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dirty="0"/>
          </a:p>
        </p:txBody>
      </p:sp>
    </p:spTree>
    <p:extLst>
      <p:ext uri="{BB962C8B-B14F-4D97-AF65-F5344CB8AC3E}">
        <p14:creationId xmlns:p14="http://schemas.microsoft.com/office/powerpoint/2010/main" val="126456689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1_Case Stud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JM"/>
          </a:p>
        </p:txBody>
      </p:sp>
      <p:sp>
        <p:nvSpPr>
          <p:cNvPr id="9" name="Content Placeholder 8"/>
          <p:cNvSpPr>
            <a:spLocks noGrp="1"/>
          </p:cNvSpPr>
          <p:nvPr>
            <p:ph sz="quarter" idx="13"/>
          </p:nvPr>
        </p:nvSpPr>
        <p:spPr>
          <a:xfrm>
            <a:off x="457200" y="1219200"/>
            <a:ext cx="8001000" cy="685800"/>
          </a:xfrm>
        </p:spPr>
        <p:txBody>
          <a:bodyPr>
            <a:noAutofit/>
          </a:bodyPr>
          <a:lstStyle>
            <a:lvl1pPr>
              <a:buNone/>
              <a:defRPr sz="1600"/>
            </a:lvl1pPr>
            <a:lvl2pPr>
              <a:defRPr sz="1600"/>
            </a:lvl2pPr>
            <a:lvl3pPr>
              <a:defRPr sz="1600"/>
            </a:lvl3pPr>
            <a:lvl4pPr>
              <a:defRPr sz="1600"/>
            </a:lvl4pPr>
            <a:lvl5pPr algn="l">
              <a:buNone/>
              <a:defRPr sz="1600"/>
            </a:lvl5pPr>
          </a:lstStyle>
          <a:p>
            <a:pPr lvl="0"/>
            <a:r>
              <a:rPr lang="fr-FR"/>
              <a:t>Cliquez pour modifier les styles du texte du masque</a:t>
            </a:r>
          </a:p>
        </p:txBody>
      </p:sp>
      <p:sp>
        <p:nvSpPr>
          <p:cNvPr id="11" name="Picture Placeholder 10"/>
          <p:cNvSpPr>
            <a:spLocks noGrp="1"/>
          </p:cNvSpPr>
          <p:nvPr>
            <p:ph type="pic" sz="quarter" idx="14"/>
          </p:nvPr>
        </p:nvSpPr>
        <p:spPr>
          <a:xfrm>
            <a:off x="609598" y="2209800"/>
            <a:ext cx="4434840" cy="3246120"/>
          </a:xfrm>
          <a:ln w="57150" cap="sq">
            <a:solidFill>
              <a:schemeClr val="bg1"/>
            </a:solidFill>
            <a:miter lim="800000"/>
          </a:ln>
          <a:effectLst>
            <a:outerShdw blurRad="63500" sx="101000" sy="101000" algn="ctr" rotWithShape="0">
              <a:prstClr val="black">
                <a:alpha val="40000"/>
              </a:prstClr>
            </a:outerShdw>
          </a:effectLst>
        </p:spPr>
        <p:txBody>
          <a:bodyPr rtlCol="0">
            <a:normAutofit/>
          </a:bodyPr>
          <a:lstStyle>
            <a:lvl1pPr marL="0" indent="0">
              <a:buFontTx/>
              <a:buNone/>
              <a:defRPr sz="2000"/>
            </a:lvl1pPr>
          </a:lstStyle>
          <a:p>
            <a:pPr lvl="0"/>
            <a:r>
              <a:rPr lang="fr-FR" noProof="0"/>
              <a:t>Cliquez sur l'icône pour ajouter une image</a:t>
            </a:r>
            <a:endParaRPr lang="en-JM" noProof="0"/>
          </a:p>
        </p:txBody>
      </p:sp>
      <p:sp>
        <p:nvSpPr>
          <p:cNvPr id="18" name="Content Placeholder 17"/>
          <p:cNvSpPr>
            <a:spLocks noGrp="1"/>
          </p:cNvSpPr>
          <p:nvPr>
            <p:ph sz="quarter" idx="15"/>
          </p:nvPr>
        </p:nvSpPr>
        <p:spPr>
          <a:xfrm>
            <a:off x="5410200" y="3276600"/>
            <a:ext cx="2362200" cy="1447800"/>
          </a:xfrm>
        </p:spPr>
        <p:txBody>
          <a:bodyPr>
            <a:noAutofit/>
          </a:bodyPr>
          <a:lstStyle>
            <a:lvl1pPr>
              <a:buNone/>
              <a:defRPr sz="1600"/>
            </a:lvl1pPr>
            <a:lvl2pPr>
              <a:defRPr sz="1600"/>
            </a:lvl2pPr>
            <a:lvl3pPr>
              <a:defRPr sz="1600"/>
            </a:lvl3pPr>
            <a:lvl4pPr>
              <a:defRPr sz="1600"/>
            </a:lvl4pPr>
            <a:lvl5pPr>
              <a:defRPr sz="1600"/>
            </a:lvl5pPr>
          </a:lstStyle>
          <a:p>
            <a:pPr lvl="0"/>
            <a:r>
              <a:rPr lang="fr-FR"/>
              <a:t>Cliquez pour modifier les styles du texte du masque</a:t>
            </a:r>
          </a:p>
        </p:txBody>
      </p:sp>
      <p:sp>
        <p:nvSpPr>
          <p:cNvPr id="19" name="Content Placeholder 17"/>
          <p:cNvSpPr>
            <a:spLocks noGrp="1"/>
          </p:cNvSpPr>
          <p:nvPr>
            <p:ph sz="quarter" idx="16"/>
          </p:nvPr>
        </p:nvSpPr>
        <p:spPr>
          <a:xfrm>
            <a:off x="5410200" y="2362200"/>
            <a:ext cx="2362200" cy="685800"/>
          </a:xfrm>
        </p:spPr>
        <p:txBody>
          <a:bodyPr>
            <a:noAutofit/>
          </a:bodyPr>
          <a:lstStyle>
            <a:lvl1pPr>
              <a:buNone/>
              <a:defRPr sz="1600"/>
            </a:lvl1pPr>
            <a:lvl2pPr>
              <a:defRPr sz="1600"/>
            </a:lvl2pPr>
            <a:lvl3pPr>
              <a:defRPr sz="1600"/>
            </a:lvl3pPr>
            <a:lvl4pPr>
              <a:defRPr sz="1600"/>
            </a:lvl4pPr>
            <a:lvl5pPr>
              <a:defRPr sz="1600"/>
            </a:lvl5pPr>
          </a:lstStyle>
          <a:p>
            <a:pPr lvl="0"/>
            <a:r>
              <a:rPr lang="fr-FR"/>
              <a:t>Cliquez pour modifier les styles du texte du masque</a:t>
            </a:r>
          </a:p>
        </p:txBody>
      </p:sp>
      <p:sp>
        <p:nvSpPr>
          <p:cNvPr id="20" name="Content Placeholder 17"/>
          <p:cNvSpPr>
            <a:spLocks noGrp="1"/>
          </p:cNvSpPr>
          <p:nvPr>
            <p:ph sz="quarter" idx="17"/>
          </p:nvPr>
        </p:nvSpPr>
        <p:spPr>
          <a:xfrm>
            <a:off x="5410200" y="4876800"/>
            <a:ext cx="2362200" cy="533400"/>
          </a:xfrm>
        </p:spPr>
        <p:txBody>
          <a:bodyPr>
            <a:noAutofit/>
          </a:bodyPr>
          <a:lstStyle>
            <a:lvl1pPr>
              <a:buNone/>
              <a:defRPr sz="1600"/>
            </a:lvl1pPr>
            <a:lvl2pPr>
              <a:defRPr sz="1600"/>
            </a:lvl2pPr>
            <a:lvl3pPr>
              <a:defRPr sz="1600"/>
            </a:lvl3pPr>
            <a:lvl4pPr>
              <a:defRPr sz="1600"/>
            </a:lvl4pPr>
            <a:lvl5pPr>
              <a:defRPr sz="1600"/>
            </a:lvl5pPr>
          </a:lstStyle>
          <a:p>
            <a:pPr lvl="0"/>
            <a:r>
              <a:rPr lang="fr-FR"/>
              <a:t>Cliquez pour modifier les styles du texte du masque</a:t>
            </a:r>
          </a:p>
        </p:txBody>
      </p:sp>
      <p:sp>
        <p:nvSpPr>
          <p:cNvPr id="8" name="Date Placeholder 33"/>
          <p:cNvSpPr>
            <a:spLocks noGrp="1"/>
          </p:cNvSpPr>
          <p:nvPr>
            <p:ph type="dt" sz="half" idx="18"/>
          </p:nvPr>
        </p:nvSpPr>
        <p:spPr/>
        <p:txBody>
          <a:bodyPr/>
          <a:lstStyle>
            <a:lvl1pPr>
              <a:defRPr/>
            </a:lvl1pPr>
          </a:lstStyle>
          <a:p>
            <a:pPr>
              <a:defRPr/>
            </a:pPr>
            <a:endParaRPr lang="en-JM"/>
          </a:p>
        </p:txBody>
      </p:sp>
      <p:sp>
        <p:nvSpPr>
          <p:cNvPr id="10" name="Slide Number Placeholder 34"/>
          <p:cNvSpPr>
            <a:spLocks noGrp="1"/>
          </p:cNvSpPr>
          <p:nvPr>
            <p:ph type="sldNum" sz="quarter" idx="19"/>
          </p:nvPr>
        </p:nvSpPr>
        <p:spPr/>
        <p:txBody>
          <a:bodyPr/>
          <a:lstStyle>
            <a:lvl1pPr>
              <a:defRPr/>
            </a:lvl1pPr>
          </a:lstStyle>
          <a:p>
            <a:pPr>
              <a:defRPr/>
            </a:pPr>
            <a:fld id="{E53A5D78-E4C6-4868-B3AF-BC7DD108C621}" type="slidenum">
              <a:rPr lang="en-JM" smtClean="0"/>
              <a:pPr>
                <a:defRPr/>
              </a:pPr>
              <a:t>‹N°›</a:t>
            </a:fld>
            <a:endParaRPr lang="en-JM"/>
          </a:p>
        </p:txBody>
      </p:sp>
      <p:sp>
        <p:nvSpPr>
          <p:cNvPr id="12" name="Footer Placeholder 35"/>
          <p:cNvSpPr>
            <a:spLocks noGrp="1"/>
          </p:cNvSpPr>
          <p:nvPr>
            <p:ph type="ftr" sz="quarter" idx="20"/>
          </p:nvPr>
        </p:nvSpPr>
        <p:spPr/>
        <p:txBody>
          <a:bodyPr/>
          <a:lstStyle>
            <a:lvl1pPr>
              <a:defRPr/>
            </a:lvl1pPr>
          </a:lstStyle>
          <a:p>
            <a:pPr>
              <a:defRPr/>
            </a:pPr>
            <a:r>
              <a:rPr lang="en-JM"/>
              <a:t>LOREM IPSUM DOLOREM COMPANY    Insert You Tagline Here</a:t>
            </a:r>
          </a:p>
        </p:txBody>
      </p:sp>
    </p:spTree>
    <p:extLst>
      <p:ext uri="{BB962C8B-B14F-4D97-AF65-F5344CB8AC3E}">
        <p14:creationId xmlns:p14="http://schemas.microsoft.com/office/powerpoint/2010/main" val="428025810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1_Conclus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0" y="285728"/>
            <a:ext cx="7429520" cy="1071570"/>
          </a:xfrm>
        </p:spPr>
        <p:txBody>
          <a:bodyPr/>
          <a:lstStyle>
            <a:lvl1pPr>
              <a:defRPr/>
            </a:lvl1pPr>
          </a:lstStyle>
          <a:p>
            <a:r>
              <a:rPr lang="fr-FR" dirty="0"/>
              <a:t>Conclusion</a:t>
            </a:r>
          </a:p>
        </p:txBody>
      </p:sp>
      <p:sp>
        <p:nvSpPr>
          <p:cNvPr id="3" name="Espace réservé du contenu 2"/>
          <p:cNvSpPr>
            <a:spLocks noGrp="1"/>
          </p:cNvSpPr>
          <p:nvPr>
            <p:ph idx="1"/>
          </p:nvPr>
        </p:nvSpPr>
        <p:spPr>
          <a:xfrm>
            <a:off x="1571604" y="1500174"/>
            <a:ext cx="7286676" cy="4786346"/>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a:lvl2pPr>
            <a:lvl3pPr marL="1143000" marR="0" indent="-228600" algn="l" defTabSz="914400" rtl="0" eaLnBrk="1" fontAlgn="auto" latinLnBrk="0" hangingPunct="1">
              <a:lnSpc>
                <a:spcPct val="100000"/>
              </a:lnSpc>
              <a:spcBef>
                <a:spcPct val="20000"/>
              </a:spcBef>
              <a:spcAft>
                <a:spcPts val="0"/>
              </a:spcAft>
              <a:buClrTx/>
              <a:buSzTx/>
              <a:buFont typeface="Arial" pitchFamily="34" charset="0"/>
              <a:buChar char="•"/>
              <a:tabLst/>
              <a:defRPr/>
            </a:lvl3pPr>
            <a:lvl4pPr marL="1600200" marR="0" indent="-228600" algn="l" defTabSz="914400" rtl="0" eaLnBrk="1" fontAlgn="auto" latinLnBrk="0" hangingPunct="1">
              <a:lnSpc>
                <a:spcPct val="100000"/>
              </a:lnSpc>
              <a:spcBef>
                <a:spcPct val="20000"/>
              </a:spcBef>
              <a:spcAft>
                <a:spcPts val="0"/>
              </a:spcAft>
              <a:buClrTx/>
              <a:buSzTx/>
              <a:buFont typeface="Arial" pitchFamily="34" charset="0"/>
              <a:buChar char="–"/>
              <a:tabLst/>
              <a:defRPr/>
            </a:lvl4pPr>
            <a:lvl5pPr marL="2057400" marR="0" indent="-228600" algn="l" defTabSz="914400" rtl="0" eaLnBrk="1" fontAlgn="auto" latinLnBrk="0" hangingPunct="1">
              <a:lnSpc>
                <a:spcPct val="100000"/>
              </a:lnSpc>
              <a:spcBef>
                <a:spcPct val="20000"/>
              </a:spcBef>
              <a:spcAft>
                <a:spcPts val="0"/>
              </a:spcAft>
              <a:buClrTx/>
              <a:buSzTx/>
              <a:buFont typeface="Arial" pitchFamily="34" charset="0"/>
              <a:buChar char="»"/>
              <a:tabLst/>
              <a:defRPr/>
            </a:lvl5pPr>
            <a:lvl6pPr marL="2514600" marR="0" indent="-228600" algn="l" defTabSz="914400" rtl="0" eaLnBrk="1" fontAlgn="auto" latinLnBrk="0" hangingPunct="1">
              <a:lnSpc>
                <a:spcPct val="100000"/>
              </a:lnSpc>
              <a:spcBef>
                <a:spcPct val="20000"/>
              </a:spcBef>
              <a:spcAft>
                <a:spcPts val="0"/>
              </a:spcAft>
              <a:buClrTx/>
              <a:buSzTx/>
              <a:buFont typeface="Arial" pitchFamily="34" charset="0"/>
              <a:buChar char="•"/>
              <a:tabLst/>
              <a:defRPr sz="2400"/>
            </a:lvl6pPr>
            <a:lvl7pPr marL="2971800" marR="0" indent="-228600" algn="l" defTabSz="914400" rtl="0" eaLnBrk="1" fontAlgn="auto" latinLnBrk="0" hangingPunct="1">
              <a:lnSpc>
                <a:spcPct val="100000"/>
              </a:lnSpc>
              <a:spcBef>
                <a:spcPct val="20000"/>
              </a:spcBef>
              <a:spcAft>
                <a:spcPts val="0"/>
              </a:spcAft>
              <a:buClrTx/>
              <a:buSzTx/>
              <a:buFont typeface="Arial" pitchFamily="34" charset="0"/>
              <a:buChar char="•"/>
              <a:tabLst/>
              <a:defRPr/>
            </a:lvl7pPr>
            <a:lvl8pPr marL="454025" marR="0" indent="-228600" algn="l" defTabSz="914400" rtl="0" eaLnBrk="1" fontAlgn="auto" latinLnBrk="0" hangingPunct="1">
              <a:lnSpc>
                <a:spcPct val="100000"/>
              </a:lnSpc>
              <a:spcBef>
                <a:spcPct val="20000"/>
              </a:spcBef>
              <a:spcAft>
                <a:spcPts val="0"/>
              </a:spcAft>
              <a:buClrTx/>
              <a:buSzTx/>
              <a:buFont typeface="Wingdings" pitchFamily="2" charset="2"/>
              <a:buChar char="2"/>
              <a:tabLst/>
              <a:defRPr/>
            </a:lvl8pPr>
            <a:lvl9pPr marL="447675" marR="0" indent="-228600" algn="l" defTabSz="914400" rtl="0" eaLnBrk="1" fontAlgn="auto" latinLnBrk="0" hangingPunct="1">
              <a:lnSpc>
                <a:spcPct val="100000"/>
              </a:lnSpc>
              <a:spcBef>
                <a:spcPct val="20000"/>
              </a:spcBef>
              <a:spcAft>
                <a:spcPts val="0"/>
              </a:spcAft>
              <a:buClrTx/>
              <a:buSzPct val="189000"/>
              <a:buFont typeface="Wingdings" pitchFamily="2" charset="2"/>
              <a:buChar char="C"/>
              <a:tabLst/>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3200" b="0" i="0" u="none" strike="noStrike" kern="1200" cap="none" spc="0" normalizeH="0" baseline="0" noProof="0">
                <a:ln>
                  <a:noFill/>
                </a:ln>
                <a:solidFill>
                  <a:prstClr val="black"/>
                </a:solidFill>
                <a:effectLst/>
                <a:uLnTx/>
                <a:uFillTx/>
                <a:latin typeface="+mn-lt"/>
                <a:ea typeface="+mn-ea"/>
                <a:cs typeface="+mn-cs"/>
              </a:rPr>
              <a:t>Cliquez pour modifier les styles du texte du masque</a:t>
            </a:r>
          </a:p>
          <a:p>
            <a:pPr marL="342900" marR="0" lvl="1"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3200" b="0" i="0" u="none" strike="noStrike" kern="1200" cap="none" spc="0" normalizeH="0" baseline="0" noProof="0">
                <a:ln>
                  <a:noFill/>
                </a:ln>
                <a:solidFill>
                  <a:prstClr val="black"/>
                </a:solidFill>
                <a:effectLst/>
                <a:uLnTx/>
                <a:uFillTx/>
                <a:latin typeface="+mn-lt"/>
                <a:ea typeface="+mn-ea"/>
                <a:cs typeface="+mn-cs"/>
              </a:rPr>
              <a:t>Deuxième niveau</a:t>
            </a:r>
          </a:p>
          <a:p>
            <a:pPr marL="342900" marR="0" lvl="2"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3200" b="0" i="0" u="none" strike="noStrike" kern="1200" cap="none" spc="0" normalizeH="0" baseline="0" noProof="0">
                <a:ln>
                  <a:noFill/>
                </a:ln>
                <a:solidFill>
                  <a:prstClr val="black"/>
                </a:solidFill>
                <a:effectLst/>
                <a:uLnTx/>
                <a:uFillTx/>
                <a:latin typeface="+mn-lt"/>
                <a:ea typeface="+mn-ea"/>
                <a:cs typeface="+mn-cs"/>
              </a:rPr>
              <a:t>Troisième niveau</a:t>
            </a:r>
          </a:p>
          <a:p>
            <a:pPr marL="342900" marR="0" lvl="3"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3200" b="0" i="0" u="none" strike="noStrike" kern="1200" cap="none" spc="0" normalizeH="0" baseline="0" noProof="0">
                <a:ln>
                  <a:noFill/>
                </a:ln>
                <a:solidFill>
                  <a:prstClr val="black"/>
                </a:solidFill>
                <a:effectLst/>
                <a:uLnTx/>
                <a:uFillTx/>
                <a:latin typeface="+mn-lt"/>
                <a:ea typeface="+mn-ea"/>
                <a:cs typeface="+mn-cs"/>
              </a:rPr>
              <a:t>Quatrième niveau</a:t>
            </a:r>
          </a:p>
          <a:p>
            <a:pPr marL="342900" marR="0" lvl="4"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3200" b="0" i="0" u="none" strike="noStrike" kern="1200" cap="none" spc="0" normalizeH="0" baseline="0" noProof="0">
                <a:ln>
                  <a:noFill/>
                </a:ln>
                <a:solidFill>
                  <a:prstClr val="black"/>
                </a:solidFill>
                <a:effectLst/>
                <a:uLnTx/>
                <a:uFillTx/>
                <a:latin typeface="+mn-lt"/>
                <a:ea typeface="+mn-ea"/>
                <a:cs typeface="+mn-cs"/>
              </a:rPr>
              <a:t>Cinquième niveau</a:t>
            </a:r>
            <a:endParaRPr kumimoji="0" lang="fr-FR" sz="2000" b="0" i="0" u="none" strike="noStrike" kern="1200" cap="none" spc="0" normalizeH="0" baseline="0" noProof="0" dirty="0">
              <a:ln>
                <a:noFill/>
              </a:ln>
              <a:solidFill>
                <a:prstClr val="black"/>
              </a:solidFill>
              <a:effectLst/>
              <a:uLnTx/>
              <a:uFillTx/>
              <a:latin typeface="+mn-lt"/>
              <a:ea typeface="+mn-ea"/>
              <a:cs typeface="+mn-cs"/>
            </a:endParaRPr>
          </a:p>
        </p:txBody>
      </p:sp>
      <p:sp>
        <p:nvSpPr>
          <p:cNvPr id="4" name="Espace réservé de la date 3"/>
          <p:cNvSpPr>
            <a:spLocks noGrp="1"/>
          </p:cNvSpPr>
          <p:nvPr>
            <p:ph type="dt" sz="half" idx="10"/>
          </p:nvPr>
        </p:nvSpPr>
        <p:spPr/>
        <p:txBody>
          <a:bodyPr/>
          <a:lstStyle/>
          <a:p>
            <a:fld id="{6DBA3327-A22A-4705-A988-BAFB87645CAF}" type="datetime1">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6553200" y="6356350"/>
            <a:ext cx="1876452" cy="365125"/>
          </a:xfrm>
        </p:spPr>
        <p:txBody>
          <a:bodyPr/>
          <a:lstStyle/>
          <a:p>
            <a:fld id="{5A33B5BC-E3F1-4ABE-A1A6-D2608D40EC2E}"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Bouton d'action : Suivant 8">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Bouton d'action : Précédent 9">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3938247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9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pour modifier le style du titre</a:t>
            </a:r>
          </a:p>
        </p:txBody>
      </p:sp>
      <p:sp>
        <p:nvSpPr>
          <p:cNvPr id="3" name="Espace réservé du contenu 2"/>
          <p:cNvSpPr>
            <a:spLocks noGrp="1"/>
          </p:cNvSpPr>
          <p:nvPr>
            <p:ph idx="1"/>
          </p:nvPr>
        </p:nvSpPr>
        <p:spPr>
          <a:xfrm>
            <a:off x="285720" y="1142984"/>
            <a:ext cx="8572560" cy="1714512"/>
          </a:xfrm>
        </p:spPr>
        <p:txBody>
          <a:bodyPr/>
          <a:lstStyle>
            <a:lvl5pPr>
              <a:defRPr/>
            </a:lvl5pPr>
            <a:lvl6pPr>
              <a:defRPr/>
            </a:lvl6pPr>
            <a:lvl7pPr>
              <a:defRPr/>
            </a:lvl7pPr>
            <a:lvl8pPr marL="625475" indent="-228600">
              <a:buFont typeface="Wingdings" pitchFamily="2" charset="2"/>
              <a:buChar char="2"/>
              <a:defRPr/>
            </a:lvl8pPr>
            <a:lvl9pPr marL="625475" indent="-228600">
              <a:buSzPct val="150000"/>
              <a:buFont typeface="Wingdings" pitchFamily="2" charset="2"/>
              <a:buChar char="C"/>
              <a:defRPr/>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
        <p:nvSpPr>
          <p:cNvPr id="4" name="Espace réservé de la date 3"/>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6553200" y="6356350"/>
            <a:ext cx="1876452" cy="365125"/>
          </a:xfrm>
        </p:spPr>
        <p:txBody>
          <a:bodyPr/>
          <a:lstStyle/>
          <a:p>
            <a:fld id="{BC6F2980-C15E-4A6C-B3EA-12E3F1929291}"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Espace réservé du texte 7"/>
          <p:cNvSpPr>
            <a:spLocks noGrp="1"/>
          </p:cNvSpPr>
          <p:nvPr>
            <p:ph type="body" idx="13"/>
          </p:nvPr>
        </p:nvSpPr>
        <p:spPr>
          <a:xfrm>
            <a:off x="214282" y="2928934"/>
            <a:ext cx="4283106" cy="639762"/>
          </a:xfrm>
        </p:spPr>
        <p:txBody>
          <a:bodyPr/>
          <a:lstStyle/>
          <a:p>
            <a:pPr lvl="0" algn="r"/>
            <a:r>
              <a:rPr lang="fr-FR" dirty="0"/>
              <a:t>Cliquez pour modifier les styles du texte du masque</a:t>
            </a:r>
          </a:p>
        </p:txBody>
      </p:sp>
      <p:sp>
        <p:nvSpPr>
          <p:cNvPr id="11" name="Espace réservé du texte 8"/>
          <p:cNvSpPr>
            <a:spLocks noGrp="1"/>
          </p:cNvSpPr>
          <p:nvPr>
            <p:ph type="body" sz="quarter" idx="3"/>
          </p:nvPr>
        </p:nvSpPr>
        <p:spPr>
          <a:xfrm>
            <a:off x="4645025" y="2928934"/>
            <a:ext cx="4284693" cy="639762"/>
          </a:xfrm>
        </p:spPr>
        <p:txBody>
          <a:bodyPr/>
          <a:lstStyle/>
          <a:p>
            <a:pPr lvl="0"/>
            <a:r>
              <a:rPr lang="fr-FR"/>
              <a:t>Cliquez pour modifier les styles du texte du masque</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5_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Cliquez pour modifier le style du titre</a:t>
            </a:r>
          </a:p>
        </p:txBody>
      </p:sp>
      <p:sp>
        <p:nvSpPr>
          <p:cNvPr id="3" name="Espace réservé du texte 2"/>
          <p:cNvSpPr>
            <a:spLocks noGrp="1"/>
          </p:cNvSpPr>
          <p:nvPr>
            <p:ph type="body" idx="1"/>
          </p:nvPr>
        </p:nvSpPr>
        <p:spPr>
          <a:xfrm>
            <a:off x="214282" y="1071546"/>
            <a:ext cx="8715436"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dirty="0"/>
              <a:t>Cliquez pour modifier les styles du texte du masque</a:t>
            </a:r>
          </a:p>
        </p:txBody>
      </p:sp>
      <p:sp>
        <p:nvSpPr>
          <p:cNvPr id="4" name="Espace réservé du contenu 3"/>
          <p:cNvSpPr>
            <a:spLocks noGrp="1"/>
          </p:cNvSpPr>
          <p:nvPr>
            <p:ph sz="half" idx="2"/>
          </p:nvPr>
        </p:nvSpPr>
        <p:spPr>
          <a:xfrm>
            <a:off x="214282" y="1785926"/>
            <a:ext cx="8715436" cy="464347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a:t>Sixième niveau</a:t>
            </a:r>
          </a:p>
          <a:p>
            <a:pPr lvl="6"/>
            <a:r>
              <a:rPr lang="fr-FR" dirty="0"/>
              <a:t>Septième niveau</a:t>
            </a:r>
          </a:p>
          <a:p>
            <a:pPr lvl="7"/>
            <a:r>
              <a:rPr lang="fr-FR" dirty="0" err="1"/>
              <a:t>Fichier.php</a:t>
            </a:r>
            <a:endParaRPr lang="fr-FR" dirty="0"/>
          </a:p>
          <a:p>
            <a:pPr lvl="8"/>
            <a:r>
              <a:rPr lang="fr-FR" dirty="0"/>
              <a:t>Bonnes pratiques</a:t>
            </a:r>
          </a:p>
        </p:txBody>
      </p:sp>
      <p:sp>
        <p:nvSpPr>
          <p:cNvPr id="7" name="Espace réservé de la date 6"/>
          <p:cNvSpPr>
            <a:spLocks noGrp="1"/>
          </p:cNvSpPr>
          <p:nvPr>
            <p:ph type="dt" sz="half" idx="10"/>
          </p:nvPr>
        </p:nvSpPr>
        <p:spPr/>
        <p:txBody>
          <a:bodyPr/>
          <a:lstStyle/>
          <a:p>
            <a:fld id="{B516F9DE-8424-4DA0-8347-64BE6E17B936}" type="datetimeFigureOut">
              <a:rPr lang="fr-FR" smtClean="0"/>
              <a:pPr/>
              <a:t>17/09/2026</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BC6F2980-C15E-4A6C-B3EA-12E3F1929291}" type="slidenum">
              <a:rPr lang="fr-FR" smtClean="0"/>
              <a:pPr/>
              <a:t>‹N°›</a:t>
            </a:fld>
            <a:endParaRPr lang="fr-F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_2contents+desc">
    <p:spTree>
      <p:nvGrpSpPr>
        <p:cNvPr id="1" name=""/>
        <p:cNvGrpSpPr/>
        <p:nvPr/>
      </p:nvGrpSpPr>
      <p:grpSpPr>
        <a:xfrm>
          <a:off x="0" y="0"/>
          <a:ext cx="0" cy="0"/>
          <a:chOff x="0" y="0"/>
          <a:chExt cx="0" cy="0"/>
        </a:xfrm>
      </p:grpSpPr>
      <p:sp>
        <p:nvSpPr>
          <p:cNvPr id="2" name="Titre 1"/>
          <p:cNvSpPr>
            <a:spLocks noGrp="1"/>
          </p:cNvSpPr>
          <p:nvPr>
            <p:ph type="title"/>
          </p:nvPr>
        </p:nvSpPr>
        <p:spPr>
          <a:xfrm>
            <a:off x="457200" y="404664"/>
            <a:ext cx="8229600" cy="1066800"/>
          </a:xfrm>
        </p:spPr>
        <p:txBody>
          <a:bodyPr/>
          <a:lstStyle/>
          <a:p>
            <a:r>
              <a:rPr kumimoji="0" lang="fr-FR" dirty="0"/>
              <a:t>Cliquez pour modifier le style du titre</a:t>
            </a:r>
            <a:endParaRPr kumimoji="0" lang="en-US" dirty="0"/>
          </a:p>
        </p:txBody>
      </p:sp>
      <p:sp>
        <p:nvSpPr>
          <p:cNvPr id="3" name="Espace réservé du contenu 2"/>
          <p:cNvSpPr>
            <a:spLocks noGrp="1"/>
          </p:cNvSpPr>
          <p:nvPr>
            <p:ph sz="half" idx="1"/>
          </p:nvPr>
        </p:nvSpPr>
        <p:spPr>
          <a:xfrm>
            <a:off x="457200" y="2503437"/>
            <a:ext cx="4038600" cy="3949899"/>
          </a:xfrm>
        </p:spPr>
        <p:txBody>
          <a:bodyPr/>
          <a:lstStyle>
            <a:lvl1pPr>
              <a:defRPr sz="2000"/>
            </a:lvl1pPr>
            <a:lvl2pPr>
              <a:defRPr sz="1900"/>
            </a:lvl2pPr>
            <a:lvl3pPr>
              <a:defRPr sz="1800"/>
            </a:lvl3pPr>
            <a:lvl4pPr>
              <a:defRPr sz="1800"/>
            </a:lvl4pPr>
            <a:lvl5pPr>
              <a:defRPr sz="1800"/>
            </a:lvl5pPr>
          </a:lstStyle>
          <a:p>
            <a:pPr lvl="0" eaLnBrk="1" latinLnBrk="0" hangingPunct="1"/>
            <a:r>
              <a:rPr lang="fr-FR" dirty="0"/>
              <a:t>Cliquez pour modifier les styles du texte du masque</a:t>
            </a:r>
          </a:p>
          <a:p>
            <a:pPr lvl="1" eaLnBrk="1" latinLnBrk="0" hangingPunct="1"/>
            <a:r>
              <a:rPr lang="fr-FR" dirty="0"/>
              <a:t>Deuxième niveau</a:t>
            </a:r>
          </a:p>
          <a:p>
            <a:pPr lvl="2" eaLnBrk="1" latinLnBrk="0" hangingPunct="1"/>
            <a:r>
              <a:rPr lang="fr-FR" dirty="0"/>
              <a:t>Troisième niveau</a:t>
            </a:r>
          </a:p>
          <a:p>
            <a:pPr lvl="3" eaLnBrk="1" latinLnBrk="0" hangingPunct="1"/>
            <a:r>
              <a:rPr lang="fr-FR" dirty="0"/>
              <a:t>Quatrième niveau</a:t>
            </a:r>
          </a:p>
          <a:p>
            <a:pPr lvl="4" eaLnBrk="1" latinLnBrk="0" hangingPunct="1"/>
            <a:r>
              <a:rPr lang="fr-FR" dirty="0"/>
              <a:t>Cinquième niveau</a:t>
            </a:r>
            <a:endParaRPr kumimoji="0" lang="en-US" dirty="0"/>
          </a:p>
        </p:txBody>
      </p:sp>
      <p:sp>
        <p:nvSpPr>
          <p:cNvPr id="4" name="Espace réservé du contenu 3"/>
          <p:cNvSpPr>
            <a:spLocks noGrp="1"/>
          </p:cNvSpPr>
          <p:nvPr>
            <p:ph sz="half" idx="2"/>
          </p:nvPr>
        </p:nvSpPr>
        <p:spPr>
          <a:xfrm>
            <a:off x="4648200" y="2503437"/>
            <a:ext cx="4038600" cy="3949899"/>
          </a:xfrm>
        </p:spPr>
        <p:txBody>
          <a:bodyPr/>
          <a:lstStyle>
            <a:lvl1pPr>
              <a:defRPr sz="2000"/>
            </a:lvl1pPr>
            <a:lvl2pPr>
              <a:defRPr sz="1900"/>
            </a:lvl2pPr>
            <a:lvl3pPr>
              <a:defRPr sz="1800"/>
            </a:lvl3pPr>
            <a:lvl4pPr>
              <a:defRPr sz="1800"/>
            </a:lvl4pPr>
            <a:lvl5pPr>
              <a:defRPr sz="1800"/>
            </a:lvl5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7" name="Espace réservé du numéro de diapositive 6"/>
          <p:cNvSpPr>
            <a:spLocks noGrp="1"/>
          </p:cNvSpPr>
          <p:nvPr>
            <p:ph type="sldNum" sz="quarter" idx="12"/>
          </p:nvPr>
        </p:nvSpPr>
        <p:spPr/>
        <p:txBody>
          <a:bodyPr/>
          <a:lstStyle/>
          <a:p>
            <a:fld id="{5A33B5BC-E3F1-4ABE-A1A6-D2608D40EC2E}" type="slidenum">
              <a:rPr lang="fr-FR" smtClean="0"/>
              <a:pPr/>
              <a:t>‹N°›</a:t>
            </a:fld>
            <a:endParaRPr lang="fr-FR"/>
          </a:p>
        </p:txBody>
      </p:sp>
      <p:sp>
        <p:nvSpPr>
          <p:cNvPr id="8" name="Espace réservé du contenu 2"/>
          <p:cNvSpPr>
            <a:spLocks noGrp="1"/>
          </p:cNvSpPr>
          <p:nvPr>
            <p:ph sz="half" idx="13"/>
          </p:nvPr>
        </p:nvSpPr>
        <p:spPr>
          <a:xfrm>
            <a:off x="467544" y="1484784"/>
            <a:ext cx="8219256" cy="936104"/>
          </a:xfrm>
        </p:spPr>
        <p:txBody>
          <a:bodyPr/>
          <a:lstStyle>
            <a:lvl1pPr>
              <a:defRPr sz="2000"/>
            </a:lvl1pPr>
            <a:lvl2pPr>
              <a:defRPr sz="1900"/>
            </a:lvl2pPr>
            <a:lvl3pPr>
              <a:defRPr sz="1800"/>
            </a:lvl3pPr>
            <a:lvl4pPr>
              <a:defRPr sz="1800"/>
            </a:lvl4pPr>
            <a:lvl5pPr>
              <a:defRPr sz="1800"/>
            </a:lvl5pPr>
          </a:lstStyle>
          <a:p>
            <a:pPr lvl="0" eaLnBrk="1" latinLnBrk="0" hangingPunct="1"/>
            <a:r>
              <a:rPr lang="fr-FR" dirty="0"/>
              <a:t>Cliquez pour modifier les styles du texte du masque</a:t>
            </a:r>
          </a:p>
          <a:p>
            <a:pPr lvl="1" eaLnBrk="1" latinLnBrk="0" hangingPunct="1"/>
            <a:r>
              <a:rPr lang="fr-FR" dirty="0"/>
              <a:t>Deuxième niveau</a:t>
            </a:r>
          </a:p>
          <a:p>
            <a:pPr lvl="2" eaLnBrk="1" latinLnBrk="0" hangingPunct="1"/>
            <a:r>
              <a:rPr lang="fr-FR" dirty="0"/>
              <a:t>Troisième niveau</a:t>
            </a:r>
          </a:p>
          <a:p>
            <a:pPr lvl="3" eaLnBrk="1" latinLnBrk="0" hangingPunct="1"/>
            <a:r>
              <a:rPr lang="fr-FR" dirty="0"/>
              <a:t>Quatrième niveau</a:t>
            </a:r>
          </a:p>
          <a:p>
            <a:pPr lvl="4" eaLnBrk="1" latinLnBrk="0" hangingPunct="1"/>
            <a:r>
              <a:rPr lang="fr-FR" dirty="0"/>
              <a:t>Cinquième niveau</a:t>
            </a:r>
            <a:endParaRPr kumimoji="0" lang="en-US"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Case Stud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JM"/>
          </a:p>
        </p:txBody>
      </p:sp>
      <p:sp>
        <p:nvSpPr>
          <p:cNvPr id="9" name="Content Placeholder 8"/>
          <p:cNvSpPr>
            <a:spLocks noGrp="1"/>
          </p:cNvSpPr>
          <p:nvPr>
            <p:ph sz="quarter" idx="13"/>
          </p:nvPr>
        </p:nvSpPr>
        <p:spPr>
          <a:xfrm>
            <a:off x="457200" y="1219200"/>
            <a:ext cx="8001000" cy="685800"/>
          </a:xfrm>
        </p:spPr>
        <p:txBody>
          <a:bodyPr>
            <a:noAutofit/>
          </a:bodyPr>
          <a:lstStyle>
            <a:lvl1pPr>
              <a:buNone/>
              <a:defRPr sz="1600"/>
            </a:lvl1pPr>
            <a:lvl2pPr>
              <a:defRPr sz="1600"/>
            </a:lvl2pPr>
            <a:lvl3pPr>
              <a:defRPr sz="1600"/>
            </a:lvl3pPr>
            <a:lvl4pPr>
              <a:defRPr sz="1600"/>
            </a:lvl4pPr>
            <a:lvl5pPr algn="l">
              <a:buNone/>
              <a:defRPr sz="1600"/>
            </a:lvl5pPr>
          </a:lstStyle>
          <a:p>
            <a:pPr lvl="0"/>
            <a:endParaRPr lang="en-JM" dirty="0"/>
          </a:p>
        </p:txBody>
      </p:sp>
      <p:sp>
        <p:nvSpPr>
          <p:cNvPr id="11" name="Picture Placeholder 10"/>
          <p:cNvSpPr>
            <a:spLocks noGrp="1"/>
          </p:cNvSpPr>
          <p:nvPr>
            <p:ph type="pic" sz="quarter" idx="14"/>
          </p:nvPr>
        </p:nvSpPr>
        <p:spPr>
          <a:xfrm>
            <a:off x="609598" y="2209800"/>
            <a:ext cx="4434840" cy="3246120"/>
          </a:xfrm>
          <a:ln w="57150" cap="sq">
            <a:solidFill>
              <a:schemeClr val="bg1"/>
            </a:solidFill>
            <a:miter lim="800000"/>
          </a:ln>
          <a:effectLst>
            <a:outerShdw blurRad="63500" sx="101000" sy="101000" algn="ctr" rotWithShape="0">
              <a:prstClr val="black">
                <a:alpha val="40000"/>
              </a:prstClr>
            </a:outerShdw>
          </a:effectLst>
        </p:spPr>
        <p:txBody>
          <a:bodyPr rtlCol="0">
            <a:normAutofit/>
          </a:bodyPr>
          <a:lstStyle>
            <a:lvl1pPr marL="0" indent="0">
              <a:buFontTx/>
              <a:buNone/>
              <a:defRPr sz="2000"/>
            </a:lvl1pPr>
          </a:lstStyle>
          <a:p>
            <a:pPr lvl="0"/>
            <a:endParaRPr lang="en-JM" noProof="0"/>
          </a:p>
        </p:txBody>
      </p:sp>
      <p:sp>
        <p:nvSpPr>
          <p:cNvPr id="18" name="Content Placeholder 17"/>
          <p:cNvSpPr>
            <a:spLocks noGrp="1"/>
          </p:cNvSpPr>
          <p:nvPr>
            <p:ph sz="quarter" idx="15"/>
          </p:nvPr>
        </p:nvSpPr>
        <p:spPr>
          <a:xfrm>
            <a:off x="5410200" y="3276600"/>
            <a:ext cx="2362200" cy="1447800"/>
          </a:xfrm>
        </p:spPr>
        <p:txBody>
          <a:bodyPr>
            <a:noAutofit/>
          </a:bodyPr>
          <a:lstStyle>
            <a:lvl1pPr>
              <a:buNone/>
              <a:defRPr sz="1600"/>
            </a:lvl1pPr>
            <a:lvl2pPr>
              <a:defRPr sz="1600"/>
            </a:lvl2pPr>
            <a:lvl3pPr>
              <a:defRPr sz="1600"/>
            </a:lvl3pPr>
            <a:lvl4pPr>
              <a:defRPr sz="1600"/>
            </a:lvl4pPr>
            <a:lvl5pPr>
              <a:defRPr sz="1600"/>
            </a:lvl5pPr>
          </a:lstStyle>
          <a:p>
            <a:pPr lvl="0"/>
            <a:endParaRPr lang="en-JM" dirty="0"/>
          </a:p>
        </p:txBody>
      </p:sp>
      <p:sp>
        <p:nvSpPr>
          <p:cNvPr id="19" name="Content Placeholder 17"/>
          <p:cNvSpPr>
            <a:spLocks noGrp="1"/>
          </p:cNvSpPr>
          <p:nvPr>
            <p:ph sz="quarter" idx="16"/>
          </p:nvPr>
        </p:nvSpPr>
        <p:spPr>
          <a:xfrm>
            <a:off x="5410200" y="2362200"/>
            <a:ext cx="2362200" cy="685800"/>
          </a:xfrm>
        </p:spPr>
        <p:txBody>
          <a:bodyPr>
            <a:noAutofit/>
          </a:bodyPr>
          <a:lstStyle>
            <a:lvl1pPr>
              <a:buNone/>
              <a:defRPr sz="1600"/>
            </a:lvl1pPr>
            <a:lvl2pPr>
              <a:defRPr sz="1600"/>
            </a:lvl2pPr>
            <a:lvl3pPr>
              <a:defRPr sz="1600"/>
            </a:lvl3pPr>
            <a:lvl4pPr>
              <a:defRPr sz="1600"/>
            </a:lvl4pPr>
            <a:lvl5pPr>
              <a:defRPr sz="1600"/>
            </a:lvl5pPr>
          </a:lstStyle>
          <a:p>
            <a:pPr lvl="0"/>
            <a:endParaRPr lang="en-JM" dirty="0"/>
          </a:p>
        </p:txBody>
      </p:sp>
      <p:sp>
        <p:nvSpPr>
          <p:cNvPr id="20" name="Content Placeholder 17"/>
          <p:cNvSpPr>
            <a:spLocks noGrp="1"/>
          </p:cNvSpPr>
          <p:nvPr>
            <p:ph sz="quarter" idx="17"/>
          </p:nvPr>
        </p:nvSpPr>
        <p:spPr>
          <a:xfrm>
            <a:off x="5410200" y="4876800"/>
            <a:ext cx="2362200" cy="533400"/>
          </a:xfrm>
        </p:spPr>
        <p:txBody>
          <a:bodyPr>
            <a:noAutofit/>
          </a:bodyPr>
          <a:lstStyle>
            <a:lvl1pPr>
              <a:buNone/>
              <a:defRPr sz="1600"/>
            </a:lvl1pPr>
            <a:lvl2pPr>
              <a:defRPr sz="1600"/>
            </a:lvl2pPr>
            <a:lvl3pPr>
              <a:defRPr sz="1600"/>
            </a:lvl3pPr>
            <a:lvl4pPr>
              <a:defRPr sz="1600"/>
            </a:lvl4pPr>
            <a:lvl5pPr>
              <a:defRPr sz="1600"/>
            </a:lvl5pPr>
          </a:lstStyle>
          <a:p>
            <a:pPr lvl="0"/>
            <a:endParaRPr lang="en-JM" dirty="0"/>
          </a:p>
        </p:txBody>
      </p:sp>
      <p:sp>
        <p:nvSpPr>
          <p:cNvPr id="8" name="Date Placeholder 33"/>
          <p:cNvSpPr>
            <a:spLocks noGrp="1"/>
          </p:cNvSpPr>
          <p:nvPr>
            <p:ph type="dt" sz="half" idx="18"/>
          </p:nvPr>
        </p:nvSpPr>
        <p:spPr/>
        <p:txBody>
          <a:bodyPr/>
          <a:lstStyle>
            <a:lvl1pPr>
              <a:defRPr/>
            </a:lvl1pPr>
          </a:lstStyle>
          <a:p>
            <a:pPr>
              <a:defRPr/>
            </a:pPr>
            <a:endParaRPr lang="en-JM"/>
          </a:p>
        </p:txBody>
      </p:sp>
      <p:sp>
        <p:nvSpPr>
          <p:cNvPr id="10" name="Slide Number Placeholder 34"/>
          <p:cNvSpPr>
            <a:spLocks noGrp="1"/>
          </p:cNvSpPr>
          <p:nvPr>
            <p:ph type="sldNum" sz="quarter" idx="19"/>
          </p:nvPr>
        </p:nvSpPr>
        <p:spPr/>
        <p:txBody>
          <a:bodyPr/>
          <a:lstStyle>
            <a:lvl1pPr>
              <a:defRPr/>
            </a:lvl1pPr>
          </a:lstStyle>
          <a:p>
            <a:pPr>
              <a:defRPr/>
            </a:pPr>
            <a:fld id="{E53A5D78-E4C6-4868-B3AF-BC7DD108C621}" type="slidenum">
              <a:rPr lang="en-JM"/>
              <a:pPr>
                <a:defRPr/>
              </a:pPr>
              <a:t>‹N°›</a:t>
            </a:fld>
            <a:endParaRPr lang="en-JM"/>
          </a:p>
        </p:txBody>
      </p:sp>
      <p:sp>
        <p:nvSpPr>
          <p:cNvPr id="12" name="Footer Placeholder 35"/>
          <p:cNvSpPr>
            <a:spLocks noGrp="1"/>
          </p:cNvSpPr>
          <p:nvPr>
            <p:ph type="ftr" sz="quarter" idx="20"/>
          </p:nvPr>
        </p:nvSpPr>
        <p:spPr/>
        <p:txBody>
          <a:bodyPr/>
          <a:lstStyle>
            <a:lvl1pPr>
              <a:defRPr/>
            </a:lvl1pPr>
          </a:lstStyle>
          <a:p>
            <a:pPr>
              <a:defRPr/>
            </a:pPr>
            <a:r>
              <a:rPr lang="en-JM"/>
              <a:t>LOREM IPSUM DOLOREM COMPANY    Insert You Tagline Here</a:t>
            </a: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_Something About US (2)">
    <p:spTree>
      <p:nvGrpSpPr>
        <p:cNvPr id="1" name=""/>
        <p:cNvGrpSpPr/>
        <p:nvPr/>
      </p:nvGrpSpPr>
      <p:grpSpPr>
        <a:xfrm>
          <a:off x="0" y="0"/>
          <a:ext cx="0" cy="0"/>
          <a:chOff x="0" y="0"/>
          <a:chExt cx="0" cy="0"/>
        </a:xfrm>
      </p:grpSpPr>
      <p:sp>
        <p:nvSpPr>
          <p:cNvPr id="6" name="Ellipse 98"/>
          <p:cNvSpPr/>
          <p:nvPr userDrawn="1"/>
        </p:nvSpPr>
        <p:spPr bwMode="auto">
          <a:xfrm>
            <a:off x="685800" y="5334000"/>
            <a:ext cx="3733800" cy="304799"/>
          </a:xfrm>
          <a:prstGeom prst="ellipse">
            <a:avLst/>
          </a:prstGeom>
          <a:gradFill flip="none" rotWithShape="1">
            <a:gsLst>
              <a:gs pos="100000">
                <a:srgbClr val="FFFFFF">
                  <a:alpha val="0"/>
                </a:srgbClr>
              </a:gs>
              <a:gs pos="0">
                <a:schemeClr val="bg1">
                  <a:lumMod val="75000"/>
                </a:schemeClr>
              </a:gs>
            </a:gsLst>
            <a:path path="shape">
              <a:fillToRect l="50000" t="50000" r="50000" b="50000"/>
            </a:path>
            <a:tileRect/>
          </a:gradFill>
          <a:ln w="9525" cap="flat" cmpd="sng" algn="ctr">
            <a:noFill/>
            <a:prstDash val="solid"/>
          </a:ln>
          <a:effectLst/>
        </p:spPr>
        <p:txBody>
          <a:bodyPr anchor="ctr"/>
          <a:lstStyle/>
          <a:p>
            <a:pPr algn="ctr" fontAlgn="auto">
              <a:spcBef>
                <a:spcPts val="0"/>
              </a:spcBef>
              <a:spcAft>
                <a:spcPts val="0"/>
              </a:spcAft>
              <a:defRPr/>
            </a:pPr>
            <a:endParaRPr lang="en-US">
              <a:solidFill>
                <a:srgbClr val="FFFFFF"/>
              </a:solidFill>
              <a:latin typeface="Calibri" pitchFamily="-111" charset="0"/>
              <a:cs typeface="+mn-cs"/>
            </a:endParaRPr>
          </a:p>
        </p:txBody>
      </p:sp>
      <p:sp>
        <p:nvSpPr>
          <p:cNvPr id="7" name="Ellipse 98"/>
          <p:cNvSpPr/>
          <p:nvPr userDrawn="1"/>
        </p:nvSpPr>
        <p:spPr bwMode="auto">
          <a:xfrm>
            <a:off x="685800" y="5257800"/>
            <a:ext cx="3733800" cy="304799"/>
          </a:xfrm>
          <a:prstGeom prst="ellipse">
            <a:avLst/>
          </a:prstGeom>
          <a:gradFill flip="none" rotWithShape="1">
            <a:gsLst>
              <a:gs pos="100000">
                <a:srgbClr val="FFFFFF">
                  <a:alpha val="0"/>
                </a:srgbClr>
              </a:gs>
              <a:gs pos="0">
                <a:schemeClr val="bg1">
                  <a:lumMod val="75000"/>
                </a:schemeClr>
              </a:gs>
            </a:gsLst>
            <a:path path="shape">
              <a:fillToRect l="50000" t="50000" r="50000" b="50000"/>
            </a:path>
            <a:tileRect/>
          </a:gradFill>
          <a:ln w="9525" cap="flat" cmpd="sng" algn="ctr">
            <a:noFill/>
            <a:prstDash val="solid"/>
          </a:ln>
          <a:effectLst/>
        </p:spPr>
        <p:txBody>
          <a:bodyPr anchor="ctr"/>
          <a:lstStyle/>
          <a:p>
            <a:pPr algn="ctr" fontAlgn="auto">
              <a:spcBef>
                <a:spcPts val="0"/>
              </a:spcBef>
              <a:spcAft>
                <a:spcPts val="0"/>
              </a:spcAft>
              <a:defRPr/>
            </a:pPr>
            <a:endParaRPr lang="en-US">
              <a:solidFill>
                <a:srgbClr val="FFFFFF"/>
              </a:solidFill>
              <a:latin typeface="Calibri" pitchFamily="-111" charset="0"/>
              <a:cs typeface="+mn-cs"/>
            </a:endParaRPr>
          </a:p>
        </p:txBody>
      </p:sp>
      <p:sp>
        <p:nvSpPr>
          <p:cNvPr id="2" name="Title 1"/>
          <p:cNvSpPr>
            <a:spLocks noGrp="1"/>
          </p:cNvSpPr>
          <p:nvPr>
            <p:ph type="title"/>
          </p:nvPr>
        </p:nvSpPr>
        <p:spPr/>
        <p:txBody>
          <a:bodyPr/>
          <a:lstStyle/>
          <a:p>
            <a:r>
              <a:rPr lang="en-US"/>
              <a:t>Click to edit Master title style</a:t>
            </a:r>
            <a:endParaRPr lang="en-JM"/>
          </a:p>
        </p:txBody>
      </p:sp>
      <p:sp>
        <p:nvSpPr>
          <p:cNvPr id="4" name="Content Placeholder 3"/>
          <p:cNvSpPr>
            <a:spLocks noGrp="1"/>
          </p:cNvSpPr>
          <p:nvPr>
            <p:ph sz="half" idx="2"/>
          </p:nvPr>
        </p:nvSpPr>
        <p:spPr>
          <a:xfrm>
            <a:off x="4800600" y="2667000"/>
            <a:ext cx="3886200" cy="2667000"/>
          </a:xfrm>
        </p:spPr>
        <p:txBody>
          <a:bodyPr>
            <a:normAutofit/>
          </a:bodyPr>
          <a:lstStyle>
            <a:lvl1pPr>
              <a:defRPr sz="1600"/>
            </a:lvl1pPr>
            <a:lvl2pPr>
              <a:defRPr sz="1600"/>
            </a:lvl2pPr>
            <a:lvl3pPr>
              <a:defRPr sz="1600"/>
            </a:lvl3pPr>
            <a:lvl4pPr>
              <a:defRPr sz="1600"/>
            </a:lvl4pPr>
            <a:lvl5pPr>
              <a:defRPr sz="1600"/>
            </a:lvl5pPr>
            <a:lvl6pPr>
              <a:defRPr sz="1800"/>
            </a:lvl6pPr>
            <a:lvl7pPr>
              <a:defRPr sz="1800"/>
            </a:lvl7pPr>
            <a:lvl8pPr>
              <a:defRPr sz="1800"/>
            </a:lvl8pPr>
            <a:lvl9pPr>
              <a:defRPr sz="1800"/>
            </a:lvl9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a:t>Sixième niveau</a:t>
            </a:r>
          </a:p>
          <a:p>
            <a:pPr lvl="6"/>
            <a:r>
              <a:rPr lang="fr-FR" dirty="0"/>
              <a:t>Septième niveau</a:t>
            </a:r>
          </a:p>
          <a:p>
            <a:pPr lvl="7"/>
            <a:r>
              <a:rPr lang="fr-FR" dirty="0" err="1"/>
              <a:t>Fichier.php</a:t>
            </a:r>
            <a:endParaRPr lang="fr-FR" dirty="0"/>
          </a:p>
          <a:p>
            <a:pPr lvl="8"/>
            <a:r>
              <a:rPr lang="fr-FR" dirty="0"/>
              <a:t>Bonnes pratiques</a:t>
            </a:r>
          </a:p>
        </p:txBody>
      </p:sp>
      <p:sp>
        <p:nvSpPr>
          <p:cNvPr id="9" name="Content Placeholder 8"/>
          <p:cNvSpPr>
            <a:spLocks noGrp="1"/>
          </p:cNvSpPr>
          <p:nvPr>
            <p:ph sz="quarter" idx="13"/>
          </p:nvPr>
        </p:nvSpPr>
        <p:spPr>
          <a:xfrm>
            <a:off x="457200" y="1219200"/>
            <a:ext cx="8001000" cy="685800"/>
          </a:xfrm>
        </p:spPr>
        <p:txBody>
          <a:bodyPr>
            <a:noAutofit/>
          </a:bodyPr>
          <a:lstStyle>
            <a:lvl1pPr>
              <a:buNone/>
              <a:defRPr sz="1600"/>
            </a:lvl1pPr>
            <a:lvl2pPr>
              <a:defRPr sz="1600"/>
            </a:lvl2pPr>
            <a:lvl3pPr>
              <a:defRPr sz="1600"/>
            </a:lvl3pPr>
            <a:lvl4pPr>
              <a:defRPr sz="1600"/>
            </a:lvl4pPr>
            <a:lvl5pPr algn="l">
              <a:buNone/>
              <a:defRPr sz="1600"/>
            </a:lvl5pPr>
          </a:lstStyle>
          <a:p>
            <a:pPr lvl="0"/>
            <a:endParaRPr lang="en-JM" dirty="0"/>
          </a:p>
        </p:txBody>
      </p:sp>
      <p:sp>
        <p:nvSpPr>
          <p:cNvPr id="11" name="Picture Placeholder 10"/>
          <p:cNvSpPr>
            <a:spLocks noGrp="1"/>
          </p:cNvSpPr>
          <p:nvPr>
            <p:ph type="pic" sz="quarter" idx="14"/>
          </p:nvPr>
        </p:nvSpPr>
        <p:spPr>
          <a:xfrm>
            <a:off x="609600" y="2514600"/>
            <a:ext cx="3886200" cy="2914650"/>
          </a:xfrm>
          <a:ln w="57150" cap="sq">
            <a:solidFill>
              <a:schemeClr val="bg1"/>
            </a:solidFill>
            <a:miter lim="800000"/>
          </a:ln>
          <a:effectLst>
            <a:outerShdw blurRad="63500" algn="ctr" rotWithShape="0">
              <a:prstClr val="black">
                <a:alpha val="40000"/>
              </a:prstClr>
            </a:outerShdw>
          </a:effectLst>
        </p:spPr>
        <p:txBody>
          <a:bodyPr rtlCol="0">
            <a:normAutofit/>
          </a:bodyPr>
          <a:lstStyle>
            <a:lvl1pPr marL="0" indent="0">
              <a:buFontTx/>
              <a:buNone/>
              <a:defRPr sz="2000"/>
            </a:lvl1pPr>
          </a:lstStyle>
          <a:p>
            <a:pPr lvl="0"/>
            <a:endParaRPr lang="en-JM" noProof="0"/>
          </a:p>
        </p:txBody>
      </p:sp>
      <p:sp>
        <p:nvSpPr>
          <p:cNvPr id="8" name="Date Placeholder 29"/>
          <p:cNvSpPr>
            <a:spLocks noGrp="1"/>
          </p:cNvSpPr>
          <p:nvPr>
            <p:ph type="dt" sz="half" idx="15"/>
          </p:nvPr>
        </p:nvSpPr>
        <p:spPr/>
        <p:txBody>
          <a:bodyPr/>
          <a:lstStyle>
            <a:lvl1pPr>
              <a:defRPr/>
            </a:lvl1pPr>
          </a:lstStyle>
          <a:p>
            <a:pPr>
              <a:defRPr/>
            </a:pPr>
            <a:endParaRPr lang="en-JM"/>
          </a:p>
        </p:txBody>
      </p:sp>
      <p:sp>
        <p:nvSpPr>
          <p:cNvPr id="10" name="Slide Number Placeholder 30"/>
          <p:cNvSpPr>
            <a:spLocks noGrp="1"/>
          </p:cNvSpPr>
          <p:nvPr>
            <p:ph type="sldNum" sz="quarter" idx="16"/>
          </p:nvPr>
        </p:nvSpPr>
        <p:spPr/>
        <p:txBody>
          <a:bodyPr/>
          <a:lstStyle>
            <a:lvl1pPr>
              <a:defRPr/>
            </a:lvl1pPr>
          </a:lstStyle>
          <a:p>
            <a:pPr>
              <a:defRPr/>
            </a:pPr>
            <a:fld id="{0505708E-ACF8-4C29-8EDD-1143D3E21FD8}" type="slidenum">
              <a:rPr lang="en-JM"/>
              <a:pPr>
                <a:defRPr/>
              </a:pPr>
              <a:t>‹N°›</a:t>
            </a:fld>
            <a:endParaRPr lang="en-JM"/>
          </a:p>
        </p:txBody>
      </p:sp>
      <p:sp>
        <p:nvSpPr>
          <p:cNvPr id="12" name="Footer Placeholder 31"/>
          <p:cNvSpPr>
            <a:spLocks noGrp="1"/>
          </p:cNvSpPr>
          <p:nvPr>
            <p:ph type="ftr" sz="quarter" idx="17"/>
          </p:nvPr>
        </p:nvSpPr>
        <p:spPr/>
        <p:txBody>
          <a:bodyPr/>
          <a:lstStyle>
            <a:lvl1pPr>
              <a:defRPr/>
            </a:lvl1pPr>
          </a:lstStyle>
          <a:p>
            <a:pPr>
              <a:defRPr/>
            </a:pPr>
            <a:r>
              <a:rPr lang="en-JM"/>
              <a:t>LOREM IPSUM DOLOREM COMPANY    Insert You Tagline Here</a:t>
            </a: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2_Conclusion">
    <p:spTree>
      <p:nvGrpSpPr>
        <p:cNvPr id="1" name=""/>
        <p:cNvGrpSpPr/>
        <p:nvPr/>
      </p:nvGrpSpPr>
      <p:grpSpPr>
        <a:xfrm>
          <a:off x="0" y="0"/>
          <a:ext cx="0" cy="0"/>
          <a:chOff x="0" y="0"/>
          <a:chExt cx="0" cy="0"/>
        </a:xfrm>
      </p:grpSpPr>
      <p:sp>
        <p:nvSpPr>
          <p:cNvPr id="2" name="Titre 1"/>
          <p:cNvSpPr>
            <a:spLocks noGrp="1"/>
          </p:cNvSpPr>
          <p:nvPr>
            <p:ph type="title" hasCustomPrompt="1"/>
          </p:nvPr>
        </p:nvSpPr>
        <p:spPr>
          <a:xfrm>
            <a:off x="0" y="285728"/>
            <a:ext cx="7429520" cy="1071570"/>
          </a:xfrm>
        </p:spPr>
        <p:txBody>
          <a:bodyPr/>
          <a:lstStyle>
            <a:lvl1pPr>
              <a:defRPr/>
            </a:lvl1pPr>
          </a:lstStyle>
          <a:p>
            <a:r>
              <a:rPr lang="fr-FR" dirty="0"/>
              <a:t>Conclusion</a:t>
            </a:r>
          </a:p>
        </p:txBody>
      </p:sp>
      <p:sp>
        <p:nvSpPr>
          <p:cNvPr id="3" name="Espace réservé du contenu 2"/>
          <p:cNvSpPr>
            <a:spLocks noGrp="1"/>
          </p:cNvSpPr>
          <p:nvPr>
            <p:ph idx="1"/>
          </p:nvPr>
        </p:nvSpPr>
        <p:spPr>
          <a:xfrm>
            <a:off x="1571604" y="1500174"/>
            <a:ext cx="7286676" cy="4786346"/>
          </a:xfrm>
        </p:spPr>
        <p:txBody>
          <a:bodyPr/>
          <a:lstStyle>
            <a:lvl1pPr marL="342900" marR="0" indent="-342900" algn="l" defTabSz="914400" rtl="0" eaLnBrk="1" fontAlgn="auto" latinLnBrk="0" hangingPunct="1">
              <a:lnSpc>
                <a:spcPct val="100000"/>
              </a:lnSpc>
              <a:spcBef>
                <a:spcPct val="20000"/>
              </a:spcBef>
              <a:spcAft>
                <a:spcPts val="0"/>
              </a:spcAft>
              <a:buClrTx/>
              <a:buSzTx/>
              <a:buFont typeface="Arial" pitchFamily="34" charset="0"/>
              <a:buChar char="•"/>
              <a:tabLst/>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a:lvl2pPr>
            <a:lvl3pPr marL="1143000" marR="0" indent="-228600" algn="l" defTabSz="914400" rtl="0" eaLnBrk="1" fontAlgn="auto" latinLnBrk="0" hangingPunct="1">
              <a:lnSpc>
                <a:spcPct val="100000"/>
              </a:lnSpc>
              <a:spcBef>
                <a:spcPct val="20000"/>
              </a:spcBef>
              <a:spcAft>
                <a:spcPts val="0"/>
              </a:spcAft>
              <a:buClrTx/>
              <a:buSzTx/>
              <a:buFont typeface="Arial" pitchFamily="34" charset="0"/>
              <a:buChar char="•"/>
              <a:tabLst/>
              <a:defRPr/>
            </a:lvl3pPr>
            <a:lvl4pPr marL="1600200" marR="0" indent="-228600" algn="l" defTabSz="914400" rtl="0" eaLnBrk="1" fontAlgn="auto" latinLnBrk="0" hangingPunct="1">
              <a:lnSpc>
                <a:spcPct val="100000"/>
              </a:lnSpc>
              <a:spcBef>
                <a:spcPct val="20000"/>
              </a:spcBef>
              <a:spcAft>
                <a:spcPts val="0"/>
              </a:spcAft>
              <a:buClrTx/>
              <a:buSzTx/>
              <a:buFont typeface="Arial" pitchFamily="34" charset="0"/>
              <a:buChar char="–"/>
              <a:tabLst/>
              <a:defRPr/>
            </a:lvl4pPr>
            <a:lvl5pPr marL="2057400" marR="0" indent="-228600" algn="l" defTabSz="914400" rtl="0" eaLnBrk="1" fontAlgn="auto" latinLnBrk="0" hangingPunct="1">
              <a:lnSpc>
                <a:spcPct val="100000"/>
              </a:lnSpc>
              <a:spcBef>
                <a:spcPct val="20000"/>
              </a:spcBef>
              <a:spcAft>
                <a:spcPts val="0"/>
              </a:spcAft>
              <a:buClrTx/>
              <a:buSzTx/>
              <a:buFont typeface="Arial" pitchFamily="34" charset="0"/>
              <a:buChar char="»"/>
              <a:tabLst/>
              <a:defRPr/>
            </a:lvl5pPr>
            <a:lvl6pPr marL="2514600" marR="0" indent="-228600" algn="l" defTabSz="914400" rtl="0" eaLnBrk="1" fontAlgn="auto" latinLnBrk="0" hangingPunct="1">
              <a:lnSpc>
                <a:spcPct val="100000"/>
              </a:lnSpc>
              <a:spcBef>
                <a:spcPct val="20000"/>
              </a:spcBef>
              <a:spcAft>
                <a:spcPts val="0"/>
              </a:spcAft>
              <a:buClrTx/>
              <a:buSzTx/>
              <a:buFont typeface="Arial" pitchFamily="34" charset="0"/>
              <a:buChar char="•"/>
              <a:tabLst/>
              <a:defRPr sz="2400"/>
            </a:lvl6pPr>
            <a:lvl7pPr marL="2971800" marR="0" indent="-228600" algn="l" defTabSz="914400" rtl="0" eaLnBrk="1" fontAlgn="auto" latinLnBrk="0" hangingPunct="1">
              <a:lnSpc>
                <a:spcPct val="100000"/>
              </a:lnSpc>
              <a:spcBef>
                <a:spcPct val="20000"/>
              </a:spcBef>
              <a:spcAft>
                <a:spcPts val="0"/>
              </a:spcAft>
              <a:buClrTx/>
              <a:buSzTx/>
              <a:buFont typeface="Arial" pitchFamily="34" charset="0"/>
              <a:buChar char="•"/>
              <a:tabLst/>
              <a:defRPr/>
            </a:lvl7pPr>
            <a:lvl8pPr marL="454025" marR="0" indent="-228600" algn="l" defTabSz="914400" rtl="0" eaLnBrk="1" fontAlgn="auto" latinLnBrk="0" hangingPunct="1">
              <a:lnSpc>
                <a:spcPct val="100000"/>
              </a:lnSpc>
              <a:spcBef>
                <a:spcPct val="20000"/>
              </a:spcBef>
              <a:spcAft>
                <a:spcPts val="0"/>
              </a:spcAft>
              <a:buClrTx/>
              <a:buSzTx/>
              <a:buFont typeface="Wingdings" pitchFamily="2" charset="2"/>
              <a:buChar char="2"/>
              <a:tabLst/>
              <a:defRPr/>
            </a:lvl8pPr>
            <a:lvl9pPr marL="447675" marR="0" indent="-228600" algn="l" defTabSz="914400" rtl="0" eaLnBrk="1" fontAlgn="auto" latinLnBrk="0" hangingPunct="1">
              <a:lnSpc>
                <a:spcPct val="100000"/>
              </a:lnSpc>
              <a:spcBef>
                <a:spcPct val="20000"/>
              </a:spcBef>
              <a:spcAft>
                <a:spcPts val="0"/>
              </a:spcAft>
              <a:buClrTx/>
              <a:buSzPct val="189000"/>
              <a:buFont typeface="Wingdings" pitchFamily="2" charset="2"/>
              <a:buChar char="C"/>
              <a:tabLst/>
              <a:defRPr/>
            </a:lvl9p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3200" b="0" i="0" u="none" strike="noStrike" kern="1200" cap="none" spc="0" normalizeH="0" baseline="0" noProof="0" dirty="0">
                <a:ln>
                  <a:noFill/>
                </a:ln>
                <a:solidFill>
                  <a:prstClr val="black"/>
                </a:solidFill>
                <a:effectLst/>
                <a:uLnTx/>
                <a:uFillTx/>
                <a:latin typeface="+mn-lt"/>
                <a:ea typeface="+mn-ea"/>
                <a:cs typeface="+mn-cs"/>
              </a:rPr>
              <a:t>Cliquez pour modifier les styles du texte du masque</a:t>
            </a:r>
          </a:p>
          <a:p>
            <a:pPr marL="742950" marR="0" lvl="1" indent="-28575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2800" b="0" i="0" u="none" strike="noStrike" kern="1200" cap="none" spc="0" normalizeH="0" baseline="0" noProof="0" dirty="0">
                <a:ln>
                  <a:noFill/>
                </a:ln>
                <a:solidFill>
                  <a:prstClr val="black"/>
                </a:solidFill>
                <a:effectLst/>
                <a:uLnTx/>
                <a:uFillTx/>
                <a:latin typeface="+mn-lt"/>
                <a:ea typeface="+mn-ea"/>
                <a:cs typeface="+mn-cs"/>
              </a:rPr>
              <a:t>Deuxième niveau</a:t>
            </a:r>
          </a:p>
          <a:p>
            <a:pPr marL="1143000" marR="0" lvl="2"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2400" b="0" i="0" u="none" strike="noStrike" kern="1200" cap="none" spc="0" normalizeH="0" baseline="0" noProof="0" dirty="0">
                <a:ln>
                  <a:noFill/>
                </a:ln>
                <a:solidFill>
                  <a:prstClr val="black"/>
                </a:solidFill>
                <a:effectLst/>
                <a:uLnTx/>
                <a:uFillTx/>
                <a:latin typeface="+mn-lt"/>
                <a:ea typeface="+mn-ea"/>
                <a:cs typeface="+mn-cs"/>
              </a:rPr>
              <a:t>Troisième niveau</a:t>
            </a:r>
          </a:p>
          <a:p>
            <a:pPr marL="1600200" marR="0" lvl="3"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2000" b="0" i="0" u="none" strike="noStrike" kern="1200" cap="none" spc="0" normalizeH="0" baseline="0" noProof="0" dirty="0">
                <a:ln>
                  <a:noFill/>
                </a:ln>
                <a:solidFill>
                  <a:prstClr val="black"/>
                </a:solidFill>
                <a:effectLst/>
                <a:uLnTx/>
                <a:uFillTx/>
                <a:latin typeface="+mn-lt"/>
                <a:ea typeface="+mn-ea"/>
                <a:cs typeface="+mn-cs"/>
              </a:rPr>
              <a:t>Quatrième niveau</a:t>
            </a:r>
          </a:p>
          <a:p>
            <a:pPr marL="2057400" marR="0" lvl="4"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2000" b="0" i="0" u="none" strike="noStrike" kern="1200" cap="none" spc="0" normalizeH="0" baseline="0" noProof="0" dirty="0">
                <a:ln>
                  <a:noFill/>
                </a:ln>
                <a:solidFill>
                  <a:prstClr val="black"/>
                </a:solidFill>
                <a:effectLst/>
                <a:uLnTx/>
                <a:uFillTx/>
                <a:latin typeface="+mn-lt"/>
                <a:ea typeface="+mn-ea"/>
                <a:cs typeface="+mn-cs"/>
              </a:rPr>
              <a:t>Cinquième niveau</a:t>
            </a:r>
          </a:p>
          <a:p>
            <a:pPr marL="2514600" marR="0" lvl="5"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2000" b="0" i="0" u="none" strike="noStrike" kern="1200" cap="none" spc="0" normalizeH="0" baseline="0" noProof="0" dirty="0">
                <a:ln>
                  <a:noFill/>
                </a:ln>
                <a:solidFill>
                  <a:prstClr val="black"/>
                </a:solidFill>
                <a:effectLst/>
                <a:uLnTx/>
                <a:uFillTx/>
                <a:latin typeface="+mn-lt"/>
                <a:ea typeface="+mn-ea"/>
                <a:cs typeface="+mn-cs"/>
              </a:rPr>
              <a:t>Sixième niveau</a:t>
            </a:r>
          </a:p>
          <a:p>
            <a:pPr marL="2971800" marR="0" lvl="6" indent="-2286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fr-FR" sz="2000" b="0" i="0" u="none" strike="noStrike" kern="1200" cap="none" spc="0" normalizeH="0" baseline="0" noProof="0" dirty="0">
                <a:ln>
                  <a:noFill/>
                </a:ln>
                <a:solidFill>
                  <a:prstClr val="black"/>
                </a:solidFill>
                <a:effectLst/>
                <a:uLnTx/>
                <a:uFillTx/>
                <a:latin typeface="+mn-lt"/>
                <a:ea typeface="+mn-ea"/>
                <a:cs typeface="+mn-cs"/>
              </a:rPr>
              <a:t>Septième niveau</a:t>
            </a:r>
          </a:p>
          <a:p>
            <a:pPr marL="454025" marR="0" lvl="7" indent="-228600" algn="l" defTabSz="914400" rtl="0" eaLnBrk="1" fontAlgn="auto" latinLnBrk="0" hangingPunct="1">
              <a:lnSpc>
                <a:spcPct val="100000"/>
              </a:lnSpc>
              <a:spcBef>
                <a:spcPct val="20000"/>
              </a:spcBef>
              <a:spcAft>
                <a:spcPts val="0"/>
              </a:spcAft>
              <a:buClrTx/>
              <a:buSzTx/>
              <a:buFont typeface="Wingdings" pitchFamily="2" charset="2"/>
              <a:buChar char="2"/>
              <a:tabLst/>
              <a:defRPr/>
            </a:pPr>
            <a:r>
              <a:rPr kumimoji="0" lang="fr-FR" sz="2000" b="0" i="0" u="none" strike="noStrike" kern="1200" cap="none" spc="0" normalizeH="0" baseline="0" noProof="0" dirty="0" err="1">
                <a:ln>
                  <a:noFill/>
                </a:ln>
                <a:solidFill>
                  <a:prstClr val="black"/>
                </a:solidFill>
                <a:effectLst/>
                <a:uLnTx/>
                <a:uFillTx/>
                <a:latin typeface="+mn-lt"/>
                <a:ea typeface="+mn-ea"/>
                <a:cs typeface="+mn-cs"/>
              </a:rPr>
              <a:t>Fichier.php</a:t>
            </a:r>
            <a:endParaRPr kumimoji="0" lang="fr-FR" sz="2000" b="0" i="0" u="none" strike="noStrike" kern="1200" cap="none" spc="0" normalizeH="0" baseline="0" noProof="0" dirty="0">
              <a:ln>
                <a:noFill/>
              </a:ln>
              <a:solidFill>
                <a:prstClr val="black"/>
              </a:solidFill>
              <a:effectLst/>
              <a:uLnTx/>
              <a:uFillTx/>
              <a:latin typeface="+mn-lt"/>
              <a:ea typeface="+mn-ea"/>
              <a:cs typeface="+mn-cs"/>
            </a:endParaRPr>
          </a:p>
          <a:p>
            <a:pPr marL="447675" marR="0" lvl="8" indent="-228600" algn="l" defTabSz="914400" rtl="0" eaLnBrk="1" fontAlgn="auto" latinLnBrk="0" hangingPunct="1">
              <a:lnSpc>
                <a:spcPct val="100000"/>
              </a:lnSpc>
              <a:spcBef>
                <a:spcPct val="20000"/>
              </a:spcBef>
              <a:spcAft>
                <a:spcPts val="0"/>
              </a:spcAft>
              <a:buClrTx/>
              <a:buSzPct val="189000"/>
              <a:buFont typeface="Wingdings" pitchFamily="2" charset="2"/>
              <a:buChar char="C"/>
              <a:tabLst/>
              <a:defRPr/>
            </a:pPr>
            <a:r>
              <a:rPr kumimoji="0" lang="fr-FR" sz="2000" b="0" i="0" u="none" strike="noStrike" kern="1200" cap="none" spc="0" normalizeH="0" baseline="0" noProof="0" dirty="0">
                <a:ln>
                  <a:noFill/>
                </a:ln>
                <a:solidFill>
                  <a:prstClr val="black"/>
                </a:solidFill>
                <a:effectLst/>
                <a:uLnTx/>
                <a:uFillTx/>
                <a:latin typeface="+mn-lt"/>
                <a:ea typeface="+mn-ea"/>
                <a:cs typeface="+mn-cs"/>
              </a:rPr>
              <a:t>Bonnes pratiques</a:t>
            </a:r>
          </a:p>
        </p:txBody>
      </p:sp>
      <p:sp>
        <p:nvSpPr>
          <p:cNvPr id="4" name="Espace réservé de la date 3"/>
          <p:cNvSpPr>
            <a:spLocks noGrp="1"/>
          </p:cNvSpPr>
          <p:nvPr>
            <p:ph type="dt" sz="half" idx="10"/>
          </p:nvPr>
        </p:nvSpPr>
        <p:spPr/>
        <p:txBody>
          <a:bodyPr/>
          <a:lstStyle/>
          <a:p>
            <a:fld id="{6DBA3327-A22A-4705-A988-BAFB87645CAF}" type="datetime1">
              <a:rPr lang="fr-FR" smtClean="0"/>
              <a:pPr/>
              <a:t>17/09/2026</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a:xfrm>
            <a:off x="6553200" y="6356350"/>
            <a:ext cx="1876452" cy="365125"/>
          </a:xfrm>
        </p:spPr>
        <p:txBody>
          <a:bodyPr/>
          <a:lstStyle/>
          <a:p>
            <a:fld id="{5A33B5BC-E3F1-4ABE-A1A6-D2608D40EC2E}" type="slidenum">
              <a:rPr lang="fr-FR" smtClean="0"/>
              <a:pPr/>
              <a:t>‹N°›</a:t>
            </a:fld>
            <a:endParaRPr lang="fr-FR"/>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Bouton d'action : Suivant 8">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Bouton d'action : Précédent 9">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593003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10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hasCustomPrompt="1"/>
          </p:nvPr>
        </p:nvSpPr>
        <p:spPr>
          <a:xfrm>
            <a:off x="4047022" y="1142984"/>
            <a:ext cx="5000660" cy="5286412"/>
          </a:xfrm>
        </p:spPr>
        <p:txBody>
          <a:bodyPr/>
          <a:lstStyle>
            <a:lvl1pPr>
              <a:defRPr/>
            </a:lvl1pPr>
            <a:lvl2pPr>
              <a:defRPr/>
            </a:lvl2pPr>
            <a:lvl3pPr>
              <a:defRPr/>
            </a:lvl3pPr>
            <a:lvl4pPr>
              <a:defRPr/>
            </a:lvl4pPr>
            <a:lvl5pPr>
              <a:defRPr/>
            </a:lvl5pPr>
            <a:lvl6pPr>
              <a:defRPr/>
            </a:lvl6pPr>
            <a:lvl7pPr>
              <a:defRPr/>
            </a:lvl7pPr>
            <a:lvl8pPr marL="469106" indent="-171450">
              <a:buFont typeface="Wingdings" pitchFamily="2" charset="2"/>
              <a:buChar char="2"/>
              <a:defRPr/>
            </a:lvl8pPr>
            <a:lvl9pPr marL="469106" indent="-171450">
              <a:buSzPct val="150000"/>
              <a:buFont typeface="Wingdings" pitchFamily="2" charset="2"/>
              <a:buChar char="C"/>
              <a:defRPr/>
            </a:lvl9p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a:t>Sixième niveau</a:t>
            </a:r>
          </a:p>
          <a:p>
            <a:pPr lvl="6"/>
            <a:r>
              <a:rPr lang="fr-FR" dirty="0"/>
              <a:t>Septième niveau</a:t>
            </a:r>
          </a:p>
          <a:p>
            <a:pPr lvl="7"/>
            <a:r>
              <a:rPr lang="fr-FR" dirty="0"/>
              <a:t>Huitième niveau</a:t>
            </a:r>
          </a:p>
          <a:p>
            <a:pPr lvl="8"/>
            <a:r>
              <a:rPr lang="fr-FR" dirty="0"/>
              <a:t>Neuvième niveau </a:t>
            </a:r>
          </a:p>
        </p:txBody>
      </p:sp>
      <p:sp>
        <p:nvSpPr>
          <p:cNvPr id="4" name="Espace réservé de la date 3"/>
          <p:cNvSpPr>
            <a:spLocks noGrp="1"/>
          </p:cNvSpPr>
          <p:nvPr>
            <p:ph type="dt" sz="half" idx="10"/>
          </p:nvPr>
        </p:nvSpPr>
        <p:spPr/>
        <p:txBody>
          <a:bodyPr/>
          <a:lstStyle/>
          <a:p>
            <a:fld id="{9F904C7F-60F4-4441-B03B-8BA7CD53137C}" type="datetimeFigureOut">
              <a:rPr lang="fr-FR" smtClean="0"/>
              <a:t>17/09/2026</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a:xfrm>
            <a:off x="7858149" y="6500836"/>
            <a:ext cx="571504" cy="220641"/>
          </a:xfrm>
        </p:spPr>
        <p:txBody>
          <a:bodyPr/>
          <a:lstStyle/>
          <a:p>
            <a:fld id="{3A3ADB01-1B25-41CA-A328-3B8EAAEFC432}" type="slidenum">
              <a:rPr lang="fr-FR" smtClean="0"/>
              <a:t>‹N°›</a:t>
            </a:fld>
            <a:endParaRPr lang="fr-FR" dirty="0"/>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pic>
        <p:nvPicPr>
          <p:cNvPr id="9" name="Picture 3"/>
          <p:cNvPicPr>
            <a:picLocks noChangeAspect="1" noChangeArrowheads="1"/>
          </p:cNvPicPr>
          <p:nvPr/>
        </p:nvPicPr>
        <p:blipFill>
          <a:blip r:embed="rId2" cstate="print"/>
          <a:srcRect/>
          <a:stretch>
            <a:fillRect/>
          </a:stretch>
        </p:blipFill>
        <p:spPr bwMode="auto">
          <a:xfrm>
            <a:off x="-285784" y="522872"/>
            <a:ext cx="4728116" cy="6943157"/>
          </a:xfrm>
          <a:prstGeom prst="rect">
            <a:avLst/>
          </a:prstGeom>
          <a:noFill/>
          <a:ln w="9525">
            <a:noFill/>
            <a:miter lim="800000"/>
            <a:headEnd/>
            <a:tailEnd/>
          </a:ln>
          <a:effectLst/>
        </p:spPr>
      </p:pic>
      <p:sp>
        <p:nvSpPr>
          <p:cNvPr id="11" name="Espace réservé du contenu 11"/>
          <p:cNvSpPr>
            <a:spLocks noGrp="1"/>
          </p:cNvSpPr>
          <p:nvPr>
            <p:ph sz="quarter" idx="14" hasCustomPrompt="1"/>
          </p:nvPr>
        </p:nvSpPr>
        <p:spPr>
          <a:xfrm>
            <a:off x="142846" y="1141513"/>
            <a:ext cx="3667940" cy="5095891"/>
          </a:xfrm>
          <a:noFill/>
          <a:ln>
            <a:noFill/>
          </a:ln>
          <a:scene3d>
            <a:camera prst="orthographicFront">
              <a:rot lat="0" lon="0" rev="21420000"/>
            </a:camera>
            <a:lightRig rig="threePt" dir="t"/>
          </a:scene3d>
        </p:spPr>
        <p:txBody>
          <a:bodyPr>
            <a:normAutofit/>
          </a:bodyPr>
          <a:lstStyle>
            <a:lvl1pPr>
              <a:defRPr sz="1800" baseline="30000">
                <a:latin typeface="Permanent Marker" pitchFamily="2" charset="0"/>
                <a:ea typeface="Permanent Marker" pitchFamily="2" charset="0"/>
              </a:defRPr>
            </a:lvl1pPr>
            <a:lvl2pPr marL="273844" indent="-136922">
              <a:defRPr sz="1350">
                <a:latin typeface="Permanent Marker" pitchFamily="2" charset="0"/>
                <a:ea typeface="Permanent Marker" pitchFamily="2" charset="0"/>
              </a:defRPr>
            </a:lvl2pPr>
            <a:lvl3pPr marL="338138" indent="-104775">
              <a:defRPr sz="1200">
                <a:latin typeface="Permanent Marker" pitchFamily="2" charset="0"/>
                <a:ea typeface="Permanent Marker" pitchFamily="2" charset="0"/>
              </a:defRPr>
            </a:lvl3pPr>
            <a:lvl4pPr marL="401241" indent="-110729">
              <a:defRPr sz="1050">
                <a:latin typeface="Permanent Marker" pitchFamily="2" charset="0"/>
                <a:ea typeface="Permanent Marker" pitchFamily="2" charset="0"/>
              </a:defRPr>
            </a:lvl4pPr>
            <a:lvl5pPr marL="538163" indent="-136922">
              <a:defRPr sz="1050">
                <a:latin typeface="Permanent Marker" pitchFamily="2" charset="0"/>
                <a:ea typeface="Permanent Marker" pitchFamily="2" charset="0"/>
              </a:defRPr>
            </a:lvl5pPr>
            <a:lvl6pPr marL="677466" indent="-171450">
              <a:defRPr sz="1050">
                <a:latin typeface="Permanent Marker" pitchFamily="2" charset="0"/>
                <a:ea typeface="Permanent Marker" pitchFamily="2" charset="0"/>
              </a:defRPr>
            </a:lvl6pPr>
            <a:lvl7pPr marL="740569" indent="-171450">
              <a:defRPr sz="1050">
                <a:latin typeface="Permanent Marker" pitchFamily="2" charset="0"/>
                <a:ea typeface="Permanent Marker" pitchFamily="2" charset="0"/>
              </a:defRPr>
            </a:lvl7pPr>
            <a:lvl8pPr>
              <a:defRPr sz="1050">
                <a:latin typeface="Permanent Marker" pitchFamily="2" charset="0"/>
                <a:ea typeface="Permanent Marker" pitchFamily="2" charset="0"/>
              </a:defRPr>
            </a:lvl8pPr>
            <a:lvl9pPr>
              <a:defRPr sz="1050">
                <a:latin typeface="Permanent Marker" pitchFamily="2" charset="0"/>
                <a:ea typeface="Permanent Marker" pitchFamily="2" charset="0"/>
              </a:defRPr>
            </a:lvl9p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a:t>Sixième niveau</a:t>
            </a:r>
          </a:p>
          <a:p>
            <a:pPr lvl="6"/>
            <a:r>
              <a:rPr lang="fr-FR" dirty="0"/>
              <a:t>Septième niveau</a:t>
            </a:r>
          </a:p>
          <a:p>
            <a:pPr lvl="7"/>
            <a:r>
              <a:rPr lang="fr-FR" dirty="0"/>
              <a:t>Huitième niveau</a:t>
            </a:r>
          </a:p>
          <a:p>
            <a:pPr lvl="8"/>
            <a:r>
              <a:rPr lang="fr-FR" dirty="0"/>
              <a:t>Neuvième niveau </a:t>
            </a:r>
          </a:p>
        </p:txBody>
      </p:sp>
    </p:spTree>
    <p:extLst>
      <p:ext uri="{BB962C8B-B14F-4D97-AF65-F5344CB8AC3E}">
        <p14:creationId xmlns:p14="http://schemas.microsoft.com/office/powerpoint/2010/main" val="2608107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11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hasCustomPrompt="1"/>
          </p:nvPr>
        </p:nvSpPr>
        <p:spPr>
          <a:xfrm>
            <a:off x="285721" y="1142984"/>
            <a:ext cx="5000660" cy="5286412"/>
          </a:xfrm>
        </p:spPr>
        <p:txBody>
          <a:bodyPr/>
          <a:lstStyle>
            <a:lvl1pPr>
              <a:defRPr/>
            </a:lvl1pPr>
            <a:lvl2pPr>
              <a:defRPr/>
            </a:lvl2pPr>
            <a:lvl3pPr>
              <a:defRPr/>
            </a:lvl3pPr>
            <a:lvl4pPr>
              <a:defRPr/>
            </a:lvl4pPr>
            <a:lvl5pPr>
              <a:defRPr/>
            </a:lvl5pPr>
            <a:lvl6pPr>
              <a:defRPr/>
            </a:lvl6pPr>
            <a:lvl7pPr>
              <a:defRPr/>
            </a:lvl7pPr>
            <a:lvl8pPr marL="469106" indent="-171450">
              <a:buFont typeface="Wingdings" pitchFamily="2" charset="2"/>
              <a:buChar char="2"/>
              <a:defRPr/>
            </a:lvl8pPr>
            <a:lvl9pPr marL="469106" indent="-171450">
              <a:buSzPct val="150000"/>
              <a:buFont typeface="Wingdings" pitchFamily="2" charset="2"/>
              <a:buChar char="C"/>
              <a:defRPr/>
            </a:lvl9p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a:t>Sixième niveau</a:t>
            </a:r>
          </a:p>
          <a:p>
            <a:pPr lvl="6"/>
            <a:r>
              <a:rPr lang="fr-FR" dirty="0"/>
              <a:t>Septième niveau</a:t>
            </a:r>
          </a:p>
          <a:p>
            <a:pPr lvl="7"/>
            <a:r>
              <a:rPr lang="fr-FR" dirty="0"/>
              <a:t>Huitième niveau</a:t>
            </a:r>
          </a:p>
          <a:p>
            <a:pPr lvl="8"/>
            <a:r>
              <a:rPr lang="fr-FR" dirty="0"/>
              <a:t>Neuvième niveau </a:t>
            </a:r>
          </a:p>
        </p:txBody>
      </p:sp>
      <p:sp>
        <p:nvSpPr>
          <p:cNvPr id="4" name="Espace réservé de la date 3"/>
          <p:cNvSpPr>
            <a:spLocks noGrp="1"/>
          </p:cNvSpPr>
          <p:nvPr>
            <p:ph type="dt" sz="half" idx="10"/>
          </p:nvPr>
        </p:nvSpPr>
        <p:spPr/>
        <p:txBody>
          <a:bodyPr/>
          <a:lstStyle/>
          <a:p>
            <a:fld id="{18B6E444-548B-4900-A79E-AE4788FD478A}" type="datetimeFigureOut">
              <a:rPr lang="fr-FR" smtClean="0"/>
              <a:t>17/09/2026</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a:xfrm>
            <a:off x="7858149" y="6500836"/>
            <a:ext cx="571504" cy="220641"/>
          </a:xfrm>
        </p:spPr>
        <p:txBody>
          <a:bodyPr/>
          <a:lstStyle/>
          <a:p>
            <a:fld id="{567F0B0E-885F-4CAC-AE39-A1877A0B0391}" type="slidenum">
              <a:rPr lang="fr-FR" smtClean="0"/>
              <a:t>‹N°›</a:t>
            </a:fld>
            <a:endParaRPr lang="fr-FR" dirty="0"/>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pic>
        <p:nvPicPr>
          <p:cNvPr id="9" name="Picture 3"/>
          <p:cNvPicPr>
            <a:picLocks noChangeAspect="1" noChangeArrowheads="1"/>
          </p:cNvPicPr>
          <p:nvPr/>
        </p:nvPicPr>
        <p:blipFill>
          <a:blip r:embed="rId2" cstate="print"/>
          <a:srcRect/>
          <a:stretch>
            <a:fillRect/>
          </a:stretch>
        </p:blipFill>
        <p:spPr bwMode="auto">
          <a:xfrm>
            <a:off x="5000628" y="619125"/>
            <a:ext cx="4429156" cy="6610349"/>
          </a:xfrm>
          <a:prstGeom prst="rect">
            <a:avLst/>
          </a:prstGeom>
          <a:noFill/>
          <a:ln w="9525">
            <a:noFill/>
            <a:miter lim="800000"/>
            <a:headEnd/>
            <a:tailEnd/>
          </a:ln>
          <a:effectLst/>
        </p:spPr>
      </p:pic>
      <p:sp>
        <p:nvSpPr>
          <p:cNvPr id="11" name="Espace réservé du contenu 11"/>
          <p:cNvSpPr>
            <a:spLocks noGrp="1"/>
          </p:cNvSpPr>
          <p:nvPr>
            <p:ph sz="quarter" idx="14" hasCustomPrompt="1"/>
          </p:nvPr>
        </p:nvSpPr>
        <p:spPr>
          <a:xfrm rot="160723">
            <a:off x="5359728" y="2007319"/>
            <a:ext cx="3435292" cy="3219122"/>
          </a:xfrm>
          <a:noFill/>
          <a:ln>
            <a:noFill/>
          </a:ln>
        </p:spPr>
        <p:txBody>
          <a:bodyPr>
            <a:normAutofit/>
          </a:bodyPr>
          <a:lstStyle>
            <a:lvl1pPr>
              <a:defRPr sz="1800" baseline="30000">
                <a:latin typeface="Permanent Marker" pitchFamily="2" charset="0"/>
                <a:ea typeface="Permanent Marker" pitchFamily="2" charset="0"/>
              </a:defRPr>
            </a:lvl1pPr>
            <a:lvl2pPr marL="273844" indent="-136922">
              <a:defRPr sz="1350">
                <a:latin typeface="Permanent Marker" pitchFamily="2" charset="0"/>
                <a:ea typeface="Permanent Marker" pitchFamily="2" charset="0"/>
              </a:defRPr>
            </a:lvl2pPr>
            <a:lvl3pPr marL="338138" indent="-104775">
              <a:defRPr sz="1200">
                <a:latin typeface="Permanent Marker" pitchFamily="2" charset="0"/>
                <a:ea typeface="Permanent Marker" pitchFamily="2" charset="0"/>
              </a:defRPr>
            </a:lvl3pPr>
            <a:lvl4pPr marL="401241" indent="-110729">
              <a:defRPr sz="1050">
                <a:latin typeface="Permanent Marker" pitchFamily="2" charset="0"/>
                <a:ea typeface="Permanent Marker" pitchFamily="2" charset="0"/>
              </a:defRPr>
            </a:lvl4pPr>
            <a:lvl5pPr marL="538163" indent="-136922">
              <a:defRPr sz="1050">
                <a:latin typeface="Permanent Marker" pitchFamily="2" charset="0"/>
                <a:ea typeface="Permanent Marker" pitchFamily="2" charset="0"/>
              </a:defRPr>
            </a:lvl5pPr>
            <a:lvl6pPr marL="677466" indent="-171450">
              <a:defRPr sz="1050">
                <a:latin typeface="Permanent Marker" pitchFamily="2" charset="0"/>
                <a:ea typeface="Permanent Marker" pitchFamily="2" charset="0"/>
              </a:defRPr>
            </a:lvl6pPr>
            <a:lvl7pPr marL="740569" indent="-171450">
              <a:defRPr sz="1050">
                <a:latin typeface="Permanent Marker" pitchFamily="2" charset="0"/>
                <a:ea typeface="Permanent Marker" pitchFamily="2" charset="0"/>
              </a:defRPr>
            </a:lvl7pPr>
            <a:lvl8pPr>
              <a:defRPr sz="1050">
                <a:latin typeface="Permanent Marker" pitchFamily="2" charset="0"/>
                <a:ea typeface="Permanent Marker" pitchFamily="2" charset="0"/>
              </a:defRPr>
            </a:lvl8pPr>
            <a:lvl9pPr>
              <a:defRPr sz="1050">
                <a:latin typeface="Permanent Marker" pitchFamily="2" charset="0"/>
                <a:ea typeface="Permanent Marker" pitchFamily="2" charset="0"/>
              </a:defRPr>
            </a:lvl9p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a:t>Sixième niveau</a:t>
            </a:r>
          </a:p>
          <a:p>
            <a:pPr lvl="6"/>
            <a:r>
              <a:rPr lang="fr-FR" dirty="0"/>
              <a:t>Septième niveau</a:t>
            </a:r>
          </a:p>
          <a:p>
            <a:pPr lvl="7"/>
            <a:r>
              <a:rPr lang="fr-FR" dirty="0"/>
              <a:t>Huitième niveau</a:t>
            </a:r>
          </a:p>
          <a:p>
            <a:pPr lvl="8"/>
            <a:r>
              <a:rPr lang="fr-FR" dirty="0"/>
              <a:t>Neuvième niveau </a:t>
            </a:r>
          </a:p>
        </p:txBody>
      </p:sp>
    </p:spTree>
    <p:extLst>
      <p:ext uri="{BB962C8B-B14F-4D97-AF65-F5344CB8AC3E}">
        <p14:creationId xmlns:p14="http://schemas.microsoft.com/office/powerpoint/2010/main" val="23568525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12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hasCustomPrompt="1"/>
          </p:nvPr>
        </p:nvSpPr>
        <p:spPr>
          <a:xfrm>
            <a:off x="285721" y="1142984"/>
            <a:ext cx="5000660" cy="5286412"/>
          </a:xfrm>
        </p:spPr>
        <p:txBody>
          <a:bodyPr/>
          <a:lstStyle>
            <a:lvl1pPr>
              <a:defRPr/>
            </a:lvl1pPr>
            <a:lvl2pPr>
              <a:defRPr/>
            </a:lvl2pPr>
            <a:lvl3pPr>
              <a:defRPr/>
            </a:lvl3pPr>
            <a:lvl4pPr>
              <a:defRPr/>
            </a:lvl4pPr>
            <a:lvl5pPr>
              <a:defRPr/>
            </a:lvl5pPr>
            <a:lvl6pPr>
              <a:defRPr/>
            </a:lvl6pPr>
            <a:lvl7pPr>
              <a:defRPr/>
            </a:lvl7pPr>
            <a:lvl8pPr marL="469106" indent="-171450">
              <a:buFont typeface="Wingdings" pitchFamily="2" charset="2"/>
              <a:buChar char="2"/>
              <a:defRPr/>
            </a:lvl8pPr>
            <a:lvl9pPr marL="469106" indent="-171450">
              <a:buSzPct val="150000"/>
              <a:buFont typeface="Wingdings" pitchFamily="2" charset="2"/>
              <a:buChar char="C"/>
              <a:defRPr/>
            </a:lvl9p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a:t>Sixième niveau</a:t>
            </a:r>
          </a:p>
          <a:p>
            <a:pPr lvl="6"/>
            <a:r>
              <a:rPr lang="fr-FR" dirty="0"/>
              <a:t>Septième niveau</a:t>
            </a:r>
          </a:p>
          <a:p>
            <a:pPr lvl="7"/>
            <a:r>
              <a:rPr lang="fr-FR" dirty="0"/>
              <a:t>Huitième niveau</a:t>
            </a:r>
          </a:p>
          <a:p>
            <a:pPr lvl="8"/>
            <a:r>
              <a:rPr lang="fr-FR" dirty="0"/>
              <a:t>Neuvième niveau </a:t>
            </a:r>
          </a:p>
        </p:txBody>
      </p:sp>
      <p:sp>
        <p:nvSpPr>
          <p:cNvPr id="4" name="Espace réservé de la date 3"/>
          <p:cNvSpPr>
            <a:spLocks noGrp="1"/>
          </p:cNvSpPr>
          <p:nvPr>
            <p:ph type="dt" sz="half" idx="10"/>
          </p:nvPr>
        </p:nvSpPr>
        <p:spPr/>
        <p:txBody>
          <a:bodyPr/>
          <a:lstStyle/>
          <a:p>
            <a:fld id="{18B6E444-548B-4900-A79E-AE4788FD478A}" type="datetimeFigureOut">
              <a:rPr lang="fr-FR" smtClean="0"/>
              <a:t>17/09/2026</a:t>
            </a:fld>
            <a:endParaRPr lang="fr-FR" dirty="0"/>
          </a:p>
        </p:txBody>
      </p:sp>
      <p:sp>
        <p:nvSpPr>
          <p:cNvPr id="5" name="Espace réservé du pied de page 4"/>
          <p:cNvSpPr>
            <a:spLocks noGrp="1"/>
          </p:cNvSpPr>
          <p:nvPr>
            <p:ph type="ftr" sz="quarter" idx="11"/>
          </p:nvPr>
        </p:nvSpPr>
        <p:spPr/>
        <p:txBody>
          <a:bodyPr/>
          <a:lstStyle/>
          <a:p>
            <a:endParaRPr lang="fr-FR" dirty="0"/>
          </a:p>
        </p:txBody>
      </p:sp>
      <p:sp>
        <p:nvSpPr>
          <p:cNvPr id="6" name="Espace réservé du numéro de diapositive 5"/>
          <p:cNvSpPr>
            <a:spLocks noGrp="1"/>
          </p:cNvSpPr>
          <p:nvPr>
            <p:ph type="sldNum" sz="quarter" idx="12"/>
          </p:nvPr>
        </p:nvSpPr>
        <p:spPr>
          <a:xfrm>
            <a:off x="7858149" y="6500836"/>
            <a:ext cx="571504" cy="220641"/>
          </a:xfrm>
        </p:spPr>
        <p:txBody>
          <a:bodyPr/>
          <a:lstStyle/>
          <a:p>
            <a:fld id="{567F0B0E-885F-4CAC-AE39-A1877A0B0391}" type="slidenum">
              <a:rPr lang="fr-FR" smtClean="0"/>
              <a:t>‹N°›</a:t>
            </a:fld>
            <a:endParaRPr lang="fr-FR" dirty="0"/>
          </a:p>
        </p:txBody>
      </p:sp>
      <p:sp>
        <p:nvSpPr>
          <p:cNvPr id="7" name="Bouton d'action : Suivant 6">
            <a:hlinkClick r:id="" action="ppaction://hlinkshowjump?jump=nextslide" highlightClick="1"/>
            <a:hlinkHover r:id="" action="ppaction://hlinkshowjump?jump=nextslide"/>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 name="Bouton d'action : Précédent 7">
            <a:hlinkClick r:id="" action="ppaction://hlinkshowjump?jump=previousslide" highlightClick="1"/>
            <a:hlinkHover r:id="" action="ppaction://hlinkshowjump?jump=nextslide"/>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pic>
        <p:nvPicPr>
          <p:cNvPr id="9" name="Picture 3"/>
          <p:cNvPicPr>
            <a:picLocks noChangeAspect="1" noChangeArrowheads="1"/>
          </p:cNvPicPr>
          <p:nvPr/>
        </p:nvPicPr>
        <p:blipFill>
          <a:blip r:embed="rId2" cstate="print"/>
          <a:srcRect/>
          <a:stretch>
            <a:fillRect/>
          </a:stretch>
        </p:blipFill>
        <p:spPr bwMode="auto">
          <a:xfrm>
            <a:off x="5000628" y="619125"/>
            <a:ext cx="4429156" cy="6610349"/>
          </a:xfrm>
          <a:prstGeom prst="rect">
            <a:avLst/>
          </a:prstGeom>
          <a:noFill/>
          <a:ln w="9525">
            <a:noFill/>
            <a:miter lim="800000"/>
            <a:headEnd/>
            <a:tailEnd/>
          </a:ln>
          <a:effectLst/>
        </p:spPr>
      </p:pic>
      <p:sp>
        <p:nvSpPr>
          <p:cNvPr id="11" name="Espace réservé du contenu 11"/>
          <p:cNvSpPr>
            <a:spLocks noGrp="1"/>
          </p:cNvSpPr>
          <p:nvPr>
            <p:ph sz="quarter" idx="14" hasCustomPrompt="1"/>
          </p:nvPr>
        </p:nvSpPr>
        <p:spPr>
          <a:xfrm rot="160723">
            <a:off x="5359728" y="2007319"/>
            <a:ext cx="3435292" cy="3219122"/>
          </a:xfrm>
          <a:noFill/>
          <a:ln>
            <a:noFill/>
          </a:ln>
        </p:spPr>
        <p:txBody>
          <a:bodyPr>
            <a:normAutofit/>
          </a:bodyPr>
          <a:lstStyle>
            <a:lvl1pPr>
              <a:defRPr sz="1800" baseline="30000">
                <a:latin typeface="Permanent Marker" pitchFamily="2" charset="0"/>
                <a:ea typeface="Permanent Marker" pitchFamily="2" charset="0"/>
              </a:defRPr>
            </a:lvl1pPr>
            <a:lvl2pPr marL="273844" indent="-136922">
              <a:defRPr sz="1350">
                <a:latin typeface="Permanent Marker" pitchFamily="2" charset="0"/>
                <a:ea typeface="Permanent Marker" pitchFamily="2" charset="0"/>
              </a:defRPr>
            </a:lvl2pPr>
            <a:lvl3pPr marL="338138" indent="-104775">
              <a:defRPr sz="1200">
                <a:latin typeface="Permanent Marker" pitchFamily="2" charset="0"/>
                <a:ea typeface="Permanent Marker" pitchFamily="2" charset="0"/>
              </a:defRPr>
            </a:lvl3pPr>
            <a:lvl4pPr marL="401241" indent="-110729">
              <a:defRPr sz="1050">
                <a:latin typeface="Permanent Marker" pitchFamily="2" charset="0"/>
                <a:ea typeface="Permanent Marker" pitchFamily="2" charset="0"/>
              </a:defRPr>
            </a:lvl4pPr>
            <a:lvl5pPr marL="538163" indent="-136922">
              <a:defRPr sz="1050">
                <a:latin typeface="Permanent Marker" pitchFamily="2" charset="0"/>
                <a:ea typeface="Permanent Marker" pitchFamily="2" charset="0"/>
              </a:defRPr>
            </a:lvl5pPr>
            <a:lvl6pPr marL="677466" indent="-171450">
              <a:defRPr sz="1050">
                <a:latin typeface="Permanent Marker" pitchFamily="2" charset="0"/>
                <a:ea typeface="Permanent Marker" pitchFamily="2" charset="0"/>
              </a:defRPr>
            </a:lvl6pPr>
            <a:lvl7pPr marL="740569" indent="-171450">
              <a:defRPr sz="1050">
                <a:latin typeface="Permanent Marker" pitchFamily="2" charset="0"/>
                <a:ea typeface="Permanent Marker" pitchFamily="2" charset="0"/>
              </a:defRPr>
            </a:lvl7pPr>
            <a:lvl8pPr>
              <a:defRPr sz="1050">
                <a:latin typeface="Permanent Marker" pitchFamily="2" charset="0"/>
                <a:ea typeface="Permanent Marker" pitchFamily="2" charset="0"/>
              </a:defRPr>
            </a:lvl8pPr>
            <a:lvl9pPr>
              <a:defRPr sz="1050">
                <a:latin typeface="Permanent Marker" pitchFamily="2" charset="0"/>
                <a:ea typeface="Permanent Marker" pitchFamily="2" charset="0"/>
              </a:defRPr>
            </a:lvl9pPr>
          </a:lstStyle>
          <a:p>
            <a:pPr lvl="0"/>
            <a:r>
              <a:rPr lang="fr-FR" dirty="0"/>
              <a:t>Premier niveau</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a:t>Sixième niveau</a:t>
            </a:r>
          </a:p>
          <a:p>
            <a:pPr lvl="6"/>
            <a:r>
              <a:rPr lang="fr-FR" dirty="0"/>
              <a:t>Septième niveau</a:t>
            </a:r>
          </a:p>
          <a:p>
            <a:pPr lvl="7"/>
            <a:r>
              <a:rPr lang="fr-FR" dirty="0"/>
              <a:t>Huitième niveau</a:t>
            </a:r>
          </a:p>
          <a:p>
            <a:pPr lvl="8"/>
            <a:r>
              <a:rPr lang="fr-FR" dirty="0"/>
              <a:t>Neuvième niveau </a:t>
            </a:r>
          </a:p>
        </p:txBody>
      </p:sp>
    </p:spTree>
    <p:extLst>
      <p:ext uri="{BB962C8B-B14F-4D97-AF65-F5344CB8AC3E}">
        <p14:creationId xmlns:p14="http://schemas.microsoft.com/office/powerpoint/2010/main" val="25059225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audio" Target="../media/audio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9">
            <a:alphaModFix amt="64000"/>
            <a:lum/>
          </a:blip>
          <a:srcRect/>
          <a:stretch>
            <a:fillRect l="-9000" r="-9000"/>
          </a:stretch>
        </a:blipFill>
        <a:effectLst/>
      </p:bgPr>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0" y="142852"/>
            <a:ext cx="9144000" cy="785818"/>
          </a:xfrm>
          <a:prstGeom prst="rect">
            <a:avLst/>
          </a:prstGeom>
        </p:spPr>
        <p:style>
          <a:lnRef idx="0">
            <a:schemeClr val="accent2"/>
          </a:lnRef>
          <a:fillRef idx="3">
            <a:schemeClr val="accent2"/>
          </a:fillRef>
          <a:effectRef idx="3">
            <a:schemeClr val="accent2"/>
          </a:effectRef>
          <a:fontRef idx="none"/>
        </p:style>
        <p:txBody>
          <a:bodyPr vert="horz" lIns="91440" tIns="45720" rIns="91440" bIns="45720" rtlCol="0" anchor="ctr">
            <a:noAutofit/>
          </a:bodyPr>
          <a:lstStyle/>
          <a:p>
            <a:r>
              <a:rPr lang="fr-FR" dirty="0"/>
              <a:t>Cliquez pour modifier le style du titre</a:t>
            </a:r>
          </a:p>
        </p:txBody>
      </p:sp>
      <p:sp>
        <p:nvSpPr>
          <p:cNvPr id="3" name="Espace réservé du texte 2"/>
          <p:cNvSpPr>
            <a:spLocks noGrp="1"/>
          </p:cNvSpPr>
          <p:nvPr>
            <p:ph type="body" idx="1"/>
          </p:nvPr>
        </p:nvSpPr>
        <p:spPr>
          <a:xfrm>
            <a:off x="285720" y="1142984"/>
            <a:ext cx="8572560" cy="5286412"/>
          </a:xfrm>
          <a:prstGeom prst="rect">
            <a:avLst/>
          </a:prstGeom>
          <a:solidFill>
            <a:schemeClr val="bg1">
              <a:alpha val="74000"/>
            </a:schemeClr>
          </a:solidFill>
          <a:ln>
            <a:solidFill>
              <a:schemeClr val="bg1">
                <a:lumMod val="85000"/>
              </a:schemeClr>
            </a:solidFill>
          </a:ln>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a:p>
            <a:pPr lvl="5"/>
            <a:r>
              <a:rPr lang="fr-FR" dirty="0"/>
              <a:t>Sixième niveau</a:t>
            </a:r>
          </a:p>
          <a:p>
            <a:pPr lvl="6"/>
            <a:r>
              <a:rPr lang="fr-FR" dirty="0"/>
              <a:t>Septième niveau</a:t>
            </a:r>
          </a:p>
          <a:p>
            <a:pPr lvl="7"/>
            <a:r>
              <a:rPr lang="fr-FR" dirty="0" err="1"/>
              <a:t>Fichier.php</a:t>
            </a:r>
            <a:endParaRPr lang="fr-FR" dirty="0"/>
          </a:p>
          <a:p>
            <a:pPr lvl="8"/>
            <a:r>
              <a:rPr lang="fr-FR" dirty="0"/>
              <a:t>Bonnes pratiques</a:t>
            </a:r>
          </a:p>
        </p:txBody>
      </p:sp>
      <p:sp>
        <p:nvSpPr>
          <p:cNvPr id="4" name="Espace réservé de la date 3"/>
          <p:cNvSpPr>
            <a:spLocks noGrp="1"/>
          </p:cNvSpPr>
          <p:nvPr>
            <p:ph type="dt" sz="half" idx="2"/>
          </p:nvPr>
        </p:nvSpPr>
        <p:spPr>
          <a:xfrm>
            <a:off x="457200" y="6500834"/>
            <a:ext cx="2133600" cy="220641"/>
          </a:xfrm>
          <a:prstGeom prst="rect">
            <a:avLst/>
          </a:prstGeom>
        </p:spPr>
        <p:txBody>
          <a:bodyPr vert="horz" lIns="91440" tIns="45720" rIns="91440" bIns="45720" rtlCol="0" anchor="ctr"/>
          <a:lstStyle>
            <a:lvl1pPr algn="l">
              <a:defRPr sz="1200">
                <a:solidFill>
                  <a:schemeClr val="tx1">
                    <a:tint val="75000"/>
                  </a:schemeClr>
                </a:solidFill>
              </a:defRPr>
            </a:lvl1pPr>
          </a:lstStyle>
          <a:p>
            <a:fld id="{B516F9DE-8424-4DA0-8347-64BE6E17B936}" type="datetimeFigureOut">
              <a:rPr lang="fr-FR" smtClean="0"/>
              <a:pPr/>
              <a:t>17/09/2026</a:t>
            </a:fld>
            <a:endParaRPr lang="fr-FR"/>
          </a:p>
        </p:txBody>
      </p:sp>
      <p:sp>
        <p:nvSpPr>
          <p:cNvPr id="5" name="Espace réservé du pied de page 4"/>
          <p:cNvSpPr>
            <a:spLocks noGrp="1"/>
          </p:cNvSpPr>
          <p:nvPr>
            <p:ph type="ftr" sz="quarter" idx="3"/>
          </p:nvPr>
        </p:nvSpPr>
        <p:spPr>
          <a:xfrm>
            <a:off x="3124200" y="6500834"/>
            <a:ext cx="2895600" cy="220641"/>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7858148" y="6500835"/>
            <a:ext cx="642942" cy="214314"/>
          </a:xfrm>
          <a:prstGeom prst="rect">
            <a:avLst/>
          </a:prstGeom>
        </p:spPr>
        <p:txBody>
          <a:bodyPr vert="horz" lIns="91440" tIns="45720" rIns="91440" bIns="45720" rtlCol="0" anchor="ctr"/>
          <a:lstStyle>
            <a:lvl1pPr algn="ctr">
              <a:defRPr sz="1200">
                <a:solidFill>
                  <a:schemeClr val="tx1">
                    <a:tint val="75000"/>
                  </a:schemeClr>
                </a:solidFill>
              </a:defRPr>
            </a:lvl1pPr>
          </a:lstStyle>
          <a:p>
            <a:fld id="{BC6F2980-C15E-4A6C-B3EA-12E3F1929291}" type="slidenum">
              <a:rPr lang="fr-FR" smtClean="0"/>
              <a:pPr/>
              <a:t>‹N°›</a:t>
            </a:fld>
            <a:endParaRPr lang="fr-FR"/>
          </a:p>
        </p:txBody>
      </p:sp>
      <p:sp>
        <p:nvSpPr>
          <p:cNvPr id="7" name="Bouton d'action : Suivant 6">
            <a:hlinkClick r:id="" action="ppaction://hlinkshowjump?jump=nextslide" highlightClick="1"/>
            <a:hlinkHover r:id="" action="ppaction://noaction">
              <a:snd r:embed="rId60" name="voltage.wav"/>
            </a:hlinkHover>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Bouton d'action : Précédent 7">
            <a:hlinkClick r:id="" action="ppaction://hlinkshowjump?jump=previousslide" highlightClick="1"/>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Bouton d'action : Suivant 8">
            <a:hlinkClick r:id="" action="ppaction://hlinkshowjump?jump=nextslide" highlightClick="1"/>
            <a:hlinkHover r:id="" action="ppaction://noaction">
              <a:snd r:embed="rId60" name="voltage.wav"/>
            </a:hlinkHover>
          </p:cNvPr>
          <p:cNvSpPr/>
          <p:nvPr/>
        </p:nvSpPr>
        <p:spPr>
          <a:xfrm>
            <a:off x="8501090" y="6500834"/>
            <a:ext cx="214314" cy="214314"/>
          </a:xfrm>
          <a:prstGeom prst="actionButtonForwardNex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Bouton d'action : Précédent 9">
            <a:hlinkClick r:id="" action="ppaction://hlinkshowjump?jump=previousslide" highlightClick="1"/>
          </p:cNvPr>
          <p:cNvSpPr/>
          <p:nvPr/>
        </p:nvSpPr>
        <p:spPr>
          <a:xfrm>
            <a:off x="7643834" y="6500834"/>
            <a:ext cx="214314" cy="214314"/>
          </a:xfrm>
          <a:prstGeom prst="actionButtonBackPrevio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584108649"/>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 id="2147483757" r:id="rId6"/>
    <p:sldLayoutId id="2147483758" r:id="rId7"/>
    <p:sldLayoutId id="2147483759" r:id="rId8"/>
    <p:sldLayoutId id="2147483760" r:id="rId9"/>
    <p:sldLayoutId id="2147483761" r:id="rId10"/>
    <p:sldLayoutId id="2147483762" r:id="rId11"/>
    <p:sldLayoutId id="2147483763" r:id="rId12"/>
    <p:sldLayoutId id="2147483764" r:id="rId13"/>
    <p:sldLayoutId id="2147483765" r:id="rId14"/>
    <p:sldLayoutId id="2147483766" r:id="rId15"/>
    <p:sldLayoutId id="2147483767" r:id="rId16"/>
    <p:sldLayoutId id="2147483768" r:id="rId17"/>
    <p:sldLayoutId id="2147483769" r:id="rId18"/>
    <p:sldLayoutId id="2147483770" r:id="rId19"/>
    <p:sldLayoutId id="2147483771" r:id="rId20"/>
    <p:sldLayoutId id="2147483772" r:id="rId21"/>
    <p:sldLayoutId id="2147483773" r:id="rId22"/>
    <p:sldLayoutId id="2147483774" r:id="rId23"/>
    <p:sldLayoutId id="2147483775" r:id="rId24"/>
    <p:sldLayoutId id="2147483776" r:id="rId25"/>
    <p:sldLayoutId id="2147483777" r:id="rId26"/>
    <p:sldLayoutId id="2147483778" r:id="rId27"/>
    <p:sldLayoutId id="2147483779" r:id="rId28"/>
    <p:sldLayoutId id="2147483780" r:id="rId29"/>
    <p:sldLayoutId id="2147483781" r:id="rId30"/>
    <p:sldLayoutId id="2147483782" r:id="rId31"/>
    <p:sldLayoutId id="2147483783" r:id="rId32"/>
    <p:sldLayoutId id="2147483784" r:id="rId33"/>
    <p:sldLayoutId id="2147483785" r:id="rId34"/>
    <p:sldLayoutId id="2147483786" r:id="rId35"/>
    <p:sldLayoutId id="2147483787" r:id="rId36"/>
    <p:sldLayoutId id="2147483788" r:id="rId37"/>
    <p:sldLayoutId id="2147483789" r:id="rId38"/>
    <p:sldLayoutId id="2147483790" r:id="rId39"/>
    <p:sldLayoutId id="2147483791" r:id="rId40"/>
    <p:sldLayoutId id="2147483793" r:id="rId41"/>
    <p:sldLayoutId id="2147483796" r:id="rId42"/>
    <p:sldLayoutId id="2147483797" r:id="rId43"/>
    <p:sldLayoutId id="2147483798" r:id="rId44"/>
    <p:sldLayoutId id="2147483799" r:id="rId45"/>
    <p:sldLayoutId id="2147483800" r:id="rId46"/>
    <p:sldLayoutId id="2147483801" r:id="rId47"/>
    <p:sldLayoutId id="2147483803" r:id="rId48"/>
    <p:sldLayoutId id="2147483696" r:id="rId49"/>
    <p:sldLayoutId id="2147483695" r:id="rId50"/>
    <p:sldLayoutId id="2147483698" r:id="rId51"/>
    <p:sldLayoutId id="2147483699" r:id="rId52"/>
    <p:sldLayoutId id="2147483700" r:id="rId53"/>
    <p:sldLayoutId id="2147483703" r:id="rId54"/>
    <p:sldLayoutId id="2147483804" r:id="rId55"/>
    <p:sldLayoutId id="2147483805" r:id="rId56"/>
    <p:sldLayoutId id="2147483806" r:id="rId57"/>
  </p:sldLayoutIdLst>
  <p:txStyles>
    <p:titleStyle>
      <a:lvl1pPr algn="ctr" defTabSz="914400" rtl="0" eaLnBrk="1" latinLnBrk="0" hangingPunct="1">
        <a:spcBef>
          <a:spcPct val="0"/>
        </a:spcBef>
        <a:buNone/>
        <a:defRPr sz="32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454025" indent="-228600" algn="l" defTabSz="914400" rtl="0" eaLnBrk="1" latinLnBrk="0" hangingPunct="1">
        <a:spcBef>
          <a:spcPct val="20000"/>
        </a:spcBef>
        <a:buFont typeface="Wingdings" pitchFamily="2" charset="2"/>
        <a:buChar char="2"/>
        <a:defRPr sz="2000" kern="1200">
          <a:solidFill>
            <a:schemeClr val="tx1"/>
          </a:solidFill>
          <a:latin typeface="+mn-lt"/>
          <a:ea typeface="+mn-ea"/>
          <a:cs typeface="+mn-cs"/>
        </a:defRPr>
      </a:lvl8pPr>
      <a:lvl9pPr marL="447675" indent="-228600" algn="l" defTabSz="914400" rtl="0" eaLnBrk="1" latinLnBrk="0" hangingPunct="1">
        <a:spcBef>
          <a:spcPct val="20000"/>
        </a:spcBef>
        <a:buSzPct val="189000"/>
        <a:buFont typeface="Wingdings" pitchFamily="2" charset="2"/>
        <a:buChar char="C"/>
        <a:defRPr sz="2000" kern="1200" baseline="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8.xml"/><Relationship Id="rId5" Type="http://schemas.openxmlformats.org/officeDocument/2006/relationships/image" Target="../media/image5.png"/><Relationship Id="rId4" Type="http://schemas.openxmlformats.org/officeDocument/2006/relationships/image" Target="../media/image21.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8.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johnpapa/lite-server" TargetMode="Externa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31.png"/><Relationship Id="rId4" Type="http://schemas.openxmlformats.org/officeDocument/2006/relationships/hyperlink" Target="https://github.com/typicode/json-server"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1.png"/><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hyperlink" Target="https://bitbucket.org/account/signup/"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hyperlink" Target="https://bitbucket.org/account/signin/"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hyperlink" Target="https://github.com/userName/reposName.git" TargetMode="Externa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37.xml"/><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2.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7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7.xml"/><Relationship Id="rId1" Type="http://schemas.openxmlformats.org/officeDocument/2006/relationships/slideLayout" Target="../slideLayouts/slideLayout23.xml"/></Relationships>
</file>

<file path=ppt/slides/_rels/slide7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8.xml"/><Relationship Id="rId1" Type="http://schemas.openxmlformats.org/officeDocument/2006/relationships/slideLayout" Target="../slideLayouts/slideLayout23.xml"/></Relationships>
</file>

<file path=ppt/slides/_rels/slide7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24.xml"/></Relationships>
</file>

<file path=ppt/slides/_rels/slide7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117.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3.xml"/><Relationship Id="rId1" Type="http://schemas.openxmlformats.org/officeDocument/2006/relationships/slideLayout" Target="../slideLayouts/slideLayout8.xml"/><Relationship Id="rId4" Type="http://schemas.openxmlformats.org/officeDocument/2006/relationships/image" Target="../media/image46.jpeg"/></Relationships>
</file>

<file path=ppt/slides/_rels/slide118.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64.xml"/><Relationship Id="rId1" Type="http://schemas.openxmlformats.org/officeDocument/2006/relationships/slideLayout" Target="../slideLayouts/slideLayout8.xml"/><Relationship Id="rId5" Type="http://schemas.openxmlformats.org/officeDocument/2006/relationships/image" Target="../media/image47.png"/><Relationship Id="rId4" Type="http://schemas.openxmlformats.org/officeDocument/2006/relationships/image" Target="../media/image46.jpeg"/></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56.xml"/></Relationships>
</file>

<file path=ppt/slides/_rels/slide120.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6.xml"/><Relationship Id="rId1" Type="http://schemas.openxmlformats.org/officeDocument/2006/relationships/slideLayout" Target="../slideLayouts/slideLayout8.xml"/><Relationship Id="rId4" Type="http://schemas.openxmlformats.org/officeDocument/2006/relationships/image" Target="../media/image48.png"/></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5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68.xml"/><Relationship Id="rId1" Type="http://schemas.openxmlformats.org/officeDocument/2006/relationships/slideLayout" Target="../slideLayouts/slideLayout8.xml"/><Relationship Id="rId6" Type="http://schemas.openxmlformats.org/officeDocument/2006/relationships/image" Target="../media/image52.png"/><Relationship Id="rId5" Type="http://schemas.openxmlformats.org/officeDocument/2006/relationships/image" Target="../media/image51.gif"/><Relationship Id="rId4" Type="http://schemas.openxmlformats.org/officeDocument/2006/relationships/image" Target="../media/image50.png"/></Relationships>
</file>

<file path=ppt/slides/_rels/slide127.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69.xml"/><Relationship Id="rId1" Type="http://schemas.openxmlformats.org/officeDocument/2006/relationships/slideLayout" Target="../slideLayouts/slideLayout8.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8.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5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5.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8.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3" Type="http://schemas.openxmlformats.org/officeDocument/2006/relationships/hyperlink" Target="http://www.kompozer.net/" TargetMode="External"/><Relationship Id="rId7" Type="http://schemas.openxmlformats.org/officeDocument/2006/relationships/hyperlink" Target="https://github.com/nvm-windows/nvm" TargetMode="External"/><Relationship Id="rId2" Type="http://schemas.openxmlformats.org/officeDocument/2006/relationships/notesSlide" Target="../notesSlides/notesSlide74.xml"/><Relationship Id="rId1" Type="http://schemas.openxmlformats.org/officeDocument/2006/relationships/slideLayout" Target="../slideLayouts/slideLayout8.xml"/><Relationship Id="rId6" Type="http://schemas.openxmlformats.org/officeDocument/2006/relationships/hyperlink" Target="https://github.com/nvm-sh/nvm" TargetMode="External"/><Relationship Id="rId5" Type="http://schemas.openxmlformats.org/officeDocument/2006/relationships/hyperlink" Target="https://nodejs.org/fr" TargetMode="External"/><Relationship Id="rId4" Type="http://schemas.openxmlformats.org/officeDocument/2006/relationships/hyperlink" Target="https://code.visualstudio.com/" TargetMode="External"/></Relationships>
</file>

<file path=ppt/slides/_rels/slide149.xml.rels><?xml version="1.0" encoding="UTF-8" standalone="yes"?>
<Relationships xmlns="http://schemas.openxmlformats.org/package/2006/relationships"><Relationship Id="rId3" Type="http://schemas.openxmlformats.org/officeDocument/2006/relationships/hyperlink" Target="http://caniuse.com/" TargetMode="External"/><Relationship Id="rId2" Type="http://schemas.openxmlformats.org/officeDocument/2006/relationships/notesSlide" Target="../notesSlides/notesSlide75.xml"/><Relationship Id="rId1" Type="http://schemas.openxmlformats.org/officeDocument/2006/relationships/slideLayout" Target="../slideLayouts/slideLayout8.xml"/><Relationship Id="rId4" Type="http://schemas.openxmlformats.org/officeDocument/2006/relationships/hyperlink" Target="https://developer.mozilla.org/fr/" TargetMode="External"/></Relationships>
</file>

<file path=ppt/slides/_rels/slide150.xml.rels><?xml version="1.0" encoding="UTF-8" standalone="yes"?>
<Relationships xmlns="http://schemas.openxmlformats.org/package/2006/relationships"><Relationship Id="rId3" Type="http://schemas.openxmlformats.org/officeDocument/2006/relationships/hyperlink" Target="http://www.w3schools.com/" TargetMode="External"/><Relationship Id="rId2" Type="http://schemas.openxmlformats.org/officeDocument/2006/relationships/notesSlide" Target="../notesSlides/notesSlide76.xml"/><Relationship Id="rId1" Type="http://schemas.openxmlformats.org/officeDocument/2006/relationships/slideLayout" Target="../slideLayouts/slideLayout8.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8.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8.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8.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8.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8.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8.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8.xml"/></Relationships>
</file>

<file path=ppt/slides/_rels/slide1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85.xml"/><Relationship Id="rId1" Type="http://schemas.openxmlformats.org/officeDocument/2006/relationships/slideLayout" Target="../slideLayouts/slideLayout8.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161.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86.xml"/><Relationship Id="rId1" Type="http://schemas.openxmlformats.org/officeDocument/2006/relationships/slideLayout" Target="../slideLayouts/slideLayout8.xml"/></Relationships>
</file>

<file path=ppt/slides/_rels/slide162.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87.xml"/><Relationship Id="rId1" Type="http://schemas.openxmlformats.org/officeDocument/2006/relationships/slideLayout" Target="../slideLayouts/slideLayout8.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a:xfrm rot="20916814">
            <a:off x="2737941" y="910683"/>
            <a:ext cx="6422590" cy="642942"/>
          </a:xfrm>
        </p:spPr>
        <p:txBody>
          <a:bodyPr/>
          <a:lstStyle/>
          <a:p>
            <a:r>
              <a:rPr lang="fr-FR" dirty="0"/>
              <a:t>Le web avec un truc en plus en 2.0 </a:t>
            </a:r>
          </a:p>
        </p:txBody>
      </p:sp>
      <p:sp>
        <p:nvSpPr>
          <p:cNvPr id="2" name="Titre 1"/>
          <p:cNvSpPr>
            <a:spLocks noGrp="1"/>
          </p:cNvSpPr>
          <p:nvPr>
            <p:ph type="ctrTitle"/>
          </p:nvPr>
        </p:nvSpPr>
        <p:spPr/>
        <p:txBody>
          <a:bodyPr>
            <a:normAutofit/>
          </a:bodyPr>
          <a:lstStyle/>
          <a:p>
            <a:r>
              <a:rPr lang="fr-FR" dirty="0"/>
              <a:t>Formation JavaScript, les fondamentaux</a:t>
            </a:r>
          </a:p>
        </p:txBody>
      </p:sp>
      <p:pic>
        <p:nvPicPr>
          <p:cNvPr id="145410" name="Picture 2" descr="Image associÃ©e"/>
          <p:cNvPicPr>
            <a:picLocks noChangeAspect="1" noChangeArrowheads="1"/>
          </p:cNvPicPr>
          <p:nvPr/>
        </p:nvPicPr>
        <p:blipFill>
          <a:blip r:embed="rId3"/>
          <a:srcRect/>
          <a:stretch>
            <a:fillRect/>
          </a:stretch>
        </p:blipFill>
        <p:spPr bwMode="auto">
          <a:xfrm>
            <a:off x="4499992" y="1894770"/>
            <a:ext cx="3986560" cy="2494449"/>
          </a:xfrm>
          <a:prstGeom prst="rect">
            <a:avLst/>
          </a:prstGeom>
          <a:noFill/>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a:t>Orsys &amp; vous</a:t>
            </a:r>
          </a:p>
        </p:txBody>
      </p:sp>
      <p:sp>
        <p:nvSpPr>
          <p:cNvPr id="5" name="Espace réservé du texte 4"/>
          <p:cNvSpPr>
            <a:spLocks noGrp="1"/>
          </p:cNvSpPr>
          <p:nvPr>
            <p:ph type="body" idx="1"/>
          </p:nvPr>
        </p:nvSpPr>
        <p:spPr/>
        <p:txBody>
          <a:bodyPr/>
          <a:lstStyle/>
          <a:p>
            <a:r>
              <a:rPr lang="fr-FR" dirty="0"/>
              <a:t>présentation logistique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a:t>Bienvenue chez Orsys</a:t>
            </a:r>
            <a:br>
              <a:rPr lang="fr-FR" dirty="0"/>
            </a:br>
            <a:br>
              <a:rPr lang="fr-FR" dirty="0"/>
            </a:br>
            <a:r>
              <a:rPr lang="fr-FR" dirty="0"/>
              <a:t>Présentation</a:t>
            </a:r>
          </a:p>
        </p:txBody>
      </p:sp>
      <p:sp>
        <p:nvSpPr>
          <p:cNvPr id="5" name="Espace réservé du contenu 4"/>
          <p:cNvSpPr>
            <a:spLocks noGrp="1"/>
          </p:cNvSpPr>
          <p:nvPr>
            <p:ph idx="1"/>
          </p:nvPr>
        </p:nvSpPr>
        <p:spPr/>
        <p:txBody>
          <a:bodyPr>
            <a:normAutofit lnSpcReduction="10000"/>
          </a:bodyPr>
          <a:lstStyle/>
          <a:p>
            <a:r>
              <a:rPr lang="fr-FR" dirty="0"/>
              <a:t>Indépendant</a:t>
            </a:r>
          </a:p>
          <a:p>
            <a:pPr lvl="1"/>
            <a:r>
              <a:rPr lang="fr-FR" dirty="0"/>
              <a:t>Prestataire d’Orsys</a:t>
            </a:r>
          </a:p>
          <a:p>
            <a:endParaRPr lang="fr-FR" dirty="0"/>
          </a:p>
          <a:p>
            <a:r>
              <a:rPr lang="fr-FR" dirty="0"/>
              <a:t>Animateur</a:t>
            </a:r>
          </a:p>
          <a:p>
            <a:pPr lvl="1"/>
            <a:r>
              <a:rPr lang="fr-FR" dirty="0"/>
              <a:t>Monsieur DESORBAIX Alexandre</a:t>
            </a:r>
          </a:p>
          <a:p>
            <a:pPr lvl="2"/>
            <a:endParaRPr lang="fr-FR" dirty="0"/>
          </a:p>
          <a:p>
            <a:pPr lvl="2"/>
            <a:r>
              <a:rPr lang="fr-FR" dirty="0"/>
              <a:t>Développeur </a:t>
            </a:r>
          </a:p>
          <a:p>
            <a:pPr lvl="3"/>
            <a:r>
              <a:rPr lang="fr-FR" dirty="0"/>
              <a:t>software, client lourd ,serveur </a:t>
            </a:r>
          </a:p>
          <a:p>
            <a:pPr lvl="4"/>
            <a:r>
              <a:rPr lang="fr-FR" dirty="0"/>
              <a:t>c, c++, c#, java, …</a:t>
            </a:r>
          </a:p>
          <a:p>
            <a:pPr lvl="3"/>
            <a:r>
              <a:rPr lang="fr-FR" dirty="0"/>
              <a:t>web, client léger</a:t>
            </a:r>
          </a:p>
          <a:p>
            <a:pPr lvl="4"/>
            <a:r>
              <a:rPr lang="fr-FR" dirty="0"/>
              <a:t> html, php, sql, js, css,…</a:t>
            </a:r>
          </a:p>
          <a:p>
            <a:pPr lvl="2"/>
            <a:endParaRPr lang="fr-FR" dirty="0"/>
          </a:p>
          <a:p>
            <a:pPr lvl="2"/>
            <a:r>
              <a:rPr lang="fr-FR" dirty="0"/>
              <a:t>blogger sous Wordpress</a:t>
            </a:r>
          </a:p>
        </p:txBody>
      </p:sp>
      <p:pic>
        <p:nvPicPr>
          <p:cNvPr id="10" name="Picture 3"/>
          <p:cNvPicPr>
            <a:picLocks noChangeAspect="1" noChangeArrowheads="1"/>
          </p:cNvPicPr>
          <p:nvPr/>
        </p:nvPicPr>
        <p:blipFill>
          <a:blip r:embed="rId3"/>
          <a:srcRect/>
          <a:stretch>
            <a:fillRect/>
          </a:stretch>
        </p:blipFill>
        <p:spPr bwMode="auto">
          <a:xfrm>
            <a:off x="1071538" y="1571612"/>
            <a:ext cx="1500198" cy="2000264"/>
          </a:xfrm>
          <a:prstGeom prst="rect">
            <a:avLst/>
          </a:prstGeom>
          <a:noFill/>
          <a:ln w="9525">
            <a:noFill/>
            <a:miter lim="800000"/>
            <a:headEnd/>
            <a:tailEnd/>
          </a:ln>
          <a:effectLst/>
        </p:spPr>
      </p:pic>
      <p:pic>
        <p:nvPicPr>
          <p:cNvPr id="3077" name="Picture 5" descr="C:\Users\Alex\Desktop\DESORBAIX.jpg"/>
          <p:cNvPicPr>
            <a:picLocks noChangeAspect="1" noChangeArrowheads="1"/>
          </p:cNvPicPr>
          <p:nvPr/>
        </p:nvPicPr>
        <p:blipFill>
          <a:blip r:embed="rId4"/>
          <a:srcRect/>
          <a:stretch>
            <a:fillRect/>
          </a:stretch>
        </p:blipFill>
        <p:spPr bwMode="auto">
          <a:xfrm>
            <a:off x="1357290" y="2000240"/>
            <a:ext cx="928694" cy="1214446"/>
          </a:xfrm>
          <a:prstGeom prst="rect">
            <a:avLst/>
          </a:prstGeom>
          <a:noFill/>
        </p:spPr>
      </p:pic>
      <p:pic>
        <p:nvPicPr>
          <p:cNvPr id="5122" name="Picture 2"/>
          <p:cNvPicPr>
            <a:picLocks noChangeAspect="1" noChangeArrowheads="1"/>
          </p:cNvPicPr>
          <p:nvPr/>
        </p:nvPicPr>
        <p:blipFill>
          <a:blip r:embed="rId5"/>
          <a:srcRect/>
          <a:stretch>
            <a:fillRect/>
          </a:stretch>
        </p:blipFill>
        <p:spPr bwMode="auto">
          <a:xfrm>
            <a:off x="1" y="3602764"/>
            <a:ext cx="3571868" cy="3440962"/>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a:t>Bienvenue chez Orsys</a:t>
            </a:r>
            <a:br>
              <a:rPr lang="fr-FR" dirty="0"/>
            </a:br>
            <a:br>
              <a:rPr lang="fr-FR" dirty="0"/>
            </a:br>
            <a:r>
              <a:rPr lang="fr-FR" dirty="0"/>
              <a:t>logistique</a:t>
            </a:r>
          </a:p>
        </p:txBody>
      </p:sp>
      <p:sp>
        <p:nvSpPr>
          <p:cNvPr id="5" name="Espace réservé du contenu 4"/>
          <p:cNvSpPr>
            <a:spLocks noGrp="1"/>
          </p:cNvSpPr>
          <p:nvPr>
            <p:ph idx="1"/>
          </p:nvPr>
        </p:nvSpPr>
        <p:spPr/>
        <p:txBody>
          <a:bodyPr/>
          <a:lstStyle/>
          <a:p>
            <a:r>
              <a:rPr lang="fr-FR" dirty="0"/>
              <a:t>Nombre de jours : </a:t>
            </a:r>
          </a:p>
          <a:p>
            <a:pPr lvl="1"/>
            <a:r>
              <a:rPr lang="fr-FR" dirty="0"/>
              <a:t>3 jours </a:t>
            </a:r>
          </a:p>
          <a:p>
            <a:pPr lvl="1"/>
            <a:endParaRPr lang="fr-FR" dirty="0"/>
          </a:p>
          <a:p>
            <a:r>
              <a:rPr lang="fr-FR" dirty="0"/>
              <a:t>Horaires </a:t>
            </a:r>
          </a:p>
          <a:p>
            <a:pPr lvl="1"/>
            <a:r>
              <a:rPr lang="fr-FR" dirty="0"/>
              <a:t>Début : 9h </a:t>
            </a:r>
          </a:p>
          <a:p>
            <a:pPr lvl="1"/>
            <a:r>
              <a:rPr lang="fr-FR" dirty="0"/>
              <a:t>Fin : 17h30 </a:t>
            </a:r>
            <a:r>
              <a:rPr lang="fr-FR" sz="1600" b="1" dirty="0">
                <a:solidFill>
                  <a:prstClr val="black"/>
                </a:solidFill>
              </a:rPr>
              <a:t>approx.</a:t>
            </a:r>
            <a:endParaRPr lang="fr-FR" dirty="0"/>
          </a:p>
          <a:p>
            <a:endParaRPr lang="fr-FR" dirty="0"/>
          </a:p>
          <a:p>
            <a:r>
              <a:rPr lang="fr-FR" dirty="0"/>
              <a:t>Pause </a:t>
            </a:r>
          </a:p>
          <a:p>
            <a:pPr lvl="1"/>
            <a:r>
              <a:rPr lang="fr-FR" dirty="0"/>
              <a:t>10h30 </a:t>
            </a:r>
            <a:r>
              <a:rPr lang="fr-FR" sz="1600" b="1" dirty="0"/>
              <a:t>approx. </a:t>
            </a:r>
            <a:r>
              <a:rPr lang="fr-FR" dirty="0"/>
              <a:t>Matin</a:t>
            </a:r>
          </a:p>
          <a:p>
            <a:pPr lvl="1"/>
            <a:r>
              <a:rPr lang="fr-FR" dirty="0"/>
              <a:t>12h30 </a:t>
            </a:r>
            <a:r>
              <a:rPr lang="fr-FR" sz="1600" b="1" dirty="0">
                <a:solidFill>
                  <a:prstClr val="black"/>
                </a:solidFill>
              </a:rPr>
              <a:t>approx. </a:t>
            </a:r>
            <a:r>
              <a:rPr lang="fr-FR" dirty="0"/>
              <a:t>Midi</a:t>
            </a:r>
          </a:p>
          <a:p>
            <a:pPr lvl="1"/>
            <a:r>
              <a:rPr lang="fr-FR" dirty="0"/>
              <a:t>15h30 </a:t>
            </a:r>
            <a:r>
              <a:rPr lang="fr-FR" sz="1600" b="1" dirty="0">
                <a:solidFill>
                  <a:prstClr val="black"/>
                </a:solidFill>
              </a:rPr>
              <a:t>approx. </a:t>
            </a:r>
            <a:r>
              <a:rPr lang="fr-FR" dirty="0"/>
              <a:t>Après-midi</a:t>
            </a:r>
          </a:p>
          <a:p>
            <a:endParaRPr lang="fr-FR" dirty="0"/>
          </a:p>
        </p:txBody>
      </p:sp>
      <p:pic>
        <p:nvPicPr>
          <p:cNvPr id="8" name="Picture 2"/>
          <p:cNvPicPr>
            <a:picLocks noChangeAspect="1" noChangeArrowheads="1"/>
          </p:cNvPicPr>
          <p:nvPr/>
        </p:nvPicPr>
        <p:blipFill>
          <a:blip r:embed="rId3"/>
          <a:srcRect/>
          <a:stretch>
            <a:fillRect/>
          </a:stretch>
        </p:blipFill>
        <p:spPr bwMode="auto">
          <a:xfrm>
            <a:off x="1" y="3602764"/>
            <a:ext cx="3571868" cy="3440962"/>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CA9013-D937-D024-1F48-27EBBA446221}"/>
              </a:ext>
            </a:extLst>
          </p:cNvPr>
          <p:cNvSpPr>
            <a:spLocks noGrp="1"/>
          </p:cNvSpPr>
          <p:nvPr>
            <p:ph type="title"/>
          </p:nvPr>
        </p:nvSpPr>
        <p:spPr/>
        <p:txBody>
          <a:bodyPr/>
          <a:lstStyle/>
          <a:p>
            <a:r>
              <a:rPr lang="fr-FR" dirty="0"/>
              <a:t>Les technologies du web</a:t>
            </a:r>
          </a:p>
        </p:txBody>
      </p:sp>
      <p:sp>
        <p:nvSpPr>
          <p:cNvPr id="3" name="Espace réservé du texte 2">
            <a:extLst>
              <a:ext uri="{FF2B5EF4-FFF2-40B4-BE49-F238E27FC236}">
                <a16:creationId xmlns:a16="http://schemas.microsoft.com/office/drawing/2014/main" id="{27C5F23B-6D71-CC52-BE13-FA4CFDECCC4D}"/>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190522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C55582C6-5B3E-54D9-3F72-184BC8A92B9E}"/>
              </a:ext>
            </a:extLst>
          </p:cNvPr>
          <p:cNvSpPr>
            <a:spLocks noGrp="1"/>
          </p:cNvSpPr>
          <p:nvPr>
            <p:ph type="title"/>
          </p:nvPr>
        </p:nvSpPr>
        <p:spPr/>
        <p:txBody>
          <a:bodyPr/>
          <a:lstStyle/>
          <a:p>
            <a:r>
              <a:rPr lang="fr-FR" dirty="0"/>
              <a:t>Architecture du WEB</a:t>
            </a:r>
          </a:p>
        </p:txBody>
      </p:sp>
      <p:sp>
        <p:nvSpPr>
          <p:cNvPr id="5" name="Espace réservé du contenu 4">
            <a:extLst>
              <a:ext uri="{FF2B5EF4-FFF2-40B4-BE49-F238E27FC236}">
                <a16:creationId xmlns:a16="http://schemas.microsoft.com/office/drawing/2014/main" id="{93CF2029-798C-1FA9-F713-0A60E683CF24}"/>
              </a:ext>
            </a:extLst>
          </p:cNvPr>
          <p:cNvSpPr>
            <a:spLocks noGrp="1"/>
          </p:cNvSpPr>
          <p:nvPr>
            <p:ph idx="1"/>
          </p:nvPr>
        </p:nvSpPr>
        <p:spPr/>
        <p:txBody>
          <a:bodyPr/>
          <a:lstStyle/>
          <a:p>
            <a:r>
              <a:rPr lang="fr-FR" dirty="0"/>
              <a:t>Le web se décompose en 2 ensembles:</a:t>
            </a:r>
          </a:p>
          <a:p>
            <a:pPr lvl="1"/>
            <a:r>
              <a:rPr lang="fr-FR" dirty="0"/>
              <a:t>Serveur</a:t>
            </a:r>
          </a:p>
          <a:p>
            <a:pPr lvl="3"/>
            <a:r>
              <a:rPr lang="fr-FR" dirty="0"/>
              <a:t>Php, asp, node, python, perl, ruby, …</a:t>
            </a:r>
          </a:p>
          <a:p>
            <a:pPr lvl="2"/>
            <a:r>
              <a:rPr lang="fr-FR" dirty="0"/>
              <a:t>Serveur de dynamisation de contenu</a:t>
            </a:r>
          </a:p>
          <a:p>
            <a:pPr lvl="2"/>
            <a:r>
              <a:rPr lang="fr-FR" dirty="0"/>
              <a:t>Api</a:t>
            </a:r>
          </a:p>
          <a:p>
            <a:pPr lvl="1"/>
            <a:endParaRPr lang="fr-FR" dirty="0"/>
          </a:p>
          <a:p>
            <a:pPr lvl="1"/>
            <a:r>
              <a:rPr lang="fr-FR" dirty="0"/>
              <a:t>Client</a:t>
            </a:r>
          </a:p>
          <a:p>
            <a:pPr lvl="3"/>
            <a:r>
              <a:rPr lang="fr-FR" dirty="0"/>
              <a:t>HTML, CSS, JS </a:t>
            </a:r>
          </a:p>
          <a:p>
            <a:pPr lvl="2"/>
            <a:r>
              <a:rPr lang="fr-FR" dirty="0"/>
              <a:t>Navigateur</a:t>
            </a:r>
          </a:p>
          <a:p>
            <a:pPr lvl="3"/>
            <a:r>
              <a:rPr lang="fr-FR" dirty="0"/>
              <a:t>Chrome / chromnium (EDGE) / chrome CANARY</a:t>
            </a:r>
          </a:p>
          <a:p>
            <a:pPr lvl="3"/>
            <a:r>
              <a:rPr lang="fr-FR" dirty="0"/>
              <a:t>Firefox</a:t>
            </a:r>
          </a:p>
          <a:p>
            <a:pPr lvl="3"/>
            <a:r>
              <a:rPr lang="fr-FR" dirty="0"/>
              <a:t>Opera, Brave, ….</a:t>
            </a:r>
          </a:p>
          <a:p>
            <a:pPr lvl="3"/>
            <a:endParaRPr lang="fr-FR" dirty="0"/>
          </a:p>
        </p:txBody>
      </p:sp>
    </p:spTree>
    <p:extLst>
      <p:ext uri="{BB962C8B-B14F-4D97-AF65-F5344CB8AC3E}">
        <p14:creationId xmlns:p14="http://schemas.microsoft.com/office/powerpoint/2010/main" val="33829396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70AF14-823C-F08A-AC6B-D57F6F3FC63A}"/>
              </a:ext>
            </a:extLst>
          </p:cNvPr>
          <p:cNvSpPr>
            <a:spLocks noGrp="1"/>
          </p:cNvSpPr>
          <p:nvPr>
            <p:ph type="title"/>
          </p:nvPr>
        </p:nvSpPr>
        <p:spPr/>
        <p:txBody>
          <a:bodyPr/>
          <a:lstStyle/>
          <a:p>
            <a:r>
              <a:rPr lang="fr-FR" dirty="0"/>
              <a:t>Architecture WEB</a:t>
            </a:r>
          </a:p>
        </p:txBody>
      </p:sp>
      <p:pic>
        <p:nvPicPr>
          <p:cNvPr id="1026" name="Picture 2" descr="Was ist ein Server? Definition &amp; Funktion">
            <a:extLst>
              <a:ext uri="{FF2B5EF4-FFF2-40B4-BE49-F238E27FC236}">
                <a16:creationId xmlns:a16="http://schemas.microsoft.com/office/drawing/2014/main" id="{B8B84A30-EBD5-04C0-B569-7D70DE8801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2735" y="3941664"/>
            <a:ext cx="1584176" cy="158417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Découvrez les 10 meilleurs PC portables en Soldes chez Darty, bonnes ...">
            <a:extLst>
              <a:ext uri="{FF2B5EF4-FFF2-40B4-BE49-F238E27FC236}">
                <a16:creationId xmlns:a16="http://schemas.microsoft.com/office/drawing/2014/main" id="{0697E657-6E37-3B1F-BCE6-B965B736E25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48064" y="3398371"/>
            <a:ext cx="2928763" cy="2065387"/>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99B8D054-9664-FE44-B6D9-B9C5CCA83487}"/>
              </a:ext>
            </a:extLst>
          </p:cNvPr>
          <p:cNvPicPr>
            <a:picLocks noChangeAspect="1"/>
          </p:cNvPicPr>
          <p:nvPr/>
        </p:nvPicPr>
        <p:blipFill>
          <a:blip r:embed="rId4"/>
          <a:stretch>
            <a:fillRect/>
          </a:stretch>
        </p:blipFill>
        <p:spPr>
          <a:xfrm>
            <a:off x="5826831" y="2060848"/>
            <a:ext cx="3059832" cy="2065387"/>
          </a:xfrm>
          <a:prstGeom prst="rect">
            <a:avLst/>
          </a:prstGeom>
        </p:spPr>
      </p:pic>
      <p:sp>
        <p:nvSpPr>
          <p:cNvPr id="5" name="Nuage 4">
            <a:extLst>
              <a:ext uri="{FF2B5EF4-FFF2-40B4-BE49-F238E27FC236}">
                <a16:creationId xmlns:a16="http://schemas.microsoft.com/office/drawing/2014/main" id="{DC3B5523-2D92-FC18-81BD-E4A92DA8EF46}"/>
              </a:ext>
            </a:extLst>
          </p:cNvPr>
          <p:cNvSpPr/>
          <p:nvPr/>
        </p:nvSpPr>
        <p:spPr>
          <a:xfrm>
            <a:off x="3203848" y="1282299"/>
            <a:ext cx="1726197" cy="2065387"/>
          </a:xfrm>
          <a:prstGeom prst="cloud">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Internet</a:t>
            </a:r>
          </a:p>
        </p:txBody>
      </p:sp>
      <p:cxnSp>
        <p:nvCxnSpPr>
          <p:cNvPr id="7" name="Connecteur droit avec flèche 6">
            <a:extLst>
              <a:ext uri="{FF2B5EF4-FFF2-40B4-BE49-F238E27FC236}">
                <a16:creationId xmlns:a16="http://schemas.microsoft.com/office/drawing/2014/main" id="{484C216C-8E4B-98BF-4F21-BE4E8C5B38EB}"/>
              </a:ext>
            </a:extLst>
          </p:cNvPr>
          <p:cNvCxnSpPr>
            <a:endCxn id="5" idx="0"/>
          </p:cNvCxnSpPr>
          <p:nvPr/>
        </p:nvCxnSpPr>
        <p:spPr>
          <a:xfrm flipH="1" flipV="1">
            <a:off x="4928607" y="2314993"/>
            <a:ext cx="898224" cy="321919"/>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
        <p:nvSpPr>
          <p:cNvPr id="11" name="Rectangle 10">
            <a:extLst>
              <a:ext uri="{FF2B5EF4-FFF2-40B4-BE49-F238E27FC236}">
                <a16:creationId xmlns:a16="http://schemas.microsoft.com/office/drawing/2014/main" id="{E36FBB30-2E18-ECA2-95F8-FF8DDE63A2FC}"/>
              </a:ext>
            </a:extLst>
          </p:cNvPr>
          <p:cNvSpPr/>
          <p:nvPr/>
        </p:nvSpPr>
        <p:spPr>
          <a:xfrm>
            <a:off x="179512" y="1556792"/>
            <a:ext cx="2214500" cy="468052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Rectangle : coins arrondis 16">
            <a:extLst>
              <a:ext uri="{FF2B5EF4-FFF2-40B4-BE49-F238E27FC236}">
                <a16:creationId xmlns:a16="http://schemas.microsoft.com/office/drawing/2014/main" id="{D7214BD5-D7A4-4CF1-271B-1A5257BF103D}"/>
              </a:ext>
            </a:extLst>
          </p:cNvPr>
          <p:cNvSpPr/>
          <p:nvPr/>
        </p:nvSpPr>
        <p:spPr>
          <a:xfrm>
            <a:off x="258991" y="1700808"/>
            <a:ext cx="2055542" cy="93610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Serveur d’adresse/fichier</a:t>
            </a:r>
          </a:p>
          <a:p>
            <a:pPr algn="ctr"/>
            <a:r>
              <a:rPr lang="fr-FR" dirty="0"/>
              <a:t>Apache, IIS, …</a:t>
            </a:r>
          </a:p>
        </p:txBody>
      </p:sp>
      <p:sp>
        <p:nvSpPr>
          <p:cNvPr id="18" name="Rectangle : coins arrondis 17">
            <a:extLst>
              <a:ext uri="{FF2B5EF4-FFF2-40B4-BE49-F238E27FC236}">
                <a16:creationId xmlns:a16="http://schemas.microsoft.com/office/drawing/2014/main" id="{5C4089C1-023F-DFBD-D260-185A0DD25CF0}"/>
              </a:ext>
            </a:extLst>
          </p:cNvPr>
          <p:cNvSpPr/>
          <p:nvPr/>
        </p:nvSpPr>
        <p:spPr>
          <a:xfrm>
            <a:off x="258991" y="3429000"/>
            <a:ext cx="2055542" cy="93610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Construction de contenu</a:t>
            </a:r>
          </a:p>
          <a:p>
            <a:pPr algn="ctr"/>
            <a:r>
              <a:rPr lang="fr-FR" dirty="0"/>
              <a:t>PHP, ASP, …</a:t>
            </a:r>
          </a:p>
        </p:txBody>
      </p:sp>
      <p:sp>
        <p:nvSpPr>
          <p:cNvPr id="19" name="Rectangle : coins arrondis 18">
            <a:extLst>
              <a:ext uri="{FF2B5EF4-FFF2-40B4-BE49-F238E27FC236}">
                <a16:creationId xmlns:a16="http://schemas.microsoft.com/office/drawing/2014/main" id="{37586AB1-8011-EB63-66BC-26542CABBEAE}"/>
              </a:ext>
            </a:extLst>
          </p:cNvPr>
          <p:cNvSpPr/>
          <p:nvPr/>
        </p:nvSpPr>
        <p:spPr>
          <a:xfrm>
            <a:off x="280424" y="5085184"/>
            <a:ext cx="2055542" cy="93610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Serveur de datas</a:t>
            </a:r>
          </a:p>
          <a:p>
            <a:pPr algn="ctr"/>
            <a:r>
              <a:rPr lang="fr-FR" dirty="0"/>
              <a:t>SQL, …</a:t>
            </a:r>
          </a:p>
        </p:txBody>
      </p:sp>
      <p:cxnSp>
        <p:nvCxnSpPr>
          <p:cNvPr id="20" name="Connecteur droit avec flèche 19">
            <a:extLst>
              <a:ext uri="{FF2B5EF4-FFF2-40B4-BE49-F238E27FC236}">
                <a16:creationId xmlns:a16="http://schemas.microsoft.com/office/drawing/2014/main" id="{64EB7049-F3D7-8B58-02DD-91E733CA4E45}"/>
              </a:ext>
            </a:extLst>
          </p:cNvPr>
          <p:cNvCxnSpPr>
            <a:cxnSpLocks/>
            <a:endCxn id="5" idx="2"/>
          </p:cNvCxnSpPr>
          <p:nvPr/>
        </p:nvCxnSpPr>
        <p:spPr>
          <a:xfrm flipV="1">
            <a:off x="2314533" y="2314993"/>
            <a:ext cx="894669" cy="177903"/>
          </a:xfrm>
          <a:prstGeom prst="straightConnector1">
            <a:avLst/>
          </a:prstGeom>
          <a:ln w="76200">
            <a:solidFill>
              <a:srgbClr val="00B050"/>
            </a:solidFill>
            <a:tailEnd type="triangle"/>
          </a:ln>
        </p:spPr>
        <p:style>
          <a:lnRef idx="1">
            <a:schemeClr val="accent2"/>
          </a:lnRef>
          <a:fillRef idx="0">
            <a:schemeClr val="accent2"/>
          </a:fillRef>
          <a:effectRef idx="0">
            <a:schemeClr val="accent2"/>
          </a:effectRef>
          <a:fontRef idx="minor">
            <a:schemeClr val="tx1"/>
          </a:fontRef>
        </p:style>
      </p:cxnSp>
      <p:cxnSp>
        <p:nvCxnSpPr>
          <p:cNvPr id="8" name="Connecteur droit avec flèche 7">
            <a:extLst>
              <a:ext uri="{FF2B5EF4-FFF2-40B4-BE49-F238E27FC236}">
                <a16:creationId xmlns:a16="http://schemas.microsoft.com/office/drawing/2014/main" id="{651E85FA-9084-2092-82A5-39F6B1A5CBDC}"/>
              </a:ext>
            </a:extLst>
          </p:cNvPr>
          <p:cNvCxnSpPr>
            <a:cxnSpLocks/>
          </p:cNvCxnSpPr>
          <p:nvPr/>
        </p:nvCxnSpPr>
        <p:spPr>
          <a:xfrm flipH="1">
            <a:off x="2314533" y="1893949"/>
            <a:ext cx="976265" cy="166899"/>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cxnSp>
        <p:nvCxnSpPr>
          <p:cNvPr id="24" name="Connecteur droit avec flèche 23">
            <a:extLst>
              <a:ext uri="{FF2B5EF4-FFF2-40B4-BE49-F238E27FC236}">
                <a16:creationId xmlns:a16="http://schemas.microsoft.com/office/drawing/2014/main" id="{34B59459-D1B6-7850-BDA8-8F97615F9197}"/>
              </a:ext>
            </a:extLst>
          </p:cNvPr>
          <p:cNvCxnSpPr>
            <a:cxnSpLocks/>
          </p:cNvCxnSpPr>
          <p:nvPr/>
        </p:nvCxnSpPr>
        <p:spPr>
          <a:xfrm>
            <a:off x="4788024" y="2692919"/>
            <a:ext cx="1038807" cy="520057"/>
          </a:xfrm>
          <a:prstGeom prst="straightConnector1">
            <a:avLst/>
          </a:prstGeom>
          <a:ln w="76200">
            <a:solidFill>
              <a:srgbClr val="00B050"/>
            </a:solidFill>
            <a:tailEnd type="triangle"/>
          </a:ln>
        </p:spPr>
        <p:style>
          <a:lnRef idx="1">
            <a:schemeClr val="accent2"/>
          </a:lnRef>
          <a:fillRef idx="0">
            <a:schemeClr val="accent2"/>
          </a:fillRef>
          <a:effectRef idx="0">
            <a:schemeClr val="accent2"/>
          </a:effectRef>
          <a:fontRef idx="minor">
            <a:schemeClr val="tx1"/>
          </a:fontRef>
        </p:style>
      </p:cxnSp>
      <p:sp>
        <p:nvSpPr>
          <p:cNvPr id="27" name="Flèche : bas 26">
            <a:extLst>
              <a:ext uri="{FF2B5EF4-FFF2-40B4-BE49-F238E27FC236}">
                <a16:creationId xmlns:a16="http://schemas.microsoft.com/office/drawing/2014/main" id="{3FAAF3AD-D4FA-4F43-7DA9-3357E76D85C0}"/>
              </a:ext>
            </a:extLst>
          </p:cNvPr>
          <p:cNvSpPr/>
          <p:nvPr/>
        </p:nvSpPr>
        <p:spPr>
          <a:xfrm>
            <a:off x="467544" y="2780928"/>
            <a:ext cx="504056" cy="566758"/>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p>
        </p:txBody>
      </p:sp>
      <p:sp>
        <p:nvSpPr>
          <p:cNvPr id="28" name="Flèche : bas 27">
            <a:extLst>
              <a:ext uri="{FF2B5EF4-FFF2-40B4-BE49-F238E27FC236}">
                <a16:creationId xmlns:a16="http://schemas.microsoft.com/office/drawing/2014/main" id="{A3616B6A-1DEE-AC15-CDE5-BEE8ED7E3948}"/>
              </a:ext>
            </a:extLst>
          </p:cNvPr>
          <p:cNvSpPr/>
          <p:nvPr/>
        </p:nvSpPr>
        <p:spPr>
          <a:xfrm>
            <a:off x="467544" y="4446418"/>
            <a:ext cx="504056" cy="566758"/>
          </a:xfrm>
          <a:prstGeom prst="down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fr-FR" dirty="0"/>
          </a:p>
        </p:txBody>
      </p:sp>
      <p:sp>
        <p:nvSpPr>
          <p:cNvPr id="29" name="Flèche : bas 28">
            <a:extLst>
              <a:ext uri="{FF2B5EF4-FFF2-40B4-BE49-F238E27FC236}">
                <a16:creationId xmlns:a16="http://schemas.microsoft.com/office/drawing/2014/main" id="{A815965C-E549-B503-BA0B-85092D1F41D2}"/>
              </a:ext>
            </a:extLst>
          </p:cNvPr>
          <p:cNvSpPr/>
          <p:nvPr/>
        </p:nvSpPr>
        <p:spPr>
          <a:xfrm rot="10800000">
            <a:off x="1547664" y="4437112"/>
            <a:ext cx="504056" cy="566758"/>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fr-FR" dirty="0"/>
          </a:p>
        </p:txBody>
      </p:sp>
      <p:sp>
        <p:nvSpPr>
          <p:cNvPr id="30" name="Flèche : bas 29">
            <a:extLst>
              <a:ext uri="{FF2B5EF4-FFF2-40B4-BE49-F238E27FC236}">
                <a16:creationId xmlns:a16="http://schemas.microsoft.com/office/drawing/2014/main" id="{4C07C250-9218-44F1-4A83-9448F30FA63D}"/>
              </a:ext>
            </a:extLst>
          </p:cNvPr>
          <p:cNvSpPr/>
          <p:nvPr/>
        </p:nvSpPr>
        <p:spPr>
          <a:xfrm rot="10800000">
            <a:off x="1547664" y="2708920"/>
            <a:ext cx="504056" cy="566758"/>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8975483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D75E0-7149-5220-C166-55BCE74FD650}"/>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856E46E1-A218-A4DF-D494-C4927AC76FD2}"/>
              </a:ext>
            </a:extLst>
          </p:cNvPr>
          <p:cNvSpPr>
            <a:spLocks noGrp="1"/>
          </p:cNvSpPr>
          <p:nvPr>
            <p:ph type="title"/>
          </p:nvPr>
        </p:nvSpPr>
        <p:spPr/>
        <p:txBody>
          <a:bodyPr/>
          <a:lstStyle/>
          <a:p>
            <a:r>
              <a:rPr lang="fr-FR" dirty="0"/>
              <a:t>Architecture du WEB</a:t>
            </a:r>
          </a:p>
        </p:txBody>
      </p:sp>
      <p:sp>
        <p:nvSpPr>
          <p:cNvPr id="5" name="Espace réservé du contenu 4">
            <a:extLst>
              <a:ext uri="{FF2B5EF4-FFF2-40B4-BE49-F238E27FC236}">
                <a16:creationId xmlns:a16="http://schemas.microsoft.com/office/drawing/2014/main" id="{5FD724B6-9381-37C2-3C96-A866128622CA}"/>
              </a:ext>
            </a:extLst>
          </p:cNvPr>
          <p:cNvSpPr>
            <a:spLocks noGrp="1"/>
          </p:cNvSpPr>
          <p:nvPr>
            <p:ph idx="1"/>
          </p:nvPr>
        </p:nvSpPr>
        <p:spPr/>
        <p:txBody>
          <a:bodyPr>
            <a:normAutofit lnSpcReduction="10000"/>
          </a:bodyPr>
          <a:lstStyle/>
          <a:p>
            <a:r>
              <a:rPr lang="fr-FR" dirty="0"/>
              <a:t>Le web se décompose en 2 ensembles:</a:t>
            </a:r>
          </a:p>
          <a:p>
            <a:pPr lvl="1"/>
            <a:r>
              <a:rPr lang="fr-FR" dirty="0"/>
              <a:t>Serveur</a:t>
            </a:r>
          </a:p>
          <a:p>
            <a:pPr lvl="2"/>
            <a:r>
              <a:rPr lang="fr-FR" dirty="0"/>
              <a:t>Répond à une adresse URL</a:t>
            </a:r>
          </a:p>
          <a:p>
            <a:pPr lvl="4"/>
            <a:r>
              <a:rPr lang="fr-FR" dirty="0"/>
              <a:t>Apache, IIS, Node, …</a:t>
            </a:r>
          </a:p>
          <a:p>
            <a:pPr lvl="2"/>
            <a:r>
              <a:rPr lang="fr-FR" dirty="0"/>
              <a:t>Assemble des données depuis une base de données</a:t>
            </a:r>
          </a:p>
          <a:p>
            <a:pPr lvl="4"/>
            <a:r>
              <a:rPr lang="fr-FR" dirty="0"/>
              <a:t>Sql, …</a:t>
            </a:r>
          </a:p>
          <a:p>
            <a:pPr lvl="2"/>
            <a:r>
              <a:rPr lang="fr-FR" dirty="0"/>
              <a:t>Met en œuvre du code en fonction des demandes des clients de navigation.</a:t>
            </a:r>
          </a:p>
          <a:p>
            <a:pPr lvl="3"/>
            <a:r>
              <a:rPr lang="fr-FR" dirty="0"/>
              <a:t>Pages complètes</a:t>
            </a:r>
          </a:p>
          <a:p>
            <a:pPr lvl="3"/>
            <a:r>
              <a:rPr lang="fr-FR" dirty="0"/>
              <a:t>Segments de pages</a:t>
            </a:r>
          </a:p>
          <a:p>
            <a:pPr lvl="3"/>
            <a:r>
              <a:rPr lang="fr-FR" dirty="0"/>
              <a:t>Datas (json/xml)</a:t>
            </a:r>
          </a:p>
          <a:p>
            <a:pPr lvl="4"/>
            <a:r>
              <a:rPr lang="fr-FR" dirty="0"/>
              <a:t>Langage de dynamisation (PHP, ASP, NODE,…)</a:t>
            </a:r>
          </a:p>
          <a:p>
            <a:pPr lvl="2"/>
            <a:r>
              <a:rPr lang="fr-FR" dirty="0"/>
              <a:t>Diffuse le contenu</a:t>
            </a:r>
          </a:p>
          <a:p>
            <a:pPr lvl="4"/>
            <a:r>
              <a:rPr lang="fr-FR" dirty="0"/>
              <a:t>Apache, Node, IIS,…</a:t>
            </a:r>
          </a:p>
        </p:txBody>
      </p:sp>
    </p:spTree>
    <p:extLst>
      <p:ext uri="{BB962C8B-B14F-4D97-AF65-F5344CB8AC3E}">
        <p14:creationId xmlns:p14="http://schemas.microsoft.com/office/powerpoint/2010/main" val="1921977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D758BD-3183-FF92-8990-5678A4A0CF77}"/>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63DD9C2F-7812-1175-963B-6224BE56203C}"/>
              </a:ext>
            </a:extLst>
          </p:cNvPr>
          <p:cNvSpPr>
            <a:spLocks noGrp="1"/>
          </p:cNvSpPr>
          <p:nvPr>
            <p:ph type="title"/>
          </p:nvPr>
        </p:nvSpPr>
        <p:spPr/>
        <p:txBody>
          <a:bodyPr/>
          <a:lstStyle/>
          <a:p>
            <a:r>
              <a:rPr lang="fr-FR" dirty="0"/>
              <a:t>Architecture du WEB</a:t>
            </a:r>
          </a:p>
        </p:txBody>
      </p:sp>
      <p:sp>
        <p:nvSpPr>
          <p:cNvPr id="5" name="Espace réservé du contenu 4">
            <a:extLst>
              <a:ext uri="{FF2B5EF4-FFF2-40B4-BE49-F238E27FC236}">
                <a16:creationId xmlns:a16="http://schemas.microsoft.com/office/drawing/2014/main" id="{CCBCA16D-6D5D-7C9C-C19E-6EECBC80403B}"/>
              </a:ext>
            </a:extLst>
          </p:cNvPr>
          <p:cNvSpPr>
            <a:spLocks noGrp="1"/>
          </p:cNvSpPr>
          <p:nvPr>
            <p:ph idx="1"/>
          </p:nvPr>
        </p:nvSpPr>
        <p:spPr/>
        <p:txBody>
          <a:bodyPr/>
          <a:lstStyle/>
          <a:p>
            <a:r>
              <a:rPr lang="fr-FR" dirty="0"/>
              <a:t>Le web se décompose en 2 ensembles:</a:t>
            </a:r>
          </a:p>
          <a:p>
            <a:pPr lvl="1"/>
            <a:r>
              <a:rPr lang="fr-FR" dirty="0"/>
              <a:t>Client / navigateur</a:t>
            </a:r>
          </a:p>
          <a:p>
            <a:pPr lvl="2"/>
            <a:r>
              <a:rPr lang="fr-FR" dirty="0"/>
              <a:t>Effectue des demandes vers un serveur</a:t>
            </a:r>
          </a:p>
          <a:p>
            <a:pPr lvl="3"/>
            <a:r>
              <a:rPr lang="fr-FR" dirty="0"/>
              <a:t>Requête http</a:t>
            </a:r>
          </a:p>
          <a:p>
            <a:pPr lvl="2"/>
            <a:endParaRPr lang="fr-FR" dirty="0"/>
          </a:p>
          <a:p>
            <a:pPr lvl="2"/>
            <a:r>
              <a:rPr lang="fr-FR" dirty="0"/>
              <a:t>Met en œuvre visuellement les structures</a:t>
            </a:r>
          </a:p>
          <a:p>
            <a:pPr lvl="3"/>
            <a:r>
              <a:rPr lang="fr-FR" dirty="0"/>
              <a:t>HTML / CSS</a:t>
            </a:r>
          </a:p>
          <a:p>
            <a:pPr lvl="2"/>
            <a:endParaRPr lang="fr-FR" dirty="0"/>
          </a:p>
          <a:p>
            <a:pPr lvl="2"/>
            <a:r>
              <a:rPr lang="fr-FR" dirty="0"/>
              <a:t>Exécute du Javascript pour manipuler la structure, gérer les events, …</a:t>
            </a:r>
          </a:p>
          <a:p>
            <a:pPr lvl="3"/>
            <a:r>
              <a:rPr lang="fr-FR" dirty="0"/>
              <a:t>ECMAScript 262 =&gt; Javascript</a:t>
            </a:r>
          </a:p>
        </p:txBody>
      </p:sp>
    </p:spTree>
    <p:extLst>
      <p:ext uri="{BB962C8B-B14F-4D97-AF65-F5344CB8AC3E}">
        <p14:creationId xmlns:p14="http://schemas.microsoft.com/office/powerpoint/2010/main" val="20984047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5670B2-C8E4-05EA-FB8B-F08A7750B9F0}"/>
              </a:ext>
            </a:extLst>
          </p:cNvPr>
          <p:cNvSpPr>
            <a:spLocks noGrp="1"/>
          </p:cNvSpPr>
          <p:nvPr>
            <p:ph type="title"/>
          </p:nvPr>
        </p:nvSpPr>
        <p:spPr/>
        <p:txBody>
          <a:bodyPr/>
          <a:lstStyle/>
          <a:p>
            <a:r>
              <a:rPr lang="fr-FR" dirty="0"/>
              <a:t>Navigateur et fonctionnement</a:t>
            </a:r>
          </a:p>
        </p:txBody>
      </p:sp>
      <p:sp>
        <p:nvSpPr>
          <p:cNvPr id="3" name="Espace réservé du contenu 2">
            <a:extLst>
              <a:ext uri="{FF2B5EF4-FFF2-40B4-BE49-F238E27FC236}">
                <a16:creationId xmlns:a16="http://schemas.microsoft.com/office/drawing/2014/main" id="{D0B8822A-E105-7266-7C77-349C8835EFBD}"/>
              </a:ext>
            </a:extLst>
          </p:cNvPr>
          <p:cNvSpPr>
            <a:spLocks noGrp="1"/>
          </p:cNvSpPr>
          <p:nvPr>
            <p:ph idx="1"/>
          </p:nvPr>
        </p:nvSpPr>
        <p:spPr/>
        <p:txBody>
          <a:bodyPr>
            <a:normAutofit fontScale="92500"/>
          </a:bodyPr>
          <a:lstStyle/>
          <a:p>
            <a:r>
              <a:rPr lang="fr-FR" sz="2400" dirty="0"/>
              <a:t>Le navigateur affiche le DOM avec des représentation par défaut pour chaque élément</a:t>
            </a:r>
          </a:p>
          <a:p>
            <a:pPr lvl="2"/>
            <a:r>
              <a:rPr lang="fr-FR" sz="1800" dirty="0"/>
              <a:t>Document Object Model (représentation)</a:t>
            </a:r>
          </a:p>
          <a:p>
            <a:endParaRPr lang="fr-FR" sz="2400" dirty="0"/>
          </a:p>
          <a:p>
            <a:r>
              <a:rPr lang="fr-FR" sz="2400" dirty="0"/>
              <a:t>Met en œuvre les propriétés css supplémentaire de chaque élément </a:t>
            </a:r>
          </a:p>
          <a:p>
            <a:endParaRPr lang="fr-FR" sz="2400" dirty="0"/>
          </a:p>
          <a:p>
            <a:r>
              <a:rPr lang="fr-FR" sz="2400" dirty="0"/>
              <a:t>Fournis un moteur JS (v8)</a:t>
            </a:r>
          </a:p>
          <a:p>
            <a:pPr marL="0" indent="0">
              <a:buNone/>
            </a:pPr>
            <a:r>
              <a:rPr lang="fr-FR" sz="2400" dirty="0"/>
              <a:t>permettant l’exécution de </a:t>
            </a:r>
          </a:p>
          <a:p>
            <a:pPr marL="0" indent="0">
              <a:buNone/>
            </a:pPr>
            <a:r>
              <a:rPr lang="fr-FR" sz="2400" dirty="0"/>
              <a:t>fonctions pour manipuler </a:t>
            </a:r>
          </a:p>
          <a:p>
            <a:pPr marL="0" indent="0">
              <a:buNone/>
            </a:pPr>
            <a:r>
              <a:rPr lang="fr-FR" sz="2400" dirty="0"/>
              <a:t>la structure DOM et gérer </a:t>
            </a:r>
          </a:p>
          <a:p>
            <a:pPr marL="0" indent="0">
              <a:buNone/>
            </a:pPr>
            <a:r>
              <a:rPr lang="fr-FR" sz="2400" dirty="0"/>
              <a:t>les évènements UI </a:t>
            </a:r>
          </a:p>
          <a:p>
            <a:pPr lvl="2"/>
            <a:r>
              <a:rPr lang="fr-FR" sz="1800" dirty="0"/>
              <a:t>DOM (fonctions)</a:t>
            </a:r>
          </a:p>
          <a:p>
            <a:pPr lvl="2"/>
            <a:r>
              <a:rPr lang="fr-FR" sz="1800" dirty="0"/>
              <a:t>DOM Events</a:t>
            </a:r>
          </a:p>
          <a:p>
            <a:pPr lvl="2"/>
            <a:r>
              <a:rPr lang="fr-FR" sz="1800" dirty="0"/>
              <a:t>Fonctions API de js (fetch, …)</a:t>
            </a:r>
          </a:p>
        </p:txBody>
      </p:sp>
      <p:pic>
        <p:nvPicPr>
          <p:cNvPr id="6" name="Image 5">
            <a:extLst>
              <a:ext uri="{FF2B5EF4-FFF2-40B4-BE49-F238E27FC236}">
                <a16:creationId xmlns:a16="http://schemas.microsoft.com/office/drawing/2014/main" id="{D79A431F-F941-1153-CD42-B99C0AD618EA}"/>
              </a:ext>
            </a:extLst>
          </p:cNvPr>
          <p:cNvPicPr>
            <a:picLocks noChangeAspect="1"/>
          </p:cNvPicPr>
          <p:nvPr/>
        </p:nvPicPr>
        <p:blipFill>
          <a:blip r:embed="rId2"/>
          <a:stretch>
            <a:fillRect/>
          </a:stretch>
        </p:blipFill>
        <p:spPr>
          <a:xfrm>
            <a:off x="4139952" y="3212976"/>
            <a:ext cx="4572000" cy="3076278"/>
          </a:xfrm>
          <a:prstGeom prst="rect">
            <a:avLst/>
          </a:prstGeom>
        </p:spPr>
      </p:pic>
    </p:spTree>
    <p:extLst>
      <p:ext uri="{BB962C8B-B14F-4D97-AF65-F5344CB8AC3E}">
        <p14:creationId xmlns:p14="http://schemas.microsoft.com/office/powerpoint/2010/main" val="930744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804943-3BB9-F55D-193A-5EF05DF5E507}"/>
              </a:ext>
            </a:extLst>
          </p:cNvPr>
          <p:cNvSpPr>
            <a:spLocks noGrp="1"/>
          </p:cNvSpPr>
          <p:nvPr>
            <p:ph type="title"/>
          </p:nvPr>
        </p:nvSpPr>
        <p:spPr/>
        <p:txBody>
          <a:bodyPr/>
          <a:lstStyle/>
          <a:p>
            <a:r>
              <a:rPr lang="fr-FR" dirty="0"/>
              <a:t>Protocole HTTP / HTTPS</a:t>
            </a:r>
          </a:p>
        </p:txBody>
      </p:sp>
      <p:sp>
        <p:nvSpPr>
          <p:cNvPr id="3" name="Espace réservé du contenu 2">
            <a:extLst>
              <a:ext uri="{FF2B5EF4-FFF2-40B4-BE49-F238E27FC236}">
                <a16:creationId xmlns:a16="http://schemas.microsoft.com/office/drawing/2014/main" id="{06B5B86E-2380-16E8-C297-42B831E01B95}"/>
              </a:ext>
            </a:extLst>
          </p:cNvPr>
          <p:cNvSpPr>
            <a:spLocks noGrp="1"/>
          </p:cNvSpPr>
          <p:nvPr>
            <p:ph idx="1"/>
          </p:nvPr>
        </p:nvSpPr>
        <p:spPr/>
        <p:txBody>
          <a:bodyPr>
            <a:normAutofit fontScale="92500"/>
          </a:bodyPr>
          <a:lstStyle/>
          <a:p>
            <a:r>
              <a:rPr lang="fr-FR" dirty="0"/>
              <a:t>Pour interagir avec les serveurs un protocole est utilisé :</a:t>
            </a:r>
          </a:p>
          <a:p>
            <a:pPr lvl="4"/>
            <a:r>
              <a:rPr lang="fr-FR" dirty="0"/>
              <a:t>Hyper Text Transport Protocol</a:t>
            </a:r>
          </a:p>
          <a:p>
            <a:pPr lvl="2"/>
            <a:endParaRPr lang="fr-FR" dirty="0"/>
          </a:p>
          <a:p>
            <a:pPr lvl="2"/>
            <a:r>
              <a:rPr lang="fr-FR" dirty="0"/>
              <a:t>Envoyé des requêtes</a:t>
            </a:r>
          </a:p>
          <a:p>
            <a:pPr lvl="2"/>
            <a:endParaRPr lang="fr-FR" dirty="0"/>
          </a:p>
          <a:p>
            <a:pPr lvl="2"/>
            <a:r>
              <a:rPr lang="fr-FR" dirty="0"/>
              <a:t>Recevoir les réponses</a:t>
            </a:r>
          </a:p>
          <a:p>
            <a:pPr lvl="2"/>
            <a:endParaRPr lang="fr-FR" dirty="0"/>
          </a:p>
          <a:p>
            <a:pPr lvl="2"/>
            <a:endParaRPr lang="fr-FR" dirty="0"/>
          </a:p>
          <a:p>
            <a:r>
              <a:rPr lang="fr-FR" dirty="0"/>
              <a:t>Il peut être surcharger d’un certificat pour garantir l’ intégrité du contenu et de son émetteur:</a:t>
            </a:r>
          </a:p>
          <a:p>
            <a:pPr lvl="2"/>
            <a:r>
              <a:rPr lang="fr-FR" dirty="0"/>
              <a:t>SSL =&gt; HTTPS</a:t>
            </a:r>
          </a:p>
          <a:p>
            <a:pPr lvl="2"/>
            <a:endParaRPr lang="fr-FR" dirty="0"/>
          </a:p>
        </p:txBody>
      </p:sp>
    </p:spTree>
    <p:extLst>
      <p:ext uri="{BB962C8B-B14F-4D97-AF65-F5344CB8AC3E}">
        <p14:creationId xmlns:p14="http://schemas.microsoft.com/office/powerpoint/2010/main" val="1438299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8255E-713C-35DA-CA07-CD472F1C800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24ED32-A72A-CF08-865F-012D32CCCD7D}"/>
              </a:ext>
            </a:extLst>
          </p:cNvPr>
          <p:cNvSpPr>
            <a:spLocks noGrp="1"/>
          </p:cNvSpPr>
          <p:nvPr>
            <p:ph type="title"/>
          </p:nvPr>
        </p:nvSpPr>
        <p:spPr/>
        <p:txBody>
          <a:bodyPr/>
          <a:lstStyle/>
          <a:p>
            <a:r>
              <a:rPr lang="fr-FR" dirty="0"/>
              <a:t>Protocole HTTP / HTTPS</a:t>
            </a:r>
          </a:p>
        </p:txBody>
      </p:sp>
      <p:sp>
        <p:nvSpPr>
          <p:cNvPr id="3" name="Espace réservé du contenu 2">
            <a:extLst>
              <a:ext uri="{FF2B5EF4-FFF2-40B4-BE49-F238E27FC236}">
                <a16:creationId xmlns:a16="http://schemas.microsoft.com/office/drawing/2014/main" id="{07FA9547-23EF-D3B1-FCB9-08344937FD5F}"/>
              </a:ext>
            </a:extLst>
          </p:cNvPr>
          <p:cNvSpPr>
            <a:spLocks noGrp="1"/>
          </p:cNvSpPr>
          <p:nvPr>
            <p:ph idx="1"/>
          </p:nvPr>
        </p:nvSpPr>
        <p:spPr/>
        <p:txBody>
          <a:bodyPr>
            <a:normAutofit lnSpcReduction="10000"/>
          </a:bodyPr>
          <a:lstStyle/>
          <a:p>
            <a:r>
              <a:rPr lang="fr-FR" dirty="0"/>
              <a:t>Exemple de paquet HTTP :</a:t>
            </a:r>
          </a:p>
          <a:p>
            <a:endParaRPr lang="fr-FR" dirty="0"/>
          </a:p>
          <a:p>
            <a:endParaRPr lang="fr-FR" dirty="0"/>
          </a:p>
          <a:p>
            <a:r>
              <a:rPr lang="fr-FR" dirty="0"/>
              <a:t>Composé de :</a:t>
            </a:r>
          </a:p>
          <a:p>
            <a:pPr lvl="2"/>
            <a:r>
              <a:rPr lang="fr-FR" dirty="0"/>
              <a:t>Version de HTTP</a:t>
            </a:r>
          </a:p>
          <a:p>
            <a:pPr lvl="3"/>
            <a:r>
              <a:rPr lang="fr-FR" dirty="0"/>
              <a:t>1.0, 1.1, 2.0</a:t>
            </a:r>
          </a:p>
          <a:p>
            <a:pPr lvl="2"/>
            <a:r>
              <a:rPr lang="fr-FR" dirty="0"/>
              <a:t>Liens vers la ressource</a:t>
            </a:r>
          </a:p>
          <a:p>
            <a:pPr lvl="2"/>
            <a:endParaRPr lang="fr-FR" dirty="0"/>
          </a:p>
          <a:p>
            <a:pPr lvl="2"/>
            <a:r>
              <a:rPr lang="fr-FR" dirty="0"/>
              <a:t>Méthode</a:t>
            </a:r>
          </a:p>
          <a:p>
            <a:pPr lvl="3"/>
            <a:r>
              <a:rPr lang="fr-FR" dirty="0"/>
              <a:t>GET, POST</a:t>
            </a:r>
          </a:p>
          <a:p>
            <a:pPr lvl="3"/>
            <a:r>
              <a:rPr lang="fr-FR" dirty="0"/>
              <a:t>PUT, PATCH, DELETE, OPTIONS ( API REST )</a:t>
            </a:r>
          </a:p>
          <a:p>
            <a:pPr lvl="3"/>
            <a:r>
              <a:rPr lang="fr-FR" dirty="0"/>
              <a:t>BREW, PROPFIND, WHEN </a:t>
            </a:r>
            <a:r>
              <a:rPr lang="fr-FR" sz="1300" dirty="0"/>
              <a:t>**pour </a:t>
            </a:r>
            <a:r>
              <a:rPr lang="en-US" sz="1300" i="1" dirty="0"/>
              <a:t>Hyper Text Coffee Pot Control Protocol + code HTTP 418</a:t>
            </a:r>
            <a:endParaRPr lang="en-US" dirty="0"/>
          </a:p>
        </p:txBody>
      </p:sp>
      <p:sp>
        <p:nvSpPr>
          <p:cNvPr id="7" name="ZoneTexte 6">
            <a:extLst>
              <a:ext uri="{FF2B5EF4-FFF2-40B4-BE49-F238E27FC236}">
                <a16:creationId xmlns:a16="http://schemas.microsoft.com/office/drawing/2014/main" id="{E5130AF9-4353-CFA8-3217-3D3ACAA86319}"/>
              </a:ext>
            </a:extLst>
          </p:cNvPr>
          <p:cNvSpPr txBox="1"/>
          <p:nvPr/>
        </p:nvSpPr>
        <p:spPr>
          <a:xfrm>
            <a:off x="2267744" y="1772816"/>
            <a:ext cx="3960440"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marL="457200" lvl="1" indent="0">
              <a:buNone/>
            </a:pPr>
            <a:r>
              <a:rPr lang="fr-FR" dirty="0"/>
              <a:t>HTTP1.0     /index.html    GET</a:t>
            </a:r>
          </a:p>
          <a:p>
            <a:pPr marL="457200" lvl="1" indent="0">
              <a:buNone/>
            </a:pPr>
            <a:r>
              <a:rPr lang="fr-FR" i="1" dirty="0"/>
              <a:t>Corps POST </a:t>
            </a:r>
            <a:r>
              <a:rPr lang="fr-FR" sz="1200" i="1" dirty="0"/>
              <a:t>*si nécessaire</a:t>
            </a:r>
            <a:endParaRPr lang="fr-FR" i="1" dirty="0"/>
          </a:p>
        </p:txBody>
      </p:sp>
    </p:spTree>
    <p:extLst>
      <p:ext uri="{BB962C8B-B14F-4D97-AF65-F5344CB8AC3E}">
        <p14:creationId xmlns:p14="http://schemas.microsoft.com/office/powerpoint/2010/main" val="7414467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CB4EFA-F723-1E1A-785D-535A8EE37C67}"/>
              </a:ext>
            </a:extLst>
          </p:cNvPr>
          <p:cNvSpPr>
            <a:spLocks noGrp="1"/>
          </p:cNvSpPr>
          <p:nvPr>
            <p:ph type="title"/>
          </p:nvPr>
        </p:nvSpPr>
        <p:spPr/>
        <p:txBody>
          <a:bodyPr/>
          <a:lstStyle/>
          <a:p>
            <a:r>
              <a:rPr lang="fr-FR" dirty="0"/>
              <a:t>Protocol HTTP / HTTPS</a:t>
            </a:r>
          </a:p>
        </p:txBody>
      </p:sp>
      <p:sp>
        <p:nvSpPr>
          <p:cNvPr id="3" name="Espace réservé du contenu 2">
            <a:extLst>
              <a:ext uri="{FF2B5EF4-FFF2-40B4-BE49-F238E27FC236}">
                <a16:creationId xmlns:a16="http://schemas.microsoft.com/office/drawing/2014/main" id="{4BA34434-F7B5-23D8-F5D4-965CFB1C7A45}"/>
              </a:ext>
            </a:extLst>
          </p:cNvPr>
          <p:cNvSpPr>
            <a:spLocks noGrp="1"/>
          </p:cNvSpPr>
          <p:nvPr>
            <p:ph idx="1"/>
          </p:nvPr>
        </p:nvSpPr>
        <p:spPr/>
        <p:txBody>
          <a:bodyPr>
            <a:normAutofit/>
          </a:bodyPr>
          <a:lstStyle/>
          <a:p>
            <a:r>
              <a:rPr lang="fr-FR" dirty="0"/>
              <a:t>Au delà du formalisme des demandes, il procure aussi dans les résultats de requêtes, un CODE HTTP de l’état de la réponse:</a:t>
            </a:r>
          </a:p>
          <a:p>
            <a:pPr lvl="1"/>
            <a:r>
              <a:rPr lang="fr-FR" sz="2000" dirty="0"/>
              <a:t>OK</a:t>
            </a:r>
          </a:p>
          <a:p>
            <a:pPr lvl="2"/>
            <a:r>
              <a:rPr lang="fr-FR" sz="1800" dirty="0">
                <a:solidFill>
                  <a:schemeClr val="accent3"/>
                </a:solidFill>
              </a:rPr>
              <a:t>2XX		(200)OK, (201)CREATED, …</a:t>
            </a:r>
          </a:p>
          <a:p>
            <a:pPr lvl="2"/>
            <a:r>
              <a:rPr lang="fr-FR" sz="1800" dirty="0">
                <a:solidFill>
                  <a:schemeClr val="accent3"/>
                </a:solidFill>
              </a:rPr>
              <a:t>3XX		(301) redirection temporaire,(302) définitif, …</a:t>
            </a:r>
          </a:p>
          <a:p>
            <a:pPr lvl="1"/>
            <a:r>
              <a:rPr lang="fr-FR" sz="2000" dirty="0"/>
              <a:t>ERREUR</a:t>
            </a:r>
          </a:p>
          <a:p>
            <a:pPr lvl="2"/>
            <a:r>
              <a:rPr lang="fr-FR" sz="1800" dirty="0">
                <a:solidFill>
                  <a:schemeClr val="accent2"/>
                </a:solidFill>
              </a:rPr>
              <a:t>4XX		(401) Unauthorized, (404) Not Found, …</a:t>
            </a:r>
          </a:p>
          <a:p>
            <a:pPr lvl="2"/>
            <a:r>
              <a:rPr lang="fr-FR" sz="1800" dirty="0">
                <a:solidFill>
                  <a:schemeClr val="accent2"/>
                </a:solidFill>
              </a:rPr>
              <a:t>5XX		(500) Internal Server Error, (501) Not implemented yet,… </a:t>
            </a:r>
          </a:p>
          <a:p>
            <a:pPr lvl="1"/>
            <a:endParaRPr lang="fr-FR" dirty="0"/>
          </a:p>
          <a:p>
            <a:r>
              <a:rPr lang="fr-FR" dirty="0"/>
              <a:t>Liste des codes exhaustifs selon la rfc :</a:t>
            </a:r>
          </a:p>
          <a:p>
            <a:pPr marL="0" indent="0" algn="ctr">
              <a:buNone/>
            </a:pPr>
            <a:r>
              <a:rPr lang="fr-FR" sz="2800" u="sng" dirty="0">
                <a:solidFill>
                  <a:schemeClr val="tx2"/>
                </a:solidFill>
              </a:rPr>
              <a:t>https://fr.wikipedia.org/wiki/Liste_des_codes_HTTP</a:t>
            </a:r>
          </a:p>
        </p:txBody>
      </p:sp>
    </p:spTree>
    <p:extLst>
      <p:ext uri="{BB962C8B-B14F-4D97-AF65-F5344CB8AC3E}">
        <p14:creationId xmlns:p14="http://schemas.microsoft.com/office/powerpoint/2010/main" val="2532176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4C2E10-5459-04B6-AAEE-9B34EE0E8E80}"/>
              </a:ext>
            </a:extLst>
          </p:cNvPr>
          <p:cNvSpPr>
            <a:spLocks noGrp="1"/>
          </p:cNvSpPr>
          <p:nvPr>
            <p:ph type="title"/>
          </p:nvPr>
        </p:nvSpPr>
        <p:spPr/>
        <p:txBody>
          <a:bodyPr/>
          <a:lstStyle/>
          <a:p>
            <a:r>
              <a:rPr lang="fr-FR" dirty="0"/>
              <a:t>Les outils de développement</a:t>
            </a:r>
          </a:p>
        </p:txBody>
      </p:sp>
      <p:sp>
        <p:nvSpPr>
          <p:cNvPr id="3" name="Espace réservé du contenu 2">
            <a:extLst>
              <a:ext uri="{FF2B5EF4-FFF2-40B4-BE49-F238E27FC236}">
                <a16:creationId xmlns:a16="http://schemas.microsoft.com/office/drawing/2014/main" id="{7C27E452-4F7D-1746-2A2A-7B0A69ADB2BF}"/>
              </a:ext>
            </a:extLst>
          </p:cNvPr>
          <p:cNvSpPr>
            <a:spLocks noGrp="1"/>
          </p:cNvSpPr>
          <p:nvPr>
            <p:ph idx="1"/>
          </p:nvPr>
        </p:nvSpPr>
        <p:spPr/>
        <p:txBody>
          <a:bodyPr/>
          <a:lstStyle/>
          <a:p>
            <a:r>
              <a:rPr lang="fr-FR" dirty="0"/>
              <a:t>Editeur de texte :</a:t>
            </a:r>
          </a:p>
          <a:p>
            <a:pPr lvl="1"/>
            <a:r>
              <a:rPr lang="fr-FR" dirty="0"/>
              <a:t>Editeur pauvre</a:t>
            </a:r>
          </a:p>
          <a:p>
            <a:pPr lvl="2"/>
            <a:r>
              <a:rPr lang="fr-FR" dirty="0"/>
              <a:t>Notepad / Vi / …</a:t>
            </a:r>
          </a:p>
          <a:p>
            <a:pPr lvl="2"/>
            <a:r>
              <a:rPr lang="fr-FR" dirty="0"/>
              <a:t>Notepad++, …</a:t>
            </a:r>
          </a:p>
          <a:p>
            <a:pPr lvl="2"/>
            <a:endParaRPr lang="fr-FR" dirty="0"/>
          </a:p>
          <a:p>
            <a:pPr lvl="1"/>
            <a:r>
              <a:rPr lang="fr-FR" dirty="0"/>
              <a:t>Editeur Riche</a:t>
            </a:r>
          </a:p>
          <a:p>
            <a:pPr lvl="2"/>
            <a:r>
              <a:rPr lang="fr-FR" dirty="0"/>
              <a:t>Vs code</a:t>
            </a:r>
          </a:p>
          <a:p>
            <a:pPr lvl="3"/>
            <a:r>
              <a:rPr lang="fr-FR" dirty="0"/>
              <a:t>Plugins</a:t>
            </a:r>
          </a:p>
          <a:p>
            <a:pPr lvl="3"/>
            <a:r>
              <a:rPr lang="fr-FR" dirty="0"/>
              <a:t>Snippets</a:t>
            </a:r>
          </a:p>
          <a:p>
            <a:pPr lvl="3"/>
            <a:r>
              <a:rPr lang="fr-FR" dirty="0"/>
              <a:t>WYSIWYG</a:t>
            </a:r>
          </a:p>
          <a:p>
            <a:pPr lvl="3"/>
            <a:r>
              <a:rPr lang="fr-FR" dirty="0"/>
              <a:t>Complétion</a:t>
            </a:r>
          </a:p>
          <a:p>
            <a:pPr lvl="3"/>
            <a:r>
              <a:rPr lang="fr-FR" dirty="0"/>
              <a:t>GIT, …</a:t>
            </a:r>
          </a:p>
        </p:txBody>
      </p:sp>
      <p:pic>
        <p:nvPicPr>
          <p:cNvPr id="5" name="Image 4">
            <a:extLst>
              <a:ext uri="{FF2B5EF4-FFF2-40B4-BE49-F238E27FC236}">
                <a16:creationId xmlns:a16="http://schemas.microsoft.com/office/drawing/2014/main" id="{C8EF2660-6759-5528-F7F2-D0E0A855EFD9}"/>
              </a:ext>
            </a:extLst>
          </p:cNvPr>
          <p:cNvPicPr>
            <a:picLocks noChangeAspect="1"/>
          </p:cNvPicPr>
          <p:nvPr/>
        </p:nvPicPr>
        <p:blipFill>
          <a:blip r:embed="rId2"/>
          <a:stretch>
            <a:fillRect/>
          </a:stretch>
        </p:blipFill>
        <p:spPr>
          <a:xfrm>
            <a:off x="3784011" y="2097782"/>
            <a:ext cx="829595" cy="827162"/>
          </a:xfrm>
          <a:prstGeom prst="rect">
            <a:avLst/>
          </a:prstGeom>
        </p:spPr>
      </p:pic>
      <p:pic>
        <p:nvPicPr>
          <p:cNvPr id="9" name="Image 8">
            <a:extLst>
              <a:ext uri="{FF2B5EF4-FFF2-40B4-BE49-F238E27FC236}">
                <a16:creationId xmlns:a16="http://schemas.microsoft.com/office/drawing/2014/main" id="{2EA12067-F48E-0F0B-1F4C-401D066ED531}"/>
              </a:ext>
            </a:extLst>
          </p:cNvPr>
          <p:cNvPicPr>
            <a:picLocks noChangeAspect="1"/>
          </p:cNvPicPr>
          <p:nvPr/>
        </p:nvPicPr>
        <p:blipFill>
          <a:blip r:embed="rId3"/>
          <a:stretch>
            <a:fillRect/>
          </a:stretch>
        </p:blipFill>
        <p:spPr>
          <a:xfrm>
            <a:off x="4355976" y="3139258"/>
            <a:ext cx="4374728" cy="3110159"/>
          </a:xfrm>
          <a:prstGeom prst="rect">
            <a:avLst/>
          </a:prstGeom>
        </p:spPr>
      </p:pic>
      <p:pic>
        <p:nvPicPr>
          <p:cNvPr id="7" name="Image 6">
            <a:extLst>
              <a:ext uri="{FF2B5EF4-FFF2-40B4-BE49-F238E27FC236}">
                <a16:creationId xmlns:a16="http://schemas.microsoft.com/office/drawing/2014/main" id="{4C3B2899-0E98-CEC0-EC68-E54E475C91F7}"/>
              </a:ext>
            </a:extLst>
          </p:cNvPr>
          <p:cNvPicPr>
            <a:picLocks noChangeAspect="1"/>
          </p:cNvPicPr>
          <p:nvPr/>
        </p:nvPicPr>
        <p:blipFill>
          <a:blip r:embed="rId4"/>
          <a:stretch>
            <a:fillRect/>
          </a:stretch>
        </p:blipFill>
        <p:spPr>
          <a:xfrm>
            <a:off x="3413709" y="4365104"/>
            <a:ext cx="1570198" cy="1584176"/>
          </a:xfrm>
          <a:prstGeom prst="rect">
            <a:avLst/>
          </a:prstGeom>
        </p:spPr>
      </p:pic>
    </p:spTree>
    <p:extLst>
      <p:ext uri="{BB962C8B-B14F-4D97-AF65-F5344CB8AC3E}">
        <p14:creationId xmlns:p14="http://schemas.microsoft.com/office/powerpoint/2010/main" val="1920019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D66B14-931A-7C9A-0806-16CA7CD7E3DF}"/>
              </a:ext>
            </a:extLst>
          </p:cNvPr>
          <p:cNvSpPr>
            <a:spLocks noGrp="1"/>
          </p:cNvSpPr>
          <p:nvPr>
            <p:ph type="title"/>
          </p:nvPr>
        </p:nvSpPr>
        <p:spPr/>
        <p:txBody>
          <a:bodyPr/>
          <a:lstStyle/>
          <a:p>
            <a:r>
              <a:rPr lang="fr-FR" dirty="0"/>
              <a:t>Le Serveur de dev</a:t>
            </a:r>
          </a:p>
        </p:txBody>
      </p:sp>
      <p:sp>
        <p:nvSpPr>
          <p:cNvPr id="3" name="Espace réservé du contenu 2">
            <a:extLst>
              <a:ext uri="{FF2B5EF4-FFF2-40B4-BE49-F238E27FC236}">
                <a16:creationId xmlns:a16="http://schemas.microsoft.com/office/drawing/2014/main" id="{89FD9025-068F-0F67-2A52-749A934248C1}"/>
              </a:ext>
            </a:extLst>
          </p:cNvPr>
          <p:cNvSpPr>
            <a:spLocks noGrp="1"/>
          </p:cNvSpPr>
          <p:nvPr>
            <p:ph idx="1"/>
          </p:nvPr>
        </p:nvSpPr>
        <p:spPr/>
        <p:txBody>
          <a:bodyPr/>
          <a:lstStyle/>
          <a:p>
            <a:r>
              <a:rPr lang="fr-FR" dirty="0"/>
              <a:t>Plusieurs possibilités :</a:t>
            </a:r>
          </a:p>
          <a:p>
            <a:pPr lvl="2"/>
            <a:endParaRPr lang="fr-FR" dirty="0"/>
          </a:p>
          <a:p>
            <a:pPr lvl="2"/>
            <a:r>
              <a:rPr lang="fr-FR" dirty="0"/>
              <a:t>Pour une appli FULL js seul un serveur type Apache, Nginx, IIS, …,  est nécessaire</a:t>
            </a:r>
          </a:p>
          <a:p>
            <a:pPr marL="914400" lvl="2" indent="0">
              <a:buNone/>
            </a:pPr>
            <a:endParaRPr lang="fr-FR" dirty="0"/>
          </a:p>
          <a:p>
            <a:pPr lvl="2"/>
            <a:r>
              <a:rPr lang="fr-FR" dirty="0"/>
              <a:t>Node et Npm quand a lui :</a:t>
            </a:r>
          </a:p>
          <a:p>
            <a:pPr lvl="3"/>
            <a:r>
              <a:rPr lang="fr-FR" dirty="0"/>
              <a:t>Il fournit un gestionnaire de dépendance pour les paquets FRONT (bootstrap,…)</a:t>
            </a:r>
          </a:p>
          <a:p>
            <a:pPr lvl="3"/>
            <a:r>
              <a:rPr lang="fr-FR" dirty="0"/>
              <a:t>Un paquet serveur de fichier : lite-serveur</a:t>
            </a:r>
          </a:p>
          <a:p>
            <a:pPr lvl="3"/>
            <a:r>
              <a:rPr lang="fr-FR" dirty="0"/>
              <a:t>Un </a:t>
            </a:r>
            <a:r>
              <a:rPr lang="fr-FR" i="1" dirty="0"/>
              <a:t>mockeur</a:t>
            </a:r>
            <a:r>
              <a:rPr lang="fr-FR" dirty="0"/>
              <a:t> d API REST : json-server</a:t>
            </a:r>
          </a:p>
          <a:p>
            <a:pPr lvl="3"/>
            <a:r>
              <a:rPr lang="fr-FR" dirty="0"/>
              <a:t>Des outils de </a:t>
            </a:r>
            <a:r>
              <a:rPr lang="fr-FR" i="1" dirty="0"/>
              <a:t>lintage</a:t>
            </a:r>
            <a:r>
              <a:rPr lang="fr-FR" dirty="0"/>
              <a:t> (analyse de code </a:t>
            </a:r>
          </a:p>
          <a:p>
            <a:pPr marL="1371600" lvl="3" indent="0">
              <a:buNone/>
            </a:pPr>
            <a:r>
              <a:rPr lang="fr-FR" dirty="0"/>
              <a:t>configurable), </a:t>
            </a:r>
            <a:r>
              <a:rPr lang="fr-FR" i="1" dirty="0"/>
              <a:t>prettier</a:t>
            </a:r>
            <a:r>
              <a:rPr lang="fr-FR" dirty="0"/>
              <a:t> configurable, …</a:t>
            </a:r>
          </a:p>
        </p:txBody>
      </p:sp>
      <p:pic>
        <p:nvPicPr>
          <p:cNvPr id="4" name="Image 3">
            <a:extLst>
              <a:ext uri="{FF2B5EF4-FFF2-40B4-BE49-F238E27FC236}">
                <a16:creationId xmlns:a16="http://schemas.microsoft.com/office/drawing/2014/main" id="{F0F6500F-58C2-2D2A-9FEE-8E38B4B918C8}"/>
              </a:ext>
            </a:extLst>
          </p:cNvPr>
          <p:cNvPicPr>
            <a:picLocks noChangeAspect="1"/>
          </p:cNvPicPr>
          <p:nvPr/>
        </p:nvPicPr>
        <p:blipFill>
          <a:blip r:embed="rId2"/>
          <a:stretch>
            <a:fillRect/>
          </a:stretch>
        </p:blipFill>
        <p:spPr>
          <a:xfrm>
            <a:off x="7236296" y="2520483"/>
            <a:ext cx="829595" cy="827162"/>
          </a:xfrm>
          <a:prstGeom prst="rect">
            <a:avLst/>
          </a:prstGeom>
        </p:spPr>
      </p:pic>
      <p:pic>
        <p:nvPicPr>
          <p:cNvPr id="5" name="Image 4">
            <a:extLst>
              <a:ext uri="{FF2B5EF4-FFF2-40B4-BE49-F238E27FC236}">
                <a16:creationId xmlns:a16="http://schemas.microsoft.com/office/drawing/2014/main" id="{EFA537A0-1F1C-362B-1545-B93EEAB74EE2}"/>
              </a:ext>
            </a:extLst>
          </p:cNvPr>
          <p:cNvPicPr>
            <a:picLocks noChangeAspect="1"/>
          </p:cNvPicPr>
          <p:nvPr/>
        </p:nvPicPr>
        <p:blipFill>
          <a:blip r:embed="rId3"/>
          <a:stretch>
            <a:fillRect/>
          </a:stretch>
        </p:blipFill>
        <p:spPr>
          <a:xfrm>
            <a:off x="6732240" y="4725144"/>
            <a:ext cx="1570198" cy="1584176"/>
          </a:xfrm>
          <a:prstGeom prst="rect">
            <a:avLst/>
          </a:prstGeom>
        </p:spPr>
      </p:pic>
    </p:spTree>
    <p:extLst>
      <p:ext uri="{BB962C8B-B14F-4D97-AF65-F5344CB8AC3E}">
        <p14:creationId xmlns:p14="http://schemas.microsoft.com/office/powerpoint/2010/main" val="20377868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Node.js &amp; npm </a:t>
            </a:r>
          </a:p>
        </p:txBody>
      </p:sp>
      <p:sp>
        <p:nvSpPr>
          <p:cNvPr id="2" name="Espace réservé du contenu 1"/>
          <p:cNvSpPr>
            <a:spLocks noGrp="1"/>
          </p:cNvSpPr>
          <p:nvPr>
            <p:ph idx="1"/>
          </p:nvPr>
        </p:nvSpPr>
        <p:spPr>
          <a:prstGeom prst="rect">
            <a:avLst/>
          </a:prstGeom>
        </p:spPr>
        <p:txBody>
          <a:bodyPr>
            <a:normAutofit fontScale="92500" lnSpcReduction="10000"/>
          </a:bodyPr>
          <a:lstStyle/>
          <a:p>
            <a:pPr>
              <a:buNone/>
            </a:pPr>
            <a:endParaRPr lang="fr-FR" dirty="0"/>
          </a:p>
          <a:p>
            <a:r>
              <a:rPr lang="fr-FR" dirty="0"/>
              <a:t>Node</a:t>
            </a:r>
          </a:p>
          <a:p>
            <a:pPr lvl="1"/>
            <a:r>
              <a:rPr lang="fr-FR" dirty="0"/>
              <a:t>Exécution de code JS coté serveur</a:t>
            </a:r>
          </a:p>
          <a:p>
            <a:pPr lvl="2"/>
            <a:r>
              <a:rPr lang="fr-FR" dirty="0"/>
              <a:t>Application</a:t>
            </a:r>
          </a:p>
          <a:p>
            <a:pPr lvl="2"/>
            <a:r>
              <a:rPr lang="fr-FR" dirty="0"/>
              <a:t>Scripting, …</a:t>
            </a:r>
          </a:p>
          <a:p>
            <a:pPr lvl="1"/>
            <a:r>
              <a:rPr lang="fr-FR" dirty="0"/>
              <a:t>Lot d’applications existant</a:t>
            </a:r>
          </a:p>
          <a:p>
            <a:pPr lvl="1"/>
            <a:r>
              <a:rPr lang="fr-FR" dirty="0"/>
              <a:t>En ligne de commande</a:t>
            </a:r>
          </a:p>
          <a:p>
            <a:endParaRPr lang="fr-FR" dirty="0"/>
          </a:p>
          <a:p>
            <a:r>
              <a:rPr lang="fr-FR" dirty="0"/>
              <a:t>Npm</a:t>
            </a:r>
          </a:p>
          <a:p>
            <a:pPr lvl="1"/>
            <a:r>
              <a:rPr lang="fr-FR" dirty="0"/>
              <a:t>Téléchargement de modules js</a:t>
            </a:r>
          </a:p>
          <a:p>
            <a:pPr lvl="1"/>
            <a:r>
              <a:rPr lang="fr-FR" dirty="0"/>
              <a:t>Gestion des dépendances </a:t>
            </a:r>
          </a:p>
          <a:p>
            <a:pPr lvl="1"/>
            <a:endParaRPr lang="fr-FR" dirty="0"/>
          </a:p>
        </p:txBody>
      </p:sp>
      <p:pic>
        <p:nvPicPr>
          <p:cNvPr id="4098" name="Picture 2"/>
          <p:cNvPicPr>
            <a:picLocks noChangeAspect="1" noChangeArrowheads="1"/>
          </p:cNvPicPr>
          <p:nvPr/>
        </p:nvPicPr>
        <p:blipFill>
          <a:blip r:embed="rId3"/>
          <a:srcRect/>
          <a:stretch>
            <a:fillRect/>
          </a:stretch>
        </p:blipFill>
        <p:spPr bwMode="auto">
          <a:xfrm rot="160162">
            <a:off x="6000760" y="1813549"/>
            <a:ext cx="2324100" cy="1419225"/>
          </a:xfrm>
          <a:prstGeom prst="rect">
            <a:avLst/>
          </a:prstGeom>
          <a:noFill/>
          <a:ln w="9525">
            <a:noFill/>
            <a:miter lim="800000"/>
            <a:headEnd/>
            <a:tailEnd/>
          </a:ln>
          <a:effectLst/>
        </p:spPr>
      </p:pic>
      <p:pic>
        <p:nvPicPr>
          <p:cNvPr id="4099" name="Picture 3"/>
          <p:cNvPicPr>
            <a:picLocks noChangeAspect="1" noChangeArrowheads="1"/>
          </p:cNvPicPr>
          <p:nvPr/>
        </p:nvPicPr>
        <p:blipFill>
          <a:blip r:embed="rId4"/>
          <a:srcRect/>
          <a:stretch>
            <a:fillRect/>
          </a:stretch>
        </p:blipFill>
        <p:spPr bwMode="auto">
          <a:xfrm rot="160162">
            <a:off x="5763292" y="3563078"/>
            <a:ext cx="2714644" cy="1057531"/>
          </a:xfrm>
          <a:prstGeom prst="rect">
            <a:avLst/>
          </a:prstGeom>
          <a:noFill/>
          <a:ln w="9525">
            <a:noFill/>
            <a:miter lim="800000"/>
            <a:headEnd/>
            <a:tailEnd/>
          </a:ln>
          <a:effectLst/>
        </p:spPr>
      </p:pic>
      <p:grpSp>
        <p:nvGrpSpPr>
          <p:cNvPr id="7" name="Groupe 9"/>
          <p:cNvGrpSpPr/>
          <p:nvPr/>
        </p:nvGrpSpPr>
        <p:grpSpPr>
          <a:xfrm>
            <a:off x="7072330" y="0"/>
            <a:ext cx="2357454" cy="2066925"/>
            <a:chOff x="7082570" y="3163972"/>
            <a:chExt cx="2309813" cy="2066925"/>
          </a:xfrm>
        </p:grpSpPr>
        <p:pic>
          <p:nvPicPr>
            <p:cNvPr id="8" name="Picture 2" descr="C:\Users\Alex\Desktop\7345610a78ba71a45f37XL.png"/>
            <p:cNvPicPr>
              <a:picLocks noChangeAspect="1" noChangeArrowheads="1"/>
            </p:cNvPicPr>
            <p:nvPr/>
          </p:nvPicPr>
          <p:blipFill>
            <a:blip r:embed="rId5" cstate="print"/>
            <a:srcRect/>
            <a:stretch>
              <a:fillRect/>
            </a:stretch>
          </p:blipFill>
          <p:spPr bwMode="auto">
            <a:xfrm rot="5685244">
              <a:off x="7204014" y="3042528"/>
              <a:ext cx="2066925" cy="2309813"/>
            </a:xfrm>
            <a:prstGeom prst="rect">
              <a:avLst/>
            </a:prstGeom>
            <a:noFill/>
          </p:spPr>
        </p:pic>
        <p:sp>
          <p:nvSpPr>
            <p:cNvPr id="9" name="ZoneTexte 8"/>
            <p:cNvSpPr txBox="1"/>
            <p:nvPr/>
          </p:nvSpPr>
          <p:spPr>
            <a:xfrm rot="21295296">
              <a:off x="7236592" y="3571876"/>
              <a:ext cx="1621689" cy="830997"/>
            </a:xfrm>
            <a:prstGeom prst="rect">
              <a:avLst/>
            </a:prstGeom>
            <a:noFill/>
          </p:spPr>
          <p:txBody>
            <a:bodyPr wrap="square" rtlCol="0">
              <a:spAutoFit/>
            </a:bodyPr>
            <a:lstStyle/>
            <a:p>
              <a:r>
                <a:rPr lang="fr-FR" sz="1600" dirty="0">
                  <a:latin typeface="Permanent Marker" pitchFamily="2" charset="0"/>
                  <a:ea typeface="Permanent Marker" pitchFamily="2" charset="0"/>
                </a:rPr>
                <a:t>Utilise dans le cours pour les serveurs</a:t>
              </a:r>
            </a:p>
          </p:txBody>
        </p:sp>
        <p:sp>
          <p:nvSpPr>
            <p:cNvPr id="10" name="Flèche vers le bas 9"/>
            <p:cNvSpPr/>
            <p:nvPr/>
          </p:nvSpPr>
          <p:spPr>
            <a:xfrm>
              <a:off x="7786710" y="4500570"/>
              <a:ext cx="428628" cy="42862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p>
          </p:txBody>
        </p:sp>
      </p:grpSp>
    </p:spTree>
    <p:extLst>
      <p:ext uri="{BB962C8B-B14F-4D97-AF65-F5344CB8AC3E}">
        <p14:creationId xmlns:p14="http://schemas.microsoft.com/office/powerpoint/2010/main" val="12165496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Serveur http &amp; db</a:t>
            </a:r>
          </a:p>
        </p:txBody>
      </p:sp>
      <p:sp>
        <p:nvSpPr>
          <p:cNvPr id="2" name="Espace réservé du contenu 1"/>
          <p:cNvSpPr>
            <a:spLocks noGrp="1"/>
          </p:cNvSpPr>
          <p:nvPr>
            <p:ph idx="1"/>
          </p:nvPr>
        </p:nvSpPr>
        <p:spPr>
          <a:prstGeom prst="rect">
            <a:avLst/>
          </a:prstGeom>
        </p:spPr>
        <p:txBody>
          <a:bodyPr>
            <a:normAutofit fontScale="85000" lnSpcReduction="20000"/>
          </a:bodyPr>
          <a:lstStyle/>
          <a:p>
            <a:endParaRPr lang="fr-FR" dirty="0"/>
          </a:p>
          <a:p>
            <a:r>
              <a:rPr lang="fr-FR" dirty="0"/>
              <a:t>Lite-server</a:t>
            </a:r>
          </a:p>
          <a:p>
            <a:pPr lvl="1"/>
            <a:r>
              <a:rPr lang="fr-FR" dirty="0"/>
              <a:t>Server http</a:t>
            </a:r>
          </a:p>
          <a:p>
            <a:pPr lvl="1"/>
            <a:r>
              <a:rPr lang="fr-FR" dirty="0"/>
              <a:t>Browser sync (web socket) </a:t>
            </a:r>
            <a:r>
              <a:rPr lang="fr-FR" sz="1200" dirty="0"/>
              <a:t>*port +1</a:t>
            </a:r>
            <a:endParaRPr lang="fr-FR" dirty="0"/>
          </a:p>
          <a:p>
            <a:pPr lvl="1"/>
            <a:r>
              <a:rPr lang="fr-FR" dirty="0"/>
              <a:t>Configurable</a:t>
            </a:r>
          </a:p>
          <a:p>
            <a:pPr lvl="2"/>
            <a:r>
              <a:rPr lang="fr-FR" dirty="0">
                <a:hlinkClick r:id="rId3"/>
              </a:rPr>
              <a:t>https://github.com/johnpapa/lite-server</a:t>
            </a:r>
            <a:endParaRPr lang="fr-FR" dirty="0"/>
          </a:p>
          <a:p>
            <a:pPr lvl="2"/>
            <a:r>
              <a:rPr lang="fr-FR" dirty="0"/>
              <a:t>npm install –g lite-server </a:t>
            </a:r>
          </a:p>
          <a:p>
            <a:pPr lvl="1"/>
            <a:endParaRPr lang="fr-FR" dirty="0"/>
          </a:p>
          <a:p>
            <a:r>
              <a:rPr lang="fr-FR" dirty="0"/>
              <a:t>Json-server</a:t>
            </a:r>
          </a:p>
          <a:p>
            <a:pPr lvl="1"/>
            <a:r>
              <a:rPr lang="fr-FR" dirty="0"/>
              <a:t>Fake REST API</a:t>
            </a:r>
          </a:p>
          <a:p>
            <a:pPr lvl="1"/>
            <a:r>
              <a:rPr lang="fr-FR" dirty="0"/>
              <a:t>Stockage json</a:t>
            </a:r>
          </a:p>
          <a:p>
            <a:pPr lvl="2"/>
            <a:r>
              <a:rPr lang="fr-FR" dirty="0">
                <a:hlinkClick r:id="rId4"/>
              </a:rPr>
              <a:t>https://github.com/typicode/json-server</a:t>
            </a:r>
            <a:endParaRPr lang="fr-FR" dirty="0"/>
          </a:p>
          <a:p>
            <a:pPr lvl="2"/>
            <a:r>
              <a:rPr lang="fr-FR" dirty="0"/>
              <a:t>npm install –g json-server</a:t>
            </a:r>
          </a:p>
        </p:txBody>
      </p:sp>
      <p:pic>
        <p:nvPicPr>
          <p:cNvPr id="6147" name="Picture 3"/>
          <p:cNvPicPr>
            <a:picLocks noChangeAspect="1" noChangeArrowheads="1"/>
          </p:cNvPicPr>
          <p:nvPr/>
        </p:nvPicPr>
        <p:blipFill>
          <a:blip r:embed="rId5"/>
          <a:srcRect/>
          <a:stretch>
            <a:fillRect/>
          </a:stretch>
        </p:blipFill>
        <p:spPr bwMode="auto">
          <a:xfrm rot="366487">
            <a:off x="5786446" y="2071678"/>
            <a:ext cx="2800351" cy="2348681"/>
          </a:xfrm>
          <a:prstGeom prst="rect">
            <a:avLst/>
          </a:prstGeom>
          <a:noFill/>
          <a:ln w="9525">
            <a:noFill/>
            <a:miter lim="800000"/>
            <a:headEnd/>
            <a:tailEnd/>
          </a:ln>
          <a:effectLst/>
        </p:spPr>
      </p:pic>
      <p:grpSp>
        <p:nvGrpSpPr>
          <p:cNvPr id="7" name="Groupe 9"/>
          <p:cNvGrpSpPr/>
          <p:nvPr/>
        </p:nvGrpSpPr>
        <p:grpSpPr>
          <a:xfrm>
            <a:off x="7072330" y="0"/>
            <a:ext cx="2357454" cy="2066925"/>
            <a:chOff x="7082570" y="3163972"/>
            <a:chExt cx="2309813" cy="2066925"/>
          </a:xfrm>
        </p:grpSpPr>
        <p:pic>
          <p:nvPicPr>
            <p:cNvPr id="8" name="Picture 2" descr="C:\Users\Alex\Desktop\7345610a78ba71a45f37XL.png"/>
            <p:cNvPicPr>
              <a:picLocks noChangeAspect="1" noChangeArrowheads="1"/>
            </p:cNvPicPr>
            <p:nvPr/>
          </p:nvPicPr>
          <p:blipFill>
            <a:blip r:embed="rId6" cstate="print"/>
            <a:srcRect/>
            <a:stretch>
              <a:fillRect/>
            </a:stretch>
          </p:blipFill>
          <p:spPr bwMode="auto">
            <a:xfrm rot="5685244">
              <a:off x="7204014" y="3042528"/>
              <a:ext cx="2066925" cy="2309813"/>
            </a:xfrm>
            <a:prstGeom prst="rect">
              <a:avLst/>
            </a:prstGeom>
            <a:noFill/>
          </p:spPr>
        </p:pic>
        <p:sp>
          <p:nvSpPr>
            <p:cNvPr id="9" name="ZoneTexte 8"/>
            <p:cNvSpPr txBox="1"/>
            <p:nvPr/>
          </p:nvSpPr>
          <p:spPr>
            <a:xfrm>
              <a:off x="7236592" y="3571876"/>
              <a:ext cx="1621689" cy="923330"/>
            </a:xfrm>
            <a:prstGeom prst="rect">
              <a:avLst/>
            </a:prstGeom>
            <a:noFill/>
          </p:spPr>
          <p:txBody>
            <a:bodyPr wrap="square" rtlCol="0">
              <a:spAutoFit/>
            </a:bodyPr>
            <a:lstStyle/>
            <a:p>
              <a:r>
                <a:rPr lang="fr-FR" dirty="0">
                  <a:latin typeface="Permanent Marker" pitchFamily="2" charset="0"/>
                  <a:ea typeface="Permanent Marker" pitchFamily="2" charset="0"/>
                </a:rPr>
                <a:t>Utilise </a:t>
              </a:r>
            </a:p>
            <a:p>
              <a:r>
                <a:rPr lang="fr-FR" dirty="0">
                  <a:latin typeface="Permanent Marker" pitchFamily="2" charset="0"/>
                  <a:ea typeface="Permanent Marker" pitchFamily="2" charset="0"/>
                </a:rPr>
                <a:t>     dans le </a:t>
              </a:r>
            </a:p>
            <a:p>
              <a:r>
                <a:rPr lang="fr-FR" dirty="0">
                  <a:latin typeface="Permanent Marker" pitchFamily="2" charset="0"/>
                  <a:ea typeface="Permanent Marker" pitchFamily="2" charset="0"/>
                </a:rPr>
                <a:t>  cours *</a:t>
              </a:r>
            </a:p>
          </p:txBody>
        </p:sp>
        <p:sp>
          <p:nvSpPr>
            <p:cNvPr id="10" name="Flèche vers le bas 9"/>
            <p:cNvSpPr/>
            <p:nvPr/>
          </p:nvSpPr>
          <p:spPr>
            <a:xfrm>
              <a:off x="7786710" y="4500570"/>
              <a:ext cx="428628" cy="42862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p>
          </p:txBody>
        </p:sp>
      </p:grpSp>
    </p:spTree>
    <p:extLst>
      <p:ext uri="{BB962C8B-B14F-4D97-AF65-F5344CB8AC3E}">
        <p14:creationId xmlns:p14="http://schemas.microsoft.com/office/powerpoint/2010/main" val="2599477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6631DF-C2E7-6435-F626-E82C45E7E863}"/>
              </a:ext>
            </a:extLst>
          </p:cNvPr>
          <p:cNvSpPr>
            <a:spLocks noGrp="1"/>
          </p:cNvSpPr>
          <p:nvPr>
            <p:ph type="title"/>
          </p:nvPr>
        </p:nvSpPr>
        <p:spPr/>
        <p:txBody>
          <a:bodyPr/>
          <a:lstStyle/>
          <a:p>
            <a:r>
              <a:rPr lang="fr-FR" dirty="0"/>
              <a:t>Serveur de version GIT</a:t>
            </a:r>
          </a:p>
        </p:txBody>
      </p:sp>
      <p:sp>
        <p:nvSpPr>
          <p:cNvPr id="3" name="Espace réservé du contenu 2">
            <a:extLst>
              <a:ext uri="{FF2B5EF4-FFF2-40B4-BE49-F238E27FC236}">
                <a16:creationId xmlns:a16="http://schemas.microsoft.com/office/drawing/2014/main" id="{CEFA95C8-A711-AD39-35F0-2786CBDA21D5}"/>
              </a:ext>
            </a:extLst>
          </p:cNvPr>
          <p:cNvSpPr>
            <a:spLocks noGrp="1"/>
          </p:cNvSpPr>
          <p:nvPr>
            <p:ph idx="1"/>
          </p:nvPr>
        </p:nvSpPr>
        <p:spPr/>
        <p:txBody>
          <a:bodyPr/>
          <a:lstStyle/>
          <a:p>
            <a:r>
              <a:rPr lang="fr-FR" dirty="0"/>
              <a:t>Pour faciliter le maintient et le suivi du développement des applications</a:t>
            </a:r>
          </a:p>
          <a:p>
            <a:pPr lvl="2"/>
            <a:r>
              <a:rPr lang="fr-FR" dirty="0"/>
              <a:t>Historise les changements et les signes</a:t>
            </a:r>
          </a:p>
          <a:p>
            <a:pPr lvl="3"/>
            <a:r>
              <a:rPr lang="fr-FR" dirty="0"/>
              <a:t>Commit</a:t>
            </a:r>
          </a:p>
          <a:p>
            <a:pPr lvl="4"/>
            <a:r>
              <a:rPr lang="fr-FR" dirty="0"/>
              <a:t>Suivi des changements</a:t>
            </a:r>
          </a:p>
          <a:p>
            <a:pPr lvl="4"/>
            <a:r>
              <a:rPr lang="fr-FR" dirty="0"/>
              <a:t>Retour possible à des versions antérieurs</a:t>
            </a:r>
          </a:p>
          <a:p>
            <a:pPr lvl="5"/>
            <a:r>
              <a:rPr lang="fr-FR" dirty="0"/>
              <a:t>checkout</a:t>
            </a:r>
          </a:p>
          <a:p>
            <a:pPr lvl="2"/>
            <a:endParaRPr lang="fr-FR" dirty="0"/>
          </a:p>
          <a:p>
            <a:pPr lvl="2"/>
            <a:r>
              <a:rPr lang="fr-FR" dirty="0"/>
              <a:t>Gere des branches de développements parallèles avec fusion possible</a:t>
            </a:r>
          </a:p>
          <a:p>
            <a:pPr lvl="3"/>
            <a:r>
              <a:rPr lang="fr-FR" dirty="0"/>
              <a:t>Pull Request</a:t>
            </a:r>
          </a:p>
          <a:p>
            <a:pPr lvl="2"/>
            <a:endParaRPr lang="fr-FR" dirty="0"/>
          </a:p>
        </p:txBody>
      </p:sp>
    </p:spTree>
    <p:extLst>
      <p:ext uri="{BB962C8B-B14F-4D97-AF65-F5344CB8AC3E}">
        <p14:creationId xmlns:p14="http://schemas.microsoft.com/office/powerpoint/2010/main" val="3417566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A803A5-B96A-93E4-87E7-395BA27D93FB}"/>
              </a:ext>
            </a:extLst>
          </p:cNvPr>
          <p:cNvSpPr>
            <a:spLocks noGrp="1"/>
          </p:cNvSpPr>
          <p:nvPr>
            <p:ph type="title"/>
          </p:nvPr>
        </p:nvSpPr>
        <p:spPr/>
        <p:txBody>
          <a:bodyPr/>
          <a:lstStyle/>
          <a:p>
            <a:r>
              <a:rPr lang="fr-FR" dirty="0"/>
              <a:t>Github</a:t>
            </a:r>
          </a:p>
        </p:txBody>
      </p:sp>
      <p:sp>
        <p:nvSpPr>
          <p:cNvPr id="3" name="Espace réservé du contenu 2">
            <a:extLst>
              <a:ext uri="{FF2B5EF4-FFF2-40B4-BE49-F238E27FC236}">
                <a16:creationId xmlns:a16="http://schemas.microsoft.com/office/drawing/2014/main" id="{0DA27ED1-9F47-9140-79BE-7DA61812D2F1}"/>
              </a:ext>
            </a:extLst>
          </p:cNvPr>
          <p:cNvSpPr>
            <a:spLocks noGrp="1"/>
          </p:cNvSpPr>
          <p:nvPr>
            <p:ph idx="1"/>
          </p:nvPr>
        </p:nvSpPr>
        <p:spPr/>
        <p:txBody>
          <a:bodyPr/>
          <a:lstStyle/>
          <a:p>
            <a:r>
              <a:rPr lang="fr-FR" dirty="0"/>
              <a:t>La plateforme privilégiée par les devs web</a:t>
            </a:r>
          </a:p>
          <a:p>
            <a:pPr lvl="1"/>
            <a:r>
              <a:rPr lang="fr-FR" dirty="0"/>
              <a:t>Git hub héberger sur internet</a:t>
            </a:r>
          </a:p>
          <a:p>
            <a:pPr lvl="2"/>
            <a:r>
              <a:rPr lang="fr-FR" dirty="0"/>
              <a:t>Gratuit</a:t>
            </a:r>
          </a:p>
          <a:p>
            <a:pPr lvl="2"/>
            <a:r>
              <a:rPr lang="fr-FR" dirty="0"/>
              <a:t>Sans limite de stockage</a:t>
            </a:r>
          </a:p>
          <a:p>
            <a:pPr lvl="3"/>
            <a:r>
              <a:rPr lang="fr-FR" dirty="0"/>
              <a:t>Commit : 50Mo+ / fichier =&gt;Warning, 100Mo+ / Fichier  interdit</a:t>
            </a:r>
          </a:p>
          <a:p>
            <a:pPr lvl="3"/>
            <a:r>
              <a:rPr lang="fr-FR" dirty="0"/>
              <a:t>Release : sans limite de taille</a:t>
            </a:r>
          </a:p>
          <a:p>
            <a:pPr lvl="2"/>
            <a:r>
              <a:rPr lang="fr-FR" dirty="0"/>
              <a:t>Repos public / privée</a:t>
            </a:r>
          </a:p>
          <a:p>
            <a:pPr lvl="2"/>
            <a:r>
              <a:rPr lang="fr-FR" dirty="0"/>
              <a:t>Possibilités collaboratives</a:t>
            </a:r>
          </a:p>
          <a:p>
            <a:pPr lvl="2"/>
            <a:r>
              <a:rPr lang="fr-FR" dirty="0"/>
              <a:t>VS code intégré dans les repos</a:t>
            </a:r>
          </a:p>
          <a:p>
            <a:pPr lvl="2"/>
            <a:endParaRPr lang="fr-FR" dirty="0"/>
          </a:p>
          <a:p>
            <a:pPr lvl="1"/>
            <a:r>
              <a:rPr lang="fr-FR" dirty="0"/>
              <a:t>Git lab hébergé par les entreprises</a:t>
            </a:r>
          </a:p>
        </p:txBody>
      </p:sp>
    </p:spTree>
    <p:extLst>
      <p:ext uri="{BB962C8B-B14F-4D97-AF65-F5344CB8AC3E}">
        <p14:creationId xmlns:p14="http://schemas.microsoft.com/office/powerpoint/2010/main" val="787994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Serveur GIT</a:t>
            </a:r>
          </a:p>
        </p:txBody>
      </p:sp>
      <p:sp>
        <p:nvSpPr>
          <p:cNvPr id="2" name="Espace réservé du contenu 1"/>
          <p:cNvSpPr>
            <a:spLocks noGrp="1"/>
          </p:cNvSpPr>
          <p:nvPr>
            <p:ph idx="1"/>
          </p:nvPr>
        </p:nvSpPr>
        <p:spPr>
          <a:prstGeom prst="rect">
            <a:avLst/>
          </a:prstGeom>
        </p:spPr>
        <p:txBody>
          <a:bodyPr>
            <a:normAutofit fontScale="85000" lnSpcReduction="20000"/>
          </a:bodyPr>
          <a:lstStyle/>
          <a:p>
            <a:r>
              <a:rPr lang="fr-FR" dirty="0"/>
              <a:t>Plateforme de disposition de code versionné</a:t>
            </a:r>
          </a:p>
          <a:p>
            <a:pPr lvl="1"/>
            <a:r>
              <a:rPr lang="fr-FR" dirty="0"/>
              <a:t>Repository</a:t>
            </a:r>
          </a:p>
          <a:p>
            <a:pPr lvl="1"/>
            <a:r>
              <a:rPr lang="fr-FR" dirty="0"/>
              <a:t>Gestion des commit distant </a:t>
            </a:r>
          </a:p>
          <a:p>
            <a:pPr lvl="1"/>
            <a:r>
              <a:rPr lang="fr-FR" dirty="0"/>
              <a:t>Travail d’équipe</a:t>
            </a:r>
          </a:p>
          <a:p>
            <a:pPr lvl="1"/>
            <a:endParaRPr lang="fr-FR" dirty="0"/>
          </a:p>
          <a:p>
            <a:r>
              <a:rPr lang="fr-FR" dirty="0"/>
              <a:t>Plateformes gratuites</a:t>
            </a:r>
          </a:p>
          <a:p>
            <a:pPr lvl="1"/>
            <a:r>
              <a:rPr lang="fr-FR" dirty="0"/>
              <a:t>Github,GitLab</a:t>
            </a:r>
          </a:p>
          <a:p>
            <a:pPr lvl="2"/>
            <a:r>
              <a:rPr lang="fr-FR" dirty="0"/>
              <a:t>Hébergé ou officiel </a:t>
            </a:r>
          </a:p>
          <a:p>
            <a:pPr lvl="2"/>
            <a:r>
              <a:rPr lang="fr-FR" dirty="0"/>
              <a:t>1 repo / account</a:t>
            </a:r>
          </a:p>
          <a:p>
            <a:pPr lvl="2"/>
            <a:endParaRPr lang="fr-FR" dirty="0"/>
          </a:p>
          <a:p>
            <a:pPr lvl="1"/>
            <a:r>
              <a:rPr lang="fr-FR" dirty="0"/>
              <a:t>Altasian BitBuckets </a:t>
            </a:r>
            <a:r>
              <a:rPr lang="fr-FR" sz="900" dirty="0"/>
              <a:t>*(Sélectionné pour le cours)</a:t>
            </a:r>
            <a:endParaRPr lang="fr-FR" dirty="0"/>
          </a:p>
          <a:p>
            <a:pPr lvl="2"/>
            <a:r>
              <a:rPr lang="fr-FR" dirty="0"/>
              <a:t>Multi-repository</a:t>
            </a:r>
          </a:p>
          <a:p>
            <a:pPr lvl="2"/>
            <a:r>
              <a:rPr lang="fr-FR" dirty="0"/>
              <a:t>Free (max 1Go/repo) ou payed account</a:t>
            </a:r>
          </a:p>
          <a:p>
            <a:pPr lvl="2"/>
            <a:r>
              <a:rPr lang="fr-FR" dirty="0"/>
              <a:t>Officiel uniquement</a:t>
            </a:r>
          </a:p>
        </p:txBody>
      </p:sp>
      <p:pic>
        <p:nvPicPr>
          <p:cNvPr id="3075" name="Picture 3"/>
          <p:cNvPicPr>
            <a:picLocks noChangeAspect="1" noChangeArrowheads="1"/>
          </p:cNvPicPr>
          <p:nvPr/>
        </p:nvPicPr>
        <p:blipFill>
          <a:blip r:embed="rId3" cstate="print"/>
          <a:srcRect/>
          <a:stretch>
            <a:fillRect/>
          </a:stretch>
        </p:blipFill>
        <p:spPr bwMode="auto">
          <a:xfrm>
            <a:off x="3857620" y="2857496"/>
            <a:ext cx="1904990" cy="704846"/>
          </a:xfrm>
          <a:prstGeom prst="rect">
            <a:avLst/>
          </a:prstGeom>
          <a:noFill/>
          <a:ln w="9525">
            <a:noFill/>
            <a:miter lim="800000"/>
            <a:headEnd/>
            <a:tailEnd/>
          </a:ln>
          <a:effectLst/>
        </p:spPr>
      </p:pic>
      <p:pic>
        <p:nvPicPr>
          <p:cNvPr id="3076" name="Picture 4"/>
          <p:cNvPicPr>
            <a:picLocks noChangeAspect="1" noChangeArrowheads="1"/>
          </p:cNvPicPr>
          <p:nvPr/>
        </p:nvPicPr>
        <p:blipFill>
          <a:blip r:embed="rId4"/>
          <a:srcRect/>
          <a:stretch>
            <a:fillRect/>
          </a:stretch>
        </p:blipFill>
        <p:spPr bwMode="auto">
          <a:xfrm>
            <a:off x="5917242" y="1754492"/>
            <a:ext cx="2228856" cy="789387"/>
          </a:xfrm>
          <a:prstGeom prst="rect">
            <a:avLst/>
          </a:prstGeom>
          <a:noFill/>
          <a:ln w="9525">
            <a:noFill/>
            <a:miter lim="800000"/>
            <a:headEnd/>
            <a:tailEnd/>
          </a:ln>
          <a:effectLst/>
        </p:spPr>
      </p:pic>
      <p:pic>
        <p:nvPicPr>
          <p:cNvPr id="3077" name="Picture 5"/>
          <p:cNvPicPr>
            <a:picLocks noChangeAspect="1" noChangeArrowheads="1"/>
          </p:cNvPicPr>
          <p:nvPr/>
        </p:nvPicPr>
        <p:blipFill>
          <a:blip r:embed="rId5"/>
          <a:srcRect/>
          <a:stretch>
            <a:fillRect/>
          </a:stretch>
        </p:blipFill>
        <p:spPr bwMode="auto">
          <a:xfrm>
            <a:off x="6072198" y="4071942"/>
            <a:ext cx="2595564" cy="1365267"/>
          </a:xfrm>
          <a:prstGeom prst="rect">
            <a:avLst/>
          </a:prstGeom>
          <a:noFill/>
          <a:ln w="9525">
            <a:noFill/>
            <a:miter lim="800000"/>
            <a:headEnd/>
            <a:tailEnd/>
          </a:ln>
          <a:effectLst/>
        </p:spPr>
      </p:pic>
      <p:grpSp>
        <p:nvGrpSpPr>
          <p:cNvPr id="8" name="Groupe 9"/>
          <p:cNvGrpSpPr/>
          <p:nvPr/>
        </p:nvGrpSpPr>
        <p:grpSpPr>
          <a:xfrm flipH="1">
            <a:off x="6961578" y="2553219"/>
            <a:ext cx="2485442" cy="2235236"/>
            <a:chOff x="7303081" y="3173312"/>
            <a:chExt cx="2500116" cy="2235236"/>
          </a:xfrm>
        </p:grpSpPr>
        <p:pic>
          <p:nvPicPr>
            <p:cNvPr id="9" name="Picture 2" descr="C:\Users\Alex\Desktop\7345610a78ba71a45f37XL.png"/>
            <p:cNvPicPr>
              <a:picLocks noChangeAspect="1" noChangeArrowheads="1"/>
            </p:cNvPicPr>
            <p:nvPr/>
          </p:nvPicPr>
          <p:blipFill>
            <a:blip r:embed="rId6" cstate="print"/>
            <a:srcRect/>
            <a:stretch>
              <a:fillRect/>
            </a:stretch>
          </p:blipFill>
          <p:spPr bwMode="auto">
            <a:xfrm rot="5685244" flipV="1">
              <a:off x="7435521" y="3040872"/>
              <a:ext cx="2235236" cy="2500116"/>
            </a:xfrm>
            <a:prstGeom prst="rect">
              <a:avLst/>
            </a:prstGeom>
            <a:noFill/>
          </p:spPr>
        </p:pic>
        <p:sp>
          <p:nvSpPr>
            <p:cNvPr id="10" name="ZoneTexte 9"/>
            <p:cNvSpPr txBox="1"/>
            <p:nvPr/>
          </p:nvSpPr>
          <p:spPr>
            <a:xfrm>
              <a:off x="7984791" y="3830012"/>
              <a:ext cx="1621689" cy="923330"/>
            </a:xfrm>
            <a:prstGeom prst="rect">
              <a:avLst/>
            </a:prstGeom>
            <a:noFill/>
          </p:spPr>
          <p:txBody>
            <a:bodyPr wrap="square" rtlCol="0">
              <a:spAutoFit/>
            </a:bodyPr>
            <a:lstStyle/>
            <a:p>
              <a:r>
                <a:rPr lang="fr-FR" dirty="0">
                  <a:latin typeface="Permanent Marker" pitchFamily="2" charset="0"/>
                  <a:ea typeface="Permanent Marker" pitchFamily="2" charset="0"/>
                </a:rPr>
                <a:t>Utilise </a:t>
              </a:r>
            </a:p>
            <a:p>
              <a:r>
                <a:rPr lang="fr-FR" dirty="0">
                  <a:latin typeface="Permanent Marker" pitchFamily="2" charset="0"/>
                  <a:ea typeface="Permanent Marker" pitchFamily="2" charset="0"/>
                </a:rPr>
                <a:t>     dans le </a:t>
              </a:r>
            </a:p>
            <a:p>
              <a:r>
                <a:rPr lang="fr-FR" dirty="0">
                  <a:latin typeface="Permanent Marker" pitchFamily="2" charset="0"/>
                  <a:ea typeface="Permanent Marker" pitchFamily="2" charset="0"/>
                </a:rPr>
                <a:t>     cours</a:t>
              </a:r>
            </a:p>
          </p:txBody>
        </p:sp>
        <p:sp>
          <p:nvSpPr>
            <p:cNvPr id="11" name="Flèche vers le bas 10"/>
            <p:cNvSpPr/>
            <p:nvPr/>
          </p:nvSpPr>
          <p:spPr>
            <a:xfrm>
              <a:off x="7786710" y="4500570"/>
              <a:ext cx="428628" cy="428628"/>
            </a:xfrm>
            <a:prstGeom prst="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dirty="0"/>
            </a:p>
          </p:txBody>
        </p:sp>
      </p:grpSp>
    </p:spTree>
    <p:extLst>
      <p:ext uri="{BB962C8B-B14F-4D97-AF65-F5344CB8AC3E}">
        <p14:creationId xmlns:p14="http://schemas.microsoft.com/office/powerpoint/2010/main" val="1454153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fr-FR" dirty="0"/>
              <a:t>Git - bitbuckets</a:t>
            </a:r>
          </a:p>
        </p:txBody>
      </p:sp>
      <p:sp>
        <p:nvSpPr>
          <p:cNvPr id="2" name="Espace réservé du contenu 1"/>
          <p:cNvSpPr>
            <a:spLocks noGrp="1"/>
          </p:cNvSpPr>
          <p:nvPr>
            <p:ph idx="1"/>
          </p:nvPr>
        </p:nvSpPr>
        <p:spPr>
          <a:prstGeom prst="rect">
            <a:avLst/>
          </a:prstGeom>
        </p:spPr>
        <p:txBody>
          <a:bodyPr>
            <a:normAutofit fontScale="77500" lnSpcReduction="20000"/>
          </a:bodyPr>
          <a:lstStyle/>
          <a:p>
            <a:endParaRPr lang="fr-FR" dirty="0"/>
          </a:p>
          <a:p>
            <a:r>
              <a:rPr lang="fr-FR" dirty="0"/>
              <a:t>Création d’un compte gratuit</a:t>
            </a:r>
          </a:p>
          <a:p>
            <a:pPr lvl="1"/>
            <a:r>
              <a:rPr lang="fr-FR" dirty="0">
                <a:hlinkClick r:id="rId3"/>
              </a:rPr>
              <a:t>https://bitbucket.org/account/signup/</a:t>
            </a:r>
            <a:endParaRPr lang="fr-FR" dirty="0"/>
          </a:p>
          <a:p>
            <a:pPr lvl="1"/>
            <a:r>
              <a:rPr lang="fr-FR" dirty="0">
                <a:hlinkClick r:id="rId4"/>
              </a:rPr>
              <a:t>https://bitbucket.org/account/signin/</a:t>
            </a:r>
            <a:endParaRPr lang="fr-FR" dirty="0"/>
          </a:p>
          <a:p>
            <a:endParaRPr lang="fr-FR" dirty="0"/>
          </a:p>
          <a:p>
            <a:r>
              <a:rPr lang="fr-FR" dirty="0"/>
              <a:t>Création 1ere repository</a:t>
            </a:r>
          </a:p>
          <a:p>
            <a:pPr lvl="1"/>
            <a:r>
              <a:rPr lang="fr-FR" dirty="0"/>
              <a:t>Edit, commit, approuve du readme.md</a:t>
            </a:r>
          </a:p>
          <a:p>
            <a:pPr lvl="1"/>
            <a:r>
              <a:rPr lang="fr-FR" dirty="0"/>
              <a:t>Clone local de la repository</a:t>
            </a:r>
          </a:p>
          <a:p>
            <a:endParaRPr lang="fr-FR" dirty="0"/>
          </a:p>
          <a:p>
            <a:r>
              <a:rPr lang="fr-FR" dirty="0"/>
              <a:t>Ouverture du répertoire sous Visual Studio Code</a:t>
            </a:r>
          </a:p>
          <a:p>
            <a:pPr lvl="1"/>
            <a:r>
              <a:rPr lang="fr-FR" dirty="0"/>
              <a:t>Edition du readme.md sous vscode</a:t>
            </a:r>
          </a:p>
          <a:p>
            <a:pPr lvl="1"/>
            <a:r>
              <a:rPr lang="fr-FR" dirty="0"/>
              <a:t>1</a:t>
            </a:r>
            <a:r>
              <a:rPr lang="fr-FR" baseline="30000" dirty="0"/>
              <a:t>er</a:t>
            </a:r>
            <a:r>
              <a:rPr lang="fr-FR" dirty="0"/>
              <a:t> commit &amp; push</a:t>
            </a:r>
          </a:p>
          <a:p>
            <a:endParaRPr lang="fr-FR" dirty="0"/>
          </a:p>
          <a:p>
            <a:r>
              <a:rPr lang="fr-FR" dirty="0"/>
              <a:t>Approuve commit</a:t>
            </a:r>
          </a:p>
          <a:p>
            <a:pPr lvl="1"/>
            <a:endParaRPr lang="fr-FR" dirty="0"/>
          </a:p>
        </p:txBody>
      </p:sp>
    </p:spTree>
    <p:extLst>
      <p:ext uri="{BB962C8B-B14F-4D97-AF65-F5344CB8AC3E}">
        <p14:creationId xmlns:p14="http://schemas.microsoft.com/office/powerpoint/2010/main" val="1735686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3387C30-1D15-860D-E464-5AF94636E658}"/>
              </a:ext>
            </a:extLst>
          </p:cNvPr>
          <p:cNvSpPr>
            <a:spLocks noGrp="1"/>
          </p:cNvSpPr>
          <p:nvPr>
            <p:ph type="title"/>
          </p:nvPr>
        </p:nvSpPr>
        <p:spPr/>
        <p:txBody>
          <a:bodyPr/>
          <a:lstStyle/>
          <a:p>
            <a:r>
              <a:rPr lang="fr-FR" dirty="0"/>
              <a:t>Devtool &amp; navigateur</a:t>
            </a:r>
          </a:p>
        </p:txBody>
      </p:sp>
      <p:sp>
        <p:nvSpPr>
          <p:cNvPr id="3" name="Espace réservé du contenu 2">
            <a:extLst>
              <a:ext uri="{FF2B5EF4-FFF2-40B4-BE49-F238E27FC236}">
                <a16:creationId xmlns:a16="http://schemas.microsoft.com/office/drawing/2014/main" id="{5556DEF2-C634-4EDB-C584-23F0A6E1A4FB}"/>
              </a:ext>
            </a:extLst>
          </p:cNvPr>
          <p:cNvSpPr>
            <a:spLocks noGrp="1"/>
          </p:cNvSpPr>
          <p:nvPr>
            <p:ph idx="1"/>
          </p:nvPr>
        </p:nvSpPr>
        <p:spPr/>
        <p:txBody>
          <a:bodyPr>
            <a:normAutofit fontScale="92500" lnSpcReduction="10000"/>
          </a:bodyPr>
          <a:lstStyle/>
          <a:p>
            <a:r>
              <a:rPr lang="fr-FR" dirty="0"/>
              <a:t>Le navigateur fait entièrement parti des devtools</a:t>
            </a:r>
          </a:p>
          <a:p>
            <a:pPr lvl="2"/>
            <a:r>
              <a:rPr lang="fr-FR" dirty="0"/>
              <a:t>Console embarquée </a:t>
            </a:r>
          </a:p>
          <a:p>
            <a:pPr lvl="3"/>
            <a:r>
              <a:rPr lang="fr-FR" dirty="0"/>
              <a:t>Log dans le code (console.log, console.trace, console.table, …)</a:t>
            </a:r>
          </a:p>
          <a:p>
            <a:pPr lvl="3"/>
            <a:r>
              <a:rPr lang="fr-FR" dirty="0"/>
              <a:t>Exécution de code js a la volée</a:t>
            </a:r>
          </a:p>
          <a:p>
            <a:pPr lvl="2"/>
            <a:r>
              <a:rPr lang="fr-FR" dirty="0"/>
              <a:t>Gestion de sources</a:t>
            </a:r>
          </a:p>
          <a:p>
            <a:pPr lvl="3"/>
            <a:r>
              <a:rPr lang="fr-FR" dirty="0"/>
              <a:t>Breakpoint</a:t>
            </a:r>
          </a:p>
          <a:p>
            <a:pPr lvl="3"/>
            <a:r>
              <a:rPr lang="fr-FR" dirty="0"/>
              <a:t>Examen du stack d’appel</a:t>
            </a:r>
          </a:p>
          <a:p>
            <a:pPr lvl="3"/>
            <a:r>
              <a:rPr lang="fr-FR" dirty="0"/>
              <a:t>Watch</a:t>
            </a:r>
          </a:p>
          <a:p>
            <a:pPr lvl="3"/>
            <a:r>
              <a:rPr lang="fr-FR" dirty="0"/>
              <a:t>Map des code TS/js ( cf. tsconfig.json)</a:t>
            </a:r>
          </a:p>
          <a:p>
            <a:pPr lvl="2"/>
            <a:r>
              <a:rPr lang="fr-FR" dirty="0"/>
              <a:t>Suivi de l’état de réseau</a:t>
            </a:r>
          </a:p>
          <a:p>
            <a:pPr lvl="2"/>
            <a:r>
              <a:rPr lang="fr-FR" dirty="0"/>
              <a:t>Manipulation des datas navigateur</a:t>
            </a:r>
          </a:p>
          <a:p>
            <a:pPr lvl="3"/>
            <a:r>
              <a:rPr lang="fr-FR" dirty="0"/>
              <a:t>LocalStorage, SessionStorage, cookies, …</a:t>
            </a:r>
          </a:p>
          <a:p>
            <a:pPr lvl="2"/>
            <a:r>
              <a:rPr lang="fr-FR" dirty="0"/>
              <a:t>Mode mobile</a:t>
            </a:r>
          </a:p>
          <a:p>
            <a:pPr lvl="3"/>
            <a:r>
              <a:rPr lang="fr-FR" dirty="0"/>
              <a:t>Affichage</a:t>
            </a:r>
          </a:p>
          <a:p>
            <a:pPr lvl="3"/>
            <a:r>
              <a:rPr lang="fr-FR" dirty="0"/>
              <a:t>Vitesse réseau</a:t>
            </a:r>
          </a:p>
          <a:p>
            <a:pPr lvl="2"/>
            <a:endParaRPr lang="fr-FR" dirty="0"/>
          </a:p>
        </p:txBody>
      </p:sp>
    </p:spTree>
    <p:extLst>
      <p:ext uri="{BB962C8B-B14F-4D97-AF65-F5344CB8AC3E}">
        <p14:creationId xmlns:p14="http://schemas.microsoft.com/office/powerpoint/2010/main" val="850599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AutoShape 2"/>
          <p:cNvSpPr>
            <a:spLocks noGrp="1" noChangeArrowheads="1"/>
          </p:cNvSpPr>
          <p:nvPr>
            <p:ph type="title"/>
          </p:nvPr>
        </p:nvSpPr>
        <p:spPr/>
        <p:txBody>
          <a:bodyPr>
            <a:normAutofit/>
          </a:bodyPr>
          <a:lstStyle/>
          <a:p>
            <a:r>
              <a:rPr lang="fr-FR" dirty="0"/>
              <a:t>Accessibilité Web</a:t>
            </a:r>
          </a:p>
        </p:txBody>
      </p:sp>
      <p:sp>
        <p:nvSpPr>
          <p:cNvPr id="23556" name="Rectangle 3"/>
          <p:cNvSpPr>
            <a:spLocks noGrp="1" noChangeArrowheads="1"/>
          </p:cNvSpPr>
          <p:nvPr>
            <p:ph idx="1"/>
          </p:nvPr>
        </p:nvSpPr>
        <p:spPr/>
        <p:txBody>
          <a:bodyPr>
            <a:normAutofit fontScale="77500" lnSpcReduction="20000"/>
          </a:bodyPr>
          <a:lstStyle/>
          <a:p>
            <a:pPr eaLnBrk="1" hangingPunct="1"/>
            <a:r>
              <a:rPr lang="fr-FR" dirty="0">
                <a:ea typeface="MS Mincho" pitchFamily="49" charset="-128"/>
              </a:rPr>
              <a:t>Accessibilité et handicap</a:t>
            </a:r>
          </a:p>
          <a:p>
            <a:pPr lvl="1" eaLnBrk="1" hangingPunct="1"/>
            <a:r>
              <a:rPr lang="fr-FR" dirty="0">
                <a:ea typeface="MS Mincho" pitchFamily="49" charset="-128"/>
              </a:rPr>
              <a:t> L’accessibilité = facilité d’accès au plus grand nombre ou facilité d’accès d’une entité à une fonctionnalité (vision qui ouvre à l’accessibilité des handicapés).</a:t>
            </a:r>
          </a:p>
          <a:p>
            <a:pPr lvl="1" eaLnBrk="1" hangingPunct="1"/>
            <a:endParaRPr lang="fr-FR" dirty="0">
              <a:ea typeface="MS Mincho" pitchFamily="49" charset="-128"/>
            </a:endParaRPr>
          </a:p>
          <a:p>
            <a:pPr eaLnBrk="1" hangingPunct="1"/>
            <a:r>
              <a:rPr lang="fr-FR" dirty="0">
                <a:ea typeface="MS Mincho" pitchFamily="49" charset="-128"/>
              </a:rPr>
              <a:t>WCAG, WAI et W3C</a:t>
            </a:r>
          </a:p>
          <a:p>
            <a:pPr lvl="1" eaLnBrk="1" hangingPunct="1"/>
            <a:r>
              <a:rPr lang="fr-FR" dirty="0">
                <a:ea typeface="MS Mincho" pitchFamily="49" charset="-128"/>
              </a:rPr>
              <a:t> En IT, l’accessibilité est la faculté d’accéder à l’information et aux services à moindre coût, en offrant une interface accessible au plus grand nombre.</a:t>
            </a:r>
          </a:p>
          <a:p>
            <a:pPr lvl="1" eaLnBrk="1" hangingPunct="1"/>
            <a:endParaRPr lang="fr-FR" dirty="0">
              <a:ea typeface="MS Mincho" pitchFamily="49" charset="-128"/>
            </a:endParaRPr>
          </a:p>
          <a:p>
            <a:pPr lvl="1" eaLnBrk="1" hangingPunct="1"/>
            <a:r>
              <a:rPr lang="fr-FR" dirty="0">
                <a:ea typeface="MS Mincho" pitchFamily="49" charset="-128"/>
              </a:rPr>
              <a:t> Le WAI (</a:t>
            </a:r>
            <a:r>
              <a:rPr lang="fr-FR" i="1" dirty="0">
                <a:ea typeface="MS Mincho" pitchFamily="49" charset="-128"/>
              </a:rPr>
              <a:t>Web Accessibility Initiative</a:t>
            </a:r>
            <a:r>
              <a:rPr lang="fr-FR" dirty="0">
                <a:ea typeface="MS Mincho" pitchFamily="49" charset="-128"/>
              </a:rPr>
              <a:t>) prône que :</a:t>
            </a:r>
          </a:p>
          <a:p>
            <a:pPr lvl="2" eaLnBrk="1" hangingPunct="1">
              <a:buFont typeface="Wingdings" pitchFamily="2" charset="2"/>
              <a:buAutoNum type="arabicPeriod"/>
            </a:pPr>
            <a:r>
              <a:rPr lang="fr-FR" dirty="0">
                <a:ea typeface="MS Mincho" pitchFamily="49" charset="-128"/>
              </a:rPr>
              <a:t>les outils de prod. de contenu doivent être accessibles à tous (ATAG)</a:t>
            </a:r>
          </a:p>
          <a:p>
            <a:pPr lvl="2" eaLnBrk="1" hangingPunct="1">
              <a:buFont typeface="Wingdings" pitchFamily="2" charset="2"/>
              <a:buAutoNum type="arabicPeriod"/>
            </a:pPr>
            <a:r>
              <a:rPr lang="fr-FR" dirty="0">
                <a:ea typeface="MS Mincho" pitchFamily="49" charset="-128"/>
              </a:rPr>
              <a:t>le contenu mis en ligne doit être accessible (WCAG)</a:t>
            </a:r>
          </a:p>
          <a:p>
            <a:pPr lvl="2" eaLnBrk="1" hangingPunct="1">
              <a:buFont typeface="Wingdings" pitchFamily="2" charset="2"/>
              <a:buAutoNum type="arabicPeriod"/>
            </a:pPr>
            <a:r>
              <a:rPr lang="fr-FR" dirty="0">
                <a:ea typeface="MS Mincho" pitchFamily="49" charset="-128"/>
              </a:rPr>
              <a:t>les outils de consultation (navigateurs) doivent être utilisables par tous</a:t>
            </a:r>
            <a:br>
              <a:rPr lang="fr-FR" dirty="0">
                <a:ea typeface="MS Mincho" pitchFamily="49" charset="-128"/>
              </a:rPr>
            </a:br>
            <a:endParaRPr lang="fr-FR" dirty="0">
              <a:ea typeface="MS Mincho" pitchFamily="49" charset="-128"/>
            </a:endParaRPr>
          </a:p>
          <a:p>
            <a:pPr lvl="2" eaLnBrk="1" hangingPunct="1">
              <a:buFont typeface="Wingdings" pitchFamily="2" charset="2"/>
              <a:buNone/>
            </a:pPr>
            <a:r>
              <a:rPr lang="fr-FR" dirty="0">
                <a:ea typeface="MS Mincho" pitchFamily="49" charset="-128"/>
              </a:rPr>
              <a:t>Nous sommes intéressés par le 2e point : l’accessibilité des sites Web.</a:t>
            </a:r>
          </a:p>
          <a:p>
            <a:pPr lvl="1" eaLnBrk="1" hangingPunct="1"/>
            <a:r>
              <a:rPr lang="fr-FR" dirty="0">
                <a:ea typeface="MS Mincho" pitchFamily="49" charset="-128"/>
              </a:rPr>
              <a:t> Le WCAG 1.0 (</a:t>
            </a:r>
            <a:r>
              <a:rPr lang="fr-FR" i="1" dirty="0">
                <a:ea typeface="MS Mincho" pitchFamily="49" charset="-128"/>
              </a:rPr>
              <a:t>Web Content Accessibility Guidelines</a:t>
            </a:r>
            <a:r>
              <a:rPr lang="fr-FR" dirty="0">
                <a:ea typeface="MS Mincho" pitchFamily="49" charset="-128"/>
              </a:rPr>
              <a:t>)</a:t>
            </a:r>
          </a:p>
        </p:txBody>
      </p:sp>
      <p:sp>
        <p:nvSpPr>
          <p:cNvPr id="6" name="Rectangle 13"/>
          <p:cNvSpPr>
            <a:spLocks noGrp="1" noChangeArrowheads="1"/>
          </p:cNvSpPr>
          <p:nvPr>
            <p:ph type="sldNum" sz="quarter" idx="12"/>
          </p:nvPr>
        </p:nvSpPr>
        <p:spPr>
          <a:noFill/>
        </p:spPr>
        <p:txBody>
          <a:bodyPr>
            <a:normAutofit fontScale="85000" lnSpcReduction="20000"/>
          </a:bodyPr>
          <a:lstStyle/>
          <a:p>
            <a:fld id="{D0E731D8-F5EB-4F9B-86C1-C3C0F6B5B5FB}" type="slidenum">
              <a:rPr lang="fr-FR" smtClean="0"/>
              <a:pPr/>
              <a:t>23</a:t>
            </a:fld>
            <a:endParaRPr lang="fr-FR" dirty="0"/>
          </a:p>
        </p:txBody>
      </p:sp>
      <p:sp>
        <p:nvSpPr>
          <p:cNvPr id="23554" name="Rectangle 13"/>
          <p:cNvSpPr>
            <a:spLocks noGrp="1" noChangeArrowheads="1"/>
          </p:cNvSpPr>
          <p:nvPr>
            <p:ph type="sldNum" sz="quarter" idx="4294967295"/>
          </p:nvPr>
        </p:nvSpPr>
        <p:spPr>
          <a:xfrm>
            <a:off x="0" y="6362700"/>
            <a:ext cx="762000" cy="488950"/>
          </a:xfrm>
          <a:prstGeom prst="rect">
            <a:avLst/>
          </a:prstGeom>
          <a:noFill/>
        </p:spPr>
        <p:txBody>
          <a:bodyPr/>
          <a:lstStyle/>
          <a:p>
            <a:fld id="{86AF1D64-A6B1-4843-8D70-059909809587}" type="slidenum">
              <a:rPr lang="fr-FR" smtClean="0"/>
              <a:pPr/>
              <a:t>23</a:t>
            </a:fld>
            <a:endParaRPr lang="fr-FR" dirty="0"/>
          </a:p>
        </p:txBody>
      </p:sp>
    </p:spTree>
    <p:extLst>
      <p:ext uri="{BB962C8B-B14F-4D97-AF65-F5344CB8AC3E}">
        <p14:creationId xmlns:p14="http://schemas.microsoft.com/office/powerpoint/2010/main" val="2650496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AutoShape 2"/>
          <p:cNvSpPr>
            <a:spLocks noGrp="1" noChangeArrowheads="1"/>
          </p:cNvSpPr>
          <p:nvPr>
            <p:ph type="title"/>
          </p:nvPr>
        </p:nvSpPr>
        <p:spPr/>
        <p:txBody>
          <a:bodyPr>
            <a:normAutofit/>
          </a:bodyPr>
          <a:lstStyle/>
          <a:p>
            <a:r>
              <a:rPr lang="fr-FR" dirty="0"/>
              <a:t>Accessibilité Web</a:t>
            </a:r>
          </a:p>
        </p:txBody>
      </p:sp>
      <p:sp>
        <p:nvSpPr>
          <p:cNvPr id="24580" name="Rectangle 3"/>
          <p:cNvSpPr>
            <a:spLocks noGrp="1" noChangeArrowheads="1"/>
          </p:cNvSpPr>
          <p:nvPr>
            <p:ph idx="1"/>
          </p:nvPr>
        </p:nvSpPr>
        <p:spPr/>
        <p:txBody>
          <a:bodyPr>
            <a:normAutofit fontScale="92500" lnSpcReduction="10000"/>
          </a:bodyPr>
          <a:lstStyle/>
          <a:p>
            <a:pPr eaLnBrk="1" hangingPunct="1"/>
            <a:r>
              <a:rPr lang="fr-FR" dirty="0">
                <a:ea typeface="MS Mincho" pitchFamily="49" charset="-128"/>
              </a:rPr>
              <a:t>WCAG, WAI et W3C suite…</a:t>
            </a:r>
          </a:p>
          <a:p>
            <a:pPr lvl="1" eaLnBrk="1" hangingPunct="1"/>
            <a:r>
              <a:rPr lang="fr-FR" dirty="0">
                <a:ea typeface="MS Mincho" pitchFamily="49" charset="-128"/>
              </a:rPr>
              <a:t> Niveaux de priorité du WCAG :</a:t>
            </a:r>
          </a:p>
          <a:p>
            <a:pPr lvl="2" eaLnBrk="1" hangingPunct="1">
              <a:buFont typeface="Wingdings" pitchFamily="2" charset="2"/>
              <a:buAutoNum type="arabicPeriod"/>
            </a:pPr>
            <a:r>
              <a:rPr lang="fr-FR" dirty="0">
                <a:ea typeface="MS Mincho" pitchFamily="49" charset="-128"/>
              </a:rPr>
              <a:t>A (must) : obligatoire</a:t>
            </a:r>
          </a:p>
          <a:p>
            <a:pPr lvl="2" eaLnBrk="1" hangingPunct="1">
              <a:buFont typeface="Wingdings" pitchFamily="2" charset="2"/>
              <a:buAutoNum type="arabicPeriod"/>
            </a:pPr>
            <a:r>
              <a:rPr lang="fr-FR" dirty="0">
                <a:ea typeface="MS Mincho" pitchFamily="49" charset="-128"/>
              </a:rPr>
              <a:t>AA (should) : souhaitable</a:t>
            </a:r>
          </a:p>
          <a:p>
            <a:pPr lvl="2" eaLnBrk="1" hangingPunct="1">
              <a:buFont typeface="Wingdings" pitchFamily="2" charset="2"/>
              <a:buAutoNum type="arabicPeriod"/>
            </a:pPr>
            <a:r>
              <a:rPr lang="fr-FR" dirty="0">
                <a:ea typeface="MS Mincho" pitchFamily="49" charset="-128"/>
              </a:rPr>
              <a:t>AAA (may) : optionnel</a:t>
            </a:r>
          </a:p>
          <a:p>
            <a:pPr lvl="1" eaLnBrk="1" hangingPunct="1"/>
            <a:endParaRPr lang="fr-FR" dirty="0">
              <a:ea typeface="MS Mincho" pitchFamily="49" charset="-128"/>
            </a:endParaRPr>
          </a:p>
          <a:p>
            <a:pPr lvl="1" eaLnBrk="1" hangingPunct="1"/>
            <a:r>
              <a:rPr lang="fr-FR" dirty="0">
                <a:ea typeface="MS Mincho" pitchFamily="49" charset="-128"/>
              </a:rPr>
              <a:t> Un des critères de niveau A, par exemple, est le respect de HTML4.01 strict </a:t>
            </a:r>
          </a:p>
          <a:p>
            <a:pPr lvl="1" eaLnBrk="1" hangingPunct="1"/>
            <a:endParaRPr lang="fr-FR" dirty="0">
              <a:ea typeface="MS Mincho" pitchFamily="49" charset="-128"/>
            </a:endParaRPr>
          </a:p>
          <a:p>
            <a:pPr lvl="1" eaLnBrk="1" hangingPunct="1"/>
            <a:r>
              <a:rPr lang="fr-FR" dirty="0">
                <a:ea typeface="MS Mincho" pitchFamily="49" charset="-128"/>
              </a:rPr>
              <a:t> Outils de reporting de conformité au WCAG (ex: Watchfire WebXACT)</a:t>
            </a:r>
            <a:br>
              <a:rPr lang="fr-FR" dirty="0">
                <a:ea typeface="MS Mincho" pitchFamily="49" charset="-128"/>
              </a:rPr>
            </a:br>
            <a:r>
              <a:rPr lang="fr-FR" dirty="0">
                <a:ea typeface="MS Mincho" pitchFamily="49" charset="-128"/>
              </a:rPr>
              <a:t>(</a:t>
            </a:r>
            <a:r>
              <a:rPr lang="fr-FR" u="sng" dirty="0">
                <a:ea typeface="MS Mincho" pitchFamily="49" charset="-128"/>
              </a:rPr>
              <a:t>Remarque:</a:t>
            </a:r>
            <a:r>
              <a:rPr lang="fr-FR" dirty="0">
                <a:ea typeface="MS Mincho" pitchFamily="49" charset="-128"/>
              </a:rPr>
              <a:t> plus disponible librement depuis le 1er février 2008)</a:t>
            </a:r>
          </a:p>
        </p:txBody>
      </p:sp>
      <p:sp>
        <p:nvSpPr>
          <p:cNvPr id="6" name="Rectangle 13"/>
          <p:cNvSpPr>
            <a:spLocks noGrp="1" noChangeArrowheads="1"/>
          </p:cNvSpPr>
          <p:nvPr>
            <p:ph type="sldNum" sz="quarter" idx="12"/>
          </p:nvPr>
        </p:nvSpPr>
        <p:spPr>
          <a:noFill/>
        </p:spPr>
        <p:txBody>
          <a:bodyPr>
            <a:normAutofit fontScale="85000" lnSpcReduction="20000"/>
          </a:bodyPr>
          <a:lstStyle/>
          <a:p>
            <a:fld id="{D0E731D8-F5EB-4F9B-86C1-C3C0F6B5B5FB}" type="slidenum">
              <a:rPr lang="fr-FR" smtClean="0"/>
              <a:pPr/>
              <a:t>24</a:t>
            </a:fld>
            <a:endParaRPr lang="fr-FR" dirty="0"/>
          </a:p>
        </p:txBody>
      </p:sp>
      <p:sp>
        <p:nvSpPr>
          <p:cNvPr id="24578" name="Rectangle 13"/>
          <p:cNvSpPr>
            <a:spLocks noGrp="1" noChangeArrowheads="1"/>
          </p:cNvSpPr>
          <p:nvPr>
            <p:ph type="sldNum" sz="quarter" idx="4294967295"/>
          </p:nvPr>
        </p:nvSpPr>
        <p:spPr>
          <a:xfrm>
            <a:off x="0" y="6362700"/>
            <a:ext cx="762000" cy="488950"/>
          </a:xfrm>
          <a:prstGeom prst="rect">
            <a:avLst/>
          </a:prstGeom>
          <a:noFill/>
        </p:spPr>
        <p:txBody>
          <a:bodyPr/>
          <a:lstStyle/>
          <a:p>
            <a:fld id="{52132A2D-04B5-4004-B1A8-AD4C59A0908F}" type="slidenum">
              <a:rPr lang="fr-FR" smtClean="0"/>
              <a:pPr/>
              <a:t>24</a:t>
            </a:fld>
            <a:endParaRPr lang="fr-FR" dirty="0"/>
          </a:p>
        </p:txBody>
      </p:sp>
    </p:spTree>
    <p:extLst>
      <p:ext uri="{BB962C8B-B14F-4D97-AF65-F5344CB8AC3E}">
        <p14:creationId xmlns:p14="http://schemas.microsoft.com/office/powerpoint/2010/main" val="23976897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AutoShape 2"/>
          <p:cNvSpPr>
            <a:spLocks noGrp="1" noChangeArrowheads="1"/>
          </p:cNvSpPr>
          <p:nvPr>
            <p:ph type="title"/>
          </p:nvPr>
        </p:nvSpPr>
        <p:spPr>
          <a:xfrm>
            <a:off x="457200" y="404664"/>
            <a:ext cx="8229600" cy="1066800"/>
          </a:xfrm>
        </p:spPr>
        <p:txBody>
          <a:bodyPr>
            <a:normAutofit/>
          </a:bodyPr>
          <a:lstStyle/>
          <a:p>
            <a:r>
              <a:rPr lang="fr-FR" dirty="0"/>
              <a:t>Lois &amp; accessibilité Web</a:t>
            </a:r>
          </a:p>
        </p:txBody>
      </p:sp>
      <p:sp>
        <p:nvSpPr>
          <p:cNvPr id="25604" name="Rectangle 3"/>
          <p:cNvSpPr>
            <a:spLocks noGrp="1" noChangeArrowheads="1"/>
          </p:cNvSpPr>
          <p:nvPr>
            <p:ph idx="1"/>
          </p:nvPr>
        </p:nvSpPr>
        <p:spPr>
          <a:xfrm>
            <a:off x="457200" y="1628800"/>
            <a:ext cx="8229600" cy="4945736"/>
          </a:xfrm>
        </p:spPr>
        <p:txBody>
          <a:bodyPr>
            <a:normAutofit fontScale="70000" lnSpcReduction="20000"/>
          </a:bodyPr>
          <a:lstStyle/>
          <a:p>
            <a:pPr eaLnBrk="1" hangingPunct="1"/>
            <a:r>
              <a:rPr lang="fr-FR" dirty="0">
                <a:ea typeface="MS Mincho" pitchFamily="49" charset="-128"/>
              </a:rPr>
              <a:t>Accessibilité et gouvernements</a:t>
            </a:r>
          </a:p>
          <a:p>
            <a:pPr lvl="1" eaLnBrk="1" hangingPunct="1"/>
            <a:r>
              <a:rPr lang="fr-FR" dirty="0">
                <a:ea typeface="MS Mincho" pitchFamily="49" charset="-128"/>
              </a:rPr>
              <a:t> Aux USA, via la Section 508 de la loi américaine Federal Rehabilitation Act (www.section508.gov), le gouvernement prône le développement web selon les normes minimales WAI-AA et la validation XHTML &amp; CSS, l’insertion de touches raccourcis, une version hautement contrastée du site, la présence d’un média alternatif pour tout contenu (ex: texte + son).</a:t>
            </a:r>
          </a:p>
          <a:p>
            <a:pPr lvl="1" eaLnBrk="1" hangingPunct="1"/>
            <a:endParaRPr lang="fr-FR" dirty="0">
              <a:ea typeface="MS Mincho" pitchFamily="49" charset="-128"/>
            </a:endParaRPr>
          </a:p>
          <a:p>
            <a:pPr lvl="1" eaLnBrk="1" hangingPunct="1"/>
            <a:r>
              <a:rPr lang="fr-FR" dirty="0">
                <a:ea typeface="MS Mincho" pitchFamily="49" charset="-128"/>
              </a:rPr>
              <a:t> En France, la loi 2005-102 du 11 février 2005 (art. 47) pour "l'égalité des droits et des chances, la participation et la citoyenneté des personnes handicapées", dite loi "handicap", rédigée par l’ADAE (Association pour le Développement de l’Administration Électronique, prévoit l’accessibilité physique généralisée (sans rupture de déplacement), l’accessibilité renforcée des ERP… ainsi que des sanctions et des dates butoirs pour les mises aux normes (phase de diagnostic en 2011 et échéance en 2015). (cf. http://www.legifrance.gouv.fr)</a:t>
            </a:r>
          </a:p>
        </p:txBody>
      </p:sp>
      <p:sp>
        <p:nvSpPr>
          <p:cNvPr id="6" name="Rectangle 13"/>
          <p:cNvSpPr>
            <a:spLocks noGrp="1" noChangeArrowheads="1"/>
          </p:cNvSpPr>
          <p:nvPr>
            <p:ph type="sldNum" sz="quarter" idx="12"/>
          </p:nvPr>
        </p:nvSpPr>
        <p:spPr>
          <a:noFill/>
        </p:spPr>
        <p:txBody>
          <a:bodyPr>
            <a:normAutofit fontScale="85000" lnSpcReduction="20000"/>
          </a:bodyPr>
          <a:lstStyle/>
          <a:p>
            <a:fld id="{D0E731D8-F5EB-4F9B-86C1-C3C0F6B5B5FB}" type="slidenum">
              <a:rPr lang="fr-FR" smtClean="0"/>
              <a:pPr/>
              <a:t>25</a:t>
            </a:fld>
            <a:endParaRPr lang="fr-FR" dirty="0"/>
          </a:p>
        </p:txBody>
      </p:sp>
    </p:spTree>
    <p:extLst>
      <p:ext uri="{BB962C8B-B14F-4D97-AF65-F5344CB8AC3E}">
        <p14:creationId xmlns:p14="http://schemas.microsoft.com/office/powerpoint/2010/main" val="3207991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lstStyle/>
          <a:p>
            <a:r>
              <a:rPr lang="fr-FR" dirty="0"/>
              <a:t>Premier pas avec JS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en-JM" dirty="0"/>
              <a:t>Histoire de ECMAScript 262 (JS)</a:t>
            </a:r>
          </a:p>
        </p:txBody>
      </p:sp>
      <p:sp>
        <p:nvSpPr>
          <p:cNvPr id="3" name="Content Placeholder 2"/>
          <p:cNvSpPr>
            <a:spLocks noGrp="1"/>
          </p:cNvSpPr>
          <p:nvPr>
            <p:ph idx="1"/>
          </p:nvPr>
        </p:nvSpPr>
        <p:spPr/>
        <p:txBody>
          <a:bodyPr rtlCol="0">
            <a:normAutofit fontScale="77500" lnSpcReduction="20000"/>
          </a:bodyPr>
          <a:lstStyle/>
          <a:p>
            <a:pPr marL="0" algn="just" eaLnBrk="1" fontAlgn="auto" hangingPunct="1">
              <a:spcBef>
                <a:spcPts val="0"/>
              </a:spcBef>
              <a:spcAft>
                <a:spcPts val="0"/>
              </a:spcAft>
              <a:buFont typeface="Arial" pitchFamily="34" charset="0"/>
              <a:buNone/>
              <a:defRPr/>
            </a:pPr>
            <a:r>
              <a:rPr lang="fr-FR" b="1" dirty="0">
                <a:solidFill>
                  <a:schemeClr val="tx1">
                    <a:lumMod val="85000"/>
                    <a:lumOff val="15000"/>
                  </a:schemeClr>
                </a:solidFill>
              </a:rPr>
              <a:t>JavaScript </a:t>
            </a:r>
            <a:r>
              <a:rPr lang="fr-FR" dirty="0">
                <a:solidFill>
                  <a:schemeClr val="tx1">
                    <a:lumMod val="85000"/>
                    <a:lumOff val="15000"/>
                  </a:schemeClr>
                </a:solidFill>
              </a:rPr>
              <a:t>aussi appelé </a:t>
            </a:r>
            <a:r>
              <a:rPr lang="fr-FR" b="1" dirty="0">
                <a:solidFill>
                  <a:schemeClr val="tx1">
                    <a:lumMod val="85000"/>
                    <a:lumOff val="15000"/>
                  </a:schemeClr>
                </a:solidFill>
              </a:rPr>
              <a:t>JS </a:t>
            </a:r>
            <a:r>
              <a:rPr lang="fr-FR" dirty="0">
                <a:solidFill>
                  <a:schemeClr val="tx1">
                    <a:lumMod val="85000"/>
                    <a:lumOff val="15000"/>
                  </a:schemeClr>
                </a:solidFill>
              </a:rPr>
              <a:t>est un langage de programmation de </a:t>
            </a:r>
            <a:r>
              <a:rPr lang="fr-FR" b="1" dirty="0">
                <a:solidFill>
                  <a:schemeClr val="tx1">
                    <a:lumMod val="85000"/>
                    <a:lumOff val="15000"/>
                  </a:schemeClr>
                </a:solidFill>
              </a:rPr>
              <a:t>scripts</a:t>
            </a:r>
            <a:r>
              <a:rPr lang="fr-FR" dirty="0">
                <a:solidFill>
                  <a:schemeClr val="tx1">
                    <a:lumMod val="85000"/>
                    <a:lumOff val="15000"/>
                  </a:schemeClr>
                </a:solidFill>
              </a:rPr>
              <a:t> utilisé dans les pages web principalement côté </a:t>
            </a:r>
            <a:r>
              <a:rPr lang="fr-FR" b="1" dirty="0">
                <a:solidFill>
                  <a:schemeClr val="tx1">
                    <a:lumMod val="85000"/>
                    <a:lumOff val="15000"/>
                  </a:schemeClr>
                </a:solidFill>
              </a:rPr>
              <a:t>client</a:t>
            </a:r>
            <a:r>
              <a:rPr lang="fr-FR" dirty="0">
                <a:solidFill>
                  <a:schemeClr val="tx1">
                    <a:lumMod val="85000"/>
                    <a:lumOff val="15000"/>
                  </a:schemeClr>
                </a:solidFill>
              </a:rPr>
              <a:t>. </a:t>
            </a:r>
          </a:p>
          <a:p>
            <a:pPr marL="0" algn="just" eaLnBrk="1" fontAlgn="auto" hangingPunct="1">
              <a:spcBef>
                <a:spcPts val="0"/>
              </a:spcBef>
              <a:spcAft>
                <a:spcPts val="0"/>
              </a:spcAft>
              <a:buFont typeface="Arial" pitchFamily="34" charset="0"/>
              <a:buNone/>
              <a:defRPr/>
            </a:pPr>
            <a:endParaRPr lang="fr-FR" dirty="0">
              <a:solidFill>
                <a:schemeClr val="tx1">
                  <a:lumMod val="85000"/>
                  <a:lumOff val="15000"/>
                </a:schemeClr>
              </a:solidFill>
            </a:endParaRPr>
          </a:p>
          <a:p>
            <a:pPr marL="0" algn="just" eaLnBrk="1" fontAlgn="auto" hangingPunct="1">
              <a:spcBef>
                <a:spcPts val="0"/>
              </a:spcBef>
              <a:spcAft>
                <a:spcPts val="0"/>
              </a:spcAft>
              <a:buFont typeface="Arial" pitchFamily="34" charset="0"/>
              <a:buNone/>
              <a:defRPr/>
            </a:pPr>
            <a:r>
              <a:rPr lang="fr-FR" b="1" dirty="0">
                <a:solidFill>
                  <a:schemeClr val="tx1">
                    <a:lumMod val="85000"/>
                    <a:lumOff val="15000"/>
                  </a:schemeClr>
                </a:solidFill>
              </a:rPr>
              <a:t>JavaScript coté client </a:t>
            </a:r>
            <a:r>
              <a:rPr lang="fr-FR" dirty="0">
                <a:solidFill>
                  <a:schemeClr val="tx1">
                    <a:lumMod val="85000"/>
                    <a:lumOff val="15000"/>
                  </a:schemeClr>
                </a:solidFill>
              </a:rPr>
              <a:t>est le seul langage natif dédié à la gestion de </a:t>
            </a:r>
            <a:r>
              <a:rPr lang="fr-FR" b="1" dirty="0">
                <a:solidFill>
                  <a:schemeClr val="tx1">
                    <a:lumMod val="85000"/>
                    <a:lumOff val="15000"/>
                  </a:schemeClr>
                </a:solidFill>
              </a:rPr>
              <a:t>l’interactivité des documents HTML</a:t>
            </a:r>
            <a:r>
              <a:rPr lang="fr-FR" dirty="0">
                <a:solidFill>
                  <a:schemeClr val="tx1">
                    <a:lumMod val="85000"/>
                    <a:lumOff val="15000"/>
                  </a:schemeClr>
                </a:solidFill>
              </a:rPr>
              <a:t>.</a:t>
            </a:r>
          </a:p>
          <a:p>
            <a:pPr marL="0" algn="just" eaLnBrk="1" fontAlgn="auto" hangingPunct="1">
              <a:spcBef>
                <a:spcPts val="0"/>
              </a:spcBef>
              <a:spcAft>
                <a:spcPts val="0"/>
              </a:spcAft>
              <a:buFont typeface="Arial" pitchFamily="34" charset="0"/>
              <a:buNone/>
              <a:defRPr/>
            </a:pPr>
            <a:endParaRPr lang="fr-FR" dirty="0">
              <a:solidFill>
                <a:schemeClr val="tx1">
                  <a:lumMod val="85000"/>
                  <a:lumOff val="15000"/>
                </a:schemeClr>
              </a:solidFill>
            </a:endParaRPr>
          </a:p>
          <a:p>
            <a:pPr marL="0" algn="just" eaLnBrk="1" fontAlgn="auto" hangingPunct="1">
              <a:spcBef>
                <a:spcPts val="0"/>
              </a:spcBef>
              <a:spcAft>
                <a:spcPts val="0"/>
              </a:spcAft>
              <a:buFont typeface="Arial" pitchFamily="34" charset="0"/>
              <a:buNone/>
              <a:defRPr/>
            </a:pPr>
            <a:r>
              <a:rPr lang="fr-FR" dirty="0">
                <a:solidFill>
                  <a:schemeClr val="tx1">
                    <a:lumMod val="85000"/>
                    <a:lumOff val="15000"/>
                  </a:schemeClr>
                </a:solidFill>
              </a:rPr>
              <a:t>C'est un langage </a:t>
            </a:r>
            <a:r>
              <a:rPr lang="fr-FR" b="1" dirty="0">
                <a:solidFill>
                  <a:schemeClr val="tx1">
                    <a:lumMod val="85000"/>
                    <a:lumOff val="15000"/>
                  </a:schemeClr>
                </a:solidFill>
              </a:rPr>
              <a:t>orienté objet à prototype</a:t>
            </a:r>
            <a:r>
              <a:rPr lang="fr-FR" dirty="0">
                <a:solidFill>
                  <a:schemeClr val="tx1">
                    <a:lumMod val="85000"/>
                    <a:lumOff val="15000"/>
                  </a:schemeClr>
                </a:solidFill>
              </a:rPr>
              <a:t>, la base de l’objet est fournie par des objets équipés de </a:t>
            </a:r>
            <a:r>
              <a:rPr lang="fr-FR" b="1" dirty="0">
                <a:solidFill>
                  <a:schemeClr val="tx1">
                    <a:lumMod val="85000"/>
                    <a:lumOff val="15000"/>
                  </a:schemeClr>
                </a:solidFill>
              </a:rPr>
              <a:t>constructeurs</a:t>
            </a:r>
            <a:r>
              <a:rPr lang="fr-FR" dirty="0">
                <a:solidFill>
                  <a:schemeClr val="tx1">
                    <a:lumMod val="85000"/>
                    <a:lumOff val="15000"/>
                  </a:schemeClr>
                </a:solidFill>
              </a:rPr>
              <a:t> permettant de créer leurs propriétés.</a:t>
            </a:r>
          </a:p>
          <a:p>
            <a:pPr marL="0" eaLnBrk="1" fontAlgn="auto" hangingPunct="1">
              <a:spcBef>
                <a:spcPts val="0"/>
              </a:spcBef>
              <a:spcAft>
                <a:spcPts val="0"/>
              </a:spcAft>
              <a:buFont typeface="Arial" pitchFamily="34" charset="0"/>
              <a:buNone/>
              <a:defRPr/>
            </a:pPr>
            <a:br>
              <a:rPr lang="fr-FR" dirty="0">
                <a:solidFill>
                  <a:schemeClr val="tx1">
                    <a:lumMod val="85000"/>
                    <a:lumOff val="15000"/>
                  </a:schemeClr>
                </a:solidFill>
              </a:rPr>
            </a:br>
            <a:r>
              <a:rPr lang="fr-FR" b="1" dirty="0">
                <a:solidFill>
                  <a:schemeClr val="tx1">
                    <a:lumMod val="85000"/>
                    <a:lumOff val="15000"/>
                  </a:schemeClr>
                </a:solidFill>
              </a:rPr>
              <a:t>JavaScript été créé en 1995 </a:t>
            </a:r>
            <a:r>
              <a:rPr lang="fr-FR" dirty="0">
                <a:solidFill>
                  <a:schemeClr val="tx1">
                    <a:lumMod val="85000"/>
                    <a:lumOff val="15000"/>
                  </a:schemeClr>
                </a:solidFill>
              </a:rPr>
              <a:t>par Brendan Eich pour le compte de </a:t>
            </a:r>
            <a:r>
              <a:rPr lang="fr-FR" b="1" dirty="0">
                <a:solidFill>
                  <a:schemeClr val="tx1">
                    <a:lumMod val="85000"/>
                    <a:lumOff val="15000"/>
                  </a:schemeClr>
                </a:solidFill>
              </a:rPr>
              <a:t>Netscape Communications Corporation.  </a:t>
            </a:r>
            <a:r>
              <a:rPr lang="fr-FR" dirty="0">
                <a:solidFill>
                  <a:schemeClr val="tx1">
                    <a:lumMod val="85000"/>
                    <a:lumOff val="15000"/>
                  </a:schemeClr>
                </a:solidFill>
                <a:ea typeface="MS Mincho" pitchFamily="49" charset="-128"/>
              </a:rPr>
              <a:t>JScript  dès 1996 dans MSIE 3.0 (développé par Brendan EICH de Netscape/Mozilla) </a:t>
            </a:r>
          </a:p>
          <a:p>
            <a:pPr marL="0" eaLnBrk="1" fontAlgn="auto" hangingPunct="1">
              <a:spcBef>
                <a:spcPts val="0"/>
              </a:spcBef>
              <a:spcAft>
                <a:spcPts val="0"/>
              </a:spcAft>
              <a:buFont typeface="Arial" pitchFamily="34" charset="0"/>
              <a:buNone/>
              <a:defRPr/>
            </a:pPr>
            <a:endParaRPr lang="fr-FR" b="1" dirty="0">
              <a:solidFill>
                <a:schemeClr val="tx1">
                  <a:lumMod val="85000"/>
                  <a:lumOff val="15000"/>
                </a:schemeClr>
              </a:solidFill>
            </a:endParaRPr>
          </a:p>
          <a:p>
            <a:pPr marL="0" eaLnBrk="1" fontAlgn="auto" hangingPunct="1">
              <a:spcBef>
                <a:spcPts val="0"/>
              </a:spcBef>
              <a:spcAft>
                <a:spcPts val="0"/>
              </a:spcAft>
              <a:buFont typeface="Arial" pitchFamily="34" charset="0"/>
              <a:buNone/>
              <a:defRPr/>
            </a:pPr>
            <a:r>
              <a:rPr lang="fr-FR" dirty="0">
                <a:solidFill>
                  <a:schemeClr val="tx1">
                    <a:lumMod val="85000"/>
                    <a:lumOff val="15000"/>
                  </a:schemeClr>
                </a:solidFill>
              </a:rPr>
              <a:t>Le langage, actuellement à la </a:t>
            </a:r>
            <a:r>
              <a:rPr lang="fr-FR" b="1" dirty="0">
                <a:solidFill>
                  <a:schemeClr val="tx1">
                    <a:lumMod val="85000"/>
                    <a:lumOff val="15000"/>
                  </a:schemeClr>
                </a:solidFill>
              </a:rPr>
              <a:t>version 1.8.2 </a:t>
            </a:r>
            <a:r>
              <a:rPr lang="fr-FR" dirty="0">
                <a:solidFill>
                  <a:schemeClr val="tx1">
                    <a:lumMod val="85000"/>
                    <a:lumOff val="15000"/>
                  </a:schemeClr>
                </a:solidFill>
              </a:rPr>
              <a:t>est une implémentation la norme </a:t>
            </a:r>
            <a:r>
              <a:rPr lang="fr-FR" b="1" dirty="0">
                <a:solidFill>
                  <a:schemeClr val="tx1">
                    <a:lumMod val="85000"/>
                    <a:lumOff val="15000"/>
                  </a:schemeClr>
                </a:solidFill>
              </a:rPr>
              <a:t>ECMA-262 </a:t>
            </a:r>
            <a:r>
              <a:rPr lang="fr-FR" b="1" dirty="0">
                <a:solidFill>
                  <a:schemeClr val="tx1">
                    <a:lumMod val="85000"/>
                    <a:lumOff val="15000"/>
                  </a:schemeClr>
                </a:solidFill>
                <a:ea typeface="MS Mincho" pitchFamily="49" charset="-128"/>
              </a:rPr>
              <a:t>apparue en 1997</a:t>
            </a:r>
            <a:r>
              <a:rPr lang="fr-FR" dirty="0">
                <a:solidFill>
                  <a:schemeClr val="tx1">
                    <a:lumMod val="85000"/>
                    <a:lumOff val="15000"/>
                  </a:schemeClr>
                </a:solidFill>
                <a:ea typeface="MS Mincho" pitchFamily="49" charset="-128"/>
              </a:rPr>
              <a:t> </a:t>
            </a:r>
            <a:r>
              <a:rPr lang="fr-FR" dirty="0">
                <a:solidFill>
                  <a:schemeClr val="tx1">
                    <a:lumMod val="85000"/>
                    <a:lumOff val="15000"/>
                  </a:schemeClr>
                </a:solidFill>
              </a:rPr>
              <a:t>et </a:t>
            </a:r>
            <a:r>
              <a:rPr lang="fr-FR" dirty="0">
                <a:solidFill>
                  <a:schemeClr val="tx1">
                    <a:lumMod val="85000"/>
                    <a:lumOff val="15000"/>
                  </a:schemeClr>
                </a:solidFill>
                <a:ea typeface="MS Mincho" pitchFamily="49" charset="-128"/>
              </a:rPr>
              <a:t>standardisée par l’</a:t>
            </a:r>
            <a:r>
              <a:rPr lang="fr-FR" b="1" dirty="0">
                <a:solidFill>
                  <a:schemeClr val="tx1">
                    <a:lumMod val="85000"/>
                    <a:lumOff val="15000"/>
                  </a:schemeClr>
                </a:solidFill>
                <a:ea typeface="MS Mincho" pitchFamily="49" charset="-128"/>
              </a:rPr>
              <a:t>Ecma International</a:t>
            </a:r>
            <a:endParaRPr lang="fr-FR" b="1" dirty="0">
              <a:solidFill>
                <a:schemeClr val="tx1">
                  <a:lumMod val="85000"/>
                  <a:lumOff val="15000"/>
                </a:schemeClr>
              </a:solidFill>
            </a:endParaRPr>
          </a:p>
          <a:p>
            <a:pPr marL="0" eaLnBrk="1" fontAlgn="auto" hangingPunct="1">
              <a:spcBef>
                <a:spcPts val="0"/>
              </a:spcBef>
              <a:spcAft>
                <a:spcPts val="0"/>
              </a:spcAft>
              <a:buFont typeface="Arial" pitchFamily="34" charset="0"/>
              <a:buNone/>
              <a:defRPr/>
            </a:pPr>
            <a:endParaRPr lang="fr-FR" dirty="0">
              <a:solidFill>
                <a:schemeClr val="tx1">
                  <a:lumMod val="75000"/>
                  <a:lumOff val="25000"/>
                </a:schemeClr>
              </a:solidFill>
            </a:endParaRPr>
          </a:p>
          <a:p>
            <a:pPr marL="0" eaLnBrk="1" fontAlgn="auto" hangingPunct="1">
              <a:spcBef>
                <a:spcPts val="0"/>
              </a:spcBef>
              <a:spcAft>
                <a:spcPts val="0"/>
              </a:spcAft>
              <a:buFont typeface="Arial" pitchFamily="34" charset="0"/>
              <a:buNone/>
              <a:defRPr/>
            </a:pPr>
            <a:endParaRPr lang="en-JM" dirty="0">
              <a:solidFill>
                <a:schemeClr val="tx1">
                  <a:lumMod val="75000"/>
                  <a:lumOff val="25000"/>
                </a:schemeClr>
              </a:solidFill>
            </a:endParaRPr>
          </a:p>
        </p:txBody>
      </p:sp>
      <p:sp>
        <p:nvSpPr>
          <p:cNvPr id="8" name="Footer Placeholder 12"/>
          <p:cNvSpPr>
            <a:spLocks noGrp="1"/>
          </p:cNvSpPr>
          <p:nvPr>
            <p:ph type="ftr" sz="quarter" idx="11"/>
          </p:nvPr>
        </p:nvSpPr>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C38704FD-DFAF-4B9D-BF67-E7816A1314AE}" type="slidenum">
              <a:rPr lang="en-JM" smtClean="0">
                <a:solidFill>
                  <a:schemeClr val="bg1"/>
                </a:solidFill>
              </a:rPr>
              <a:pPr fontAlgn="base">
                <a:spcBef>
                  <a:spcPct val="0"/>
                </a:spcBef>
                <a:spcAft>
                  <a:spcPct val="0"/>
                </a:spcAft>
                <a:defRPr/>
              </a:pPr>
              <a:t>27</a:t>
            </a:fld>
            <a:endParaRPr lang="en-JM" dirty="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E3A9D9-850D-CEFE-672C-7E8F3A6C39EF}"/>
              </a:ext>
            </a:extLst>
          </p:cNvPr>
          <p:cNvSpPr>
            <a:spLocks noGrp="1"/>
          </p:cNvSpPr>
          <p:nvPr>
            <p:ph type="title"/>
          </p:nvPr>
        </p:nvSpPr>
        <p:spPr/>
        <p:txBody>
          <a:bodyPr/>
          <a:lstStyle/>
          <a:p>
            <a:r>
              <a:rPr lang="fr-FR" dirty="0"/>
              <a:t>Evolutions</a:t>
            </a:r>
          </a:p>
        </p:txBody>
      </p:sp>
      <p:sp>
        <p:nvSpPr>
          <p:cNvPr id="3" name="Espace réservé du contenu 2">
            <a:extLst>
              <a:ext uri="{FF2B5EF4-FFF2-40B4-BE49-F238E27FC236}">
                <a16:creationId xmlns:a16="http://schemas.microsoft.com/office/drawing/2014/main" id="{2BF7AD05-6267-AF35-9D09-F4C1C93DF1B7}"/>
              </a:ext>
            </a:extLst>
          </p:cNvPr>
          <p:cNvSpPr>
            <a:spLocks noGrp="1"/>
          </p:cNvSpPr>
          <p:nvPr>
            <p:ph idx="1"/>
          </p:nvPr>
        </p:nvSpPr>
        <p:spPr/>
        <p:txBody>
          <a:bodyPr>
            <a:normAutofit fontScale="85000" lnSpcReduction="10000"/>
          </a:bodyPr>
          <a:lstStyle/>
          <a:p>
            <a:r>
              <a:rPr lang="fr-FR" dirty="0"/>
              <a:t>Il existe à ce jour 17 versions du standard ECMA-262</a:t>
            </a:r>
          </a:p>
          <a:p>
            <a:pPr lvl="1"/>
            <a:r>
              <a:rPr lang="fr-FR" b="1" dirty="0"/>
              <a:t>ES3</a:t>
            </a:r>
            <a:r>
              <a:rPr lang="fr-FR" dirty="0"/>
              <a:t>, puis ES4 (abandonné pour ES3.1 nommé ES5)</a:t>
            </a:r>
          </a:p>
          <a:p>
            <a:pPr lvl="1"/>
            <a:endParaRPr lang="fr-FR" b="1" dirty="0"/>
          </a:p>
          <a:p>
            <a:pPr lvl="1"/>
            <a:r>
              <a:rPr lang="fr-FR" b="1" dirty="0"/>
              <a:t>ES5</a:t>
            </a:r>
            <a:r>
              <a:rPr lang="fr-FR" dirty="0"/>
              <a:t>(2009) est la version la plus prise en charge aujourd’hui et qui répond toujours aux besoins d’aujourdhui</a:t>
            </a:r>
          </a:p>
          <a:p>
            <a:pPr lvl="1"/>
            <a:endParaRPr lang="fr-FR" dirty="0"/>
          </a:p>
          <a:p>
            <a:pPr lvl="1"/>
            <a:r>
              <a:rPr lang="fr-FR" b="1" dirty="0"/>
              <a:t>ES6 </a:t>
            </a:r>
            <a:r>
              <a:rPr lang="fr-FR" dirty="0"/>
              <a:t>(ES2015) apporte de nouveaux concepts,  </a:t>
            </a:r>
            <a:r>
              <a:rPr lang="fr-FR" i="1" dirty="0"/>
              <a:t>Promise, template String, arrow functions, module, destruct, …</a:t>
            </a:r>
          </a:p>
          <a:p>
            <a:pPr lvl="3"/>
            <a:r>
              <a:rPr lang="fr-FR" i="1" dirty="0"/>
              <a:t>Autrefois nécessitait une transpilation es6-&gt;es5</a:t>
            </a:r>
          </a:p>
          <a:p>
            <a:pPr lvl="1"/>
            <a:endParaRPr lang="fr-FR" i="1" dirty="0"/>
          </a:p>
          <a:p>
            <a:pPr lvl="1"/>
            <a:r>
              <a:rPr lang="fr-FR" b="1" i="1" dirty="0"/>
              <a:t>ES7 (ES2016), ES2017, ES2018, ES2019, …., ESNext</a:t>
            </a:r>
          </a:p>
          <a:p>
            <a:pPr lvl="2"/>
            <a:r>
              <a:rPr lang="fr-FR" i="1" dirty="0"/>
              <a:t>Apporte tous les ans une nouvelle version avec de nouveaux apports techniques, nouvelles fonctions, …</a:t>
            </a:r>
          </a:p>
          <a:p>
            <a:pPr lvl="3"/>
            <a:r>
              <a:rPr lang="fr-FR" i="1" dirty="0"/>
              <a:t>Peux nécessiter une transpilation pour compatibilité navigateur</a:t>
            </a:r>
          </a:p>
          <a:p>
            <a:pPr lvl="2"/>
            <a:endParaRPr lang="fr-FR" i="1" dirty="0"/>
          </a:p>
          <a:p>
            <a:endParaRPr lang="fr-FR" dirty="0"/>
          </a:p>
        </p:txBody>
      </p:sp>
    </p:spTree>
    <p:extLst>
      <p:ext uri="{BB962C8B-B14F-4D97-AF65-F5344CB8AC3E}">
        <p14:creationId xmlns:p14="http://schemas.microsoft.com/office/powerpoint/2010/main" val="10972780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4324DD-AD71-D5D3-B71B-80D51BA614DE}"/>
              </a:ext>
            </a:extLst>
          </p:cNvPr>
          <p:cNvSpPr>
            <a:spLocks noGrp="1"/>
          </p:cNvSpPr>
          <p:nvPr>
            <p:ph type="title"/>
          </p:nvPr>
        </p:nvSpPr>
        <p:spPr/>
        <p:txBody>
          <a:bodyPr/>
          <a:lstStyle/>
          <a:p>
            <a:r>
              <a:rPr lang="fr-FR" dirty="0"/>
              <a:t>Configuration environnement de dev</a:t>
            </a:r>
          </a:p>
        </p:txBody>
      </p:sp>
      <p:sp>
        <p:nvSpPr>
          <p:cNvPr id="3" name="Espace réservé du contenu 2">
            <a:extLst>
              <a:ext uri="{FF2B5EF4-FFF2-40B4-BE49-F238E27FC236}">
                <a16:creationId xmlns:a16="http://schemas.microsoft.com/office/drawing/2014/main" id="{162EB3A5-53E1-23F5-6CDE-BE07191510BE}"/>
              </a:ext>
            </a:extLst>
          </p:cNvPr>
          <p:cNvSpPr>
            <a:spLocks noGrp="1"/>
          </p:cNvSpPr>
          <p:nvPr>
            <p:ph idx="1"/>
          </p:nvPr>
        </p:nvSpPr>
        <p:spPr/>
        <p:txBody>
          <a:bodyPr>
            <a:normAutofit fontScale="92500" lnSpcReduction="20000"/>
          </a:bodyPr>
          <a:lstStyle/>
          <a:p>
            <a:r>
              <a:rPr lang="fr-FR" dirty="0"/>
              <a:t>Projet Node</a:t>
            </a:r>
          </a:p>
          <a:p>
            <a:pPr lvl="2"/>
            <a:r>
              <a:rPr lang="fr-FR" dirty="0"/>
              <a:t>Install Node.js ( Nvm possible)</a:t>
            </a:r>
          </a:p>
          <a:p>
            <a:pPr lvl="2"/>
            <a:r>
              <a:rPr lang="fr-FR" dirty="0"/>
              <a:t>Projet Node</a:t>
            </a:r>
          </a:p>
          <a:p>
            <a:pPr lvl="2"/>
            <a:r>
              <a:rPr lang="fr-FR" dirty="0"/>
              <a:t>Install de paquets serveur</a:t>
            </a:r>
          </a:p>
          <a:p>
            <a:r>
              <a:rPr lang="fr-FR" dirty="0"/>
              <a:t>Git</a:t>
            </a:r>
          </a:p>
          <a:p>
            <a:pPr lvl="2"/>
            <a:r>
              <a:rPr lang="fr-FR" dirty="0"/>
              <a:t>Install git </a:t>
            </a:r>
            <a:r>
              <a:rPr lang="fr-FR" dirty="0" err="1"/>
              <a:t>scm</a:t>
            </a:r>
            <a:endParaRPr lang="fr-FR" dirty="0"/>
          </a:p>
          <a:p>
            <a:pPr lvl="2"/>
            <a:r>
              <a:rPr lang="fr-FR" dirty="0"/>
              <a:t>Configuration signature git</a:t>
            </a:r>
          </a:p>
          <a:p>
            <a:pPr lvl="2"/>
            <a:r>
              <a:rPr lang="fr-FR" dirty="0"/>
              <a:t>Création repos</a:t>
            </a:r>
          </a:p>
          <a:p>
            <a:pPr lvl="2"/>
            <a:r>
              <a:rPr lang="fr-FR" dirty="0"/>
              <a:t>Clone Repos</a:t>
            </a:r>
          </a:p>
          <a:p>
            <a:pPr lvl="2"/>
            <a:r>
              <a:rPr lang="fr-FR" dirty="0"/>
              <a:t>Premier commit</a:t>
            </a:r>
          </a:p>
          <a:p>
            <a:pPr lvl="2"/>
            <a:r>
              <a:rPr lang="fr-FR" dirty="0"/>
              <a:t>push</a:t>
            </a:r>
          </a:p>
          <a:p>
            <a:r>
              <a:rPr lang="fr-FR" dirty="0"/>
              <a:t>Vs code</a:t>
            </a:r>
          </a:p>
          <a:p>
            <a:pPr lvl="2"/>
            <a:r>
              <a:rPr lang="fr-FR" dirty="0"/>
              <a:t>Plugins</a:t>
            </a:r>
          </a:p>
          <a:p>
            <a:pPr lvl="2"/>
            <a:r>
              <a:rPr lang="fr-FR" dirty="0"/>
              <a:t>Snippets</a:t>
            </a:r>
          </a:p>
          <a:p>
            <a:endParaRPr lang="fr-FR" dirty="0"/>
          </a:p>
        </p:txBody>
      </p:sp>
    </p:spTree>
    <p:extLst>
      <p:ext uri="{BB962C8B-B14F-4D97-AF65-F5344CB8AC3E}">
        <p14:creationId xmlns:p14="http://schemas.microsoft.com/office/powerpoint/2010/main" val="11242488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A47AB49-059A-FCAD-2540-D8812F075DC3}"/>
              </a:ext>
            </a:extLst>
          </p:cNvPr>
          <p:cNvSpPr>
            <a:spLocks noGrp="1"/>
          </p:cNvSpPr>
          <p:nvPr>
            <p:ph type="title"/>
          </p:nvPr>
        </p:nvSpPr>
        <p:spPr/>
        <p:txBody>
          <a:bodyPr/>
          <a:lstStyle/>
          <a:p>
            <a:r>
              <a:rPr lang="fr-FR" dirty="0"/>
              <a:t>Install Node &amp; NVM</a:t>
            </a:r>
          </a:p>
        </p:txBody>
      </p:sp>
      <p:sp>
        <p:nvSpPr>
          <p:cNvPr id="3" name="Espace réservé du contenu 2">
            <a:extLst>
              <a:ext uri="{FF2B5EF4-FFF2-40B4-BE49-F238E27FC236}">
                <a16:creationId xmlns:a16="http://schemas.microsoft.com/office/drawing/2014/main" id="{DC8E1984-184B-B882-F731-1B4C943F6A4E}"/>
              </a:ext>
            </a:extLst>
          </p:cNvPr>
          <p:cNvSpPr>
            <a:spLocks noGrp="1"/>
          </p:cNvSpPr>
          <p:nvPr>
            <p:ph idx="1"/>
          </p:nvPr>
        </p:nvSpPr>
        <p:spPr/>
        <p:txBody>
          <a:bodyPr>
            <a:normAutofit fontScale="77500" lnSpcReduction="20000"/>
          </a:bodyPr>
          <a:lstStyle/>
          <a:p>
            <a:r>
              <a:rPr lang="fr-FR" dirty="0"/>
              <a:t>Nodejs</a:t>
            </a:r>
          </a:p>
          <a:p>
            <a:pPr lvl="2"/>
            <a:r>
              <a:rPr lang="fr-FR" dirty="0"/>
              <a:t>Installable disponible sur : </a:t>
            </a:r>
          </a:p>
          <a:p>
            <a:pPr marL="0" indent="0" algn="ctr">
              <a:buNone/>
            </a:pPr>
            <a:r>
              <a:rPr lang="fr-FR" u="sng" dirty="0">
                <a:solidFill>
                  <a:schemeClr val="tx2"/>
                </a:solidFill>
              </a:rPr>
              <a:t>https://nodejs.org/en/download</a:t>
            </a:r>
          </a:p>
          <a:p>
            <a:endParaRPr lang="fr-FR" dirty="0"/>
          </a:p>
          <a:p>
            <a:r>
              <a:rPr lang="fr-FR" dirty="0"/>
              <a:t>Node Version Manager</a:t>
            </a:r>
          </a:p>
          <a:p>
            <a:pPr lvl="2"/>
            <a:endParaRPr lang="fr-FR" dirty="0"/>
          </a:p>
          <a:p>
            <a:pPr lvl="2"/>
            <a:r>
              <a:rPr lang="fr-FR" dirty="0"/>
              <a:t>Permet d’installer n’importe la quelle des versions en une commande</a:t>
            </a:r>
          </a:p>
          <a:p>
            <a:pPr lvl="4"/>
            <a:r>
              <a:rPr lang="fr-FR" dirty="0"/>
              <a:t>nvm install xx.xx.xx</a:t>
            </a:r>
          </a:p>
          <a:p>
            <a:pPr lvl="2"/>
            <a:endParaRPr lang="fr-FR" dirty="0"/>
          </a:p>
          <a:p>
            <a:pPr lvl="2"/>
            <a:r>
              <a:rPr lang="fr-FR" dirty="0"/>
              <a:t>Permet de passer d’une version a une autre en une commande</a:t>
            </a:r>
          </a:p>
          <a:p>
            <a:pPr lvl="4"/>
            <a:r>
              <a:rPr lang="fr-FR" dirty="0"/>
              <a:t>nvm use xx.xx.xx</a:t>
            </a:r>
          </a:p>
          <a:p>
            <a:pPr lvl="2"/>
            <a:endParaRPr lang="fr-FR" dirty="0"/>
          </a:p>
          <a:p>
            <a:pPr lvl="2"/>
            <a:r>
              <a:rPr lang="fr-FR" dirty="0"/>
              <a:t>Installable nvm disponible sur : </a:t>
            </a:r>
          </a:p>
          <a:p>
            <a:pPr lvl="4"/>
            <a:r>
              <a:rPr lang="fr-FR" dirty="0"/>
              <a:t>Windows</a:t>
            </a:r>
          </a:p>
          <a:p>
            <a:pPr marL="0" indent="0" algn="ctr">
              <a:buNone/>
            </a:pPr>
            <a:r>
              <a:rPr lang="fr-FR" sz="2400" u="sng" dirty="0">
                <a:solidFill>
                  <a:schemeClr val="tx2"/>
                </a:solidFill>
              </a:rPr>
              <a:t>https://github.com/nvm-windows/nvm</a:t>
            </a:r>
          </a:p>
          <a:p>
            <a:pPr lvl="4"/>
            <a:r>
              <a:rPr lang="fr-FR" dirty="0"/>
              <a:t>Mac/linux</a:t>
            </a:r>
          </a:p>
          <a:p>
            <a:pPr marL="0" indent="0" algn="ctr">
              <a:buNone/>
            </a:pPr>
            <a:r>
              <a:rPr lang="fr-FR" sz="2400" u="sng" dirty="0">
                <a:solidFill>
                  <a:schemeClr val="tx2"/>
                </a:solidFill>
              </a:rPr>
              <a:t>https://github.com/nvm-sh/nvm</a:t>
            </a:r>
          </a:p>
          <a:p>
            <a:pPr marL="0" indent="0">
              <a:buNone/>
            </a:pPr>
            <a:endParaRPr lang="fr-FR" dirty="0"/>
          </a:p>
        </p:txBody>
      </p:sp>
    </p:spTree>
    <p:extLst>
      <p:ext uri="{BB962C8B-B14F-4D97-AF65-F5344CB8AC3E}">
        <p14:creationId xmlns:p14="http://schemas.microsoft.com/office/powerpoint/2010/main" val="3658327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23E6D-6E60-492C-B764-CBA013FBDAC3}"/>
              </a:ext>
            </a:extLst>
          </p:cNvPr>
          <p:cNvSpPr>
            <a:spLocks noGrp="1"/>
          </p:cNvSpPr>
          <p:nvPr>
            <p:ph type="title"/>
          </p:nvPr>
        </p:nvSpPr>
        <p:spPr/>
        <p:txBody>
          <a:bodyPr/>
          <a:lstStyle/>
          <a:p>
            <a:r>
              <a:rPr lang="fr-FR" dirty="0"/>
              <a:t>Node &amp; npm</a:t>
            </a:r>
          </a:p>
        </p:txBody>
      </p:sp>
      <p:sp>
        <p:nvSpPr>
          <p:cNvPr id="3" name="Espace réservé du contenu 2">
            <a:extLst>
              <a:ext uri="{FF2B5EF4-FFF2-40B4-BE49-F238E27FC236}">
                <a16:creationId xmlns:a16="http://schemas.microsoft.com/office/drawing/2014/main" id="{8E815927-6792-4DD1-93FB-C0EEFAEF2B2E}"/>
              </a:ext>
            </a:extLst>
          </p:cNvPr>
          <p:cNvSpPr>
            <a:spLocks noGrp="1"/>
          </p:cNvSpPr>
          <p:nvPr>
            <p:ph idx="1"/>
          </p:nvPr>
        </p:nvSpPr>
        <p:spPr/>
        <p:txBody>
          <a:bodyPr>
            <a:normAutofit fontScale="85000" lnSpcReduction="20000"/>
          </a:bodyPr>
          <a:lstStyle/>
          <a:p>
            <a:r>
              <a:rPr lang="fr-FR" dirty="0"/>
              <a:t>Commandes npm</a:t>
            </a:r>
          </a:p>
          <a:p>
            <a:pPr lvl="2"/>
            <a:r>
              <a:rPr lang="fr-FR" dirty="0"/>
              <a:t>Initialisation d’un répertoire de projet </a:t>
            </a:r>
          </a:p>
          <a:p>
            <a:pPr lvl="3"/>
            <a:r>
              <a:rPr lang="fr-FR" dirty="0"/>
              <a:t>Créer un fichier minimal package js </a:t>
            </a:r>
          </a:p>
          <a:p>
            <a:pPr lvl="4"/>
            <a:r>
              <a:rPr lang="fr-FR" sz="1950" b="1" dirty="0"/>
              <a:t>npm init </a:t>
            </a:r>
            <a:r>
              <a:rPr lang="fr-FR" dirty="0"/>
              <a:t>–y</a:t>
            </a:r>
          </a:p>
          <a:p>
            <a:pPr lvl="5"/>
            <a:r>
              <a:rPr lang="fr-FR" dirty="0"/>
              <a:t>Pré-configure node avec le répertoire .git</a:t>
            </a:r>
          </a:p>
          <a:p>
            <a:pPr marL="1714500" lvl="5" indent="0">
              <a:buNone/>
            </a:pPr>
            <a:r>
              <a:rPr lang="fr-FR" dirty="0"/>
              <a:t> (si .git présent)</a:t>
            </a:r>
          </a:p>
          <a:p>
            <a:pPr lvl="5"/>
            <a:r>
              <a:rPr lang="fr-FR" dirty="0"/>
              <a:t>-y : initialisation « quiet »</a:t>
            </a:r>
          </a:p>
          <a:p>
            <a:pPr lvl="3"/>
            <a:endParaRPr lang="fr-FR" dirty="0"/>
          </a:p>
          <a:p>
            <a:pPr lvl="2"/>
            <a:r>
              <a:rPr lang="fr-FR" dirty="0"/>
              <a:t>Installation des paquets</a:t>
            </a:r>
          </a:p>
          <a:p>
            <a:pPr lvl="4"/>
            <a:r>
              <a:rPr lang="fr-FR" sz="1950" b="1" dirty="0"/>
              <a:t>npm Install </a:t>
            </a:r>
            <a:r>
              <a:rPr lang="fr-FR" dirty="0"/>
              <a:t>–g  </a:t>
            </a:r>
            <a:r>
              <a:rPr lang="fr-FR" sz="1950" b="1" dirty="0"/>
              <a:t>packetname</a:t>
            </a:r>
            <a:r>
              <a:rPr lang="fr-FR" dirty="0"/>
              <a:t> packet2@version</a:t>
            </a:r>
          </a:p>
          <a:p>
            <a:pPr lvl="5"/>
            <a:r>
              <a:rPr lang="fr-FR" dirty="0"/>
              <a:t>-g : installation pour l’utilisateur courant, </a:t>
            </a:r>
          </a:p>
          <a:p>
            <a:pPr lvl="5"/>
            <a:r>
              <a:rPr lang="fr-FR" dirty="0"/>
              <a:t>sans –g installation pour le projet, dans le répertoire Node modules </a:t>
            </a:r>
          </a:p>
          <a:p>
            <a:pPr lvl="5"/>
            <a:r>
              <a:rPr lang="fr-FR" dirty="0"/>
              <a:t>--save permet l’ajout du paquet aux dépendances du projet</a:t>
            </a:r>
          </a:p>
          <a:p>
            <a:pPr lvl="2"/>
            <a:endParaRPr lang="fr-FR" dirty="0"/>
          </a:p>
          <a:p>
            <a:pPr lvl="2"/>
            <a:r>
              <a:rPr lang="fr-FR" dirty="0"/>
              <a:t>Npm start vs npm run mon script</a:t>
            </a:r>
          </a:p>
          <a:p>
            <a:pPr lvl="3"/>
            <a:r>
              <a:rPr lang="fr-FR" dirty="0"/>
              <a:t>Dans package. Son, section scripts</a:t>
            </a:r>
          </a:p>
          <a:p>
            <a:pPr lvl="3"/>
            <a:r>
              <a:rPr lang="fr-FR" dirty="0"/>
              <a:t>Script Name spécifiques nécessitant pas ‘run’ ex  npm test, npm Install, …</a:t>
            </a:r>
          </a:p>
          <a:p>
            <a:pPr lvl="1"/>
            <a:endParaRPr lang="fr-FR" dirty="0"/>
          </a:p>
        </p:txBody>
      </p:sp>
      <p:sp>
        <p:nvSpPr>
          <p:cNvPr id="4" name="Explosion : 14 points 3">
            <a:extLst>
              <a:ext uri="{FF2B5EF4-FFF2-40B4-BE49-F238E27FC236}">
                <a16:creationId xmlns:a16="http://schemas.microsoft.com/office/drawing/2014/main" id="{5D6DDEC3-E08F-4239-87E1-D4CD90C2ACB5}"/>
              </a:ext>
            </a:extLst>
          </p:cNvPr>
          <p:cNvSpPr/>
          <p:nvPr/>
        </p:nvSpPr>
        <p:spPr>
          <a:xfrm>
            <a:off x="5762211" y="1553753"/>
            <a:ext cx="3585541" cy="2031789"/>
          </a:xfrm>
          <a:prstGeom prst="irregularSeal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350" dirty="0"/>
              <a:t>Il existe deux types de dépendances :</a:t>
            </a:r>
          </a:p>
          <a:p>
            <a:pPr algn="ctr"/>
            <a:r>
              <a:rPr lang="fr-FR" sz="1350" dirty="0"/>
              <a:t>devDepencies</a:t>
            </a:r>
          </a:p>
          <a:p>
            <a:pPr algn="ctr"/>
            <a:r>
              <a:rPr lang="fr-FR" sz="1350" dirty="0"/>
              <a:t>dependencies</a:t>
            </a:r>
          </a:p>
        </p:txBody>
      </p:sp>
    </p:spTree>
    <p:extLst>
      <p:ext uri="{BB962C8B-B14F-4D97-AF65-F5344CB8AC3E}">
        <p14:creationId xmlns:p14="http://schemas.microsoft.com/office/powerpoint/2010/main" val="24464196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9BD38EB-2A71-4488-0CAD-29189807E6FB}"/>
              </a:ext>
            </a:extLst>
          </p:cNvPr>
          <p:cNvSpPr>
            <a:spLocks noGrp="1"/>
          </p:cNvSpPr>
          <p:nvPr>
            <p:ph type="title"/>
          </p:nvPr>
        </p:nvSpPr>
        <p:spPr/>
        <p:txBody>
          <a:bodyPr/>
          <a:lstStyle/>
          <a:p>
            <a:r>
              <a:rPr lang="fr-FR" dirty="0"/>
              <a:t>Installation des dépendances Node</a:t>
            </a:r>
          </a:p>
        </p:txBody>
      </p:sp>
      <p:sp>
        <p:nvSpPr>
          <p:cNvPr id="3" name="Espace réservé du contenu 2">
            <a:extLst>
              <a:ext uri="{FF2B5EF4-FFF2-40B4-BE49-F238E27FC236}">
                <a16:creationId xmlns:a16="http://schemas.microsoft.com/office/drawing/2014/main" id="{24E26045-7EC2-5ED6-070B-0489E38D07E8}"/>
              </a:ext>
            </a:extLst>
          </p:cNvPr>
          <p:cNvSpPr>
            <a:spLocks noGrp="1"/>
          </p:cNvSpPr>
          <p:nvPr>
            <p:ph idx="1"/>
          </p:nvPr>
        </p:nvSpPr>
        <p:spPr/>
        <p:txBody>
          <a:bodyPr/>
          <a:lstStyle/>
          <a:p>
            <a:r>
              <a:rPr lang="fr-FR" dirty="0"/>
              <a:t>devDependencies:</a:t>
            </a:r>
          </a:p>
          <a:p>
            <a:pPr lvl="1"/>
            <a:r>
              <a:rPr lang="fr-FR" dirty="0"/>
              <a:t>Serveur web :</a:t>
            </a:r>
          </a:p>
          <a:p>
            <a:pPr lvl="2"/>
            <a:r>
              <a:rPr lang="fr-FR" dirty="0"/>
              <a:t>npm install --save-dev lite-serveur</a:t>
            </a:r>
          </a:p>
          <a:p>
            <a:pPr lvl="1"/>
            <a:r>
              <a:rPr lang="fr-FR" dirty="0"/>
              <a:t>Serveur REST :</a:t>
            </a:r>
          </a:p>
          <a:p>
            <a:pPr lvl="2"/>
            <a:r>
              <a:rPr lang="fr-FR" dirty="0"/>
              <a:t>npm install --save-dev json-server</a:t>
            </a:r>
          </a:p>
          <a:p>
            <a:pPr lvl="1"/>
            <a:r>
              <a:rPr lang="fr-FR" dirty="0"/>
              <a:t>Typescript</a:t>
            </a:r>
          </a:p>
          <a:p>
            <a:pPr lvl="2"/>
            <a:r>
              <a:rPr lang="fr-FR" dirty="0"/>
              <a:t>Npm install --save-dev typescript</a:t>
            </a:r>
          </a:p>
          <a:p>
            <a:r>
              <a:rPr lang="fr-FR" dirty="0"/>
              <a:t>dependencies:</a:t>
            </a:r>
          </a:p>
          <a:p>
            <a:pPr lvl="1"/>
            <a:r>
              <a:rPr lang="fr-FR" dirty="0"/>
              <a:t>Bootstrap</a:t>
            </a:r>
          </a:p>
          <a:p>
            <a:pPr lvl="2"/>
            <a:r>
              <a:rPr lang="fr-FR" dirty="0"/>
              <a:t>npm install boostrap@latest</a:t>
            </a:r>
          </a:p>
        </p:txBody>
      </p:sp>
    </p:spTree>
    <p:extLst>
      <p:ext uri="{BB962C8B-B14F-4D97-AF65-F5344CB8AC3E}">
        <p14:creationId xmlns:p14="http://schemas.microsoft.com/office/powerpoint/2010/main" val="24713410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4F0C752-0997-B00A-B646-13C777ABCE88}"/>
              </a:ext>
            </a:extLst>
          </p:cNvPr>
          <p:cNvSpPr>
            <a:spLocks noGrp="1"/>
          </p:cNvSpPr>
          <p:nvPr>
            <p:ph type="title"/>
          </p:nvPr>
        </p:nvSpPr>
        <p:spPr/>
        <p:txBody>
          <a:bodyPr/>
          <a:lstStyle/>
          <a:p>
            <a:r>
              <a:rPr lang="fr-FR" dirty="0"/>
              <a:t>Github &amp; git</a:t>
            </a:r>
          </a:p>
        </p:txBody>
      </p:sp>
      <p:sp>
        <p:nvSpPr>
          <p:cNvPr id="3" name="Espace réservé du contenu 2">
            <a:extLst>
              <a:ext uri="{FF2B5EF4-FFF2-40B4-BE49-F238E27FC236}">
                <a16:creationId xmlns:a16="http://schemas.microsoft.com/office/drawing/2014/main" id="{D452EEA1-AF18-077E-366E-71D7752FF36E}"/>
              </a:ext>
            </a:extLst>
          </p:cNvPr>
          <p:cNvSpPr>
            <a:spLocks noGrp="1"/>
          </p:cNvSpPr>
          <p:nvPr>
            <p:ph idx="1"/>
          </p:nvPr>
        </p:nvSpPr>
        <p:spPr/>
        <p:txBody>
          <a:bodyPr>
            <a:normAutofit fontScale="55000" lnSpcReduction="20000"/>
          </a:bodyPr>
          <a:lstStyle/>
          <a:p>
            <a:r>
              <a:rPr lang="fr-FR" dirty="0"/>
              <a:t>Installation de la prise en charge de git</a:t>
            </a:r>
          </a:p>
          <a:p>
            <a:pPr marL="0" indent="0" algn="ctr">
              <a:buNone/>
            </a:pPr>
            <a:r>
              <a:rPr lang="fr-FR" sz="2400" u="sng" dirty="0">
                <a:solidFill>
                  <a:schemeClr val="tx2"/>
                </a:solidFill>
              </a:rPr>
              <a:t>https://git-scm.com/</a:t>
            </a:r>
          </a:p>
          <a:p>
            <a:endParaRPr lang="fr-FR" dirty="0"/>
          </a:p>
          <a:p>
            <a:r>
              <a:rPr lang="fr-FR" dirty="0"/>
              <a:t>Création de compte gratuit sur </a:t>
            </a:r>
          </a:p>
          <a:p>
            <a:pPr marL="0" indent="0" algn="ctr">
              <a:buNone/>
            </a:pPr>
            <a:r>
              <a:rPr lang="fr-FR" sz="2400" u="sng" dirty="0">
                <a:solidFill>
                  <a:schemeClr val="tx2"/>
                </a:solidFill>
              </a:rPr>
              <a:t>https://github.com</a:t>
            </a:r>
          </a:p>
          <a:p>
            <a:endParaRPr lang="fr-FR" dirty="0"/>
          </a:p>
          <a:p>
            <a:r>
              <a:rPr lang="fr-FR" dirty="0"/>
              <a:t>Création d’une repositories sur github</a:t>
            </a:r>
          </a:p>
          <a:p>
            <a:endParaRPr lang="fr-FR" dirty="0"/>
          </a:p>
          <a:p>
            <a:r>
              <a:rPr lang="fr-FR" dirty="0"/>
              <a:t>Clone de la repositories</a:t>
            </a:r>
          </a:p>
          <a:p>
            <a:pPr lvl="2"/>
            <a:r>
              <a:rPr lang="fr-FR" dirty="0"/>
              <a:t>Git clone </a:t>
            </a:r>
            <a:r>
              <a:rPr lang="fr-FR" dirty="0">
                <a:hlinkClick r:id="rId2"/>
              </a:rPr>
              <a:t>https://github.com/userName/reposName.git</a:t>
            </a:r>
            <a:endParaRPr lang="fr-FR" dirty="0"/>
          </a:p>
          <a:p>
            <a:endParaRPr lang="fr-FR" dirty="0"/>
          </a:p>
          <a:p>
            <a:r>
              <a:rPr lang="fr-FR" dirty="0"/>
              <a:t>Configuration signature de commit </a:t>
            </a:r>
          </a:p>
          <a:p>
            <a:pPr lvl="2"/>
            <a:r>
              <a:rPr lang="en-US" dirty="0"/>
              <a:t>git config --global user.name "Your Name"</a:t>
            </a:r>
          </a:p>
          <a:p>
            <a:pPr lvl="2"/>
            <a:r>
              <a:rPr lang="en-US" dirty="0"/>
              <a:t>git config --global user.email "youremail@yourdomain.com"</a:t>
            </a:r>
          </a:p>
          <a:p>
            <a:pPr lvl="1"/>
            <a:endParaRPr lang="fr-FR" dirty="0"/>
          </a:p>
          <a:p>
            <a:r>
              <a:rPr lang="fr-FR" dirty="0"/>
              <a:t>Premier commit</a:t>
            </a:r>
          </a:p>
          <a:p>
            <a:pPr lvl="2"/>
            <a:r>
              <a:rPr lang="fr-FR" dirty="0"/>
              <a:t>git add .</a:t>
            </a:r>
          </a:p>
          <a:p>
            <a:pPr lvl="2"/>
            <a:r>
              <a:rPr lang="fr-FR" dirty="0"/>
              <a:t>git commit –m message</a:t>
            </a:r>
          </a:p>
          <a:p>
            <a:endParaRPr lang="fr-FR" dirty="0"/>
          </a:p>
          <a:p>
            <a:r>
              <a:rPr lang="fr-FR" dirty="0"/>
              <a:t>Push serveur</a:t>
            </a:r>
          </a:p>
          <a:p>
            <a:pPr lvl="2"/>
            <a:r>
              <a:rPr lang="fr-FR" dirty="0"/>
              <a:t>git puh</a:t>
            </a:r>
          </a:p>
          <a:p>
            <a:endParaRPr lang="fr-FR" dirty="0"/>
          </a:p>
        </p:txBody>
      </p:sp>
    </p:spTree>
    <p:extLst>
      <p:ext uri="{BB962C8B-B14F-4D97-AF65-F5344CB8AC3E}">
        <p14:creationId xmlns:p14="http://schemas.microsoft.com/office/powerpoint/2010/main" val="8037607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85F4020-4796-373D-1E71-5B40E7C63C68}"/>
              </a:ext>
            </a:extLst>
          </p:cNvPr>
          <p:cNvSpPr>
            <a:spLocks noGrp="1"/>
          </p:cNvSpPr>
          <p:nvPr>
            <p:ph type="title"/>
          </p:nvPr>
        </p:nvSpPr>
        <p:spPr/>
        <p:txBody>
          <a:bodyPr/>
          <a:lstStyle/>
          <a:p>
            <a:r>
              <a:rPr lang="fr-FR" dirty="0"/>
              <a:t>Plugin Vscode</a:t>
            </a:r>
          </a:p>
        </p:txBody>
      </p:sp>
      <p:sp>
        <p:nvSpPr>
          <p:cNvPr id="3" name="Espace réservé du contenu 2">
            <a:extLst>
              <a:ext uri="{FF2B5EF4-FFF2-40B4-BE49-F238E27FC236}">
                <a16:creationId xmlns:a16="http://schemas.microsoft.com/office/drawing/2014/main" id="{6F097AFD-DD4E-7443-62FC-232273A1DDD5}"/>
              </a:ext>
            </a:extLst>
          </p:cNvPr>
          <p:cNvSpPr>
            <a:spLocks noGrp="1"/>
          </p:cNvSpPr>
          <p:nvPr>
            <p:ph idx="1"/>
          </p:nvPr>
        </p:nvSpPr>
        <p:spPr/>
        <p:txBody>
          <a:bodyPr/>
          <a:lstStyle/>
          <a:p>
            <a:r>
              <a:rPr lang="fr-FR" dirty="0"/>
              <a:t>Linter</a:t>
            </a:r>
          </a:p>
          <a:p>
            <a:pPr lvl="2"/>
            <a:r>
              <a:rPr lang="fr-FR" dirty="0"/>
              <a:t>ESLint</a:t>
            </a:r>
          </a:p>
          <a:p>
            <a:pPr lvl="2"/>
            <a:r>
              <a:rPr lang="fr-FR" dirty="0"/>
              <a:t>Sonar</a:t>
            </a:r>
          </a:p>
          <a:p>
            <a:pPr lvl="2"/>
            <a:endParaRPr lang="fr-FR" dirty="0"/>
          </a:p>
          <a:p>
            <a:r>
              <a:rPr lang="fr-FR" dirty="0"/>
              <a:t>Pretty</a:t>
            </a:r>
          </a:p>
          <a:p>
            <a:pPr lvl="2"/>
            <a:r>
              <a:rPr lang="fr-FR" dirty="0"/>
              <a:t>Prettier</a:t>
            </a:r>
          </a:p>
          <a:p>
            <a:endParaRPr lang="fr-FR" dirty="0"/>
          </a:p>
          <a:p>
            <a:r>
              <a:rPr lang="fr-FR" dirty="0"/>
              <a:t>HTML/css</a:t>
            </a:r>
          </a:p>
          <a:p>
            <a:pPr lvl="2"/>
            <a:r>
              <a:rPr lang="fr-FR" dirty="0"/>
              <a:t>HTML CSS Support</a:t>
            </a:r>
          </a:p>
          <a:p>
            <a:pPr lvl="2"/>
            <a:r>
              <a:rPr lang="fr-FR" dirty="0"/>
              <a:t>Auto Complete Tag</a:t>
            </a:r>
          </a:p>
          <a:p>
            <a:pPr marL="0" indent="0">
              <a:buNone/>
            </a:pPr>
            <a:endParaRPr lang="fr-FR" dirty="0"/>
          </a:p>
        </p:txBody>
      </p:sp>
    </p:spTree>
    <p:extLst>
      <p:ext uri="{BB962C8B-B14F-4D97-AF65-F5344CB8AC3E}">
        <p14:creationId xmlns:p14="http://schemas.microsoft.com/office/powerpoint/2010/main" val="1652859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Ou écrire du JS</a:t>
            </a:r>
          </a:p>
        </p:txBody>
      </p:sp>
      <p:sp>
        <p:nvSpPr>
          <p:cNvPr id="3" name="Espace réservé du contenu 2"/>
          <p:cNvSpPr>
            <a:spLocks noGrp="1"/>
          </p:cNvSpPr>
          <p:nvPr>
            <p:ph idx="1"/>
          </p:nvPr>
        </p:nvSpPr>
        <p:spPr/>
        <p:txBody>
          <a:bodyPr>
            <a:normAutofit fontScale="92500" lnSpcReduction="20000"/>
          </a:bodyPr>
          <a:lstStyle/>
          <a:p>
            <a:r>
              <a:rPr lang="fr-FR" dirty="0"/>
              <a:t>La balise script</a:t>
            </a:r>
          </a:p>
          <a:p>
            <a:pPr algn="ctr">
              <a:buNone/>
            </a:pPr>
            <a:r>
              <a:rPr lang="fr-FR" dirty="0"/>
              <a:t>&lt;script&gt; console.log("hello");&lt;/script&gt;</a:t>
            </a:r>
          </a:p>
          <a:p>
            <a:endParaRPr lang="fr-FR" dirty="0"/>
          </a:p>
          <a:p>
            <a:r>
              <a:rPr lang="fr-FR" dirty="0"/>
              <a:t>Les fichier js</a:t>
            </a:r>
          </a:p>
          <a:p>
            <a:pPr algn="ctr">
              <a:buNone/>
            </a:pPr>
            <a:r>
              <a:rPr lang="fr-FR" dirty="0"/>
              <a:t>&lt;script href="js/fichier.js"&gt;&lt;/script&gt;</a:t>
            </a:r>
          </a:p>
          <a:p>
            <a:endParaRPr lang="fr-FR" dirty="0"/>
          </a:p>
          <a:p>
            <a:r>
              <a:rPr lang="fr-FR" dirty="0"/>
              <a:t>Dans les liens *</a:t>
            </a:r>
          </a:p>
          <a:p>
            <a:pPr algn="ctr">
              <a:buNone/>
            </a:pPr>
            <a:r>
              <a:rPr lang="fr-FR" dirty="0"/>
              <a:t>&lt;a href="JavaScript:alert('test');"&gt;Tester &lt;/a&gt;</a:t>
            </a:r>
          </a:p>
          <a:p>
            <a:pPr algn="ctr">
              <a:buNone/>
            </a:pPr>
            <a:endParaRPr lang="fr-FR" dirty="0"/>
          </a:p>
          <a:p>
            <a:r>
              <a:rPr lang="fr-FR" dirty="0"/>
              <a:t>Dans les events **</a:t>
            </a:r>
          </a:p>
          <a:p>
            <a:pPr algn="ctr">
              <a:buNone/>
            </a:pPr>
            <a:r>
              <a:rPr lang="fr-FR" dirty="0"/>
              <a:t>&lt;input type="button" onclick="alert('test');" /&gt;</a:t>
            </a:r>
          </a:p>
        </p:txBody>
      </p:sp>
    </p:spTree>
    <p:extLst>
      <p:ext uri="{BB962C8B-B14F-4D97-AF65-F5344CB8AC3E}">
        <p14:creationId xmlns:p14="http://schemas.microsoft.com/office/powerpoint/2010/main" val="1295007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AutoShape 2"/>
          <p:cNvSpPr>
            <a:spLocks noGrp="1" noChangeArrowheads="1"/>
          </p:cNvSpPr>
          <p:nvPr>
            <p:ph type="title"/>
          </p:nvPr>
        </p:nvSpPr>
        <p:spPr>
          <a:prstGeom prst="rect">
            <a:avLst/>
          </a:prstGeom>
        </p:spPr>
        <p:txBody>
          <a:bodyPr/>
          <a:lstStyle/>
          <a:p>
            <a:pPr eaLnBrk="1" hangingPunct="1"/>
            <a:r>
              <a:rPr lang="fr-FR" altLang="fr-FR" dirty="0"/>
              <a:t>Conventions de nommage</a:t>
            </a:r>
          </a:p>
        </p:txBody>
      </p:sp>
      <p:sp>
        <p:nvSpPr>
          <p:cNvPr id="27652" name="Rectangle 3"/>
          <p:cNvSpPr>
            <a:spLocks noGrp="1" noChangeArrowheads="1"/>
          </p:cNvSpPr>
          <p:nvPr>
            <p:ph idx="1"/>
          </p:nvPr>
        </p:nvSpPr>
        <p:spPr>
          <a:prstGeom prst="rect">
            <a:avLst/>
          </a:prstGeom>
        </p:spPr>
        <p:txBody>
          <a:bodyPr lIns="91440" tIns="45720" rIns="91440" bIns="45720">
            <a:normAutofit fontScale="77500" lnSpcReduction="20000"/>
          </a:bodyPr>
          <a:lstStyle/>
          <a:p>
            <a:pPr eaLnBrk="1" hangingPunct="1">
              <a:lnSpc>
                <a:spcPct val="90000"/>
              </a:lnSpc>
              <a:tabLst>
                <a:tab pos="8439150" algn="r"/>
              </a:tabLst>
            </a:pPr>
            <a:r>
              <a:rPr lang="fr-FR" altLang="fr-FR" b="1" dirty="0"/>
              <a:t>Javascript</a:t>
            </a:r>
            <a:r>
              <a:rPr lang="fr-FR" altLang="fr-FR" dirty="0"/>
              <a:t>, </a:t>
            </a:r>
            <a:r>
              <a:rPr lang="fr-FR" altLang="fr-FR" b="1" dirty="0"/>
              <a:t>sensible</a:t>
            </a:r>
            <a:r>
              <a:rPr lang="fr-FR" altLang="fr-FR" dirty="0"/>
              <a:t> à la </a:t>
            </a:r>
            <a:r>
              <a:rPr lang="fr-FR" altLang="fr-FR" b="1" dirty="0"/>
              <a:t>casse</a:t>
            </a:r>
            <a:r>
              <a:rPr lang="fr-FR" altLang="fr-FR" dirty="0"/>
              <a:t>, utilise :</a:t>
            </a:r>
          </a:p>
          <a:p>
            <a:pPr lvl="1" eaLnBrk="1" hangingPunct="1">
              <a:lnSpc>
                <a:spcPct val="90000"/>
              </a:lnSpc>
              <a:tabLst>
                <a:tab pos="8439150" algn="r"/>
              </a:tabLst>
            </a:pPr>
            <a:r>
              <a:rPr lang="fr-FR" altLang="fr-FR" dirty="0">
                <a:ea typeface="MS Mincho" pitchFamily="49" charset="-128"/>
              </a:rPr>
              <a:t>La </a:t>
            </a:r>
            <a:r>
              <a:rPr lang="fr-FR" altLang="fr-FR" b="1" dirty="0">
                <a:ea typeface="MS Mincho" pitchFamily="49" charset="-128"/>
              </a:rPr>
              <a:t>UpperCamelCase</a:t>
            </a:r>
            <a:r>
              <a:rPr lang="fr-FR" altLang="fr-FR" dirty="0">
                <a:ea typeface="MS Mincho" pitchFamily="49" charset="-128"/>
              </a:rPr>
              <a:t> (</a:t>
            </a:r>
            <a:r>
              <a:rPr lang="fr-FR" altLang="fr-FR" sz="2100" dirty="0">
                <a:ea typeface="MS Mincho" pitchFamily="49" charset="-128"/>
              </a:rPr>
              <a:t>casse de chameau événement</a:t>
            </a:r>
            <a:r>
              <a:rPr lang="fr-FR" altLang="fr-FR" dirty="0">
                <a:ea typeface="MS Mincho" pitchFamily="49" charset="-128"/>
              </a:rPr>
              <a:t>) pour les types / namespaces</a:t>
            </a:r>
          </a:p>
          <a:p>
            <a:pPr lvl="2" eaLnBrk="1" hangingPunct="1">
              <a:lnSpc>
                <a:spcPct val="90000"/>
              </a:lnSpc>
              <a:tabLst>
                <a:tab pos="8439150" algn="r"/>
              </a:tabLst>
            </a:pPr>
            <a:r>
              <a:rPr lang="fr-FR" altLang="fr-FR" dirty="0">
                <a:ea typeface="MS Mincho" pitchFamily="49" charset="-128"/>
              </a:rPr>
              <a:t>Ex: RegExp   ou   String   -   Node   ou   Ajax</a:t>
            </a:r>
          </a:p>
          <a:p>
            <a:pPr lvl="1" eaLnBrk="1" hangingPunct="1">
              <a:lnSpc>
                <a:spcPct val="90000"/>
              </a:lnSpc>
              <a:tabLst>
                <a:tab pos="8439150" algn="r"/>
              </a:tabLst>
            </a:pPr>
            <a:r>
              <a:rPr lang="fr-FR" altLang="fr-FR" dirty="0">
                <a:ea typeface="MS Mincho" pitchFamily="49" charset="-128"/>
              </a:rPr>
              <a:t>La </a:t>
            </a:r>
            <a:r>
              <a:rPr lang="fr-FR" altLang="fr-FR" b="1" dirty="0">
                <a:ea typeface="MS Mincho" pitchFamily="49" charset="-128"/>
              </a:rPr>
              <a:t>lowerCamelCase</a:t>
            </a:r>
            <a:r>
              <a:rPr lang="fr-FR" altLang="fr-FR" dirty="0">
                <a:ea typeface="MS Mincho" pitchFamily="49" charset="-128"/>
              </a:rPr>
              <a:t> pour les objets, variables, propriétés, fonctions, méthodes</a:t>
            </a:r>
          </a:p>
          <a:p>
            <a:pPr lvl="2" eaLnBrk="1" hangingPunct="1">
              <a:lnSpc>
                <a:spcPct val="90000"/>
              </a:lnSpc>
              <a:tabLst>
                <a:tab pos="8439150" algn="r"/>
              </a:tabLst>
            </a:pPr>
            <a:r>
              <a:rPr lang="fr-FR" altLang="fr-FR" dirty="0">
                <a:ea typeface="MS Mincho" pitchFamily="49" charset="-128"/>
              </a:rPr>
              <a:t>Ex: window.clientHeight   ou   xhr.readyState   -   charAt(2)   ou   indexOf('?')</a:t>
            </a:r>
          </a:p>
          <a:p>
            <a:pPr lvl="1" eaLnBrk="1" hangingPunct="1">
              <a:lnSpc>
                <a:spcPct val="90000"/>
              </a:lnSpc>
              <a:tabLst>
                <a:tab pos="8439150" algn="r"/>
              </a:tabLst>
            </a:pPr>
            <a:r>
              <a:rPr lang="fr-FR" altLang="fr-FR" dirty="0">
                <a:ea typeface="MS Mincho" pitchFamily="49" charset="-128"/>
              </a:rPr>
              <a:t>Tout en </a:t>
            </a:r>
            <a:r>
              <a:rPr lang="fr-FR" altLang="fr-FR" b="1" dirty="0">
                <a:ea typeface="MS Mincho" pitchFamily="49" charset="-128"/>
              </a:rPr>
              <a:t>majuscule</a:t>
            </a:r>
            <a:r>
              <a:rPr lang="fr-FR" altLang="fr-FR" dirty="0">
                <a:ea typeface="MS Mincho" pitchFamily="49" charset="-128"/>
              </a:rPr>
              <a:t>, chaque mot séparé par un « _ » pour les </a:t>
            </a:r>
            <a:r>
              <a:rPr lang="fr-FR" altLang="fr-FR" b="1" dirty="0">
                <a:ea typeface="MS Mincho" pitchFamily="49" charset="-128"/>
              </a:rPr>
              <a:t>constantes</a:t>
            </a:r>
          </a:p>
          <a:p>
            <a:pPr lvl="2" eaLnBrk="1" hangingPunct="1">
              <a:lnSpc>
                <a:spcPct val="90000"/>
              </a:lnSpc>
              <a:tabLst>
                <a:tab pos="8439150" algn="r"/>
              </a:tabLst>
            </a:pPr>
            <a:r>
              <a:rPr lang="fr-FR" altLang="fr-FR" dirty="0">
                <a:ea typeface="MS Mincho" pitchFamily="49" charset="-128"/>
              </a:rPr>
              <a:t>Ex: Node.TEXT_NODE   ou   STR_ERROR_MSG</a:t>
            </a:r>
          </a:p>
          <a:p>
            <a:pPr lvl="1" eaLnBrk="1" hangingPunct="1">
              <a:lnSpc>
                <a:spcPct val="90000"/>
              </a:lnSpc>
              <a:tabLst>
                <a:tab pos="8439150" algn="r"/>
              </a:tabLst>
            </a:pPr>
            <a:r>
              <a:rPr lang="fr-FR" altLang="fr-FR" dirty="0">
                <a:ea typeface="MS Mincho" pitchFamily="49" charset="-128"/>
              </a:rPr>
              <a:t>Tout en </a:t>
            </a:r>
            <a:r>
              <a:rPr lang="fr-FR" altLang="fr-FR" b="1" dirty="0">
                <a:ea typeface="MS Mincho" pitchFamily="49" charset="-128"/>
              </a:rPr>
              <a:t>minuscule</a:t>
            </a:r>
            <a:r>
              <a:rPr lang="fr-FR" altLang="fr-FR" dirty="0">
                <a:ea typeface="MS Mincho" pitchFamily="49" charset="-128"/>
              </a:rPr>
              <a:t> pour les </a:t>
            </a:r>
            <a:r>
              <a:rPr lang="fr-FR" altLang="fr-FR" b="1" dirty="0">
                <a:ea typeface="MS Mincho" pitchFamily="49" charset="-128"/>
              </a:rPr>
              <a:t>événements</a:t>
            </a:r>
            <a:r>
              <a:rPr lang="fr-FR" altLang="fr-FR" dirty="0">
                <a:ea typeface="MS Mincho" pitchFamily="49" charset="-128"/>
              </a:rPr>
              <a:t> et gestionnaires d'événement</a:t>
            </a:r>
          </a:p>
          <a:p>
            <a:pPr lvl="2" eaLnBrk="1" hangingPunct="1">
              <a:lnSpc>
                <a:spcPct val="90000"/>
              </a:lnSpc>
              <a:tabLst>
                <a:tab pos="8439150" algn="r"/>
              </a:tabLst>
            </a:pPr>
            <a:r>
              <a:rPr lang="fr-FR" altLang="fr-FR" dirty="0">
                <a:ea typeface="MS Mincho" pitchFamily="49" charset="-128"/>
              </a:rPr>
              <a:t>Ex: onreadystatechange   ou   onclick</a:t>
            </a:r>
          </a:p>
          <a:p>
            <a:pPr lvl="1" eaLnBrk="1" hangingPunct="1">
              <a:lnSpc>
                <a:spcPct val="90000"/>
              </a:lnSpc>
              <a:tabLst>
                <a:tab pos="8439150" algn="r"/>
              </a:tabLst>
            </a:pPr>
            <a:r>
              <a:rPr lang="fr-FR" altLang="fr-FR" dirty="0">
                <a:ea typeface="MS Mincho" pitchFamily="49" charset="-128"/>
              </a:rPr>
              <a:t>« </a:t>
            </a:r>
            <a:r>
              <a:rPr lang="fr-FR" altLang="fr-FR" b="1" dirty="0">
                <a:ea typeface="MS Mincho" pitchFamily="49" charset="-128"/>
              </a:rPr>
              <a:t>_</a:t>
            </a:r>
            <a:r>
              <a:rPr lang="fr-FR" altLang="fr-FR" dirty="0">
                <a:ea typeface="MS Mincho" pitchFamily="49" charset="-128"/>
              </a:rPr>
              <a:t> » </a:t>
            </a:r>
            <a:r>
              <a:rPr lang="fr-FR" altLang="fr-FR" b="1" dirty="0">
                <a:ea typeface="MS Mincho" pitchFamily="49" charset="-128"/>
              </a:rPr>
              <a:t>devant</a:t>
            </a:r>
            <a:r>
              <a:rPr lang="fr-FR" altLang="fr-FR" dirty="0">
                <a:ea typeface="MS Mincho" pitchFamily="49" charset="-128"/>
              </a:rPr>
              <a:t> le nom des propriétés </a:t>
            </a:r>
            <a:r>
              <a:rPr lang="fr-FR" altLang="fr-FR" b="1" dirty="0">
                <a:ea typeface="MS Mincho" pitchFamily="49" charset="-128"/>
              </a:rPr>
              <a:t>privées</a:t>
            </a:r>
            <a:r>
              <a:rPr lang="fr-FR" altLang="fr-FR" dirty="0">
                <a:ea typeface="MS Mincho" pitchFamily="49" charset="-128"/>
              </a:rPr>
              <a:t> (ex: _myPvtProp)</a:t>
            </a:r>
          </a:p>
          <a:p>
            <a:pPr lvl="2" eaLnBrk="1" hangingPunct="1">
              <a:lnSpc>
                <a:spcPct val="90000"/>
              </a:lnSpc>
              <a:tabLst>
                <a:tab pos="8439150" algn="r"/>
              </a:tabLst>
            </a:pPr>
            <a:r>
              <a:rPr lang="fr-FR" altLang="fr-FR" dirty="0">
                <a:ea typeface="MS Mincho" pitchFamily="49" charset="-128"/>
              </a:rPr>
              <a:t>Ex: var _id = 0</a:t>
            </a:r>
          </a:p>
          <a:p>
            <a:pPr lvl="1" eaLnBrk="1" hangingPunct="1">
              <a:lnSpc>
                <a:spcPct val="90000"/>
              </a:lnSpc>
              <a:tabLst>
                <a:tab pos="8439150" algn="r"/>
              </a:tabLst>
            </a:pPr>
            <a:r>
              <a:rPr lang="fr-FR" altLang="fr-FR" dirty="0">
                <a:ea typeface="MS Mincho" pitchFamily="49" charset="-128"/>
              </a:rPr>
              <a:t>un </a:t>
            </a:r>
            <a:r>
              <a:rPr lang="fr-FR" altLang="fr-FR" b="1" dirty="0">
                <a:ea typeface="MS Mincho" pitchFamily="49" charset="-128"/>
              </a:rPr>
              <a:t>verbe</a:t>
            </a:r>
            <a:r>
              <a:rPr lang="fr-FR" altLang="fr-FR" dirty="0">
                <a:ea typeface="MS Mincho" pitchFamily="49" charset="-128"/>
              </a:rPr>
              <a:t> en début de méthode et is/has/can pour celles </a:t>
            </a:r>
            <a:r>
              <a:rPr lang="fr-FR" altLang="fr-FR" b="1" dirty="0">
                <a:ea typeface="MS Mincho" pitchFamily="49" charset="-128"/>
              </a:rPr>
              <a:t>booléennes</a:t>
            </a:r>
          </a:p>
          <a:p>
            <a:pPr lvl="2" eaLnBrk="1" hangingPunct="1">
              <a:lnSpc>
                <a:spcPct val="90000"/>
              </a:lnSpc>
              <a:tabLst>
                <a:tab pos="8439150" algn="r"/>
              </a:tabLst>
            </a:pPr>
            <a:r>
              <a:rPr lang="fr-FR" altLang="fr-FR" dirty="0">
                <a:ea typeface="MS Mincho" pitchFamily="49" charset="-128"/>
              </a:rPr>
              <a:t>Ex: hasChild()   ou   isEmpty()</a:t>
            </a:r>
          </a:p>
        </p:txBody>
      </p:sp>
      <p:sp>
        <p:nvSpPr>
          <p:cNvPr id="27650" name="Rectangle 13"/>
          <p:cNvSpPr>
            <a:spLocks noGrp="1" noChangeArrowheads="1"/>
          </p:cNvSpPr>
          <p:nvPr>
            <p:ph type="sldNum" sz="quarter" idx="12"/>
          </p:nvPr>
        </p:nvSpPr>
        <p:spPr>
          <a:prstGeom prst="rect">
            <a:avLst/>
          </a:prstGeom>
          <a:noFill/>
        </p:spPr>
        <p:txBody>
          <a:bodyPr/>
          <a:lstStyle/>
          <a:p>
            <a:fld id="{D13CD49E-CCF1-4647-BF75-44CF7BE0CF50}" type="slidenum">
              <a:rPr lang="fr-FR" altLang="fr-FR" smtClean="0"/>
              <a:pPr/>
              <a:t>36</a:t>
            </a:fld>
            <a:endParaRPr lang="fr-FR" altLang="fr-FR" dirty="0"/>
          </a:p>
        </p:txBody>
      </p:sp>
    </p:spTree>
    <p:extLst>
      <p:ext uri="{BB962C8B-B14F-4D97-AF65-F5344CB8AC3E}">
        <p14:creationId xmlns:p14="http://schemas.microsoft.com/office/powerpoint/2010/main" val="25631453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règles syntaxiques</a:t>
            </a:r>
          </a:p>
        </p:txBody>
      </p:sp>
      <p:sp>
        <p:nvSpPr>
          <p:cNvPr id="3" name="Espace réservé du contenu 2"/>
          <p:cNvSpPr>
            <a:spLocks noGrp="1"/>
          </p:cNvSpPr>
          <p:nvPr>
            <p:ph idx="1"/>
          </p:nvPr>
        </p:nvSpPr>
        <p:spPr/>
        <p:txBody>
          <a:bodyPr>
            <a:normAutofit lnSpcReduction="10000"/>
          </a:bodyPr>
          <a:lstStyle/>
          <a:p>
            <a:r>
              <a:rPr lang="fr-FR" b="1" dirty="0"/>
              <a:t>;</a:t>
            </a:r>
            <a:r>
              <a:rPr lang="fr-FR" dirty="0"/>
              <a:t> Point virgule signifie la fin d'une instruction</a:t>
            </a:r>
          </a:p>
          <a:p>
            <a:r>
              <a:rPr lang="fr-FR" b="1" dirty="0"/>
              <a:t>.</a:t>
            </a:r>
            <a:r>
              <a:rPr lang="fr-FR" dirty="0"/>
              <a:t> Point sert a accéder aux méthodes d'un objet</a:t>
            </a:r>
          </a:p>
          <a:p>
            <a:r>
              <a:rPr lang="fr-FR" b="1" dirty="0"/>
              <a:t>()</a:t>
            </a:r>
            <a:r>
              <a:rPr lang="fr-FR" dirty="0"/>
              <a:t> Parenthèses pour les appels et passages d'argument a une fonction</a:t>
            </a:r>
          </a:p>
          <a:p>
            <a:r>
              <a:rPr lang="fr-FR" b="1" dirty="0"/>
              <a:t>[]</a:t>
            </a:r>
            <a:r>
              <a:rPr lang="fr-FR" dirty="0"/>
              <a:t> Crochets pour accéder à l'élément d'un tableau</a:t>
            </a:r>
          </a:p>
          <a:p>
            <a:r>
              <a:rPr lang="fr-FR" b="1" dirty="0"/>
              <a:t>{}</a:t>
            </a:r>
            <a:r>
              <a:rPr lang="fr-FR" dirty="0"/>
              <a:t> Accolades pour délimiter un bloc d'instructions</a:t>
            </a:r>
          </a:p>
          <a:p>
            <a:r>
              <a:rPr lang="fr-FR" b="1" dirty="0"/>
              <a:t>''</a:t>
            </a:r>
            <a:r>
              <a:rPr lang="fr-FR" dirty="0"/>
              <a:t> Apostrophe * &amp; </a:t>
            </a:r>
            <a:r>
              <a:rPr lang="fr-FR" b="1" dirty="0"/>
              <a:t>""</a:t>
            </a:r>
            <a:r>
              <a:rPr lang="fr-FR" dirty="0"/>
              <a:t>guillemets pour délimiter les zones de texte</a:t>
            </a:r>
          </a:p>
        </p:txBody>
      </p:sp>
    </p:spTree>
    <p:extLst>
      <p:ext uri="{BB962C8B-B14F-4D97-AF65-F5344CB8AC3E}">
        <p14:creationId xmlns:p14="http://schemas.microsoft.com/office/powerpoint/2010/main" val="30012369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Valeurs particulières</a:t>
            </a:r>
          </a:p>
        </p:txBody>
      </p:sp>
      <p:sp>
        <p:nvSpPr>
          <p:cNvPr id="3" name="Espace réservé du contenu 2"/>
          <p:cNvSpPr>
            <a:spLocks noGrp="1"/>
          </p:cNvSpPr>
          <p:nvPr>
            <p:ph idx="1"/>
          </p:nvPr>
        </p:nvSpPr>
        <p:spPr/>
        <p:txBody>
          <a:bodyPr>
            <a:normAutofit fontScale="92500" lnSpcReduction="10000"/>
          </a:bodyPr>
          <a:lstStyle/>
          <a:p>
            <a:endParaRPr lang="fr-FR" dirty="0"/>
          </a:p>
          <a:p>
            <a:r>
              <a:rPr lang="fr-FR" dirty="0"/>
              <a:t>NaN			</a:t>
            </a:r>
            <a:r>
              <a:rPr lang="fr-FR" dirty="0">
                <a:sym typeface="Wingdings" pitchFamily="2" charset="2"/>
              </a:rPr>
              <a:t> Not a Number , calcul 					impossible sur des valeur 					pas numérique ou </a:t>
            </a:r>
          </a:p>
          <a:p>
            <a:pPr>
              <a:buNone/>
            </a:pPr>
            <a:r>
              <a:rPr lang="fr-FR" dirty="0">
                <a:sym typeface="Wingdings" pitchFamily="2" charset="2"/>
              </a:rPr>
              <a:t>					division par 0</a:t>
            </a:r>
          </a:p>
          <a:p>
            <a:endParaRPr lang="fr-FR" dirty="0"/>
          </a:p>
          <a:p>
            <a:r>
              <a:rPr lang="fr-FR" dirty="0"/>
              <a:t>null			</a:t>
            </a:r>
            <a:r>
              <a:rPr lang="fr-FR" dirty="0">
                <a:sym typeface="Wingdings" pitchFamily="2" charset="2"/>
              </a:rPr>
              <a:t> Valeur non instancié</a:t>
            </a:r>
          </a:p>
          <a:p>
            <a:endParaRPr lang="fr-FR" dirty="0"/>
          </a:p>
          <a:p>
            <a:r>
              <a:rPr lang="fr-FR" b="1" i="1" dirty="0"/>
              <a:t>undefined</a:t>
            </a:r>
            <a:r>
              <a:rPr lang="fr-FR" dirty="0"/>
              <a:t>		</a:t>
            </a:r>
            <a:r>
              <a:rPr lang="fr-FR" dirty="0">
                <a:sym typeface="Wingdings" pitchFamily="2" charset="2"/>
              </a:rPr>
              <a:t>méthode ou propriété 							inexistante</a:t>
            </a:r>
            <a:endParaRPr lang="fr-FR" dirty="0"/>
          </a:p>
          <a:p>
            <a:r>
              <a:rPr lang="fr-FR" dirty="0"/>
              <a:t>"" ou ''			</a:t>
            </a:r>
            <a:r>
              <a:rPr lang="fr-FR" dirty="0">
                <a:sym typeface="Wingdings" pitchFamily="2" charset="2"/>
              </a:rPr>
              <a:t> chaine vide</a:t>
            </a:r>
            <a:endParaRPr lang="fr-FR" dirty="0"/>
          </a:p>
        </p:txBody>
      </p:sp>
    </p:spTree>
    <p:extLst>
      <p:ext uri="{BB962C8B-B14F-4D97-AF65-F5344CB8AC3E}">
        <p14:creationId xmlns:p14="http://schemas.microsoft.com/office/powerpoint/2010/main" val="67113099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fr-FR" dirty="0"/>
              <a:t>Variables</a:t>
            </a:r>
            <a:endParaRPr lang="en-JM" dirty="0"/>
          </a:p>
        </p:txBody>
      </p:sp>
      <p:sp>
        <p:nvSpPr>
          <p:cNvPr id="3" name="Content Placeholder 2"/>
          <p:cNvSpPr>
            <a:spLocks noGrp="1"/>
          </p:cNvSpPr>
          <p:nvPr>
            <p:ph idx="1"/>
          </p:nvPr>
        </p:nvSpPr>
        <p:spPr/>
        <p:txBody>
          <a:bodyPr rtlCol="0">
            <a:noAutofit/>
          </a:bodyPr>
          <a:lstStyle/>
          <a:p>
            <a:pPr marL="0" eaLnBrk="1" hangingPunct="1">
              <a:buFont typeface="Wingdings" pitchFamily="2" charset="2"/>
              <a:buNone/>
              <a:defRPr/>
            </a:pPr>
            <a:r>
              <a:rPr lang="fr-FR" sz="2000" b="1" dirty="0">
                <a:ea typeface="MS Mincho" pitchFamily="49" charset="-128"/>
              </a:rPr>
              <a:t>Une </a:t>
            </a:r>
            <a:r>
              <a:rPr lang="fr-FR" sz="2000" b="1" dirty="0">
                <a:solidFill>
                  <a:srgbClr val="009AD0"/>
                </a:solidFill>
                <a:ea typeface="MS Mincho" pitchFamily="49" charset="-128"/>
              </a:rPr>
              <a:t>variable</a:t>
            </a:r>
            <a:r>
              <a:rPr lang="fr-FR" sz="2000" b="1" dirty="0">
                <a:ea typeface="MS Mincho" pitchFamily="49" charset="-128"/>
              </a:rPr>
              <a:t> est un espace de </a:t>
            </a:r>
            <a:r>
              <a:rPr lang="fr-FR" sz="2000" b="1" dirty="0">
                <a:solidFill>
                  <a:srgbClr val="009AD0"/>
                </a:solidFill>
                <a:ea typeface="MS Mincho" pitchFamily="49" charset="-128"/>
              </a:rPr>
              <a:t>stockage nommé</a:t>
            </a:r>
            <a:r>
              <a:rPr lang="fr-FR" sz="2000" b="1" dirty="0">
                <a:ea typeface="MS Mincho" pitchFamily="49" charset="-128"/>
              </a:rPr>
              <a:t>. La </a:t>
            </a:r>
            <a:r>
              <a:rPr lang="fr-FR" sz="2000" b="1" dirty="0">
                <a:solidFill>
                  <a:srgbClr val="009AD0"/>
                </a:solidFill>
                <a:ea typeface="MS Mincho" pitchFamily="49" charset="-128"/>
              </a:rPr>
              <a:t>déclaration</a:t>
            </a:r>
            <a:r>
              <a:rPr lang="fr-FR" sz="2000" b="1" dirty="0">
                <a:ea typeface="MS Mincho" pitchFamily="49" charset="-128"/>
              </a:rPr>
              <a:t> de cet espace permet d’y </a:t>
            </a:r>
            <a:r>
              <a:rPr lang="fr-FR" sz="2000" b="1" dirty="0">
                <a:solidFill>
                  <a:srgbClr val="009AD0"/>
                </a:solidFill>
                <a:ea typeface="MS Mincho" pitchFamily="49" charset="-128"/>
              </a:rPr>
              <a:t>affecter</a:t>
            </a:r>
            <a:r>
              <a:rPr lang="fr-FR" sz="2000" b="1" dirty="0">
                <a:ea typeface="MS Mincho" pitchFamily="49" charset="-128"/>
              </a:rPr>
              <a:t> une valeur accessible par le nom de la variable.</a:t>
            </a:r>
          </a:p>
          <a:p>
            <a:pPr eaLnBrk="1" hangingPunct="1">
              <a:buFont typeface="Wingdings" pitchFamily="2" charset="2"/>
              <a:buNone/>
              <a:defRPr/>
            </a:pPr>
            <a:endParaRPr lang="fr-FR" sz="2000" b="1" dirty="0">
              <a:ea typeface="MS Mincho" pitchFamily="49" charset="-128"/>
            </a:endParaRPr>
          </a:p>
          <a:p>
            <a:pPr marL="0" indent="0" eaLnBrk="1" hangingPunct="1">
              <a:buFont typeface="Arial" charset="0"/>
              <a:buNone/>
              <a:tabLst>
                <a:tab pos="8439150" algn="r"/>
              </a:tabLst>
              <a:defRPr/>
            </a:pPr>
            <a:r>
              <a:rPr lang="fr-FR" sz="2000" dirty="0"/>
              <a:t>Pour créer une variable o</a:t>
            </a:r>
            <a:r>
              <a:rPr lang="fr-FR" sz="2000" dirty="0">
                <a:ea typeface="MS Mincho" pitchFamily="49" charset="-128"/>
              </a:rPr>
              <a:t>n utilise le mot réservé "</a:t>
            </a:r>
            <a:r>
              <a:rPr lang="fr-FR" sz="2000" b="1" dirty="0">
                <a:solidFill>
                  <a:srgbClr val="009AD0"/>
                </a:solidFill>
                <a:ea typeface="MS Mincho" pitchFamily="49" charset="-128"/>
              </a:rPr>
              <a:t>var</a:t>
            </a:r>
            <a:r>
              <a:rPr lang="fr-FR" sz="2000" dirty="0">
                <a:ea typeface="MS Mincho" pitchFamily="49" charset="-128"/>
              </a:rPr>
              <a:t>", suivi du nom de la variable et/ou d'une valeur par défaut ( </a:t>
            </a:r>
            <a:r>
              <a:rPr lang="fr-FR" sz="2000" b="1" dirty="0">
                <a:ea typeface="MS Mincho" pitchFamily="49" charset="-128"/>
              </a:rPr>
              <a:t>new</a:t>
            </a:r>
            <a:r>
              <a:rPr lang="fr-FR" sz="2000" dirty="0">
                <a:ea typeface="MS Mincho" pitchFamily="49" charset="-128"/>
              </a:rPr>
              <a:t> pour construire un type de données )</a:t>
            </a:r>
          </a:p>
          <a:p>
            <a:pPr marL="0" indent="0" eaLnBrk="1" hangingPunct="1">
              <a:buFont typeface="Arial" charset="0"/>
              <a:buNone/>
              <a:tabLst>
                <a:tab pos="8439150" algn="r"/>
              </a:tabLst>
              <a:defRPr/>
            </a:pPr>
            <a:endParaRPr lang="fr-FR" sz="2000" dirty="0">
              <a:ea typeface="MS Mincho" pitchFamily="49" charset="-128"/>
            </a:endParaRPr>
          </a:p>
          <a:p>
            <a:pPr lvl="2" eaLnBrk="1" hangingPunct="1">
              <a:tabLst>
                <a:tab pos="8439150" algn="r"/>
              </a:tabLst>
              <a:defRPr/>
            </a:pPr>
            <a:r>
              <a:rPr lang="fr-FR" sz="1600" b="1" dirty="0">
                <a:ea typeface="MS Mincho" pitchFamily="49" charset="-128"/>
              </a:rPr>
              <a:t>var</a:t>
            </a:r>
            <a:r>
              <a:rPr lang="fr-FR" sz="1600" dirty="0">
                <a:ea typeface="MS Mincho" pitchFamily="49" charset="-128"/>
              </a:rPr>
              <a:t> strMsg = 'message à afficher !';</a:t>
            </a:r>
          </a:p>
          <a:p>
            <a:pPr lvl="2" eaLnBrk="1" hangingPunct="1">
              <a:tabLst>
                <a:tab pos="8439150" algn="r"/>
              </a:tabLst>
              <a:defRPr/>
            </a:pPr>
            <a:r>
              <a:rPr lang="fr-FR" sz="1600" b="1" dirty="0">
                <a:ea typeface="MS Mincho" pitchFamily="49" charset="-128"/>
              </a:rPr>
              <a:t>var</a:t>
            </a:r>
            <a:r>
              <a:rPr lang="fr-FR" sz="1600" dirty="0">
                <a:ea typeface="MS Mincho" pitchFamily="49" charset="-128"/>
              </a:rPr>
              <a:t> strMsg = </a:t>
            </a:r>
            <a:r>
              <a:rPr lang="fr-FR" sz="1600" b="1" dirty="0">
                <a:ea typeface="MS Mincho" pitchFamily="49" charset="-128"/>
              </a:rPr>
              <a:t>new</a:t>
            </a:r>
            <a:r>
              <a:rPr lang="fr-FR" sz="1600" dirty="0">
                <a:ea typeface="MS Mincho" pitchFamily="49" charset="-128"/>
              </a:rPr>
              <a:t> String('message à afficher');</a:t>
            </a:r>
          </a:p>
          <a:p>
            <a:pPr lvl="2" eaLnBrk="1" hangingPunct="1">
              <a:tabLst>
                <a:tab pos="8439150" algn="r"/>
              </a:tabLst>
              <a:defRPr/>
            </a:pPr>
            <a:r>
              <a:rPr lang="fr-FR" sz="1600" b="1" dirty="0">
                <a:ea typeface="MS Mincho" pitchFamily="49" charset="-128"/>
              </a:rPr>
              <a:t>var</a:t>
            </a:r>
            <a:r>
              <a:rPr lang="fr-FR" sz="1600" dirty="0">
                <a:ea typeface="MS Mincho" pitchFamily="49" charset="-128"/>
              </a:rPr>
              <a:t> strMsg = </a:t>
            </a:r>
            <a:r>
              <a:rPr lang="fr-FR" sz="1600" b="1" dirty="0">
                <a:ea typeface="MS Mincho" pitchFamily="49" charset="-128"/>
              </a:rPr>
              <a:t>new</a:t>
            </a:r>
            <a:r>
              <a:rPr lang="fr-FR" sz="1600" dirty="0">
                <a:ea typeface="MS Mincho" pitchFamily="49" charset="-128"/>
              </a:rPr>
              <a:t> String;</a:t>
            </a:r>
            <a:br>
              <a:rPr lang="fr-FR" sz="1600" dirty="0">
                <a:ea typeface="MS Mincho" pitchFamily="49" charset="-128"/>
              </a:rPr>
            </a:br>
            <a:r>
              <a:rPr lang="fr-FR" sz="1600" dirty="0">
                <a:ea typeface="MS Mincho" pitchFamily="49" charset="-128"/>
              </a:rPr>
              <a:t>strMsg = 'message à afficher';</a:t>
            </a:r>
          </a:p>
          <a:p>
            <a:pPr lvl="2" eaLnBrk="1" hangingPunct="1">
              <a:tabLst>
                <a:tab pos="8439150" algn="r"/>
              </a:tabLst>
              <a:defRPr/>
            </a:pPr>
            <a:endParaRPr lang="fr-FR" sz="1600" dirty="0">
              <a:ea typeface="MS Mincho" pitchFamily="49" charset="-128"/>
            </a:endParaRPr>
          </a:p>
          <a:p>
            <a:pPr marL="57150" indent="0" eaLnBrk="1" hangingPunct="1">
              <a:buFont typeface="Arial" charset="0"/>
              <a:buNone/>
              <a:tabLst>
                <a:tab pos="8439150" algn="r"/>
              </a:tabLst>
              <a:defRPr/>
            </a:pPr>
            <a:r>
              <a:rPr lang="fr-FR" sz="2000" b="1" dirty="0">
                <a:ea typeface="MS Mincho" pitchFamily="49" charset="-128"/>
              </a:rPr>
              <a:t>Remarque</a:t>
            </a:r>
            <a:r>
              <a:rPr lang="fr-FR" sz="2000" dirty="0">
                <a:ea typeface="MS Mincho" pitchFamily="49" charset="-128"/>
              </a:rPr>
              <a:t>: le mot réservé "var" n'est pas obligatoire, il permet seulement de limiter l'existence de la variable au bloc de code dans lequel elle a été créée. </a:t>
            </a:r>
          </a:p>
          <a:p>
            <a:pPr marL="57150" indent="0" eaLnBrk="1" hangingPunct="1">
              <a:buFont typeface="Arial" charset="0"/>
              <a:buNone/>
              <a:tabLst>
                <a:tab pos="8439150" algn="r"/>
              </a:tabLst>
              <a:defRPr/>
            </a:pPr>
            <a:r>
              <a:rPr lang="fr-FR" sz="2000" dirty="0">
                <a:ea typeface="MS Mincho" pitchFamily="49" charset="-128"/>
              </a:rPr>
              <a:t>Ceci évite les problèmes de collision avec d'autres variables du même nom créées dans d'autres blocs de code.</a:t>
            </a:r>
            <a:br>
              <a:rPr lang="fr-FR" sz="2000" dirty="0">
                <a:ea typeface="MS Mincho" pitchFamily="49" charset="-128"/>
              </a:rPr>
            </a:br>
            <a:endParaRPr lang="fr-FR" sz="2000" dirty="0">
              <a:cs typeface="Arial" charset="0"/>
            </a:endParaRPr>
          </a:p>
        </p:txBody>
      </p:sp>
      <p:sp>
        <p:nvSpPr>
          <p:cNvPr id="7" name="Footer Placeholder 12"/>
          <p:cNvSpPr>
            <a:spLocks noGrp="1"/>
          </p:cNvSpPr>
          <p:nvPr>
            <p:ph type="ftr" sz="quarter" idx="11"/>
          </p:nvPr>
        </p:nvSpPr>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D28794F1-8F42-46E4-99FC-343DC671849E}" type="slidenum">
              <a:rPr lang="en-JM" smtClean="0">
                <a:solidFill>
                  <a:schemeClr val="bg1"/>
                </a:solidFill>
              </a:rPr>
              <a:pPr fontAlgn="base">
                <a:spcBef>
                  <a:spcPct val="0"/>
                </a:spcBef>
                <a:spcAft>
                  <a:spcPct val="0"/>
                </a:spcAft>
                <a:defRPr/>
              </a:pPr>
              <a:t>39</a:t>
            </a:fld>
            <a:endParaRPr lang="en-JM" dirty="0">
              <a:solidFill>
                <a:schemeClr val="bg1"/>
              </a:solidFill>
            </a:endParaRPr>
          </a:p>
        </p:txBody>
      </p:sp>
    </p:spTree>
    <p:extLst>
      <p:ext uri="{BB962C8B-B14F-4D97-AF65-F5344CB8AC3E}">
        <p14:creationId xmlns:p14="http://schemas.microsoft.com/office/powerpoint/2010/main" val="24442143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Types</a:t>
            </a:r>
          </a:p>
        </p:txBody>
      </p:sp>
      <p:sp>
        <p:nvSpPr>
          <p:cNvPr id="3" name="Espace réservé du contenu 2"/>
          <p:cNvSpPr>
            <a:spLocks noGrp="1"/>
          </p:cNvSpPr>
          <p:nvPr>
            <p:ph idx="1"/>
          </p:nvPr>
        </p:nvSpPr>
        <p:spPr/>
        <p:txBody>
          <a:bodyPr>
            <a:normAutofit fontScale="70000" lnSpcReduction="20000"/>
          </a:bodyPr>
          <a:lstStyle/>
          <a:p>
            <a:r>
              <a:rPr lang="fr-FR" dirty="0"/>
              <a:t>Types de données </a:t>
            </a:r>
          </a:p>
          <a:p>
            <a:pPr lvl="1"/>
            <a:r>
              <a:rPr lang="fr-FR" dirty="0"/>
              <a:t>numérique</a:t>
            </a:r>
          </a:p>
          <a:p>
            <a:pPr lvl="2"/>
            <a:r>
              <a:rPr lang="fr-FR" sz="2800" b="1" i="1" dirty="0"/>
              <a:t>Number =&gt;123</a:t>
            </a:r>
            <a:endParaRPr lang="fr-FR" b="1" i="1" dirty="0"/>
          </a:p>
          <a:p>
            <a:pPr lvl="1"/>
            <a:r>
              <a:rPr lang="fr-FR" dirty="0"/>
              <a:t>Etat booléen </a:t>
            </a:r>
          </a:p>
          <a:p>
            <a:pPr lvl="2"/>
            <a:r>
              <a:rPr lang="fr-FR" sz="2800" b="1" i="1" dirty="0"/>
              <a:t>Boolean =&gt; </a:t>
            </a:r>
            <a:r>
              <a:rPr lang="fr-FR" sz="2800" b="1" i="1" dirty="0" err="1"/>
              <a:t>true</a:t>
            </a:r>
            <a:endParaRPr lang="fr-FR" b="1" i="1" dirty="0"/>
          </a:p>
          <a:p>
            <a:pPr lvl="1"/>
            <a:r>
              <a:rPr lang="fr-FR" dirty="0"/>
              <a:t>Chaine de caractères</a:t>
            </a:r>
          </a:p>
          <a:p>
            <a:pPr lvl="2"/>
            <a:r>
              <a:rPr lang="fr-FR" sz="2800" b="1" i="1" dirty="0"/>
              <a:t>String =&gt; "abc"</a:t>
            </a:r>
            <a:endParaRPr lang="fr-FR" b="1" i="1" dirty="0"/>
          </a:p>
          <a:p>
            <a:pPr lvl="1"/>
            <a:r>
              <a:rPr lang="fr-FR" dirty="0"/>
              <a:t>Tableaux </a:t>
            </a:r>
          </a:p>
          <a:p>
            <a:pPr lvl="2"/>
            <a:r>
              <a:rPr lang="fr-FR" sz="2800" b="1" i="1" dirty="0"/>
              <a:t>Array =&gt; [1,2,3],</a:t>
            </a:r>
          </a:p>
          <a:p>
            <a:pPr lvl="1"/>
            <a:r>
              <a:rPr lang="fr-FR" dirty="0"/>
              <a:t>Objet</a:t>
            </a:r>
          </a:p>
          <a:p>
            <a:pPr lvl="2"/>
            <a:r>
              <a:rPr lang="fr-FR" sz="2600" b="1" i="1" dirty="0"/>
              <a:t>Object =&gt; {a:1,b:’e’,} </a:t>
            </a:r>
          </a:p>
          <a:p>
            <a:pPr lvl="1"/>
            <a:r>
              <a:rPr lang="fr-FR" dirty="0"/>
              <a:t>Instance d’objet spécifique</a:t>
            </a:r>
          </a:p>
          <a:p>
            <a:pPr lvl="2"/>
            <a:r>
              <a:rPr lang="fr-FR" sz="2800" b="1" i="1" dirty="0"/>
              <a:t>Date =&gt; new Date()</a:t>
            </a:r>
            <a:endParaRPr lang="fr-FR" b="1" i="1" dirty="0"/>
          </a:p>
          <a:p>
            <a:pPr lvl="1"/>
            <a:r>
              <a:rPr lang="fr-FR" dirty="0"/>
              <a:t>Null</a:t>
            </a:r>
          </a:p>
          <a:p>
            <a:pPr lvl="2"/>
            <a:r>
              <a:rPr lang="fr-FR" b="1" i="1" dirty="0"/>
              <a:t>Valeur instanciée sans valeur =&gt;null</a:t>
            </a:r>
          </a:p>
          <a:p>
            <a:pPr lvl="1"/>
            <a:r>
              <a:rPr lang="fr-FR" dirty="0"/>
              <a:t>Non définit</a:t>
            </a:r>
          </a:p>
          <a:p>
            <a:pPr lvl="2"/>
            <a:r>
              <a:rPr lang="fr-FR" b="1" i="1" dirty="0"/>
              <a:t> absence de valeur =&gt; undefined</a:t>
            </a:r>
          </a:p>
        </p:txBody>
      </p:sp>
      <p:sp>
        <p:nvSpPr>
          <p:cNvPr id="5" name="Espace réservé du contenu 4"/>
          <p:cNvSpPr>
            <a:spLocks noGrp="1"/>
          </p:cNvSpPr>
          <p:nvPr>
            <p:ph sz="quarter" idx="13"/>
          </p:nvPr>
        </p:nvSpPr>
        <p:spPr/>
        <p:txBody>
          <a:bodyPr>
            <a:noAutofit/>
          </a:bodyPr>
          <a:lstStyle/>
          <a:p>
            <a:pPr>
              <a:buNone/>
            </a:pPr>
            <a:r>
              <a:rPr lang="fr-FR" sz="3200" b="1" dirty="0"/>
              <a:t>Attention</a:t>
            </a:r>
            <a:r>
              <a:rPr lang="fr-FR" sz="3200" dirty="0"/>
              <a:t> </a:t>
            </a:r>
            <a:endParaRPr lang="fr-FR" sz="2000" dirty="0"/>
          </a:p>
          <a:p>
            <a:pPr>
              <a:buNone/>
            </a:pPr>
            <a:r>
              <a:rPr lang="fr-FR" sz="2000" dirty="0"/>
              <a:t>les valeurs</a:t>
            </a:r>
          </a:p>
          <a:p>
            <a:pPr>
              <a:buNone/>
            </a:pPr>
            <a:r>
              <a:rPr lang="fr-FR" sz="2000" dirty="0"/>
              <a:t>décimales sont signifié par</a:t>
            </a:r>
          </a:p>
          <a:p>
            <a:pPr algn="ctr">
              <a:buNone/>
            </a:pPr>
            <a:r>
              <a:rPr lang="fr-FR" sz="2000" dirty="0"/>
              <a:t> </a:t>
            </a:r>
            <a:r>
              <a:rPr lang="fr-FR" sz="3200" b="1" dirty="0"/>
              <a:t>. </a:t>
            </a:r>
            <a:r>
              <a:rPr lang="fr-FR" sz="1800" b="1" dirty="0"/>
              <a:t>(point)</a:t>
            </a:r>
            <a:endParaRPr lang="fr-FR" sz="3200" b="1" dirty="0"/>
          </a:p>
          <a:p>
            <a:pPr>
              <a:buNone/>
            </a:pPr>
            <a:r>
              <a:rPr lang="fr-FR" sz="2000" dirty="0"/>
              <a:t>  et non par</a:t>
            </a:r>
          </a:p>
          <a:p>
            <a:pPr algn="ctr">
              <a:buNone/>
            </a:pPr>
            <a:r>
              <a:rPr lang="fr-FR" sz="2000" dirty="0"/>
              <a:t> </a:t>
            </a:r>
            <a:r>
              <a:rPr lang="fr-FR" sz="3200" dirty="0"/>
              <a:t>,</a:t>
            </a:r>
            <a:r>
              <a:rPr lang="fr-FR" sz="1800" dirty="0"/>
              <a:t>(virgule)</a:t>
            </a:r>
            <a:endParaRPr lang="fr-FR" sz="1200" dirty="0"/>
          </a:p>
        </p:txBody>
      </p:sp>
    </p:spTree>
    <p:extLst>
      <p:ext uri="{BB962C8B-B14F-4D97-AF65-F5344CB8AC3E}">
        <p14:creationId xmlns:p14="http://schemas.microsoft.com/office/powerpoint/2010/main" val="10047003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typeof</a:t>
            </a:r>
          </a:p>
        </p:txBody>
      </p:sp>
      <p:sp>
        <p:nvSpPr>
          <p:cNvPr id="3" name="Espace réservé du contenu 2"/>
          <p:cNvSpPr>
            <a:spLocks noGrp="1"/>
          </p:cNvSpPr>
          <p:nvPr>
            <p:ph idx="1"/>
          </p:nvPr>
        </p:nvSpPr>
        <p:spPr/>
        <p:txBody>
          <a:bodyPr/>
          <a:lstStyle/>
          <a:p>
            <a:pPr marL="342900" lvl="2" indent="-342900"/>
            <a:r>
              <a:rPr lang="fr-FR" dirty="0"/>
              <a:t>Détection de type d’une variable </a:t>
            </a:r>
          </a:p>
          <a:p>
            <a:pPr marL="800100" lvl="3" indent="-342900"/>
            <a:r>
              <a:rPr lang="fr-FR" dirty="0"/>
              <a:t>typeof</a:t>
            </a:r>
          </a:p>
          <a:p>
            <a:pPr marL="342900" lvl="2" indent="-342900">
              <a:buNone/>
            </a:pPr>
            <a:endParaRPr lang="fr-FR" dirty="0"/>
          </a:p>
          <a:p>
            <a:pPr marL="342900" lvl="2" indent="-342900"/>
            <a:endParaRPr lang="fr-FR" dirty="0"/>
          </a:p>
          <a:p>
            <a:pPr marL="342900" lvl="2" indent="-342900">
              <a:buNone/>
            </a:pPr>
            <a:endParaRPr lang="fr-FR" dirty="0"/>
          </a:p>
          <a:p>
            <a:pPr marL="342900" lvl="2" indent="-342900"/>
            <a:endParaRPr lang="fr-FR" dirty="0"/>
          </a:p>
          <a:p>
            <a:pPr marL="342900" lvl="2" indent="-342900"/>
            <a:endParaRPr lang="fr-FR" dirty="0"/>
          </a:p>
          <a:p>
            <a:pPr marL="342900" lvl="2" indent="-342900"/>
            <a:endParaRPr lang="fr-FR" dirty="0"/>
          </a:p>
          <a:p>
            <a:pPr marL="342900" lvl="2" indent="-342900"/>
            <a:endParaRPr lang="fr-FR" dirty="0"/>
          </a:p>
          <a:p>
            <a:pPr marL="342900" lvl="2" indent="-342900"/>
            <a:endParaRPr lang="fr-FR" dirty="0"/>
          </a:p>
          <a:p>
            <a:pPr marL="342900" lvl="2" indent="-342900"/>
            <a:endParaRPr lang="fr-FR" dirty="0"/>
          </a:p>
        </p:txBody>
      </p:sp>
      <p:sp>
        <p:nvSpPr>
          <p:cNvPr id="4" name="Rectangle 3"/>
          <p:cNvSpPr/>
          <p:nvPr/>
        </p:nvSpPr>
        <p:spPr>
          <a:xfrm>
            <a:off x="2286000" y="2071678"/>
            <a:ext cx="4572000" cy="3416320"/>
          </a:xfrm>
          <a:prstGeom prst="rect">
            <a:avLst/>
          </a:prstGeom>
        </p:spPr>
        <p:txBody>
          <a:bodyPr>
            <a:spAutoFit/>
          </a:bodyPr>
          <a:lstStyle/>
          <a:p>
            <a:r>
              <a:rPr lang="fr-FR" b="0" dirty="0">
                <a:solidFill>
                  <a:srgbClr val="8A8A0F"/>
                </a:solidFill>
                <a:latin typeface="Consolas"/>
              </a:rPr>
              <a:t>console</a:t>
            </a:r>
            <a:r>
              <a:rPr lang="fr-FR" b="0" dirty="0">
                <a:solidFill>
                  <a:srgbClr val="7EA2B4"/>
                </a:solidFill>
                <a:latin typeface="Consolas"/>
              </a:rPr>
              <a:t>.</a:t>
            </a:r>
            <a:r>
              <a:rPr lang="fr-FR" b="0" dirty="0">
                <a:solidFill>
                  <a:srgbClr val="2D8F6F"/>
                </a:solidFill>
                <a:latin typeface="Consolas"/>
              </a:rPr>
              <a:t>log</a:t>
            </a:r>
            <a:r>
              <a:rPr lang="fr-FR" b="0" dirty="0">
                <a:solidFill>
                  <a:srgbClr val="7EA2B4"/>
                </a:solidFill>
                <a:latin typeface="Consolas"/>
              </a:rPr>
              <a:t>(typeof </a:t>
            </a:r>
            <a:r>
              <a:rPr lang="fr-FR" b="0" dirty="0">
                <a:solidFill>
                  <a:srgbClr val="935C25"/>
                </a:solidFill>
                <a:latin typeface="Consolas"/>
              </a:rPr>
              <a:t>42</a:t>
            </a:r>
            <a:r>
              <a:rPr lang="fr-FR" b="0" dirty="0">
                <a:solidFill>
                  <a:srgbClr val="7EA2B4"/>
                </a:solidFill>
                <a:latin typeface="Consolas"/>
              </a:rPr>
              <a:t>);</a:t>
            </a:r>
          </a:p>
          <a:p>
            <a:r>
              <a:rPr lang="fr-FR" b="0" dirty="0">
                <a:solidFill>
                  <a:srgbClr val="5A7B8C"/>
                </a:solidFill>
                <a:latin typeface="Consolas"/>
              </a:rPr>
              <a:t>// expected output: "number"</a:t>
            </a:r>
            <a:endParaRPr lang="fr-FR" b="0" dirty="0">
              <a:solidFill>
                <a:srgbClr val="7EA2B4"/>
              </a:solidFill>
              <a:latin typeface="Consolas"/>
            </a:endParaRPr>
          </a:p>
          <a:p>
            <a:br>
              <a:rPr lang="fr-FR" b="0" dirty="0">
                <a:solidFill>
                  <a:srgbClr val="7EA2B4"/>
                </a:solidFill>
                <a:latin typeface="Consolas"/>
              </a:rPr>
            </a:br>
            <a:r>
              <a:rPr lang="fr-FR" b="0" dirty="0">
                <a:solidFill>
                  <a:srgbClr val="8A8A0F"/>
                </a:solidFill>
                <a:latin typeface="Consolas"/>
              </a:rPr>
              <a:t>console</a:t>
            </a:r>
            <a:r>
              <a:rPr lang="fr-FR" b="0" dirty="0">
                <a:solidFill>
                  <a:srgbClr val="7EA2B4"/>
                </a:solidFill>
                <a:latin typeface="Consolas"/>
              </a:rPr>
              <a:t>.</a:t>
            </a:r>
            <a:r>
              <a:rPr lang="fr-FR" b="0" dirty="0">
                <a:solidFill>
                  <a:srgbClr val="2D8F6F"/>
                </a:solidFill>
                <a:latin typeface="Consolas"/>
              </a:rPr>
              <a:t>log</a:t>
            </a:r>
            <a:r>
              <a:rPr lang="fr-FR" b="0" dirty="0">
                <a:solidFill>
                  <a:srgbClr val="7EA2B4"/>
                </a:solidFill>
                <a:latin typeface="Consolas"/>
              </a:rPr>
              <a:t>(typeof '</a:t>
            </a:r>
            <a:r>
              <a:rPr lang="fr-FR" b="0" dirty="0">
                <a:solidFill>
                  <a:srgbClr val="568C3B"/>
                </a:solidFill>
                <a:latin typeface="Consolas"/>
              </a:rPr>
              <a:t>blubber</a:t>
            </a:r>
            <a:r>
              <a:rPr lang="fr-FR" b="0" dirty="0">
                <a:solidFill>
                  <a:srgbClr val="7EA2B4"/>
                </a:solidFill>
                <a:latin typeface="Consolas"/>
              </a:rPr>
              <a:t>');</a:t>
            </a:r>
          </a:p>
          <a:p>
            <a:r>
              <a:rPr lang="fr-FR" b="0" dirty="0">
                <a:solidFill>
                  <a:srgbClr val="5A7B8C"/>
                </a:solidFill>
                <a:latin typeface="Consolas"/>
              </a:rPr>
              <a:t>// expected output: "string"</a:t>
            </a:r>
            <a:endParaRPr lang="fr-FR" b="0" dirty="0">
              <a:solidFill>
                <a:srgbClr val="7EA2B4"/>
              </a:solidFill>
              <a:latin typeface="Consolas"/>
            </a:endParaRPr>
          </a:p>
          <a:p>
            <a:br>
              <a:rPr lang="fr-FR" b="0" dirty="0">
                <a:solidFill>
                  <a:srgbClr val="7EA2B4"/>
                </a:solidFill>
                <a:latin typeface="Consolas"/>
              </a:rPr>
            </a:br>
            <a:r>
              <a:rPr lang="fr-FR" b="0" dirty="0">
                <a:solidFill>
                  <a:srgbClr val="8A8A0F"/>
                </a:solidFill>
                <a:latin typeface="Consolas"/>
              </a:rPr>
              <a:t>console</a:t>
            </a:r>
            <a:r>
              <a:rPr lang="fr-FR" b="0" dirty="0">
                <a:solidFill>
                  <a:srgbClr val="7EA2B4"/>
                </a:solidFill>
                <a:latin typeface="Consolas"/>
              </a:rPr>
              <a:t>.</a:t>
            </a:r>
            <a:r>
              <a:rPr lang="fr-FR" b="0" dirty="0">
                <a:solidFill>
                  <a:srgbClr val="2D8F6F"/>
                </a:solidFill>
                <a:latin typeface="Consolas"/>
              </a:rPr>
              <a:t>log</a:t>
            </a:r>
            <a:r>
              <a:rPr lang="fr-FR" b="0" dirty="0">
                <a:solidFill>
                  <a:srgbClr val="7EA2B4"/>
                </a:solidFill>
                <a:latin typeface="Consolas"/>
              </a:rPr>
              <a:t>(typeof </a:t>
            </a:r>
            <a:r>
              <a:rPr lang="fr-FR" b="0" dirty="0">
                <a:solidFill>
                  <a:srgbClr val="935C25"/>
                </a:solidFill>
                <a:latin typeface="Consolas"/>
              </a:rPr>
              <a:t>true</a:t>
            </a:r>
            <a:r>
              <a:rPr lang="fr-FR" b="0" dirty="0">
                <a:solidFill>
                  <a:srgbClr val="7EA2B4"/>
                </a:solidFill>
                <a:latin typeface="Consolas"/>
              </a:rPr>
              <a:t>);</a:t>
            </a:r>
          </a:p>
          <a:p>
            <a:r>
              <a:rPr lang="fr-FR" b="0" dirty="0">
                <a:solidFill>
                  <a:srgbClr val="5A7B8C"/>
                </a:solidFill>
                <a:latin typeface="Consolas"/>
              </a:rPr>
              <a:t>// expected output: "boolean"</a:t>
            </a:r>
            <a:endParaRPr lang="fr-FR" b="0" dirty="0">
              <a:solidFill>
                <a:srgbClr val="7EA2B4"/>
              </a:solidFill>
              <a:latin typeface="Consolas"/>
            </a:endParaRPr>
          </a:p>
          <a:p>
            <a:br>
              <a:rPr lang="fr-FR" b="0" dirty="0">
                <a:solidFill>
                  <a:srgbClr val="7EA2B4"/>
                </a:solidFill>
                <a:latin typeface="Consolas"/>
              </a:rPr>
            </a:br>
            <a:r>
              <a:rPr lang="fr-FR" b="0" dirty="0">
                <a:solidFill>
                  <a:srgbClr val="8A8A0F"/>
                </a:solidFill>
                <a:latin typeface="Consolas"/>
              </a:rPr>
              <a:t>console</a:t>
            </a:r>
            <a:r>
              <a:rPr lang="fr-FR" b="0" dirty="0">
                <a:solidFill>
                  <a:srgbClr val="7EA2B4"/>
                </a:solidFill>
                <a:latin typeface="Consolas"/>
              </a:rPr>
              <a:t>.</a:t>
            </a:r>
            <a:r>
              <a:rPr lang="fr-FR" b="0" dirty="0">
                <a:solidFill>
                  <a:srgbClr val="2D8F6F"/>
                </a:solidFill>
                <a:latin typeface="Consolas"/>
              </a:rPr>
              <a:t>log</a:t>
            </a:r>
            <a:r>
              <a:rPr lang="fr-FR" b="0" dirty="0">
                <a:solidFill>
                  <a:srgbClr val="7EA2B4"/>
                </a:solidFill>
                <a:latin typeface="Consolas"/>
              </a:rPr>
              <a:t>(typeof </a:t>
            </a:r>
            <a:r>
              <a:rPr lang="fr-FR" b="0" dirty="0">
                <a:solidFill>
                  <a:srgbClr val="D22D72"/>
                </a:solidFill>
                <a:latin typeface="Consolas"/>
              </a:rPr>
              <a:t>declaredButUndefinedVariable</a:t>
            </a:r>
            <a:r>
              <a:rPr lang="fr-FR" b="0" dirty="0">
                <a:solidFill>
                  <a:srgbClr val="7EA2B4"/>
                </a:solidFill>
                <a:latin typeface="Consolas"/>
              </a:rPr>
              <a:t>);</a:t>
            </a:r>
          </a:p>
          <a:p>
            <a:r>
              <a:rPr lang="fr-FR" b="0" dirty="0">
                <a:solidFill>
                  <a:srgbClr val="5A7B8C"/>
                </a:solidFill>
                <a:latin typeface="Consolas"/>
              </a:rPr>
              <a:t>// expected output: "undefined";</a:t>
            </a:r>
            <a:endParaRPr lang="fr-FR" b="0" dirty="0">
              <a:solidFill>
                <a:srgbClr val="7EA2B4"/>
              </a:solidFill>
              <a:latin typeface="Consolas"/>
            </a:endParaRPr>
          </a:p>
        </p:txBody>
      </p:sp>
    </p:spTree>
    <p:extLst>
      <p:ext uri="{BB962C8B-B14F-4D97-AF65-F5344CB8AC3E}">
        <p14:creationId xmlns:p14="http://schemas.microsoft.com/office/powerpoint/2010/main" val="84223898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Transtypage</a:t>
            </a:r>
          </a:p>
        </p:txBody>
      </p:sp>
      <p:sp>
        <p:nvSpPr>
          <p:cNvPr id="3" name="Espace réservé du contenu 2"/>
          <p:cNvSpPr>
            <a:spLocks noGrp="1"/>
          </p:cNvSpPr>
          <p:nvPr>
            <p:ph idx="1"/>
          </p:nvPr>
        </p:nvSpPr>
        <p:spPr/>
        <p:txBody>
          <a:bodyPr/>
          <a:lstStyle/>
          <a:p>
            <a:pPr marL="342900" lvl="2" indent="-342900"/>
            <a:r>
              <a:rPr lang="fr-FR" dirty="0"/>
              <a:t> Conversion de type</a:t>
            </a:r>
          </a:p>
          <a:p>
            <a:pPr marL="800100" lvl="3" indent="-342900"/>
            <a:r>
              <a:rPr lang="fr-FR" dirty="0"/>
              <a:t>Chaine vers numérique</a:t>
            </a:r>
          </a:p>
          <a:p>
            <a:pPr marL="800100" lvl="3" indent="-342900"/>
            <a:endParaRPr lang="fr-FR" dirty="0"/>
          </a:p>
          <a:p>
            <a:pPr marL="800100" lvl="3" indent="-342900"/>
            <a:endParaRPr lang="fr-FR" dirty="0"/>
          </a:p>
          <a:p>
            <a:pPr marL="800100" lvl="3" indent="-342900"/>
            <a:endParaRPr lang="fr-FR" dirty="0"/>
          </a:p>
          <a:p>
            <a:pPr marL="800100" lvl="3" indent="-342900"/>
            <a:endParaRPr lang="fr-FR" dirty="0"/>
          </a:p>
          <a:p>
            <a:pPr marL="800100" lvl="3" indent="-342900"/>
            <a:endParaRPr lang="fr-FR" dirty="0"/>
          </a:p>
          <a:p>
            <a:pPr marL="800100" lvl="3" indent="-342900"/>
            <a:r>
              <a:rPr lang="fr-FR" dirty="0"/>
              <a:t>Chaine vers Date</a:t>
            </a:r>
          </a:p>
          <a:p>
            <a:endParaRPr lang="fr-FR" dirty="0"/>
          </a:p>
          <a:p>
            <a:endParaRPr lang="fr-FR" dirty="0"/>
          </a:p>
          <a:p>
            <a:endParaRPr lang="fr-FR" dirty="0"/>
          </a:p>
        </p:txBody>
      </p:sp>
      <p:sp>
        <p:nvSpPr>
          <p:cNvPr id="4" name="Rectangle 3"/>
          <p:cNvSpPr/>
          <p:nvPr/>
        </p:nvSpPr>
        <p:spPr>
          <a:xfrm>
            <a:off x="2071670" y="2143116"/>
            <a:ext cx="4572000" cy="1200329"/>
          </a:xfrm>
          <a:prstGeom prst="rect">
            <a:avLst/>
          </a:prstGeom>
        </p:spPr>
        <p:txBody>
          <a:bodyPr>
            <a:spAutoFit/>
          </a:bodyPr>
          <a:lstStyle/>
          <a:p>
            <a:r>
              <a:rPr lang="fr-FR" b="0" dirty="0">
                <a:solidFill>
                  <a:srgbClr val="8A8A0F"/>
                </a:solidFill>
                <a:latin typeface="Consolas"/>
              </a:rPr>
              <a:t>Number</a:t>
            </a:r>
            <a:r>
              <a:rPr lang="fr-FR" b="0" dirty="0">
                <a:latin typeface="Consolas"/>
              </a:rPr>
              <a:t>.</a:t>
            </a:r>
            <a:r>
              <a:rPr lang="fr-FR" b="0" dirty="0">
                <a:solidFill>
                  <a:srgbClr val="257FAD"/>
                </a:solidFill>
                <a:latin typeface="Consolas"/>
              </a:rPr>
              <a:t>parseFloat</a:t>
            </a:r>
            <a:r>
              <a:rPr lang="fr-FR" b="0" dirty="0">
                <a:latin typeface="Consolas"/>
              </a:rPr>
              <a:t>(</a:t>
            </a:r>
            <a:r>
              <a:rPr lang="fr-FR" b="0" dirty="0">
                <a:solidFill>
                  <a:srgbClr val="D22D72"/>
                </a:solidFill>
                <a:latin typeface="Consolas"/>
              </a:rPr>
              <a:t>maStringVar</a:t>
            </a:r>
            <a:r>
              <a:rPr lang="fr-FR" b="0" dirty="0">
                <a:latin typeface="Consolas"/>
              </a:rPr>
              <a:t>);</a:t>
            </a:r>
          </a:p>
          <a:p>
            <a:r>
              <a:rPr lang="fr-FR" b="0" dirty="0">
                <a:latin typeface="Consolas"/>
              </a:rPr>
              <a:t>//conversion vers décimal</a:t>
            </a:r>
          </a:p>
          <a:p>
            <a:r>
              <a:rPr lang="fr-FR" b="0" dirty="0">
                <a:solidFill>
                  <a:srgbClr val="8A8A0F"/>
                </a:solidFill>
                <a:latin typeface="Consolas"/>
              </a:rPr>
              <a:t>Number</a:t>
            </a:r>
            <a:r>
              <a:rPr lang="fr-FR" b="0" dirty="0">
                <a:latin typeface="Consolas"/>
              </a:rPr>
              <a:t>.</a:t>
            </a:r>
            <a:r>
              <a:rPr lang="fr-FR" b="0" dirty="0">
                <a:solidFill>
                  <a:srgbClr val="257FAD"/>
                </a:solidFill>
                <a:latin typeface="Consolas"/>
              </a:rPr>
              <a:t>parseInt</a:t>
            </a:r>
            <a:r>
              <a:rPr lang="fr-FR" b="0" dirty="0">
                <a:latin typeface="Consolas"/>
              </a:rPr>
              <a:t>(</a:t>
            </a:r>
            <a:r>
              <a:rPr lang="fr-FR" b="0" dirty="0">
                <a:solidFill>
                  <a:srgbClr val="D22D72"/>
                </a:solidFill>
                <a:latin typeface="Consolas"/>
              </a:rPr>
              <a:t>maStringVar</a:t>
            </a:r>
            <a:r>
              <a:rPr lang="fr-FR" b="0" dirty="0">
                <a:latin typeface="Consolas"/>
              </a:rPr>
              <a:t>);</a:t>
            </a:r>
          </a:p>
          <a:p>
            <a:r>
              <a:rPr lang="fr-FR" b="0" dirty="0">
                <a:latin typeface="Consolas"/>
              </a:rPr>
              <a:t>//conversion vers entier</a:t>
            </a:r>
          </a:p>
        </p:txBody>
      </p:sp>
      <p:sp>
        <p:nvSpPr>
          <p:cNvPr id="5" name="Rectangle 4"/>
          <p:cNvSpPr/>
          <p:nvPr/>
        </p:nvSpPr>
        <p:spPr>
          <a:xfrm>
            <a:off x="1714480" y="4071942"/>
            <a:ext cx="6601936" cy="1477328"/>
          </a:xfrm>
          <a:prstGeom prst="rect">
            <a:avLst/>
          </a:prstGeom>
        </p:spPr>
        <p:txBody>
          <a:bodyPr wrap="square">
            <a:spAutoFit/>
          </a:bodyPr>
          <a:lstStyle/>
          <a:p>
            <a:r>
              <a:rPr lang="en-US" b="0" dirty="0">
                <a:solidFill>
                  <a:srgbClr val="5D5DB1"/>
                </a:solidFill>
                <a:latin typeface="Consolas"/>
              </a:rPr>
              <a:t>var</a:t>
            </a:r>
            <a:r>
              <a:rPr lang="en-US" b="0" dirty="0">
                <a:solidFill>
                  <a:srgbClr val="7EA2B4"/>
                </a:solidFill>
                <a:latin typeface="Consolas"/>
              </a:rPr>
              <a:t> </a:t>
            </a:r>
            <a:r>
              <a:rPr lang="en-US" b="0" dirty="0">
                <a:solidFill>
                  <a:srgbClr val="D22D72"/>
                </a:solidFill>
                <a:latin typeface="Consolas"/>
              </a:rPr>
              <a:t>date1</a:t>
            </a:r>
            <a:r>
              <a:rPr lang="en-US" b="0" dirty="0">
                <a:solidFill>
                  <a:srgbClr val="7EA2B4"/>
                </a:solidFill>
                <a:latin typeface="Consolas"/>
              </a:rPr>
              <a:t> </a:t>
            </a:r>
            <a:r>
              <a:rPr lang="en-US" b="0" dirty="0">
                <a:latin typeface="Consolas"/>
              </a:rPr>
              <a:t>= new Date('December </a:t>
            </a:r>
            <a:r>
              <a:rPr lang="en-US" b="0" dirty="0">
                <a:solidFill>
                  <a:srgbClr val="568C3B"/>
                </a:solidFill>
                <a:latin typeface="Consolas"/>
              </a:rPr>
              <a:t>17, 1995 03:24:00</a:t>
            </a:r>
            <a:r>
              <a:rPr lang="en-US" b="0" dirty="0">
                <a:latin typeface="Consolas"/>
              </a:rPr>
              <a:t>');</a:t>
            </a:r>
          </a:p>
          <a:p>
            <a:r>
              <a:rPr lang="en-US" b="0" dirty="0">
                <a:latin typeface="Consolas"/>
              </a:rPr>
              <a:t>// Sun Dec 17 1995 03:24:00 GMT...</a:t>
            </a:r>
          </a:p>
          <a:p>
            <a:endParaRPr lang="en-US" b="0" dirty="0">
              <a:solidFill>
                <a:srgbClr val="5D5DB1"/>
              </a:solidFill>
              <a:latin typeface="Consolas"/>
            </a:endParaRPr>
          </a:p>
          <a:p>
            <a:r>
              <a:rPr lang="en-US" b="0" dirty="0">
                <a:solidFill>
                  <a:srgbClr val="5D5DB1"/>
                </a:solidFill>
                <a:latin typeface="Consolas"/>
              </a:rPr>
              <a:t>var</a:t>
            </a:r>
            <a:r>
              <a:rPr lang="en-US" b="0" dirty="0">
                <a:solidFill>
                  <a:srgbClr val="7EA2B4"/>
                </a:solidFill>
                <a:latin typeface="Consolas"/>
              </a:rPr>
              <a:t> </a:t>
            </a:r>
            <a:r>
              <a:rPr lang="en-US" b="0" dirty="0">
                <a:solidFill>
                  <a:srgbClr val="D22D72"/>
                </a:solidFill>
                <a:latin typeface="Consolas"/>
              </a:rPr>
              <a:t>date2</a:t>
            </a:r>
            <a:r>
              <a:rPr lang="en-US" b="0" dirty="0">
                <a:solidFill>
                  <a:srgbClr val="7EA2B4"/>
                </a:solidFill>
                <a:latin typeface="Consolas"/>
              </a:rPr>
              <a:t> </a:t>
            </a:r>
            <a:r>
              <a:rPr lang="en-US" b="0" dirty="0">
                <a:latin typeface="Consolas"/>
              </a:rPr>
              <a:t>= new Date('</a:t>
            </a:r>
            <a:r>
              <a:rPr lang="en-US" b="0" dirty="0">
                <a:solidFill>
                  <a:srgbClr val="568C3B"/>
                </a:solidFill>
                <a:latin typeface="Consolas"/>
              </a:rPr>
              <a:t>1995-12-17T03:24:00</a:t>
            </a:r>
            <a:r>
              <a:rPr lang="en-US" b="0" dirty="0">
                <a:latin typeface="Consolas"/>
              </a:rPr>
              <a:t>');</a:t>
            </a:r>
          </a:p>
          <a:p>
            <a:r>
              <a:rPr lang="en-US" b="0" dirty="0">
                <a:latin typeface="Consolas"/>
              </a:rPr>
              <a:t>// Sun Dec 17 1995 03:24:00 GMT..</a:t>
            </a:r>
          </a:p>
        </p:txBody>
      </p:sp>
    </p:spTree>
    <p:extLst>
      <p:ext uri="{BB962C8B-B14F-4D97-AF65-F5344CB8AC3E}">
        <p14:creationId xmlns:p14="http://schemas.microsoft.com/office/powerpoint/2010/main" val="7695426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Opérateurs Logiques &amp; Arithmétiques</a:t>
            </a:r>
          </a:p>
        </p:txBody>
      </p:sp>
      <p:sp>
        <p:nvSpPr>
          <p:cNvPr id="3" name="Espace réservé du contenu 2"/>
          <p:cNvSpPr>
            <a:spLocks noGrp="1"/>
          </p:cNvSpPr>
          <p:nvPr>
            <p:ph idx="1"/>
          </p:nvPr>
        </p:nvSpPr>
        <p:spPr/>
        <p:txBody>
          <a:bodyPr>
            <a:normAutofit fontScale="85000" lnSpcReduction="20000"/>
          </a:bodyPr>
          <a:lstStyle/>
          <a:p>
            <a:r>
              <a:rPr lang="fr-FR" dirty="0"/>
              <a:t>Opérateurs arithmétiques</a:t>
            </a:r>
          </a:p>
          <a:p>
            <a:pPr algn="ctr">
              <a:buNone/>
            </a:pPr>
            <a:r>
              <a:rPr lang="fr-FR" b="1" i="1" dirty="0"/>
              <a:t>+</a:t>
            </a:r>
            <a:r>
              <a:rPr lang="fr-FR" dirty="0"/>
              <a:t>, </a:t>
            </a:r>
            <a:r>
              <a:rPr lang="fr-FR" b="1" i="1" dirty="0"/>
              <a:t>-</a:t>
            </a:r>
            <a:r>
              <a:rPr lang="fr-FR" dirty="0"/>
              <a:t> </a:t>
            </a:r>
            <a:r>
              <a:rPr lang="fr-FR" dirty="0">
                <a:sym typeface="Wingdings" pitchFamily="2" charset="2"/>
              </a:rPr>
              <a:t> addition, soustraction</a:t>
            </a:r>
          </a:p>
          <a:p>
            <a:pPr>
              <a:buNone/>
            </a:pPr>
            <a:r>
              <a:rPr lang="fr-FR" dirty="0">
                <a:sym typeface="Wingdings" pitchFamily="2" charset="2"/>
              </a:rPr>
              <a:t>			++, -- 	 incrémentation ou décrémentation</a:t>
            </a:r>
            <a:endParaRPr lang="fr-FR" dirty="0"/>
          </a:p>
          <a:p>
            <a:pPr algn="ctr">
              <a:buNone/>
            </a:pPr>
            <a:r>
              <a:rPr lang="fr-FR" dirty="0"/>
              <a:t> </a:t>
            </a:r>
            <a:r>
              <a:rPr lang="fr-FR" b="1" i="1" dirty="0"/>
              <a:t>*</a:t>
            </a:r>
            <a:r>
              <a:rPr lang="fr-FR" dirty="0"/>
              <a:t>, </a:t>
            </a:r>
            <a:r>
              <a:rPr lang="fr-FR" b="1" i="1" dirty="0"/>
              <a:t>/</a:t>
            </a:r>
            <a:r>
              <a:rPr lang="fr-FR" dirty="0"/>
              <a:t> </a:t>
            </a:r>
            <a:r>
              <a:rPr lang="fr-FR" dirty="0">
                <a:sym typeface="Wingdings" pitchFamily="2" charset="2"/>
              </a:rPr>
              <a:t>multiplication, division </a:t>
            </a:r>
            <a:endParaRPr lang="fr-FR" dirty="0"/>
          </a:p>
          <a:p>
            <a:pPr algn="ctr">
              <a:buNone/>
            </a:pPr>
            <a:r>
              <a:rPr lang="fr-FR" dirty="0"/>
              <a:t> </a:t>
            </a:r>
            <a:r>
              <a:rPr lang="fr-FR" b="1" i="1" dirty="0"/>
              <a:t>mod</a:t>
            </a:r>
            <a:r>
              <a:rPr lang="fr-FR" dirty="0"/>
              <a:t> </a:t>
            </a:r>
            <a:r>
              <a:rPr lang="fr-FR" dirty="0">
                <a:sym typeface="Wingdings" pitchFamily="2" charset="2"/>
              </a:rPr>
              <a:t> modulo (reste de division euclidienne)</a:t>
            </a:r>
            <a:endParaRPr lang="fr-FR" dirty="0"/>
          </a:p>
          <a:p>
            <a:endParaRPr lang="fr-FR" dirty="0"/>
          </a:p>
          <a:p>
            <a:r>
              <a:rPr lang="fr-FR" dirty="0"/>
              <a:t>Opérateurs logiques</a:t>
            </a:r>
          </a:p>
          <a:p>
            <a:pPr>
              <a:buNone/>
              <a:tabLst>
                <a:tab pos="2773363" algn="l"/>
              </a:tabLst>
            </a:pPr>
            <a:r>
              <a:rPr lang="fr-FR" dirty="0"/>
              <a:t>	</a:t>
            </a:r>
            <a:r>
              <a:rPr lang="fr-FR" b="1" i="1" dirty="0"/>
              <a:t>&amp;&amp;</a:t>
            </a:r>
            <a:r>
              <a:rPr lang="fr-FR" dirty="0"/>
              <a:t> , </a:t>
            </a:r>
            <a:r>
              <a:rPr lang="fr-FR" b="1" i="1" dirty="0"/>
              <a:t>||</a:t>
            </a:r>
            <a:r>
              <a:rPr lang="fr-FR" dirty="0"/>
              <a:t> 	</a:t>
            </a:r>
            <a:r>
              <a:rPr lang="fr-FR" dirty="0">
                <a:sym typeface="Wingdings" pitchFamily="2" charset="2"/>
              </a:rPr>
              <a:t> et, ou</a:t>
            </a:r>
          </a:p>
          <a:p>
            <a:pPr>
              <a:buNone/>
              <a:tabLst>
                <a:tab pos="2773363" algn="l"/>
              </a:tabLst>
            </a:pPr>
            <a:r>
              <a:rPr lang="fr-FR" dirty="0">
                <a:sym typeface="Wingdings" pitchFamily="2" charset="2"/>
              </a:rPr>
              <a:t>	</a:t>
            </a:r>
            <a:r>
              <a:rPr lang="fr-FR" b="1" i="1" dirty="0">
                <a:sym typeface="Wingdings" pitchFamily="2" charset="2"/>
              </a:rPr>
              <a:t>&lt;</a:t>
            </a:r>
            <a:r>
              <a:rPr lang="fr-FR" dirty="0">
                <a:sym typeface="Wingdings" pitchFamily="2" charset="2"/>
              </a:rPr>
              <a:t>, </a:t>
            </a:r>
            <a:r>
              <a:rPr lang="fr-FR" b="1" i="1" dirty="0">
                <a:sym typeface="Wingdings" pitchFamily="2" charset="2"/>
              </a:rPr>
              <a:t>&gt;</a:t>
            </a:r>
            <a:r>
              <a:rPr lang="fr-FR" dirty="0">
                <a:sym typeface="Wingdings" pitchFamily="2" charset="2"/>
              </a:rPr>
              <a:t>, </a:t>
            </a:r>
            <a:r>
              <a:rPr lang="fr-FR" b="1" i="1" dirty="0">
                <a:sym typeface="Wingdings" pitchFamily="2" charset="2"/>
              </a:rPr>
              <a:t>&lt;=</a:t>
            </a:r>
            <a:r>
              <a:rPr lang="fr-FR" dirty="0">
                <a:sym typeface="Wingdings" pitchFamily="2" charset="2"/>
              </a:rPr>
              <a:t>, </a:t>
            </a:r>
            <a:r>
              <a:rPr lang="fr-FR" b="1" i="1" dirty="0">
                <a:sym typeface="Wingdings" pitchFamily="2" charset="2"/>
              </a:rPr>
              <a:t>&gt;=</a:t>
            </a:r>
            <a:r>
              <a:rPr lang="fr-FR" dirty="0">
                <a:sym typeface="Wingdings" pitchFamily="2" charset="2"/>
              </a:rPr>
              <a:t> 	sup, inf, inf ou égal, sup ou égal</a:t>
            </a:r>
          </a:p>
          <a:p>
            <a:pPr>
              <a:buNone/>
              <a:tabLst>
                <a:tab pos="2773363" algn="l"/>
              </a:tabLst>
            </a:pPr>
            <a:r>
              <a:rPr lang="fr-FR" dirty="0">
                <a:sym typeface="Wingdings" pitchFamily="2" charset="2"/>
              </a:rPr>
              <a:t>	!	 NON booleen</a:t>
            </a:r>
          </a:p>
          <a:p>
            <a:pPr>
              <a:buNone/>
              <a:tabLst>
                <a:tab pos="2773363" algn="l"/>
              </a:tabLst>
            </a:pPr>
            <a:r>
              <a:rPr lang="fr-FR" dirty="0">
                <a:sym typeface="Wingdings" pitchFamily="2" charset="2"/>
              </a:rPr>
              <a:t>	==, !=	strictement égal, différent</a:t>
            </a:r>
          </a:p>
          <a:p>
            <a:pPr>
              <a:buNone/>
              <a:tabLst>
                <a:tab pos="2773363" algn="l"/>
              </a:tabLst>
            </a:pPr>
            <a:r>
              <a:rPr lang="fr-FR" dirty="0">
                <a:sym typeface="Wingdings" pitchFamily="2" charset="2"/>
              </a:rPr>
              <a:t>	===, !==	égal en valeur et en type, 	différent en valeur et en type</a:t>
            </a:r>
            <a:endParaRPr lang="fr-FR" dirty="0"/>
          </a:p>
          <a:p>
            <a:endParaRPr lang="fr-FR" dirty="0"/>
          </a:p>
          <a:p>
            <a:endParaRPr lang="fr-FR" dirty="0"/>
          </a:p>
        </p:txBody>
      </p:sp>
    </p:spTree>
    <p:extLst>
      <p:ext uri="{BB962C8B-B14F-4D97-AF65-F5344CB8AC3E}">
        <p14:creationId xmlns:p14="http://schemas.microsoft.com/office/powerpoint/2010/main" val="404071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Array</a:t>
            </a:r>
          </a:p>
        </p:txBody>
      </p:sp>
      <p:sp>
        <p:nvSpPr>
          <p:cNvPr id="3" name="Espace réservé du contenu 2"/>
          <p:cNvSpPr>
            <a:spLocks noGrp="1"/>
          </p:cNvSpPr>
          <p:nvPr>
            <p:ph idx="1"/>
          </p:nvPr>
        </p:nvSpPr>
        <p:spPr/>
        <p:txBody>
          <a:bodyPr>
            <a:normAutofit fontScale="85000" lnSpcReduction="20000"/>
          </a:bodyPr>
          <a:lstStyle/>
          <a:p>
            <a:pPr>
              <a:defRPr/>
            </a:pPr>
            <a:r>
              <a:rPr lang="fr-FR" dirty="0">
                <a:ea typeface="MS Mincho" pitchFamily="49" charset="-128"/>
              </a:rPr>
              <a:t>Initialisation groupée : </a:t>
            </a:r>
          </a:p>
          <a:p>
            <a:pPr algn="ctr">
              <a:buNone/>
              <a:defRPr/>
            </a:pPr>
            <a:r>
              <a:rPr lang="fr-FR" b="1" i="1" dirty="0">
                <a:ea typeface="MS Mincho" pitchFamily="49" charset="-128"/>
              </a:rPr>
              <a:t>var prenoms = [‘Alex’, ‘Pascal’, ‘Laurent’]; </a:t>
            </a:r>
          </a:p>
          <a:p>
            <a:pPr>
              <a:defRPr/>
            </a:pPr>
            <a:r>
              <a:rPr lang="fr-FR" dirty="0">
                <a:ea typeface="MS Mincho" pitchFamily="49" charset="-128"/>
              </a:rPr>
              <a:t>Lire ou modifier par l’index : </a:t>
            </a:r>
          </a:p>
          <a:p>
            <a:pPr algn="ctr">
              <a:buNone/>
              <a:defRPr/>
            </a:pPr>
            <a:r>
              <a:rPr lang="fr-FR" b="1" i="1" dirty="0">
                <a:ea typeface="MS Mincho" pitchFamily="49" charset="-128"/>
              </a:rPr>
              <a:t>prenoms[0] = ‘Nikola’; </a:t>
            </a:r>
          </a:p>
          <a:p>
            <a:pPr>
              <a:defRPr/>
            </a:pPr>
            <a:r>
              <a:rPr lang="fr-FR" dirty="0">
                <a:ea typeface="MS Mincho" pitchFamily="49" charset="-128"/>
              </a:rPr>
              <a:t>Taille d'array </a:t>
            </a:r>
          </a:p>
          <a:p>
            <a:pPr algn="ctr">
              <a:buNone/>
              <a:defRPr/>
            </a:pPr>
            <a:r>
              <a:rPr lang="fr-FR" b="1" i="1" dirty="0">
                <a:ea typeface="MS Mincho" pitchFamily="49" charset="-128"/>
              </a:rPr>
              <a:t>prenom.length</a:t>
            </a:r>
          </a:p>
          <a:p>
            <a:pPr>
              <a:defRPr/>
            </a:pPr>
            <a:r>
              <a:rPr lang="fr-FR" dirty="0">
                <a:ea typeface="MS Mincho" pitchFamily="49" charset="-128"/>
              </a:rPr>
              <a:t>Sélectionner :</a:t>
            </a:r>
          </a:p>
          <a:p>
            <a:pPr algn="ctr">
              <a:buNone/>
              <a:defRPr/>
            </a:pPr>
            <a:r>
              <a:rPr lang="fr-FR" b="1" i="1" dirty="0">
                <a:ea typeface="MS Mincho" pitchFamily="49" charset="-128"/>
              </a:rPr>
              <a:t>prenoms.slice( idxDbt[, idxFin])</a:t>
            </a:r>
          </a:p>
          <a:p>
            <a:pPr>
              <a:defRPr/>
            </a:pPr>
            <a:r>
              <a:rPr lang="fr-FR" dirty="0">
                <a:ea typeface="MS Mincho" pitchFamily="49" charset="-128"/>
              </a:rPr>
              <a:t>Parcours avec for in </a:t>
            </a:r>
          </a:p>
          <a:p>
            <a:pPr algn="ctr">
              <a:buNone/>
              <a:defRPr/>
            </a:pPr>
            <a:r>
              <a:rPr lang="fr-FR" b="1" i="1" dirty="0">
                <a:ea typeface="MS Mincho" pitchFamily="49" charset="-128"/>
              </a:rPr>
              <a:t>for( i in prenoms){…code…} </a:t>
            </a:r>
          </a:p>
          <a:p>
            <a:pPr>
              <a:defRPr/>
            </a:pPr>
            <a:r>
              <a:rPr lang="fr-FR" dirty="0">
                <a:ea typeface="MS Mincho" pitchFamily="49" charset="-128"/>
              </a:rPr>
              <a:t>Parcours avec Fonction de l’instance d’array</a:t>
            </a:r>
          </a:p>
          <a:p>
            <a:pPr algn="ctr">
              <a:buNone/>
              <a:defRPr/>
            </a:pPr>
            <a:r>
              <a:rPr lang="fr-FR" b="1" i="1" dirty="0">
                <a:ea typeface="MS Mincho" pitchFamily="49" charset="-128"/>
              </a:rPr>
              <a:t>array.forEach((element,index,liste)=&gt;{</a:t>
            </a:r>
            <a:r>
              <a:rPr lang="fr-FR" dirty="0">
                <a:ea typeface="MS Mincho" pitchFamily="49" charset="-128"/>
              </a:rPr>
              <a:t>…code…</a:t>
            </a:r>
            <a:r>
              <a:rPr lang="fr-FR" b="1" i="1" dirty="0">
                <a:ea typeface="MS Mincho" pitchFamily="49" charset="-128"/>
              </a:rPr>
              <a:t>}</a:t>
            </a:r>
          </a:p>
          <a:p>
            <a:pPr algn="ctr">
              <a:buNone/>
              <a:defRPr/>
            </a:pPr>
            <a:endParaRPr lang="fr-FR" dirty="0">
              <a:ea typeface="MS Mincho" pitchFamily="49" charset="-128"/>
            </a:endParaRPr>
          </a:p>
          <a:p>
            <a:pPr algn="ctr">
              <a:buNone/>
              <a:defRPr/>
            </a:pPr>
            <a:endParaRPr lang="fr-FR" dirty="0">
              <a:ea typeface="MS Mincho" pitchFamily="49" charset="-128"/>
            </a:endParaRPr>
          </a:p>
          <a:p>
            <a:pPr algn="ctr">
              <a:buNone/>
              <a:defRPr/>
            </a:pPr>
            <a:endParaRPr lang="fr-FR" dirty="0">
              <a:ea typeface="MS Mincho" pitchFamily="49" charset="-128"/>
            </a:endParaRPr>
          </a:p>
        </p:txBody>
      </p:sp>
    </p:spTree>
    <p:extLst>
      <p:ext uri="{BB962C8B-B14F-4D97-AF65-F5344CB8AC3E}">
        <p14:creationId xmlns:p14="http://schemas.microsoft.com/office/powerpoint/2010/main" val="31717827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Array</a:t>
            </a:r>
          </a:p>
        </p:txBody>
      </p:sp>
      <p:sp>
        <p:nvSpPr>
          <p:cNvPr id="3" name="Espace réservé du contenu 2"/>
          <p:cNvSpPr>
            <a:spLocks noGrp="1"/>
          </p:cNvSpPr>
          <p:nvPr>
            <p:ph idx="1"/>
          </p:nvPr>
        </p:nvSpPr>
        <p:spPr/>
        <p:txBody>
          <a:bodyPr>
            <a:normAutofit/>
          </a:bodyPr>
          <a:lstStyle/>
          <a:p>
            <a:pPr>
              <a:defRPr/>
            </a:pPr>
            <a:r>
              <a:rPr lang="fr-FR" dirty="0">
                <a:ea typeface="MS Mincho" pitchFamily="49" charset="-128"/>
              </a:rPr>
              <a:t>Listage </a:t>
            </a:r>
          </a:p>
          <a:p>
            <a:pPr algn="ctr">
              <a:buNone/>
              <a:defRPr/>
            </a:pPr>
            <a:r>
              <a:rPr lang="fr-FR" b="1" i="1" dirty="0">
                <a:ea typeface="MS Mincho" pitchFamily="49" charset="-128"/>
              </a:rPr>
              <a:t>prenoms.join(‘;’); </a:t>
            </a:r>
          </a:p>
          <a:p>
            <a:pPr lvl="1">
              <a:defRPr/>
            </a:pPr>
            <a:r>
              <a:rPr lang="fr-FR" dirty="0">
                <a:ea typeface="MS Mincho" pitchFamily="49" charset="-128"/>
              </a:rPr>
              <a:t> (join() sep = « , ») et toString() (idem join() )</a:t>
            </a:r>
          </a:p>
          <a:p>
            <a:pPr>
              <a:defRPr/>
            </a:pPr>
            <a:r>
              <a:rPr lang="fr-FR" dirty="0">
                <a:ea typeface="MS Mincho" pitchFamily="49" charset="-128"/>
              </a:rPr>
              <a:t>Tri </a:t>
            </a:r>
          </a:p>
          <a:p>
            <a:pPr algn="ctr">
              <a:buNone/>
              <a:defRPr/>
            </a:pPr>
            <a:r>
              <a:rPr lang="fr-FR" b="1" i="1" dirty="0">
                <a:ea typeface="MS Mincho" pitchFamily="49" charset="-128"/>
              </a:rPr>
              <a:t>prenoms.sort();</a:t>
            </a:r>
            <a:r>
              <a:rPr lang="fr-FR" dirty="0">
                <a:ea typeface="MS Mincho" pitchFamily="49" charset="-128"/>
              </a:rPr>
              <a:t>  </a:t>
            </a:r>
            <a:r>
              <a:rPr lang="fr-FR" i="1" dirty="0">
                <a:ea typeface="MS Mincho" pitchFamily="49" charset="-128"/>
              </a:rPr>
              <a:t>ou </a:t>
            </a:r>
          </a:p>
          <a:p>
            <a:pPr algn="ctr">
              <a:buNone/>
              <a:defRPr/>
            </a:pPr>
            <a:r>
              <a:rPr lang="fr-FR" b="1" i="1" dirty="0">
                <a:ea typeface="MS Mincho" pitchFamily="49" charset="-128"/>
              </a:rPr>
              <a:t> numbers.sort( function(a,b){return a - b})</a:t>
            </a:r>
          </a:p>
          <a:p>
            <a:pPr>
              <a:defRPr/>
            </a:pPr>
            <a:r>
              <a:rPr lang="fr-FR" dirty="0">
                <a:ea typeface="MS Mincho" pitchFamily="49" charset="-128"/>
              </a:rPr>
              <a:t>Concaténation de tableaux </a:t>
            </a:r>
          </a:p>
          <a:p>
            <a:pPr algn="ctr">
              <a:buNone/>
              <a:defRPr/>
            </a:pPr>
            <a:r>
              <a:rPr lang="fr-FR" b="1" i="1" dirty="0">
                <a:ea typeface="MS Mincho" pitchFamily="49" charset="-128"/>
              </a:rPr>
              <a:t>prenoms.concat( prenoms2); </a:t>
            </a:r>
          </a:p>
        </p:txBody>
      </p:sp>
    </p:spTree>
    <p:extLst>
      <p:ext uri="{BB962C8B-B14F-4D97-AF65-F5344CB8AC3E}">
        <p14:creationId xmlns:p14="http://schemas.microsoft.com/office/powerpoint/2010/main" val="14764810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Array</a:t>
            </a:r>
          </a:p>
        </p:txBody>
      </p:sp>
      <p:sp>
        <p:nvSpPr>
          <p:cNvPr id="3" name="Espace réservé du contenu 2"/>
          <p:cNvSpPr>
            <a:spLocks noGrp="1"/>
          </p:cNvSpPr>
          <p:nvPr>
            <p:ph idx="1"/>
          </p:nvPr>
        </p:nvSpPr>
        <p:spPr/>
        <p:txBody>
          <a:bodyPr>
            <a:normAutofit fontScale="70000" lnSpcReduction="20000"/>
          </a:bodyPr>
          <a:lstStyle/>
          <a:p>
            <a:pPr>
              <a:defRPr/>
            </a:pPr>
            <a:r>
              <a:rPr lang="fr-FR" dirty="0">
                <a:ea typeface="MS Mincho" pitchFamily="49" charset="-128"/>
              </a:rPr>
              <a:t>Supprimer des éléments : </a:t>
            </a:r>
          </a:p>
          <a:p>
            <a:pPr lvl="1">
              <a:defRPr/>
            </a:pPr>
            <a:r>
              <a:rPr lang="fr-FR" dirty="0">
                <a:ea typeface="MS Mincho" pitchFamily="49" charset="-128"/>
              </a:rPr>
              <a:t>pop() </a:t>
            </a:r>
          </a:p>
          <a:p>
            <a:pPr lvl="2">
              <a:defRPr/>
            </a:pPr>
            <a:r>
              <a:rPr lang="fr-FR" dirty="0">
                <a:ea typeface="MS Mincho" pitchFamily="49" charset="-128"/>
              </a:rPr>
              <a:t>le dernier et le renvoie,</a:t>
            </a:r>
          </a:p>
          <a:p>
            <a:pPr lvl="1">
              <a:defRPr/>
            </a:pPr>
            <a:r>
              <a:rPr lang="fr-FR" dirty="0">
                <a:ea typeface="MS Mincho" pitchFamily="49" charset="-128"/>
              </a:rPr>
              <a:t>shift() </a:t>
            </a:r>
          </a:p>
          <a:p>
            <a:pPr lvl="2">
              <a:defRPr/>
            </a:pPr>
            <a:r>
              <a:rPr lang="fr-FR" dirty="0">
                <a:ea typeface="MS Mincho" pitchFamily="49" charset="-128"/>
              </a:rPr>
              <a:t>le premier</a:t>
            </a:r>
          </a:p>
          <a:p>
            <a:pPr>
              <a:defRPr/>
            </a:pPr>
            <a:endParaRPr lang="fr-FR" dirty="0">
              <a:ea typeface="MS Mincho" pitchFamily="49" charset="-128"/>
            </a:endParaRPr>
          </a:p>
          <a:p>
            <a:pPr>
              <a:defRPr/>
            </a:pPr>
            <a:r>
              <a:rPr lang="fr-FR" dirty="0">
                <a:ea typeface="MS Mincho" pitchFamily="49" charset="-128"/>
              </a:rPr>
              <a:t>Ajouter des éléments :</a:t>
            </a:r>
          </a:p>
          <a:p>
            <a:pPr lvl="1">
              <a:defRPr/>
            </a:pPr>
            <a:r>
              <a:rPr lang="fr-FR" dirty="0">
                <a:ea typeface="MS Mincho" pitchFamily="49" charset="-128"/>
              </a:rPr>
              <a:t>push(a,b,…)</a:t>
            </a:r>
          </a:p>
          <a:p>
            <a:pPr lvl="2">
              <a:defRPr/>
            </a:pPr>
            <a:r>
              <a:rPr lang="fr-FR" dirty="0">
                <a:ea typeface="MS Mincho" pitchFamily="49" charset="-128"/>
              </a:rPr>
              <a:t> à la fin </a:t>
            </a:r>
          </a:p>
          <a:p>
            <a:pPr lvl="1">
              <a:defRPr/>
            </a:pPr>
            <a:r>
              <a:rPr lang="fr-FR" dirty="0">
                <a:ea typeface="MS Mincho" pitchFamily="49" charset="-128"/>
              </a:rPr>
              <a:t>unshift(a,b,…)  </a:t>
            </a:r>
          </a:p>
          <a:p>
            <a:pPr lvl="2">
              <a:defRPr/>
            </a:pPr>
            <a:r>
              <a:rPr lang="fr-FR" dirty="0">
                <a:ea typeface="MS Mincho" pitchFamily="49" charset="-128"/>
              </a:rPr>
              <a:t>au début </a:t>
            </a:r>
          </a:p>
          <a:p>
            <a:pPr lvl="1">
              <a:defRPr/>
            </a:pPr>
            <a:r>
              <a:rPr lang="fr-FR" dirty="0">
                <a:ea typeface="MS Mincho" pitchFamily="49" charset="-128"/>
              </a:rPr>
              <a:t>splice( idx, nbr, emt1, emt2…) </a:t>
            </a:r>
          </a:p>
          <a:p>
            <a:pPr lvl="2">
              <a:defRPr/>
            </a:pPr>
            <a:r>
              <a:rPr lang="fr-FR" dirty="0">
                <a:ea typeface="MS Mincho" pitchFamily="49" charset="-128"/>
              </a:rPr>
              <a:t>à partir de l’index</a:t>
            </a:r>
          </a:p>
          <a:p>
            <a:pPr>
              <a:defRPr/>
            </a:pPr>
            <a:endParaRPr lang="fr-FR" dirty="0">
              <a:ea typeface="MS Mincho" pitchFamily="49" charset="-128"/>
            </a:endParaRPr>
          </a:p>
          <a:p>
            <a:pPr>
              <a:defRPr/>
            </a:pPr>
            <a:r>
              <a:rPr lang="fr-FR" dirty="0">
                <a:ea typeface="MS Mincho" pitchFamily="49" charset="-128"/>
              </a:rPr>
              <a:t>Inverser l’ordre : reverse()</a:t>
            </a:r>
          </a:p>
          <a:p>
            <a:pPr>
              <a:buNone/>
              <a:defRPr/>
            </a:pPr>
            <a:r>
              <a:rPr lang="fr-FR" dirty="0">
                <a:ea typeface="MS Mincho" pitchFamily="49" charset="-128"/>
              </a:rPr>
              <a:t> </a:t>
            </a:r>
          </a:p>
          <a:p>
            <a:pPr>
              <a:buNone/>
              <a:defRPr/>
            </a:pPr>
            <a:r>
              <a:rPr lang="fr-FR" dirty="0">
                <a:ea typeface="MS Mincho" pitchFamily="49" charset="-128"/>
              </a:rPr>
              <a:t>Afficher le code : toSource() presque en notation JSON (pas sous MSIE6-)</a:t>
            </a:r>
          </a:p>
        </p:txBody>
      </p:sp>
    </p:spTree>
    <p:extLst>
      <p:ext uri="{BB962C8B-B14F-4D97-AF65-F5344CB8AC3E}">
        <p14:creationId xmlns:p14="http://schemas.microsoft.com/office/powerpoint/2010/main" val="22868960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C01BC2B9-F131-A891-18E9-2064A22A4A9F}"/>
              </a:ext>
            </a:extLst>
          </p:cNvPr>
          <p:cNvSpPr>
            <a:spLocks noGrp="1"/>
          </p:cNvSpPr>
          <p:nvPr>
            <p:ph type="title"/>
          </p:nvPr>
        </p:nvSpPr>
        <p:spPr/>
        <p:txBody>
          <a:bodyPr/>
          <a:lstStyle/>
          <a:p>
            <a:r>
              <a:rPr lang="fr-FR" dirty="0"/>
              <a:t>Programmation JavaScript fondamentale</a:t>
            </a:r>
          </a:p>
        </p:txBody>
      </p:sp>
      <p:sp>
        <p:nvSpPr>
          <p:cNvPr id="5" name="Espace réservé du texte 4">
            <a:extLst>
              <a:ext uri="{FF2B5EF4-FFF2-40B4-BE49-F238E27FC236}">
                <a16:creationId xmlns:a16="http://schemas.microsoft.com/office/drawing/2014/main" id="{BFC33D30-9607-1931-6A43-510F44DE9671}"/>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9551519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8658CBE8-668B-F7E8-A5ED-54D66D2FED67}"/>
              </a:ext>
            </a:extLst>
          </p:cNvPr>
          <p:cNvSpPr>
            <a:spLocks noGrp="1"/>
          </p:cNvSpPr>
          <p:nvPr>
            <p:ph type="title"/>
          </p:nvPr>
        </p:nvSpPr>
        <p:spPr/>
        <p:txBody>
          <a:bodyPr/>
          <a:lstStyle/>
          <a:p>
            <a:r>
              <a:rPr lang="fr-FR" dirty="0"/>
              <a:t>Scoping / portée de variable</a:t>
            </a:r>
          </a:p>
        </p:txBody>
      </p:sp>
      <p:sp>
        <p:nvSpPr>
          <p:cNvPr id="5" name="Espace réservé du contenu 4">
            <a:extLst>
              <a:ext uri="{FF2B5EF4-FFF2-40B4-BE49-F238E27FC236}">
                <a16:creationId xmlns:a16="http://schemas.microsoft.com/office/drawing/2014/main" id="{76FFB8A6-ADC7-7D07-D06A-227019BC903A}"/>
              </a:ext>
            </a:extLst>
          </p:cNvPr>
          <p:cNvSpPr>
            <a:spLocks noGrp="1"/>
          </p:cNvSpPr>
          <p:nvPr>
            <p:ph idx="1"/>
          </p:nvPr>
        </p:nvSpPr>
        <p:spPr/>
        <p:txBody>
          <a:bodyPr>
            <a:normAutofit fontScale="92500" lnSpcReduction="10000"/>
          </a:bodyPr>
          <a:lstStyle/>
          <a:p>
            <a:r>
              <a:rPr lang="fr-FR" sz="2000" dirty="0"/>
              <a:t>ES5</a:t>
            </a:r>
          </a:p>
          <a:p>
            <a:pPr lvl="2"/>
            <a:r>
              <a:rPr lang="fr-FR" sz="1400" b="1" i="1" dirty="0"/>
              <a:t>var</a:t>
            </a:r>
            <a:r>
              <a:rPr lang="fr-FR" sz="1400" dirty="0"/>
              <a:t> </a:t>
            </a:r>
          </a:p>
          <a:p>
            <a:pPr lvl="3"/>
            <a:r>
              <a:rPr lang="fr-FR" sz="1200" b="1" dirty="0"/>
              <a:t>Disponible dans tous les blocs de code enfants</a:t>
            </a:r>
          </a:p>
          <a:p>
            <a:pPr lvl="3"/>
            <a:r>
              <a:rPr lang="fr-FR" sz="1200" dirty="0"/>
              <a:t>Global si déclarer en dehors de toute fonction</a:t>
            </a:r>
          </a:p>
          <a:p>
            <a:pPr lvl="4"/>
            <a:r>
              <a:rPr lang="fr-FR" sz="1200" dirty="0"/>
              <a:t>Instancie la variable dans l’objet </a:t>
            </a:r>
            <a:r>
              <a:rPr lang="fr-FR" sz="1200" i="1" dirty="0"/>
              <a:t>window</a:t>
            </a:r>
            <a:endParaRPr lang="fr-FR" sz="1200" dirty="0"/>
          </a:p>
          <a:p>
            <a:pPr lvl="3"/>
            <a:r>
              <a:rPr lang="fr-FR" sz="1200" dirty="0"/>
              <a:t>Disponible dans toute le contexte javascript</a:t>
            </a:r>
          </a:p>
          <a:p>
            <a:pPr lvl="4"/>
            <a:r>
              <a:rPr lang="fr-FR" sz="1200" i="1" dirty="0"/>
              <a:t>Ex: var x=‘une variable’</a:t>
            </a:r>
            <a:endParaRPr lang="fr-FR" sz="1200" dirty="0"/>
          </a:p>
          <a:p>
            <a:r>
              <a:rPr lang="fr-FR" sz="2000" i="1" dirty="0"/>
              <a:t>ES6</a:t>
            </a:r>
          </a:p>
          <a:p>
            <a:pPr lvl="1"/>
            <a:r>
              <a:rPr lang="fr-FR" sz="1600" b="1" i="1" dirty="0"/>
              <a:t>let</a:t>
            </a:r>
            <a:r>
              <a:rPr lang="fr-FR" sz="1600" i="1" dirty="0"/>
              <a:t> et </a:t>
            </a:r>
            <a:r>
              <a:rPr lang="fr-FR" sz="1600" b="1" i="1" dirty="0"/>
              <a:t>const</a:t>
            </a:r>
            <a:r>
              <a:rPr lang="fr-FR" sz="1600" i="1" dirty="0"/>
              <a:t> </a:t>
            </a:r>
          </a:p>
          <a:p>
            <a:pPr lvl="3"/>
            <a:r>
              <a:rPr lang="fr-FR" sz="1200" b="1" i="1" dirty="0"/>
              <a:t>sont disponible dans tous les enfants</a:t>
            </a:r>
            <a:r>
              <a:rPr lang="fr-FR" sz="1200" i="1" dirty="0"/>
              <a:t> du contexte de déclaration ( fonctions enfants )</a:t>
            </a:r>
          </a:p>
          <a:p>
            <a:pPr lvl="3"/>
            <a:r>
              <a:rPr lang="fr-FR" sz="1200" i="1" dirty="0"/>
              <a:t>Remplace l’usage de var</a:t>
            </a:r>
          </a:p>
          <a:p>
            <a:pPr lvl="2"/>
            <a:r>
              <a:rPr lang="fr-FR" sz="1400" b="1" i="1" dirty="0"/>
              <a:t>let</a:t>
            </a:r>
          </a:p>
          <a:p>
            <a:pPr lvl="3"/>
            <a:r>
              <a:rPr lang="fr-FR" sz="1200" i="1" dirty="0"/>
              <a:t>Variable donc la référence peut être remplacée par une nouvelle valeur</a:t>
            </a:r>
          </a:p>
          <a:p>
            <a:pPr lvl="4"/>
            <a:r>
              <a:rPr lang="fr-FR" sz="1200" i="1" dirty="0"/>
              <a:t>Ex: let uneVariable=‘abc’</a:t>
            </a:r>
          </a:p>
          <a:p>
            <a:pPr lvl="2"/>
            <a:r>
              <a:rPr lang="fr-FR" sz="1400" b="1" i="1" dirty="0"/>
              <a:t>const</a:t>
            </a:r>
            <a:r>
              <a:rPr lang="fr-FR" sz="1400" i="1" dirty="0"/>
              <a:t> </a:t>
            </a:r>
          </a:p>
          <a:p>
            <a:pPr lvl="3"/>
            <a:r>
              <a:rPr lang="fr-FR" sz="1200" i="1" dirty="0"/>
              <a:t>Constante dont la référence de la valeur ne peut pas être remplacer par une autre </a:t>
            </a:r>
          </a:p>
          <a:p>
            <a:pPr lvl="3"/>
            <a:r>
              <a:rPr lang="fr-FR" sz="1200" i="1" dirty="0"/>
              <a:t>Doit être affectée lors de la déclaration</a:t>
            </a:r>
          </a:p>
          <a:p>
            <a:pPr lvl="4"/>
            <a:r>
              <a:rPr lang="fr-FR" sz="1200" i="1" dirty="0"/>
              <a:t>Ex: const uneConst=‘abc’</a:t>
            </a:r>
          </a:p>
          <a:p>
            <a:endParaRPr lang="fr-FR" sz="2000" i="1" dirty="0"/>
          </a:p>
          <a:p>
            <a:r>
              <a:rPr lang="fr-FR" sz="2000" i="1" dirty="0"/>
              <a:t>ES6 &amp; Scope </a:t>
            </a:r>
            <a:r>
              <a:rPr lang="fr-FR" sz="2000" dirty="0"/>
              <a:t>module</a:t>
            </a:r>
          </a:p>
          <a:p>
            <a:pPr lvl="2"/>
            <a:r>
              <a:rPr lang="fr-FR" sz="1400" i="1" dirty="0"/>
              <a:t>Lors d’un import &lt;script </a:t>
            </a:r>
            <a:r>
              <a:rPr lang="fr-FR" sz="1400" dirty="0"/>
              <a:t>type="module"  src="…"&gt; ou import</a:t>
            </a:r>
          </a:p>
          <a:p>
            <a:pPr lvl="2"/>
            <a:r>
              <a:rPr lang="fr-FR" sz="1400" i="1" dirty="0"/>
              <a:t>Les let et const déclarer en dehors de toute fonction, on pour accessibilité seulement le fichier qui la contient</a:t>
            </a:r>
          </a:p>
          <a:p>
            <a:pPr lvl="2"/>
            <a:r>
              <a:rPr lang="fr-FR" sz="1400" i="1" dirty="0"/>
              <a:t>Notion d’import / export</a:t>
            </a:r>
          </a:p>
        </p:txBody>
      </p:sp>
    </p:spTree>
    <p:extLst>
      <p:ext uri="{BB962C8B-B14F-4D97-AF65-F5344CB8AC3E}">
        <p14:creationId xmlns:p14="http://schemas.microsoft.com/office/powerpoint/2010/main" val="24444137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C8BE682-A162-4A8E-901B-FF453C87C520}"/>
              </a:ext>
            </a:extLst>
          </p:cNvPr>
          <p:cNvSpPr>
            <a:spLocks noGrp="1"/>
          </p:cNvSpPr>
          <p:nvPr>
            <p:ph type="title"/>
          </p:nvPr>
        </p:nvSpPr>
        <p:spPr/>
        <p:txBody>
          <a:bodyPr/>
          <a:lstStyle/>
          <a:p>
            <a:r>
              <a:rPr lang="fr-FR" dirty="0"/>
              <a:t>La gestion de imports</a:t>
            </a:r>
          </a:p>
        </p:txBody>
      </p:sp>
      <p:sp>
        <p:nvSpPr>
          <p:cNvPr id="3" name="Espace réservé du contenu 2">
            <a:extLst>
              <a:ext uri="{FF2B5EF4-FFF2-40B4-BE49-F238E27FC236}">
                <a16:creationId xmlns:a16="http://schemas.microsoft.com/office/drawing/2014/main" id="{EE2B0041-43FE-4EDE-83C4-E8D27AC9C69A}"/>
              </a:ext>
            </a:extLst>
          </p:cNvPr>
          <p:cNvSpPr>
            <a:spLocks noGrp="1"/>
          </p:cNvSpPr>
          <p:nvPr>
            <p:ph idx="1"/>
          </p:nvPr>
        </p:nvSpPr>
        <p:spPr/>
        <p:txBody>
          <a:bodyPr>
            <a:normAutofit/>
          </a:bodyPr>
          <a:lstStyle/>
          <a:p>
            <a:r>
              <a:rPr lang="fr-FR" dirty="0"/>
              <a:t>Avec import et </a:t>
            </a:r>
            <a:r>
              <a:rPr lang="fr-FR" b="1" dirty="0"/>
              <a:t>export / default / import {} from</a:t>
            </a:r>
          </a:p>
          <a:p>
            <a:endParaRPr lang="fr-FR" dirty="0"/>
          </a:p>
          <a:p>
            <a:r>
              <a:rPr lang="fr-FR" dirty="0"/>
              <a:t>Syntaxe :</a:t>
            </a:r>
          </a:p>
          <a:p>
            <a:pPr lvl="2"/>
            <a:r>
              <a:rPr lang="fr-FR" dirty="0"/>
              <a:t>pour être importer, un contenu doit être exporter</a:t>
            </a:r>
          </a:p>
          <a:p>
            <a:pPr marL="0" indent="0" algn="ctr">
              <a:buNone/>
            </a:pPr>
            <a:endParaRPr lang="en-US" sz="1425" dirty="0">
              <a:solidFill>
                <a:srgbClr val="0000FF"/>
              </a:solidFill>
              <a:latin typeface="Consolas" panose="020B0609020204030204" pitchFamily="49" charset="0"/>
            </a:endParaRPr>
          </a:p>
          <a:p>
            <a:pPr marL="0" indent="0" algn="ctr">
              <a:buNone/>
            </a:pPr>
            <a:r>
              <a:rPr lang="en-US" sz="1425" dirty="0">
                <a:solidFill>
                  <a:srgbClr val="0000FF"/>
                </a:solidFill>
                <a:latin typeface="Consolas" panose="020B0609020204030204" pitchFamily="49" charset="0"/>
              </a:rPr>
              <a:t>export</a:t>
            </a:r>
            <a:r>
              <a:rPr lang="en-US" sz="1425" dirty="0">
                <a:solidFill>
                  <a:srgbClr val="000000"/>
                </a:solidFill>
                <a:latin typeface="Consolas" panose="020B0609020204030204" pitchFamily="49" charset="0"/>
              </a:rPr>
              <a:t> </a:t>
            </a:r>
            <a:r>
              <a:rPr lang="en-US" sz="1425" dirty="0">
                <a:solidFill>
                  <a:srgbClr val="0000FF"/>
                </a:solidFill>
                <a:latin typeface="Consolas" panose="020B0609020204030204" pitchFamily="49" charset="0"/>
              </a:rPr>
              <a:t>class</a:t>
            </a:r>
            <a:r>
              <a:rPr lang="en-US" sz="1425" dirty="0">
                <a:solidFill>
                  <a:srgbClr val="000000"/>
                </a:solidFill>
                <a:latin typeface="Consolas" panose="020B0609020204030204" pitchFamily="49" charset="0"/>
              </a:rPr>
              <a:t> ExportedThing{};</a:t>
            </a:r>
          </a:p>
          <a:p>
            <a:pPr marL="0" indent="0" algn="ctr">
              <a:buNone/>
            </a:pPr>
            <a:r>
              <a:rPr lang="en-US" sz="1425" dirty="0">
                <a:solidFill>
                  <a:srgbClr val="0000FF"/>
                </a:solidFill>
                <a:latin typeface="Consolas" panose="020B0609020204030204" pitchFamily="49" charset="0"/>
              </a:rPr>
              <a:t>export</a:t>
            </a:r>
            <a:r>
              <a:rPr lang="en-US" sz="1425" dirty="0">
                <a:solidFill>
                  <a:srgbClr val="000000"/>
                </a:solidFill>
                <a:latin typeface="Consolas" panose="020B0609020204030204" pitchFamily="49" charset="0"/>
              </a:rPr>
              <a:t> </a:t>
            </a:r>
            <a:r>
              <a:rPr lang="en-US" sz="1425" b="1" dirty="0">
                <a:solidFill>
                  <a:srgbClr val="0000FF"/>
                </a:solidFill>
                <a:latin typeface="Consolas" panose="020B0609020204030204" pitchFamily="49" charset="0"/>
              </a:rPr>
              <a:t>default</a:t>
            </a:r>
            <a:r>
              <a:rPr lang="en-US" sz="1425" dirty="0">
                <a:solidFill>
                  <a:srgbClr val="000000"/>
                </a:solidFill>
                <a:latin typeface="Consolas" panose="020B0609020204030204" pitchFamily="49" charset="0"/>
              </a:rPr>
              <a:t> </a:t>
            </a:r>
            <a:r>
              <a:rPr lang="en-US" sz="1425" dirty="0">
                <a:solidFill>
                  <a:srgbClr val="0000FF"/>
                </a:solidFill>
                <a:latin typeface="Consolas" panose="020B0609020204030204" pitchFamily="49" charset="0"/>
              </a:rPr>
              <a:t>class</a:t>
            </a:r>
            <a:r>
              <a:rPr lang="en-US" sz="1425" dirty="0">
                <a:solidFill>
                  <a:srgbClr val="000000"/>
                </a:solidFill>
                <a:latin typeface="Consolas" panose="020B0609020204030204" pitchFamily="49" charset="0"/>
              </a:rPr>
              <a:t> DefaultExported{…;}</a:t>
            </a:r>
          </a:p>
          <a:p>
            <a:pPr marL="685800" lvl="2" indent="0">
              <a:buNone/>
            </a:pPr>
            <a:endParaRPr lang="fr-FR" dirty="0"/>
          </a:p>
          <a:p>
            <a:pPr lvl="2"/>
            <a:r>
              <a:rPr lang="fr-FR" dirty="0"/>
              <a:t>Puis importer a la demande</a:t>
            </a:r>
          </a:p>
          <a:p>
            <a:pPr lvl="2"/>
            <a:endParaRPr lang="fr-FR" dirty="0"/>
          </a:p>
          <a:p>
            <a:pPr marL="0" indent="0" algn="ctr">
              <a:buNone/>
            </a:pPr>
            <a:r>
              <a:rPr lang="en-US" sz="1500" dirty="0">
                <a:solidFill>
                  <a:srgbClr val="0000FF"/>
                </a:solidFill>
                <a:latin typeface="Consolas" panose="020B0609020204030204" pitchFamily="49" charset="0"/>
              </a:rPr>
              <a:t>import</a:t>
            </a:r>
            <a:r>
              <a:rPr lang="en-US" sz="1500" dirty="0">
                <a:solidFill>
                  <a:srgbClr val="000000"/>
                </a:solidFill>
                <a:latin typeface="Consolas" panose="020B0609020204030204" pitchFamily="49" charset="0"/>
              </a:rPr>
              <a:t> {ExportedThing} </a:t>
            </a:r>
            <a:r>
              <a:rPr lang="en-US" sz="1500" dirty="0">
                <a:solidFill>
                  <a:srgbClr val="0000FF"/>
                </a:solidFill>
                <a:latin typeface="Consolas" panose="020B0609020204030204" pitchFamily="49" charset="0"/>
              </a:rPr>
              <a:t>from</a:t>
            </a:r>
            <a:r>
              <a:rPr lang="en-US" sz="1500" dirty="0">
                <a:solidFill>
                  <a:srgbClr val="000000"/>
                </a:solidFill>
                <a:latin typeface="Consolas" panose="020B0609020204030204" pitchFamily="49" charset="0"/>
              </a:rPr>
              <a:t> </a:t>
            </a:r>
            <a:r>
              <a:rPr lang="en-US" sz="1500" dirty="0">
                <a:solidFill>
                  <a:srgbClr val="A31515"/>
                </a:solidFill>
                <a:latin typeface="Consolas" panose="020B0609020204030204" pitchFamily="49" charset="0"/>
              </a:rPr>
              <a:t>'./rep/fichier'</a:t>
            </a:r>
            <a:r>
              <a:rPr lang="en-US" sz="1500" dirty="0">
                <a:solidFill>
                  <a:srgbClr val="000000"/>
                </a:solidFill>
                <a:latin typeface="Consolas" panose="020B0609020204030204" pitchFamily="49" charset="0"/>
              </a:rPr>
              <a:t>;</a:t>
            </a:r>
          </a:p>
          <a:p>
            <a:pPr marL="0" indent="0" algn="ctr">
              <a:buNone/>
            </a:pPr>
            <a:r>
              <a:rPr lang="en-US" sz="1500" dirty="0">
                <a:solidFill>
                  <a:srgbClr val="0000FF"/>
                </a:solidFill>
                <a:latin typeface="Consolas" panose="020B0609020204030204" pitchFamily="49" charset="0"/>
              </a:rPr>
              <a:t>import</a:t>
            </a:r>
            <a:r>
              <a:rPr lang="en-US" sz="1500" dirty="0">
                <a:solidFill>
                  <a:srgbClr val="000000"/>
                </a:solidFill>
                <a:latin typeface="Consolas" panose="020B0609020204030204" pitchFamily="49" charset="0"/>
              </a:rPr>
              <a:t> DefaultExported </a:t>
            </a:r>
            <a:r>
              <a:rPr lang="en-US" sz="1500" dirty="0">
                <a:solidFill>
                  <a:srgbClr val="0000FF"/>
                </a:solidFill>
                <a:latin typeface="Consolas" panose="020B0609020204030204" pitchFamily="49" charset="0"/>
              </a:rPr>
              <a:t>from</a:t>
            </a:r>
            <a:r>
              <a:rPr lang="en-US" sz="1500" dirty="0">
                <a:solidFill>
                  <a:srgbClr val="000000"/>
                </a:solidFill>
                <a:latin typeface="Consolas" panose="020B0609020204030204" pitchFamily="49" charset="0"/>
              </a:rPr>
              <a:t> </a:t>
            </a:r>
            <a:r>
              <a:rPr lang="en-US" sz="1500" dirty="0">
                <a:solidFill>
                  <a:srgbClr val="A31515"/>
                </a:solidFill>
                <a:latin typeface="Consolas" panose="020B0609020204030204" pitchFamily="49" charset="0"/>
              </a:rPr>
              <a:t>'./rep/fichier'</a:t>
            </a:r>
            <a:r>
              <a:rPr lang="en-US" sz="1500" dirty="0">
                <a:solidFill>
                  <a:srgbClr val="000000"/>
                </a:solidFill>
                <a:latin typeface="Consolas" panose="020B0609020204030204" pitchFamily="49" charset="0"/>
              </a:rPr>
              <a:t>;</a:t>
            </a:r>
          </a:p>
          <a:p>
            <a:pPr marL="0" indent="0">
              <a:buNone/>
            </a:pPr>
            <a:endParaRPr lang="fr-FR" dirty="0"/>
          </a:p>
        </p:txBody>
      </p:sp>
      <p:pic>
        <p:nvPicPr>
          <p:cNvPr id="4" name="Image 3">
            <a:extLst>
              <a:ext uri="{FF2B5EF4-FFF2-40B4-BE49-F238E27FC236}">
                <a16:creationId xmlns:a16="http://schemas.microsoft.com/office/drawing/2014/main" id="{9B5C9D20-AE37-D29B-DD0D-C7F8F9EEB12C}"/>
              </a:ext>
            </a:extLst>
          </p:cNvPr>
          <p:cNvPicPr>
            <a:picLocks noChangeAspect="1"/>
          </p:cNvPicPr>
          <p:nvPr/>
        </p:nvPicPr>
        <p:blipFill>
          <a:blip r:embed="rId3"/>
          <a:stretch>
            <a:fillRect/>
          </a:stretch>
        </p:blipFill>
        <p:spPr>
          <a:xfrm>
            <a:off x="6804248" y="4708624"/>
            <a:ext cx="2634675" cy="1720772"/>
          </a:xfrm>
          <a:prstGeom prst="rect">
            <a:avLst/>
          </a:prstGeom>
        </p:spPr>
      </p:pic>
    </p:spTree>
    <p:extLst>
      <p:ext uri="{BB962C8B-B14F-4D97-AF65-F5344CB8AC3E}">
        <p14:creationId xmlns:p14="http://schemas.microsoft.com/office/powerpoint/2010/main" val="14803358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test if/else if / else</a:t>
            </a:r>
          </a:p>
        </p:txBody>
      </p:sp>
      <p:sp>
        <p:nvSpPr>
          <p:cNvPr id="3" name="Espace réservé du contenu 2"/>
          <p:cNvSpPr>
            <a:spLocks noGrp="1"/>
          </p:cNvSpPr>
          <p:nvPr>
            <p:ph idx="1"/>
          </p:nvPr>
        </p:nvSpPr>
        <p:spPr/>
        <p:txBody>
          <a:bodyPr/>
          <a:lstStyle/>
          <a:p>
            <a:r>
              <a:rPr lang="fr-FR" dirty="0"/>
              <a:t>si condition</a:t>
            </a:r>
          </a:p>
          <a:p>
            <a:pPr algn="ctr">
              <a:buNone/>
            </a:pPr>
            <a:r>
              <a:rPr lang="fr-FR" b="1" dirty="0"/>
              <a:t>if</a:t>
            </a:r>
            <a:r>
              <a:rPr lang="fr-FR" dirty="0"/>
              <a:t> (condition){instruction;}</a:t>
            </a:r>
          </a:p>
          <a:p>
            <a:r>
              <a:rPr lang="fr-FR" dirty="0"/>
              <a:t>sinon si condition </a:t>
            </a:r>
          </a:p>
          <a:p>
            <a:pPr algn="ctr">
              <a:buNone/>
            </a:pPr>
            <a:r>
              <a:rPr lang="fr-FR" b="1" dirty="0"/>
              <a:t>else</a:t>
            </a:r>
            <a:r>
              <a:rPr lang="fr-FR" dirty="0"/>
              <a:t> </a:t>
            </a:r>
            <a:r>
              <a:rPr lang="fr-FR" b="1" dirty="0"/>
              <a:t>if </a:t>
            </a:r>
            <a:r>
              <a:rPr lang="fr-FR" dirty="0"/>
              <a:t>(condition){instruction;}</a:t>
            </a:r>
          </a:p>
          <a:p>
            <a:r>
              <a:rPr lang="fr-FR" dirty="0"/>
              <a:t>sinon</a:t>
            </a:r>
          </a:p>
          <a:p>
            <a:pPr algn="ctr">
              <a:buNone/>
            </a:pPr>
            <a:r>
              <a:rPr lang="fr-FR" b="1" dirty="0"/>
              <a:t>else</a:t>
            </a:r>
            <a:r>
              <a:rPr lang="fr-FR" dirty="0"/>
              <a:t> {instruction;}</a:t>
            </a:r>
          </a:p>
          <a:p>
            <a:r>
              <a:rPr lang="fr-FR" dirty="0"/>
              <a:t>ternaire</a:t>
            </a:r>
          </a:p>
          <a:p>
            <a:pPr algn="ctr">
              <a:buNone/>
            </a:pPr>
            <a:r>
              <a:rPr lang="fr-FR" b="1" i="1" dirty="0"/>
              <a:t>(condition)? SiVrai: SiFaux;</a:t>
            </a:r>
          </a:p>
        </p:txBody>
      </p:sp>
    </p:spTree>
    <p:extLst>
      <p:ext uri="{BB962C8B-B14F-4D97-AF65-F5344CB8AC3E}">
        <p14:creationId xmlns:p14="http://schemas.microsoft.com/office/powerpoint/2010/main" val="60718795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test switch/ case / default</a:t>
            </a:r>
          </a:p>
        </p:txBody>
      </p:sp>
      <p:sp>
        <p:nvSpPr>
          <p:cNvPr id="3" name="Espace réservé du contenu 2"/>
          <p:cNvSpPr>
            <a:spLocks noGrp="1"/>
          </p:cNvSpPr>
          <p:nvPr>
            <p:ph idx="1"/>
          </p:nvPr>
        </p:nvSpPr>
        <p:spPr/>
        <p:txBody>
          <a:bodyPr/>
          <a:lstStyle/>
          <a:p>
            <a:r>
              <a:rPr lang="fr-FR" dirty="0"/>
              <a:t>selon cas </a:t>
            </a:r>
          </a:p>
          <a:p>
            <a:pPr>
              <a:buNone/>
            </a:pPr>
            <a:r>
              <a:rPr lang="fr-FR" dirty="0"/>
              <a:t>		</a:t>
            </a:r>
            <a:r>
              <a:rPr lang="fr-FR" b="1" dirty="0"/>
              <a:t>switch</a:t>
            </a:r>
            <a:r>
              <a:rPr lang="fr-FR" dirty="0"/>
              <a:t> (variable)</a:t>
            </a:r>
          </a:p>
          <a:p>
            <a:pPr>
              <a:buNone/>
            </a:pPr>
            <a:r>
              <a:rPr lang="fr-FR" dirty="0"/>
              <a:t>		{</a:t>
            </a:r>
          </a:p>
          <a:p>
            <a:pPr>
              <a:buNone/>
            </a:pPr>
            <a:r>
              <a:rPr lang="fr-FR" dirty="0"/>
              <a:t>			</a:t>
            </a:r>
            <a:r>
              <a:rPr lang="fr-FR" b="1" dirty="0"/>
              <a:t>case</a:t>
            </a:r>
            <a:r>
              <a:rPr lang="fr-FR" dirty="0"/>
              <a:t> </a:t>
            </a:r>
            <a:r>
              <a:rPr lang="fr-FR" i="1" dirty="0"/>
              <a:t>value </a:t>
            </a:r>
            <a:r>
              <a:rPr lang="fr-FR" dirty="0"/>
              <a:t>: 	instruction;</a:t>
            </a:r>
          </a:p>
          <a:p>
            <a:pPr>
              <a:buNone/>
            </a:pPr>
            <a:r>
              <a:rPr lang="fr-FR" dirty="0"/>
              <a:t>					 	</a:t>
            </a:r>
            <a:r>
              <a:rPr lang="fr-FR" b="1" dirty="0"/>
              <a:t>break</a:t>
            </a:r>
            <a:r>
              <a:rPr lang="fr-FR" dirty="0"/>
              <a:t>;</a:t>
            </a:r>
          </a:p>
          <a:p>
            <a:pPr>
              <a:buNone/>
            </a:pPr>
            <a:r>
              <a:rPr lang="fr-FR" dirty="0"/>
              <a:t>			</a:t>
            </a:r>
            <a:r>
              <a:rPr lang="fr-FR" b="1" dirty="0"/>
              <a:t>case</a:t>
            </a:r>
            <a:r>
              <a:rPr lang="fr-FR" dirty="0"/>
              <a:t> </a:t>
            </a:r>
            <a:r>
              <a:rPr lang="fr-FR" i="1" dirty="0"/>
              <a:t>value </a:t>
            </a:r>
            <a:r>
              <a:rPr lang="fr-FR" dirty="0"/>
              <a:t>: 	instruction;</a:t>
            </a:r>
          </a:p>
          <a:p>
            <a:pPr>
              <a:buNone/>
            </a:pPr>
            <a:r>
              <a:rPr lang="fr-FR" dirty="0"/>
              <a:t>					 	</a:t>
            </a:r>
            <a:r>
              <a:rPr lang="fr-FR" b="1" dirty="0"/>
              <a:t>break</a:t>
            </a:r>
            <a:r>
              <a:rPr lang="fr-FR" dirty="0"/>
              <a:t>;</a:t>
            </a:r>
          </a:p>
          <a:p>
            <a:pPr>
              <a:buNone/>
            </a:pPr>
            <a:r>
              <a:rPr lang="fr-FR" dirty="0"/>
              <a:t>			</a:t>
            </a:r>
            <a:r>
              <a:rPr lang="fr-FR" b="1" dirty="0"/>
              <a:t>default</a:t>
            </a:r>
            <a:r>
              <a:rPr lang="fr-FR" dirty="0"/>
              <a:t>: instruction; break;</a:t>
            </a:r>
          </a:p>
          <a:p>
            <a:pPr>
              <a:buNone/>
            </a:pPr>
            <a:r>
              <a:rPr lang="fr-FR" dirty="0"/>
              <a:t>		}</a:t>
            </a:r>
          </a:p>
        </p:txBody>
      </p:sp>
    </p:spTree>
    <p:extLst>
      <p:ext uri="{BB962C8B-B14F-4D97-AF65-F5344CB8AC3E}">
        <p14:creationId xmlns:p14="http://schemas.microsoft.com/office/powerpoint/2010/main" val="37612129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Boucles</a:t>
            </a:r>
          </a:p>
        </p:txBody>
      </p:sp>
      <p:sp>
        <p:nvSpPr>
          <p:cNvPr id="3" name="Espace réservé du contenu 2"/>
          <p:cNvSpPr>
            <a:spLocks noGrp="1"/>
          </p:cNvSpPr>
          <p:nvPr>
            <p:ph idx="1"/>
          </p:nvPr>
        </p:nvSpPr>
        <p:spPr/>
        <p:txBody>
          <a:bodyPr/>
          <a:lstStyle/>
          <a:p>
            <a:r>
              <a:rPr lang="fr-FR" dirty="0"/>
              <a:t>Tant que</a:t>
            </a:r>
          </a:p>
          <a:p>
            <a:pPr lvl="2"/>
            <a:r>
              <a:rPr lang="fr-FR" dirty="0"/>
              <a:t>Le nombre de tours est inconnu</a:t>
            </a:r>
          </a:p>
          <a:p>
            <a:pPr lvl="2"/>
            <a:r>
              <a:rPr lang="fr-FR" dirty="0"/>
              <a:t>La condition est vérifiée au début de chaque tours</a:t>
            </a:r>
          </a:p>
          <a:p>
            <a:pPr lvl="2"/>
            <a:r>
              <a:rPr lang="fr-FR" dirty="0"/>
              <a:t>Exécution de contenu pas obligatoire</a:t>
            </a:r>
          </a:p>
          <a:p>
            <a:endParaRPr lang="fr-FR" dirty="0"/>
          </a:p>
        </p:txBody>
      </p:sp>
      <p:sp>
        <p:nvSpPr>
          <p:cNvPr id="4" name="Rectangle 3"/>
          <p:cNvSpPr/>
          <p:nvPr/>
        </p:nvSpPr>
        <p:spPr>
          <a:xfrm>
            <a:off x="2286000" y="3871745"/>
            <a:ext cx="4572000" cy="1200329"/>
          </a:xfrm>
          <a:prstGeom prst="rect">
            <a:avLst/>
          </a:prstGeom>
        </p:spPr>
        <p:txBody>
          <a:bodyPr>
            <a:spAutoFit/>
          </a:bodyPr>
          <a:lstStyle/>
          <a:p>
            <a:r>
              <a:rPr lang="fr-FR" b="0" dirty="0">
                <a:solidFill>
                  <a:srgbClr val="5D5DB1"/>
                </a:solidFill>
                <a:latin typeface="Consolas"/>
              </a:rPr>
              <a:t>while</a:t>
            </a:r>
            <a:r>
              <a:rPr lang="fr-FR" b="0" dirty="0">
                <a:solidFill>
                  <a:srgbClr val="7EA2B4"/>
                </a:solidFill>
                <a:latin typeface="Consolas"/>
              </a:rPr>
              <a:t>(</a:t>
            </a:r>
            <a:r>
              <a:rPr lang="fr-FR" b="0" dirty="0">
                <a:solidFill>
                  <a:srgbClr val="D22D72"/>
                </a:solidFill>
                <a:latin typeface="Consolas"/>
              </a:rPr>
              <a:t>maValeur</a:t>
            </a:r>
            <a:r>
              <a:rPr lang="fr-FR" b="0" dirty="0">
                <a:solidFill>
                  <a:srgbClr val="7EA2B4"/>
                </a:solidFill>
                <a:latin typeface="Consolas"/>
              </a:rPr>
              <a:t> != </a:t>
            </a:r>
            <a:r>
              <a:rPr lang="fr-FR" b="0" dirty="0">
                <a:solidFill>
                  <a:srgbClr val="935C25"/>
                </a:solidFill>
                <a:latin typeface="Consolas"/>
              </a:rPr>
              <a:t>10</a:t>
            </a:r>
            <a:r>
              <a:rPr lang="fr-FR" b="0" dirty="0">
                <a:solidFill>
                  <a:srgbClr val="7EA2B4"/>
                </a:solidFill>
                <a:latin typeface="Consolas"/>
              </a:rPr>
              <a:t> )</a:t>
            </a:r>
          </a:p>
          <a:p>
            <a:r>
              <a:rPr lang="fr-FR" b="0" dirty="0">
                <a:solidFill>
                  <a:srgbClr val="7EA2B4"/>
                </a:solidFill>
                <a:latin typeface="Consolas"/>
              </a:rPr>
              <a:t>{</a:t>
            </a:r>
          </a:p>
          <a:p>
            <a:r>
              <a:rPr lang="fr-FR" dirty="0">
                <a:solidFill>
                  <a:srgbClr val="7EA2B4"/>
                </a:solidFill>
                <a:latin typeface="Consolas"/>
              </a:rPr>
              <a:t>    </a:t>
            </a:r>
            <a:r>
              <a:rPr lang="fr-FR" b="0" dirty="0">
                <a:solidFill>
                  <a:srgbClr val="D22D72"/>
                </a:solidFill>
                <a:latin typeface="Consolas"/>
              </a:rPr>
              <a:t>maValeur</a:t>
            </a:r>
            <a:r>
              <a:rPr lang="fr-FR" b="0" dirty="0">
                <a:solidFill>
                  <a:srgbClr val="7EA2B4"/>
                </a:solidFill>
                <a:latin typeface="Consolas"/>
              </a:rPr>
              <a:t>=</a:t>
            </a:r>
            <a:r>
              <a:rPr lang="fr-FR" b="0" dirty="0">
                <a:solidFill>
                  <a:srgbClr val="257FAD"/>
                </a:solidFill>
                <a:latin typeface="Consolas"/>
              </a:rPr>
              <a:t>instruction</a:t>
            </a:r>
            <a:r>
              <a:rPr lang="fr-FR" b="0" dirty="0">
                <a:solidFill>
                  <a:srgbClr val="7EA2B4"/>
                </a:solidFill>
                <a:latin typeface="Consolas"/>
              </a:rPr>
              <a:t>();</a:t>
            </a:r>
          </a:p>
          <a:p>
            <a:r>
              <a:rPr lang="fr-FR" b="0" dirty="0">
                <a:solidFill>
                  <a:srgbClr val="7EA2B4"/>
                </a:solidFill>
                <a:latin typeface="Consolas"/>
              </a:rPr>
              <a:t>}</a:t>
            </a:r>
          </a:p>
        </p:txBody>
      </p:sp>
    </p:spTree>
    <p:extLst>
      <p:ext uri="{BB962C8B-B14F-4D97-AF65-F5344CB8AC3E}">
        <p14:creationId xmlns:p14="http://schemas.microsoft.com/office/powerpoint/2010/main" val="2441150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Boucles</a:t>
            </a:r>
          </a:p>
        </p:txBody>
      </p:sp>
      <p:sp>
        <p:nvSpPr>
          <p:cNvPr id="3" name="Espace réservé du contenu 2"/>
          <p:cNvSpPr>
            <a:spLocks noGrp="1"/>
          </p:cNvSpPr>
          <p:nvPr>
            <p:ph idx="1"/>
          </p:nvPr>
        </p:nvSpPr>
        <p:spPr/>
        <p:txBody>
          <a:bodyPr/>
          <a:lstStyle/>
          <a:p>
            <a:r>
              <a:rPr lang="fr-FR" dirty="0"/>
              <a:t>Faire … tant que</a:t>
            </a:r>
          </a:p>
          <a:p>
            <a:pPr lvl="2"/>
            <a:r>
              <a:rPr lang="fr-FR" dirty="0"/>
              <a:t>Le nombre de tours est inconnu</a:t>
            </a:r>
          </a:p>
          <a:p>
            <a:pPr lvl="2"/>
            <a:r>
              <a:rPr lang="fr-FR" dirty="0"/>
              <a:t>La condition est vérifiée a la fin de chaque tour</a:t>
            </a:r>
          </a:p>
          <a:p>
            <a:pPr lvl="2"/>
            <a:r>
              <a:rPr lang="fr-FR" dirty="0"/>
              <a:t>Exécution de contenu obligatoire au moins un fois</a:t>
            </a:r>
          </a:p>
          <a:p>
            <a:endParaRPr lang="fr-FR" dirty="0"/>
          </a:p>
        </p:txBody>
      </p:sp>
      <p:sp>
        <p:nvSpPr>
          <p:cNvPr id="5" name="Espace réservé du contenu 4"/>
          <p:cNvSpPr>
            <a:spLocks noGrp="1"/>
          </p:cNvSpPr>
          <p:nvPr>
            <p:ph sz="quarter" idx="13"/>
          </p:nvPr>
        </p:nvSpPr>
        <p:spPr/>
        <p:txBody>
          <a:bodyPr>
            <a:noAutofit/>
          </a:bodyPr>
          <a:lstStyle/>
          <a:p>
            <a:pPr algn="ctr">
              <a:buNone/>
            </a:pPr>
            <a:r>
              <a:rPr lang="fr-FR" sz="2400" u="sng" dirty="0"/>
              <a:t>ATTENTION</a:t>
            </a:r>
          </a:p>
          <a:p>
            <a:pPr algn="ctr">
              <a:buNone/>
            </a:pPr>
            <a:r>
              <a:rPr lang="fr-FR" sz="2400" dirty="0"/>
              <a:t>un ; </a:t>
            </a:r>
            <a:r>
              <a:rPr lang="fr-FR" sz="2400" b="1" dirty="0"/>
              <a:t>(</a:t>
            </a:r>
            <a:r>
              <a:rPr lang="fr-FR" sz="2000" b="1" i="1" dirty="0"/>
              <a:t>point virgule </a:t>
            </a:r>
            <a:r>
              <a:rPr lang="fr-FR" sz="2400" b="1" i="1" dirty="0"/>
              <a:t>)</a:t>
            </a:r>
            <a:endParaRPr lang="fr-FR" sz="2400" dirty="0"/>
          </a:p>
          <a:p>
            <a:pPr>
              <a:buNone/>
            </a:pPr>
            <a:r>
              <a:rPr lang="fr-FR" sz="2400" dirty="0"/>
              <a:t>est nécessaire </a:t>
            </a:r>
          </a:p>
          <a:p>
            <a:pPr>
              <a:buNone/>
            </a:pPr>
            <a:r>
              <a:rPr lang="fr-FR" sz="2400" dirty="0"/>
              <a:t>après la fin de la</a:t>
            </a:r>
          </a:p>
          <a:p>
            <a:pPr>
              <a:buNone/>
            </a:pPr>
            <a:r>
              <a:rPr lang="fr-FR" sz="2400" dirty="0"/>
              <a:t> condition du  while</a:t>
            </a:r>
          </a:p>
        </p:txBody>
      </p:sp>
      <p:sp>
        <p:nvSpPr>
          <p:cNvPr id="4" name="Rectangle 3"/>
          <p:cNvSpPr/>
          <p:nvPr/>
        </p:nvSpPr>
        <p:spPr>
          <a:xfrm>
            <a:off x="1143008" y="4572008"/>
            <a:ext cx="4572000" cy="923330"/>
          </a:xfrm>
          <a:prstGeom prst="rect">
            <a:avLst/>
          </a:prstGeom>
        </p:spPr>
        <p:txBody>
          <a:bodyPr>
            <a:spAutoFit/>
          </a:bodyPr>
          <a:lstStyle/>
          <a:p>
            <a:r>
              <a:rPr lang="fr-FR" b="0" dirty="0">
                <a:solidFill>
                  <a:srgbClr val="5D5DB1"/>
                </a:solidFill>
                <a:latin typeface="Consolas"/>
              </a:rPr>
              <a:t>do</a:t>
            </a:r>
            <a:r>
              <a:rPr lang="fr-FR" b="0" dirty="0">
                <a:solidFill>
                  <a:srgbClr val="7EA2B4"/>
                </a:solidFill>
                <a:latin typeface="Consolas"/>
              </a:rPr>
              <a:t>{</a:t>
            </a:r>
          </a:p>
          <a:p>
            <a:r>
              <a:rPr lang="fr-FR" b="0" dirty="0">
                <a:solidFill>
                  <a:srgbClr val="D22D72"/>
                </a:solidFill>
                <a:latin typeface="Consolas"/>
              </a:rPr>
              <a:t>     maValeur</a:t>
            </a:r>
            <a:r>
              <a:rPr lang="fr-FR" b="0" dirty="0">
                <a:solidFill>
                  <a:srgbClr val="7EA2B4"/>
                </a:solidFill>
                <a:latin typeface="Consolas"/>
              </a:rPr>
              <a:t>=</a:t>
            </a:r>
            <a:r>
              <a:rPr lang="fr-FR" b="0" dirty="0">
                <a:solidFill>
                  <a:srgbClr val="257FAD"/>
                </a:solidFill>
                <a:latin typeface="Consolas"/>
              </a:rPr>
              <a:t>instruction</a:t>
            </a:r>
            <a:r>
              <a:rPr lang="fr-FR" b="0" dirty="0">
                <a:solidFill>
                  <a:srgbClr val="7EA2B4"/>
                </a:solidFill>
                <a:latin typeface="Consolas"/>
              </a:rPr>
              <a:t>();</a:t>
            </a:r>
          </a:p>
          <a:p>
            <a:r>
              <a:rPr lang="fr-FR" b="0" dirty="0">
                <a:solidFill>
                  <a:srgbClr val="7EA2B4"/>
                </a:solidFill>
                <a:latin typeface="Consolas"/>
              </a:rPr>
              <a:t>}</a:t>
            </a:r>
            <a:r>
              <a:rPr lang="fr-FR" b="0" dirty="0">
                <a:solidFill>
                  <a:srgbClr val="5D5DB1"/>
                </a:solidFill>
                <a:latin typeface="Consolas"/>
              </a:rPr>
              <a:t>while</a:t>
            </a:r>
            <a:r>
              <a:rPr lang="fr-FR" b="0" dirty="0">
                <a:solidFill>
                  <a:srgbClr val="7EA2B4"/>
                </a:solidFill>
                <a:latin typeface="Consolas"/>
              </a:rPr>
              <a:t>(</a:t>
            </a:r>
            <a:r>
              <a:rPr lang="fr-FR" b="0" dirty="0">
                <a:solidFill>
                  <a:srgbClr val="D22D72"/>
                </a:solidFill>
                <a:latin typeface="Consolas"/>
              </a:rPr>
              <a:t>maValeur</a:t>
            </a:r>
            <a:r>
              <a:rPr lang="fr-FR" b="0" dirty="0">
                <a:solidFill>
                  <a:srgbClr val="7EA2B4"/>
                </a:solidFill>
                <a:latin typeface="Consolas"/>
              </a:rPr>
              <a:t> != </a:t>
            </a:r>
            <a:r>
              <a:rPr lang="fr-FR" b="0" dirty="0">
                <a:solidFill>
                  <a:srgbClr val="935C25"/>
                </a:solidFill>
                <a:latin typeface="Consolas"/>
              </a:rPr>
              <a:t>10</a:t>
            </a:r>
            <a:r>
              <a:rPr lang="fr-FR" b="0" dirty="0">
                <a:solidFill>
                  <a:srgbClr val="7EA2B4"/>
                </a:solidFill>
                <a:latin typeface="Consolas"/>
              </a:rPr>
              <a:t> )</a:t>
            </a:r>
            <a:r>
              <a:rPr lang="fr-FR" b="1" dirty="0">
                <a:solidFill>
                  <a:srgbClr val="7EA2B4"/>
                </a:solidFill>
                <a:latin typeface="Consolas"/>
              </a:rPr>
              <a:t>;</a:t>
            </a:r>
          </a:p>
        </p:txBody>
      </p:sp>
    </p:spTree>
    <p:extLst>
      <p:ext uri="{BB962C8B-B14F-4D97-AF65-F5344CB8AC3E}">
        <p14:creationId xmlns:p14="http://schemas.microsoft.com/office/powerpoint/2010/main" val="205291668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Les Boucles</a:t>
            </a:r>
          </a:p>
        </p:txBody>
      </p:sp>
      <p:sp>
        <p:nvSpPr>
          <p:cNvPr id="3" name="Espace réservé du contenu 2"/>
          <p:cNvSpPr>
            <a:spLocks noGrp="1"/>
          </p:cNvSpPr>
          <p:nvPr>
            <p:ph idx="1"/>
          </p:nvPr>
        </p:nvSpPr>
        <p:spPr/>
        <p:txBody>
          <a:bodyPr/>
          <a:lstStyle/>
          <a:p>
            <a:r>
              <a:rPr lang="fr-FR" dirty="0"/>
              <a:t>Pour</a:t>
            </a:r>
          </a:p>
          <a:p>
            <a:pPr lvl="2"/>
            <a:r>
              <a:rPr lang="fr-FR" dirty="0"/>
              <a:t>Le nombre de tours est connu</a:t>
            </a:r>
          </a:p>
          <a:p>
            <a:pPr lvl="2"/>
            <a:r>
              <a:rPr lang="fr-FR" dirty="0"/>
              <a:t>un l’itérateur est instancié au départ </a:t>
            </a:r>
          </a:p>
          <a:p>
            <a:pPr lvl="2"/>
            <a:r>
              <a:rPr lang="fr-FR" dirty="0"/>
              <a:t>l’itérateur est incrémenté a chaque tour</a:t>
            </a:r>
          </a:p>
          <a:p>
            <a:pPr lvl="2"/>
            <a:r>
              <a:rPr lang="fr-FR" dirty="0"/>
              <a:t>La condition est vérifiée a la fin de chaque tours</a:t>
            </a:r>
          </a:p>
          <a:p>
            <a:pPr lvl="2"/>
            <a:r>
              <a:rPr lang="fr-FR" dirty="0"/>
              <a:t>Exécution de contenu obligatoire</a:t>
            </a:r>
          </a:p>
          <a:p>
            <a:pPr>
              <a:buNone/>
            </a:pPr>
            <a:endParaRPr lang="fr-FR" dirty="0"/>
          </a:p>
        </p:txBody>
      </p:sp>
      <p:sp>
        <p:nvSpPr>
          <p:cNvPr id="4" name="Rectangle 3"/>
          <p:cNvSpPr/>
          <p:nvPr/>
        </p:nvSpPr>
        <p:spPr>
          <a:xfrm>
            <a:off x="2286000" y="4371811"/>
            <a:ext cx="4572000" cy="1200329"/>
          </a:xfrm>
          <a:prstGeom prst="rect">
            <a:avLst/>
          </a:prstGeom>
        </p:spPr>
        <p:txBody>
          <a:bodyPr>
            <a:spAutoFit/>
          </a:bodyPr>
          <a:lstStyle/>
          <a:p>
            <a:r>
              <a:rPr lang="fr-FR" b="0" dirty="0">
                <a:solidFill>
                  <a:srgbClr val="5D5DB1"/>
                </a:solidFill>
                <a:latin typeface="Consolas"/>
              </a:rPr>
              <a:t>for</a:t>
            </a:r>
            <a:r>
              <a:rPr lang="fr-FR" b="0" dirty="0">
                <a:solidFill>
                  <a:srgbClr val="7EA2B4"/>
                </a:solidFill>
                <a:latin typeface="Consolas"/>
              </a:rPr>
              <a:t>(</a:t>
            </a:r>
            <a:r>
              <a:rPr lang="fr-FR" b="0" dirty="0">
                <a:solidFill>
                  <a:srgbClr val="5D5DB1"/>
                </a:solidFill>
                <a:latin typeface="Consolas"/>
              </a:rPr>
              <a:t>var</a:t>
            </a:r>
            <a:r>
              <a:rPr lang="fr-FR" b="0" dirty="0">
                <a:solidFill>
                  <a:srgbClr val="7EA2B4"/>
                </a:solidFill>
                <a:latin typeface="Consolas"/>
              </a:rPr>
              <a:t> </a:t>
            </a:r>
            <a:r>
              <a:rPr lang="fr-FR" b="0" dirty="0">
                <a:solidFill>
                  <a:srgbClr val="D22D72"/>
                </a:solidFill>
                <a:latin typeface="Consolas"/>
              </a:rPr>
              <a:t>i</a:t>
            </a:r>
            <a:r>
              <a:rPr lang="fr-FR" b="0" dirty="0">
                <a:solidFill>
                  <a:srgbClr val="7EA2B4"/>
                </a:solidFill>
                <a:latin typeface="Consolas"/>
              </a:rPr>
              <a:t>=</a:t>
            </a:r>
            <a:r>
              <a:rPr lang="fr-FR" b="0" dirty="0">
                <a:solidFill>
                  <a:srgbClr val="935C25"/>
                </a:solidFill>
                <a:latin typeface="Consolas"/>
              </a:rPr>
              <a:t>0</a:t>
            </a:r>
            <a:r>
              <a:rPr lang="fr-FR" b="0" dirty="0">
                <a:solidFill>
                  <a:srgbClr val="7EA2B4"/>
                </a:solidFill>
                <a:latin typeface="Consolas"/>
              </a:rPr>
              <a:t>; </a:t>
            </a:r>
            <a:r>
              <a:rPr lang="fr-FR" b="0" dirty="0">
                <a:solidFill>
                  <a:srgbClr val="D22D72"/>
                </a:solidFill>
                <a:latin typeface="Consolas"/>
              </a:rPr>
              <a:t>i</a:t>
            </a:r>
            <a:r>
              <a:rPr lang="fr-FR" b="0" dirty="0">
                <a:solidFill>
                  <a:srgbClr val="7EA2B4"/>
                </a:solidFill>
                <a:latin typeface="Consolas"/>
              </a:rPr>
              <a:t>&lt;</a:t>
            </a:r>
            <a:r>
              <a:rPr lang="fr-FR" b="0" dirty="0">
                <a:solidFill>
                  <a:srgbClr val="935C25"/>
                </a:solidFill>
                <a:latin typeface="Consolas"/>
              </a:rPr>
              <a:t>10</a:t>
            </a:r>
            <a:r>
              <a:rPr lang="fr-FR" b="0" dirty="0">
                <a:solidFill>
                  <a:srgbClr val="7EA2B4"/>
                </a:solidFill>
                <a:latin typeface="Consolas"/>
              </a:rPr>
              <a:t>;</a:t>
            </a:r>
            <a:r>
              <a:rPr lang="fr-FR" b="0" dirty="0">
                <a:solidFill>
                  <a:srgbClr val="D22D72"/>
                </a:solidFill>
                <a:latin typeface="Consolas"/>
              </a:rPr>
              <a:t>i</a:t>
            </a:r>
            <a:r>
              <a:rPr lang="fr-FR" b="0" dirty="0">
                <a:solidFill>
                  <a:srgbClr val="7EA2B4"/>
                </a:solidFill>
                <a:latin typeface="Consolas"/>
              </a:rPr>
              <a:t>++)</a:t>
            </a:r>
          </a:p>
          <a:p>
            <a:r>
              <a:rPr lang="fr-FR" b="0" dirty="0">
                <a:solidFill>
                  <a:srgbClr val="7EA2B4"/>
                </a:solidFill>
                <a:latin typeface="Consolas"/>
              </a:rPr>
              <a:t>{</a:t>
            </a:r>
          </a:p>
          <a:p>
            <a:r>
              <a:rPr lang="fr-FR" b="0" dirty="0">
                <a:solidFill>
                  <a:srgbClr val="257FAD"/>
                </a:solidFill>
                <a:latin typeface="Consolas"/>
              </a:rPr>
              <a:t>	instruction</a:t>
            </a:r>
            <a:r>
              <a:rPr lang="fr-FR" b="0" dirty="0">
                <a:solidFill>
                  <a:srgbClr val="7EA2B4"/>
                </a:solidFill>
                <a:latin typeface="Consolas"/>
              </a:rPr>
              <a:t>();</a:t>
            </a:r>
          </a:p>
          <a:p>
            <a:r>
              <a:rPr lang="fr-FR" b="0" dirty="0">
                <a:solidFill>
                  <a:srgbClr val="7EA2B4"/>
                </a:solidFill>
                <a:latin typeface="Consolas"/>
              </a:rPr>
              <a:t>}</a:t>
            </a:r>
          </a:p>
        </p:txBody>
      </p:sp>
    </p:spTree>
    <p:extLst>
      <p:ext uri="{BB962C8B-B14F-4D97-AF65-F5344CB8AC3E}">
        <p14:creationId xmlns:p14="http://schemas.microsoft.com/office/powerpoint/2010/main" val="18157363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Fonctions</a:t>
            </a:r>
          </a:p>
        </p:txBody>
      </p:sp>
      <p:sp>
        <p:nvSpPr>
          <p:cNvPr id="3" name="Espace réservé du contenu 2"/>
          <p:cNvSpPr>
            <a:spLocks noGrp="1"/>
          </p:cNvSpPr>
          <p:nvPr>
            <p:ph idx="1"/>
          </p:nvPr>
        </p:nvSpPr>
        <p:spPr/>
        <p:txBody>
          <a:bodyPr/>
          <a:lstStyle/>
          <a:p>
            <a:r>
              <a:rPr lang="fr-FR" dirty="0"/>
              <a:t>Déclaration de fonction </a:t>
            </a:r>
          </a:p>
          <a:p>
            <a:pPr lvl="2"/>
            <a:r>
              <a:rPr lang="fr-FR" dirty="0"/>
              <a:t>Valeur de retour facultatif</a:t>
            </a:r>
          </a:p>
          <a:p>
            <a:pPr lvl="2"/>
            <a:r>
              <a:rPr lang="fr-FR" dirty="0"/>
              <a:t>arguments d'entrée facultatif</a:t>
            </a:r>
          </a:p>
          <a:p>
            <a:endParaRPr lang="fr-FR" dirty="0"/>
          </a:p>
          <a:p>
            <a:endParaRPr lang="fr-FR" dirty="0"/>
          </a:p>
          <a:p>
            <a:endParaRPr lang="fr-FR" dirty="0"/>
          </a:p>
          <a:p>
            <a:pPr lvl="4"/>
            <a:endParaRPr lang="fr-FR" dirty="0"/>
          </a:p>
          <a:p>
            <a:r>
              <a:rPr lang="fr-FR" dirty="0"/>
              <a:t>Appelle de fonction</a:t>
            </a:r>
          </a:p>
          <a:p>
            <a:pPr lvl="2"/>
            <a:r>
              <a:rPr lang="fr-FR" dirty="0"/>
              <a:t>Affectation du retour et variable d'entrée facultatif</a:t>
            </a:r>
          </a:p>
          <a:p>
            <a:endParaRPr lang="fr-FR" dirty="0"/>
          </a:p>
          <a:p>
            <a:endParaRPr lang="fr-FR" dirty="0"/>
          </a:p>
        </p:txBody>
      </p:sp>
      <p:sp>
        <p:nvSpPr>
          <p:cNvPr id="4" name="Rectangle 3"/>
          <p:cNvSpPr/>
          <p:nvPr/>
        </p:nvSpPr>
        <p:spPr>
          <a:xfrm>
            <a:off x="1428728" y="2643182"/>
            <a:ext cx="6215106" cy="2308324"/>
          </a:xfrm>
          <a:prstGeom prst="rect">
            <a:avLst/>
          </a:prstGeom>
        </p:spPr>
        <p:txBody>
          <a:bodyPr wrap="square">
            <a:spAutoFit/>
          </a:bodyPr>
          <a:lstStyle/>
          <a:p>
            <a:r>
              <a:rPr lang="fr-FR" b="1" dirty="0">
                <a:solidFill>
                  <a:srgbClr val="5D5DB1"/>
                </a:solidFill>
                <a:latin typeface="Consolas"/>
              </a:rPr>
              <a:t>function</a:t>
            </a:r>
            <a:r>
              <a:rPr lang="fr-FR" b="0" dirty="0">
                <a:solidFill>
                  <a:srgbClr val="7EA2B4"/>
                </a:solidFill>
                <a:latin typeface="Consolas"/>
              </a:rPr>
              <a:t> </a:t>
            </a:r>
            <a:r>
              <a:rPr lang="fr-FR" b="0" dirty="0">
                <a:solidFill>
                  <a:srgbClr val="257FAD"/>
                </a:solidFill>
                <a:latin typeface="Consolas"/>
              </a:rPr>
              <a:t>nomFonction</a:t>
            </a:r>
            <a:r>
              <a:rPr lang="fr-FR" b="0" dirty="0">
                <a:solidFill>
                  <a:srgbClr val="7EA2B4"/>
                </a:solidFill>
                <a:latin typeface="Consolas"/>
              </a:rPr>
              <a:t>(</a:t>
            </a:r>
            <a:r>
              <a:rPr lang="fr-FR" b="0" dirty="0">
                <a:solidFill>
                  <a:srgbClr val="D22D72"/>
                </a:solidFill>
                <a:latin typeface="Consolas"/>
              </a:rPr>
              <a:t>argument1</a:t>
            </a:r>
            <a:r>
              <a:rPr lang="fr-FR" b="0" dirty="0">
                <a:solidFill>
                  <a:srgbClr val="7EA2B4"/>
                </a:solidFill>
                <a:latin typeface="Consolas"/>
              </a:rPr>
              <a:t>, </a:t>
            </a:r>
            <a:r>
              <a:rPr lang="fr-FR" b="0" dirty="0">
                <a:solidFill>
                  <a:srgbClr val="D22D72"/>
                </a:solidFill>
                <a:latin typeface="Consolas"/>
              </a:rPr>
              <a:t>argument2</a:t>
            </a:r>
            <a:r>
              <a:rPr lang="fr-FR" b="0" dirty="0">
                <a:solidFill>
                  <a:srgbClr val="7EA2B4"/>
                </a:solidFill>
                <a:latin typeface="Consolas"/>
              </a:rPr>
              <a:t>)</a:t>
            </a:r>
          </a:p>
          <a:p>
            <a:r>
              <a:rPr lang="fr-FR" b="0" dirty="0">
                <a:solidFill>
                  <a:srgbClr val="7EA2B4"/>
                </a:solidFill>
                <a:latin typeface="Consolas"/>
              </a:rPr>
              <a:t>{</a:t>
            </a:r>
          </a:p>
          <a:p>
            <a:r>
              <a:rPr lang="fr-FR" b="0" dirty="0">
                <a:solidFill>
                  <a:srgbClr val="257FAD"/>
                </a:solidFill>
                <a:latin typeface="Consolas"/>
              </a:rPr>
              <a:t>	instruction</a:t>
            </a:r>
            <a:r>
              <a:rPr lang="fr-FR" b="0" dirty="0">
                <a:solidFill>
                  <a:srgbClr val="7EA2B4"/>
                </a:solidFill>
                <a:latin typeface="Consolas"/>
              </a:rPr>
              <a:t>(</a:t>
            </a:r>
            <a:r>
              <a:rPr lang="fr-FR" b="0" dirty="0">
                <a:solidFill>
                  <a:srgbClr val="D22D72"/>
                </a:solidFill>
                <a:latin typeface="Consolas"/>
              </a:rPr>
              <a:t>argument1</a:t>
            </a:r>
            <a:r>
              <a:rPr lang="fr-FR" b="0" dirty="0">
                <a:solidFill>
                  <a:srgbClr val="7EA2B4"/>
                </a:solidFill>
                <a:latin typeface="Consolas"/>
              </a:rPr>
              <a:t>);</a:t>
            </a:r>
          </a:p>
          <a:p>
            <a:r>
              <a:rPr lang="fr-FR" b="0" dirty="0">
                <a:solidFill>
                  <a:srgbClr val="5D5DB1"/>
                </a:solidFill>
                <a:latin typeface="Consolas"/>
              </a:rPr>
              <a:t>	</a:t>
            </a:r>
            <a:r>
              <a:rPr lang="fr-FR" b="1" dirty="0">
                <a:solidFill>
                  <a:srgbClr val="5D5DB1"/>
                </a:solidFill>
                <a:latin typeface="Consolas"/>
              </a:rPr>
              <a:t>var</a:t>
            </a:r>
            <a:r>
              <a:rPr lang="fr-FR" b="0" dirty="0">
                <a:solidFill>
                  <a:srgbClr val="7EA2B4"/>
                </a:solidFill>
                <a:latin typeface="Consolas"/>
              </a:rPr>
              <a:t> </a:t>
            </a:r>
            <a:r>
              <a:rPr lang="fr-FR" b="0" dirty="0">
                <a:solidFill>
                  <a:srgbClr val="D22D72"/>
                </a:solidFill>
                <a:latin typeface="Consolas"/>
              </a:rPr>
              <a:t>uneValeur</a:t>
            </a:r>
            <a:r>
              <a:rPr lang="fr-FR" b="0" dirty="0">
                <a:solidFill>
                  <a:srgbClr val="7EA2B4"/>
                </a:solidFill>
                <a:latin typeface="Consolas"/>
              </a:rPr>
              <a:t>=</a:t>
            </a:r>
            <a:r>
              <a:rPr lang="fr-FR" b="0" dirty="0">
                <a:solidFill>
                  <a:srgbClr val="D22D72"/>
                </a:solidFill>
                <a:latin typeface="Consolas"/>
              </a:rPr>
              <a:t> argument1</a:t>
            </a:r>
            <a:r>
              <a:rPr lang="fr-FR" b="0" dirty="0">
                <a:solidFill>
                  <a:srgbClr val="7EA2B4"/>
                </a:solidFill>
                <a:latin typeface="Consolas"/>
              </a:rPr>
              <a:t> + </a:t>
            </a:r>
            <a:r>
              <a:rPr lang="fr-FR" b="0" dirty="0">
                <a:solidFill>
                  <a:srgbClr val="D22D72"/>
                </a:solidFill>
                <a:latin typeface="Consolas"/>
              </a:rPr>
              <a:t>argument2</a:t>
            </a:r>
            <a:r>
              <a:rPr lang="fr-FR" b="0" dirty="0">
                <a:solidFill>
                  <a:srgbClr val="7EA2B4"/>
                </a:solidFill>
                <a:latin typeface="Consolas"/>
              </a:rPr>
              <a:t>;</a:t>
            </a:r>
          </a:p>
          <a:p>
            <a:r>
              <a:rPr lang="fr-FR" b="0" dirty="0">
                <a:solidFill>
                  <a:srgbClr val="257FAD"/>
                </a:solidFill>
                <a:latin typeface="Consolas"/>
              </a:rPr>
              <a:t>	</a:t>
            </a:r>
            <a:r>
              <a:rPr lang="fr-FR" b="1" dirty="0">
                <a:solidFill>
                  <a:srgbClr val="5D5DB1"/>
                </a:solidFill>
                <a:latin typeface="Consolas"/>
              </a:rPr>
              <a:t>return</a:t>
            </a:r>
            <a:r>
              <a:rPr lang="fr-FR" b="1" dirty="0">
                <a:solidFill>
                  <a:srgbClr val="7EA2B4"/>
                </a:solidFill>
                <a:latin typeface="Consolas"/>
              </a:rPr>
              <a:t> </a:t>
            </a:r>
            <a:r>
              <a:rPr lang="fr-FR" b="0" dirty="0">
                <a:solidFill>
                  <a:srgbClr val="D22D72"/>
                </a:solidFill>
                <a:latin typeface="Consolas"/>
              </a:rPr>
              <a:t>uneValeur</a:t>
            </a:r>
            <a:r>
              <a:rPr lang="fr-FR" b="0" dirty="0">
                <a:solidFill>
                  <a:srgbClr val="7EA2B4"/>
                </a:solidFill>
                <a:latin typeface="Consolas"/>
              </a:rPr>
              <a:t>;</a:t>
            </a:r>
          </a:p>
          <a:p>
            <a:r>
              <a:rPr lang="fr-FR" b="0" dirty="0">
                <a:solidFill>
                  <a:srgbClr val="7EA2B4"/>
                </a:solidFill>
                <a:latin typeface="Consolas"/>
              </a:rPr>
              <a:t>}</a:t>
            </a:r>
          </a:p>
          <a:p>
            <a:r>
              <a:rPr lang="fr-FR" b="0" dirty="0">
                <a:solidFill>
                  <a:srgbClr val="5D5DB1"/>
                </a:solidFill>
                <a:latin typeface="Consolas"/>
              </a:rPr>
              <a:t>var</a:t>
            </a:r>
            <a:r>
              <a:rPr lang="fr-FR" b="0" dirty="0">
                <a:solidFill>
                  <a:srgbClr val="7EA2B4"/>
                </a:solidFill>
                <a:latin typeface="Consolas"/>
              </a:rPr>
              <a:t> </a:t>
            </a:r>
            <a:r>
              <a:rPr lang="fr-FR" b="0" dirty="0">
                <a:solidFill>
                  <a:srgbClr val="D22D72"/>
                </a:solidFill>
                <a:latin typeface="Consolas"/>
              </a:rPr>
              <a:t>nomFonction2= </a:t>
            </a:r>
            <a:r>
              <a:rPr lang="fr-FR" b="0" dirty="0">
                <a:solidFill>
                  <a:srgbClr val="257FAD"/>
                </a:solidFill>
                <a:latin typeface="Consolas"/>
              </a:rPr>
              <a:t>nomFonction</a:t>
            </a:r>
            <a:r>
              <a:rPr lang="fr-FR" dirty="0">
                <a:solidFill>
                  <a:srgbClr val="7EA2B4"/>
                </a:solidFill>
                <a:latin typeface="Consolas"/>
              </a:rPr>
              <a:t>;</a:t>
            </a:r>
            <a:endParaRPr lang="fr-FR" b="0" dirty="0">
              <a:solidFill>
                <a:srgbClr val="7EA2B4"/>
              </a:solidFill>
              <a:latin typeface="Consolas"/>
            </a:endParaRPr>
          </a:p>
          <a:p>
            <a:endParaRPr lang="fr-FR" b="0" dirty="0">
              <a:solidFill>
                <a:srgbClr val="7EA2B4"/>
              </a:solidFill>
              <a:latin typeface="Consolas"/>
            </a:endParaRPr>
          </a:p>
        </p:txBody>
      </p:sp>
      <p:sp>
        <p:nvSpPr>
          <p:cNvPr id="5" name="Rectangle 4"/>
          <p:cNvSpPr/>
          <p:nvPr/>
        </p:nvSpPr>
        <p:spPr>
          <a:xfrm>
            <a:off x="2367684" y="5640189"/>
            <a:ext cx="4490332" cy="646331"/>
          </a:xfrm>
          <a:prstGeom prst="rect">
            <a:avLst/>
          </a:prstGeom>
        </p:spPr>
        <p:txBody>
          <a:bodyPr wrap="none">
            <a:spAutoFit/>
          </a:bodyPr>
          <a:lstStyle/>
          <a:p>
            <a:r>
              <a:rPr lang="fr-FR" b="0" dirty="0">
                <a:solidFill>
                  <a:srgbClr val="5D5DB1"/>
                </a:solidFill>
                <a:latin typeface="Consolas"/>
              </a:rPr>
              <a:t>var</a:t>
            </a:r>
            <a:r>
              <a:rPr lang="fr-FR" b="0" dirty="0">
                <a:solidFill>
                  <a:srgbClr val="7EA2B4"/>
                </a:solidFill>
                <a:latin typeface="Consolas"/>
              </a:rPr>
              <a:t> </a:t>
            </a:r>
            <a:r>
              <a:rPr lang="fr-FR" b="0" dirty="0">
                <a:solidFill>
                  <a:srgbClr val="D22D72"/>
                </a:solidFill>
                <a:latin typeface="Consolas"/>
              </a:rPr>
              <a:t>z</a:t>
            </a:r>
            <a:r>
              <a:rPr lang="fr-FR" b="0" dirty="0">
                <a:solidFill>
                  <a:srgbClr val="7EA2B4"/>
                </a:solidFill>
                <a:latin typeface="Consolas"/>
              </a:rPr>
              <a:t>=</a:t>
            </a:r>
            <a:r>
              <a:rPr lang="fr-FR" b="0" dirty="0">
                <a:solidFill>
                  <a:srgbClr val="257FAD"/>
                </a:solidFill>
                <a:latin typeface="Consolas"/>
              </a:rPr>
              <a:t>nomFonction</a:t>
            </a:r>
            <a:r>
              <a:rPr lang="fr-FR" b="0" dirty="0">
                <a:solidFill>
                  <a:srgbClr val="7EA2B4"/>
                </a:solidFill>
                <a:latin typeface="Consolas"/>
              </a:rPr>
              <a:t>(</a:t>
            </a:r>
            <a:r>
              <a:rPr lang="fr-FR" b="0" dirty="0">
                <a:solidFill>
                  <a:srgbClr val="935C25"/>
                </a:solidFill>
                <a:latin typeface="Consolas"/>
              </a:rPr>
              <a:t>123</a:t>
            </a:r>
            <a:r>
              <a:rPr lang="fr-FR" b="0" dirty="0">
                <a:solidFill>
                  <a:srgbClr val="7EA2B4"/>
                </a:solidFill>
                <a:latin typeface="Consolas"/>
              </a:rPr>
              <a:t>, </a:t>
            </a:r>
            <a:r>
              <a:rPr lang="fr-FR" b="0" dirty="0">
                <a:solidFill>
                  <a:srgbClr val="D22D72"/>
                </a:solidFill>
                <a:latin typeface="Consolas"/>
              </a:rPr>
              <a:t>uneValeur</a:t>
            </a:r>
            <a:r>
              <a:rPr lang="fr-FR" b="0" dirty="0">
                <a:solidFill>
                  <a:srgbClr val="7EA2B4"/>
                </a:solidFill>
                <a:latin typeface="Consolas"/>
              </a:rPr>
              <a:t>);</a:t>
            </a:r>
          </a:p>
          <a:p>
            <a:r>
              <a:rPr lang="fr-FR" b="0" dirty="0">
                <a:solidFill>
                  <a:srgbClr val="257FAD"/>
                </a:solidFill>
                <a:latin typeface="Consolas"/>
              </a:rPr>
              <a:t>nomFonction2</a:t>
            </a:r>
            <a:r>
              <a:rPr lang="fr-FR" b="0" dirty="0">
                <a:solidFill>
                  <a:srgbClr val="7EA2B4"/>
                </a:solidFill>
                <a:latin typeface="Consolas"/>
              </a:rPr>
              <a:t>(</a:t>
            </a:r>
            <a:r>
              <a:rPr lang="fr-FR" b="0" dirty="0">
                <a:solidFill>
                  <a:srgbClr val="935C25"/>
                </a:solidFill>
                <a:latin typeface="Consolas"/>
              </a:rPr>
              <a:t>123</a:t>
            </a:r>
            <a:r>
              <a:rPr lang="fr-FR" b="0" dirty="0">
                <a:solidFill>
                  <a:srgbClr val="7EA2B4"/>
                </a:solidFill>
                <a:latin typeface="Consolas"/>
              </a:rPr>
              <a:t>, </a:t>
            </a:r>
            <a:r>
              <a:rPr lang="fr-FR" b="0" dirty="0">
                <a:solidFill>
                  <a:srgbClr val="D22D72"/>
                </a:solidFill>
                <a:latin typeface="Consolas"/>
              </a:rPr>
              <a:t>uneValeur</a:t>
            </a:r>
            <a:r>
              <a:rPr lang="fr-FR" b="0" dirty="0">
                <a:solidFill>
                  <a:srgbClr val="7EA2B4"/>
                </a:solidFill>
                <a:latin typeface="Consolas"/>
              </a:rPr>
              <a:t>);</a:t>
            </a:r>
          </a:p>
        </p:txBody>
      </p:sp>
    </p:spTree>
    <p:extLst>
      <p:ext uri="{BB962C8B-B14F-4D97-AF65-F5344CB8AC3E}">
        <p14:creationId xmlns:p14="http://schemas.microsoft.com/office/powerpoint/2010/main" val="11559782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Fonctions</a:t>
            </a:r>
          </a:p>
        </p:txBody>
      </p:sp>
      <p:sp>
        <p:nvSpPr>
          <p:cNvPr id="3" name="Espace réservé du contenu 2"/>
          <p:cNvSpPr>
            <a:spLocks noGrp="1"/>
          </p:cNvSpPr>
          <p:nvPr>
            <p:ph idx="1"/>
          </p:nvPr>
        </p:nvSpPr>
        <p:spPr/>
        <p:txBody>
          <a:bodyPr/>
          <a:lstStyle/>
          <a:p>
            <a:r>
              <a:rPr lang="fr-FR" dirty="0"/>
              <a:t>Les arguments d'entrées non déclarées </a:t>
            </a:r>
          </a:p>
          <a:p>
            <a:pPr lvl="2"/>
            <a:endParaRPr lang="fr-FR" dirty="0"/>
          </a:p>
          <a:p>
            <a:pPr lvl="2"/>
            <a:r>
              <a:rPr lang="fr-FR" dirty="0"/>
              <a:t>un tableau des variables d'entrées auto déclarée</a:t>
            </a:r>
          </a:p>
          <a:p>
            <a:pPr lvl="2"/>
            <a:endParaRPr lang="fr-FR" dirty="0"/>
          </a:p>
          <a:p>
            <a:pPr lvl="2"/>
            <a:r>
              <a:rPr lang="fr-FR" dirty="0"/>
              <a:t>si pas d'argument d'entrée déclarée lors de la déclaration de la fonction</a:t>
            </a:r>
          </a:p>
          <a:p>
            <a:pPr lvl="2"/>
            <a:endParaRPr lang="fr-FR" dirty="0"/>
          </a:p>
          <a:p>
            <a:pPr lvl="2"/>
            <a:r>
              <a:rPr lang="fr-FR" dirty="0"/>
              <a:t>Mot clef : </a:t>
            </a:r>
            <a:r>
              <a:rPr lang="fr-FR" b="1" dirty="0"/>
              <a:t>a</a:t>
            </a:r>
            <a:r>
              <a:rPr lang="fr-FR" b="1" i="1" dirty="0"/>
              <a:t>rguments</a:t>
            </a:r>
            <a:endParaRPr lang="fr-FR" b="1" dirty="0"/>
          </a:p>
        </p:txBody>
      </p:sp>
      <p:sp>
        <p:nvSpPr>
          <p:cNvPr id="4" name="Rectangle 3"/>
          <p:cNvSpPr/>
          <p:nvPr/>
        </p:nvSpPr>
        <p:spPr>
          <a:xfrm>
            <a:off x="2286000" y="4800439"/>
            <a:ext cx="4572000" cy="1200329"/>
          </a:xfrm>
          <a:prstGeom prst="rect">
            <a:avLst/>
          </a:prstGeom>
        </p:spPr>
        <p:txBody>
          <a:bodyPr>
            <a:spAutoFit/>
          </a:bodyPr>
          <a:lstStyle/>
          <a:p>
            <a:r>
              <a:rPr lang="fr-FR" b="1" dirty="0">
                <a:solidFill>
                  <a:srgbClr val="5D5DB1"/>
                </a:solidFill>
                <a:latin typeface="Consolas"/>
              </a:rPr>
              <a:t>function</a:t>
            </a:r>
            <a:r>
              <a:rPr lang="fr-FR" b="0" dirty="0">
                <a:solidFill>
                  <a:srgbClr val="7EA2B4"/>
                </a:solidFill>
                <a:latin typeface="Consolas"/>
              </a:rPr>
              <a:t> </a:t>
            </a:r>
            <a:r>
              <a:rPr lang="fr-FR" b="0" dirty="0">
                <a:solidFill>
                  <a:srgbClr val="257FAD"/>
                </a:solidFill>
                <a:latin typeface="Consolas"/>
              </a:rPr>
              <a:t>nomFonction</a:t>
            </a:r>
            <a:r>
              <a:rPr lang="fr-FR" b="0" dirty="0">
                <a:latin typeface="Consolas"/>
              </a:rPr>
              <a:t>(){</a:t>
            </a:r>
          </a:p>
          <a:p>
            <a:r>
              <a:rPr lang="fr-FR" b="0" dirty="0">
                <a:solidFill>
                  <a:srgbClr val="8A8A0F"/>
                </a:solidFill>
                <a:latin typeface="Consolas"/>
              </a:rPr>
              <a:t>	console</a:t>
            </a:r>
            <a:r>
              <a:rPr lang="fr-FR" b="0" dirty="0">
                <a:latin typeface="Consolas"/>
              </a:rPr>
              <a:t>.</a:t>
            </a:r>
            <a:r>
              <a:rPr lang="fr-FR" b="0" dirty="0">
                <a:solidFill>
                  <a:srgbClr val="2D8F6F"/>
                </a:solidFill>
                <a:latin typeface="Consolas"/>
              </a:rPr>
              <a:t>log</a:t>
            </a:r>
            <a:r>
              <a:rPr lang="fr-FR" b="0" dirty="0">
                <a:latin typeface="Consolas"/>
              </a:rPr>
              <a:t>(</a:t>
            </a:r>
            <a:r>
              <a:rPr lang="fr-FR" b="0" dirty="0">
                <a:solidFill>
                  <a:srgbClr val="D22D72"/>
                </a:solidFill>
                <a:latin typeface="Consolas"/>
              </a:rPr>
              <a:t>arguments</a:t>
            </a:r>
            <a:r>
              <a:rPr lang="fr-FR" b="0" dirty="0">
                <a:latin typeface="Consolas"/>
              </a:rPr>
              <a:t>[</a:t>
            </a:r>
            <a:r>
              <a:rPr lang="fr-FR" b="0" dirty="0">
                <a:solidFill>
                  <a:srgbClr val="935C25"/>
                </a:solidFill>
                <a:latin typeface="Consolas"/>
              </a:rPr>
              <a:t>0</a:t>
            </a:r>
            <a:r>
              <a:rPr lang="fr-FR" b="0" dirty="0">
                <a:latin typeface="Consolas"/>
              </a:rPr>
              <a:t>]);</a:t>
            </a:r>
          </a:p>
          <a:p>
            <a:r>
              <a:rPr lang="fr-FR" b="0" dirty="0">
                <a:latin typeface="Consolas"/>
              </a:rPr>
              <a:t>}</a:t>
            </a:r>
          </a:p>
          <a:p>
            <a:r>
              <a:rPr lang="fr-FR" b="0" dirty="0">
                <a:solidFill>
                  <a:srgbClr val="257FAD"/>
                </a:solidFill>
                <a:latin typeface="Consolas"/>
              </a:rPr>
              <a:t>nomFonction</a:t>
            </a:r>
            <a:r>
              <a:rPr lang="fr-FR" b="0" dirty="0">
                <a:latin typeface="Consolas"/>
              </a:rPr>
              <a:t>(</a:t>
            </a:r>
            <a:r>
              <a:rPr lang="fr-FR" b="0" dirty="0">
                <a:solidFill>
                  <a:srgbClr val="935C25"/>
                </a:solidFill>
                <a:latin typeface="Consolas"/>
              </a:rPr>
              <a:t>123</a:t>
            </a:r>
            <a:r>
              <a:rPr lang="fr-FR" b="0" dirty="0">
                <a:latin typeface="Consolas"/>
              </a:rPr>
              <a:t>);</a:t>
            </a:r>
          </a:p>
        </p:txBody>
      </p:sp>
    </p:spTree>
    <p:extLst>
      <p:ext uri="{BB962C8B-B14F-4D97-AF65-F5344CB8AC3E}">
        <p14:creationId xmlns:p14="http://schemas.microsoft.com/office/powerpoint/2010/main" val="196933550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hangingPunct="1">
              <a:defRPr/>
            </a:pPr>
            <a:r>
              <a:rPr lang="fr-FR" dirty="0"/>
              <a:t>Gestion des exceptions</a:t>
            </a:r>
          </a:p>
        </p:txBody>
      </p:sp>
      <p:sp>
        <p:nvSpPr>
          <p:cNvPr id="69635" name="Content Placeholder 2"/>
          <p:cNvSpPr>
            <a:spLocks noGrp="1"/>
          </p:cNvSpPr>
          <p:nvPr>
            <p:ph idx="1"/>
          </p:nvPr>
        </p:nvSpPr>
        <p:spPr/>
        <p:txBody>
          <a:bodyPr>
            <a:normAutofit fontScale="92500" lnSpcReduction="10000"/>
          </a:bodyPr>
          <a:lstStyle/>
          <a:p>
            <a:pPr marL="0" indent="0" eaLnBrk="1" hangingPunct="1">
              <a:buFont typeface="Arial" charset="0"/>
              <a:buNone/>
            </a:pPr>
            <a:r>
              <a:rPr lang="fr-FR" dirty="0">
                <a:ea typeface="MS Mincho" pitchFamily="49" charset="-128"/>
              </a:rPr>
              <a:t>En JS on peut aussi gérer les erreurs avec </a:t>
            </a:r>
            <a:r>
              <a:rPr lang="fr-FR" b="1" dirty="0">
                <a:ea typeface="MS Mincho" pitchFamily="49" charset="-128"/>
              </a:rPr>
              <a:t>try</a:t>
            </a:r>
            <a:r>
              <a:rPr lang="fr-FR" dirty="0">
                <a:ea typeface="MS Mincho" pitchFamily="49" charset="-128"/>
              </a:rPr>
              <a:t> (essaye), </a:t>
            </a:r>
            <a:r>
              <a:rPr lang="fr-FR" b="1" dirty="0">
                <a:ea typeface="MS Mincho" pitchFamily="49" charset="-128"/>
              </a:rPr>
              <a:t>catch</a:t>
            </a:r>
            <a:r>
              <a:rPr lang="fr-FR" dirty="0">
                <a:ea typeface="MS Mincho" pitchFamily="49" charset="-128"/>
              </a:rPr>
              <a:t> (attrape l’erreur), </a:t>
            </a:r>
            <a:r>
              <a:rPr lang="fr-FR" b="1" dirty="0">
                <a:ea typeface="MS Mincho" pitchFamily="49" charset="-128"/>
              </a:rPr>
              <a:t>finally</a:t>
            </a:r>
            <a:r>
              <a:rPr lang="fr-FR" dirty="0">
                <a:ea typeface="MS Mincho" pitchFamily="49" charset="-128"/>
              </a:rPr>
              <a:t> (finalement fait) et </a:t>
            </a:r>
            <a:r>
              <a:rPr lang="fr-FR" b="1" dirty="0">
                <a:ea typeface="MS Mincho" pitchFamily="49" charset="-128"/>
              </a:rPr>
              <a:t>throw</a:t>
            </a:r>
            <a:r>
              <a:rPr lang="fr-FR" dirty="0">
                <a:ea typeface="MS Mincho" pitchFamily="49" charset="-128"/>
              </a:rPr>
              <a:t> (renvoi l’erreur). </a:t>
            </a:r>
          </a:p>
          <a:p>
            <a:pPr marL="0" indent="0" eaLnBrk="1" hangingPunct="1">
              <a:buFont typeface="Arial" charset="0"/>
              <a:buNone/>
            </a:pPr>
            <a:r>
              <a:rPr lang="fr-FR" dirty="0">
                <a:ea typeface="MS Mincho" pitchFamily="49" charset="-128"/>
              </a:rPr>
              <a:t>Les exceptions prédéfinies sont Eval/Range/Reference/Syntax/Type/URI/InternalError.</a:t>
            </a:r>
          </a:p>
          <a:p>
            <a:pPr lvl="2" eaLnBrk="1" hangingPunct="1">
              <a:buFont typeface="Wingdings" pitchFamily="2" charset="2"/>
              <a:buNone/>
            </a:pPr>
            <a:r>
              <a:rPr lang="fr-FR" sz="1700" b="1" dirty="0">
                <a:solidFill>
                  <a:srgbClr val="009AD0"/>
                </a:solidFill>
                <a:ea typeface="MS Mincho" pitchFamily="49" charset="-128"/>
              </a:rPr>
              <a:t>try</a:t>
            </a:r>
            <a:r>
              <a:rPr lang="fr-FR" sz="1700" dirty="0">
                <a:solidFill>
                  <a:srgbClr val="009AD0"/>
                </a:solidFill>
                <a:ea typeface="MS Mincho" pitchFamily="49" charset="-128"/>
              </a:rPr>
              <a:t>					</a:t>
            </a:r>
          </a:p>
          <a:p>
            <a:pPr lvl="2" eaLnBrk="1" hangingPunct="1">
              <a:buFont typeface="Wingdings" pitchFamily="2" charset="2"/>
              <a:buNone/>
            </a:pPr>
            <a:r>
              <a:rPr lang="fr-FR" sz="1700" dirty="0">
                <a:solidFill>
                  <a:srgbClr val="009AD0"/>
                </a:solidFill>
                <a:ea typeface="MS Mincho" pitchFamily="49" charset="-128"/>
              </a:rPr>
              <a:t>{					</a:t>
            </a:r>
          </a:p>
          <a:p>
            <a:pPr lvl="2" eaLnBrk="1" hangingPunct="1">
              <a:buFont typeface="Wingdings" pitchFamily="2" charset="2"/>
              <a:buNone/>
            </a:pPr>
            <a:r>
              <a:rPr lang="fr-FR" sz="1700" dirty="0">
                <a:solidFill>
                  <a:srgbClr val="009AD0"/>
                </a:solidFill>
                <a:ea typeface="MS Mincho" pitchFamily="49" charset="-128"/>
              </a:rPr>
              <a:t>   … code qu’on essaye d’exécuter			</a:t>
            </a:r>
          </a:p>
          <a:p>
            <a:pPr lvl="2" eaLnBrk="1" hangingPunct="1">
              <a:buFont typeface="Wingdings" pitchFamily="2" charset="2"/>
              <a:buNone/>
            </a:pPr>
            <a:r>
              <a:rPr lang="fr-FR" sz="1700" dirty="0">
                <a:solidFill>
                  <a:srgbClr val="009AD0"/>
                </a:solidFill>
                <a:ea typeface="MS Mincho" pitchFamily="49" charset="-128"/>
              </a:rPr>
              <a:t>}							</a:t>
            </a:r>
          </a:p>
          <a:p>
            <a:pPr lvl="2" eaLnBrk="1" hangingPunct="1">
              <a:buFont typeface="Wingdings" pitchFamily="2" charset="2"/>
              <a:buNone/>
            </a:pPr>
            <a:r>
              <a:rPr lang="fr-FR" sz="1700" b="1" dirty="0">
                <a:solidFill>
                  <a:srgbClr val="009AD0"/>
                </a:solidFill>
                <a:ea typeface="MS Mincho" pitchFamily="49" charset="-128"/>
              </a:rPr>
              <a:t>catch(</a:t>
            </a:r>
            <a:r>
              <a:rPr lang="fr-FR" sz="1700" dirty="0">
                <a:solidFill>
                  <a:srgbClr val="009AD0"/>
                </a:solidFill>
                <a:ea typeface="MS Mincho" pitchFamily="49" charset="-128"/>
              </a:rPr>
              <a:t>e)</a:t>
            </a:r>
          </a:p>
          <a:p>
            <a:pPr lvl="2" eaLnBrk="1" hangingPunct="1">
              <a:buFont typeface="Wingdings" pitchFamily="2" charset="2"/>
              <a:buNone/>
            </a:pPr>
            <a:r>
              <a:rPr lang="fr-FR" sz="1700" dirty="0">
                <a:solidFill>
                  <a:srgbClr val="009AD0"/>
                </a:solidFill>
                <a:ea typeface="MS Mincho" pitchFamily="49" charset="-128"/>
              </a:rPr>
              <a:t>{</a:t>
            </a:r>
          </a:p>
          <a:p>
            <a:pPr lvl="2" eaLnBrk="1" hangingPunct="1">
              <a:buFont typeface="Wingdings" pitchFamily="2" charset="2"/>
              <a:buNone/>
            </a:pPr>
            <a:r>
              <a:rPr lang="fr-FR" sz="1700" dirty="0">
                <a:solidFill>
                  <a:srgbClr val="009AD0"/>
                </a:solidFill>
                <a:ea typeface="MS Mincho" pitchFamily="49" charset="-128"/>
              </a:rPr>
              <a:t>   … code d’autres erreurs</a:t>
            </a:r>
          </a:p>
          <a:p>
            <a:pPr lvl="2" eaLnBrk="1" hangingPunct="1">
              <a:buFont typeface="Wingdings" pitchFamily="2" charset="2"/>
              <a:buNone/>
            </a:pPr>
            <a:r>
              <a:rPr lang="fr-FR" sz="1700" dirty="0">
                <a:solidFill>
                  <a:srgbClr val="009AD0"/>
                </a:solidFill>
                <a:ea typeface="MS Mincho" pitchFamily="49" charset="-128"/>
              </a:rPr>
              <a:t>} </a:t>
            </a:r>
            <a:r>
              <a:rPr lang="fr-FR" sz="1700" b="1" dirty="0">
                <a:solidFill>
                  <a:srgbClr val="009AD0"/>
                </a:solidFill>
                <a:ea typeface="MS Mincho" pitchFamily="49" charset="-128"/>
              </a:rPr>
              <a:t>finally</a:t>
            </a:r>
          </a:p>
          <a:p>
            <a:pPr lvl="2" eaLnBrk="1" hangingPunct="1">
              <a:buFont typeface="Wingdings" pitchFamily="2" charset="2"/>
              <a:buNone/>
            </a:pPr>
            <a:r>
              <a:rPr lang="fr-FR" sz="1700" dirty="0">
                <a:solidFill>
                  <a:srgbClr val="009AD0"/>
                </a:solidFill>
                <a:ea typeface="MS Mincho" pitchFamily="49" charset="-128"/>
              </a:rPr>
              <a:t>{</a:t>
            </a:r>
          </a:p>
          <a:p>
            <a:pPr lvl="2" eaLnBrk="1" hangingPunct="1">
              <a:buFont typeface="Wingdings" pitchFamily="2" charset="2"/>
              <a:buNone/>
            </a:pPr>
            <a:r>
              <a:rPr lang="fr-FR" sz="1700" dirty="0">
                <a:solidFill>
                  <a:srgbClr val="009AD0"/>
                </a:solidFill>
                <a:ea typeface="MS Mincho" pitchFamily="49" charset="-128"/>
              </a:rPr>
              <a:t>… exécuté obligatoirement</a:t>
            </a:r>
          </a:p>
          <a:p>
            <a:pPr lvl="2" eaLnBrk="1" hangingPunct="1">
              <a:buFont typeface="Wingdings" pitchFamily="2" charset="2"/>
              <a:buNone/>
            </a:pPr>
            <a:r>
              <a:rPr lang="fr-FR" sz="1700" dirty="0">
                <a:solidFill>
                  <a:srgbClr val="009AD0"/>
                </a:solidFill>
                <a:ea typeface="MS Mincho" pitchFamily="49" charset="-128"/>
              </a:rPr>
              <a:t>}</a:t>
            </a:r>
          </a:p>
        </p:txBody>
      </p:sp>
      <p:sp>
        <p:nvSpPr>
          <p:cNvPr id="7" name="Footer Placeholder 12"/>
          <p:cNvSpPr>
            <a:spLocks noGrp="1"/>
          </p:cNvSpPr>
          <p:nvPr>
            <p:ph type="ftr" sz="quarter" idx="11"/>
          </p:nvPr>
        </p:nvSpPr>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EC34FF88-6997-4912-8CAC-C6CAD57BC587}" type="slidenum">
              <a:rPr lang="en-JM" smtClean="0">
                <a:solidFill>
                  <a:schemeClr val="bg1"/>
                </a:solidFill>
              </a:rPr>
              <a:pPr fontAlgn="base">
                <a:spcBef>
                  <a:spcPct val="0"/>
                </a:spcBef>
                <a:spcAft>
                  <a:spcPct val="0"/>
                </a:spcAft>
                <a:defRPr/>
              </a:pPr>
              <a:t>57</a:t>
            </a:fld>
            <a:endParaRPr lang="en-JM" dirty="0">
              <a:solidFill>
                <a:schemeClr val="bg1"/>
              </a:solidFill>
            </a:endParaRPr>
          </a:p>
        </p:txBody>
      </p:sp>
    </p:spTree>
    <p:extLst>
      <p:ext uri="{BB962C8B-B14F-4D97-AF65-F5344CB8AC3E}">
        <p14:creationId xmlns:p14="http://schemas.microsoft.com/office/powerpoint/2010/main" val="923028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With</a:t>
            </a:r>
          </a:p>
        </p:txBody>
      </p:sp>
      <p:sp>
        <p:nvSpPr>
          <p:cNvPr id="3" name="Espace réservé du contenu 2"/>
          <p:cNvSpPr>
            <a:spLocks noGrp="1"/>
          </p:cNvSpPr>
          <p:nvPr>
            <p:ph idx="1"/>
          </p:nvPr>
        </p:nvSpPr>
        <p:spPr/>
        <p:txBody>
          <a:bodyPr/>
          <a:lstStyle/>
          <a:p>
            <a:r>
              <a:rPr lang="fr-FR" dirty="0"/>
              <a:t>Simplification avec with quand on veut faire plusieurs opérations sur un objet, on peut utiliser with</a:t>
            </a:r>
          </a:p>
          <a:p>
            <a:pPr lvl="1">
              <a:buNone/>
            </a:pPr>
            <a:endParaRPr lang="fr-FR" b="1" dirty="0"/>
          </a:p>
          <a:p>
            <a:pPr lvl="1">
              <a:buNone/>
            </a:pPr>
            <a:r>
              <a:rPr lang="fr-FR" b="1" dirty="0"/>
              <a:t>with </a:t>
            </a:r>
            <a:r>
              <a:rPr lang="fr-FR" dirty="0"/>
              <a:t>( objTxt.style) {</a:t>
            </a:r>
          </a:p>
          <a:p>
            <a:pPr lvl="1">
              <a:buNone/>
            </a:pPr>
            <a:r>
              <a:rPr lang="fr-FR" dirty="0"/>
              <a:t>	border = ‘1px solid black’;	</a:t>
            </a:r>
          </a:p>
          <a:p>
            <a:pPr lvl="1">
              <a:buNone/>
            </a:pPr>
            <a:r>
              <a:rPr lang="fr-FR" dirty="0"/>
              <a:t>	fontSize = ‘12px’;				 </a:t>
            </a:r>
          </a:p>
          <a:p>
            <a:pPr lvl="1">
              <a:buNone/>
            </a:pPr>
            <a:r>
              <a:rPr lang="fr-FR" dirty="0"/>
              <a:t>	fontWeight = ‘bold’;</a:t>
            </a:r>
          </a:p>
          <a:p>
            <a:pPr lvl="1">
              <a:buNone/>
            </a:pPr>
            <a:r>
              <a:rPr lang="fr-FR" dirty="0"/>
              <a:t> }	</a:t>
            </a:r>
          </a:p>
        </p:txBody>
      </p:sp>
    </p:spTree>
    <p:extLst>
      <p:ext uri="{BB962C8B-B14F-4D97-AF65-F5344CB8AC3E}">
        <p14:creationId xmlns:p14="http://schemas.microsoft.com/office/powerpoint/2010/main" val="6920884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726AF7D8-13A7-5E49-DEAE-1E1CFEC02B5D}"/>
              </a:ext>
            </a:extLst>
          </p:cNvPr>
          <p:cNvSpPr>
            <a:spLocks noGrp="1"/>
          </p:cNvSpPr>
          <p:nvPr>
            <p:ph type="title"/>
          </p:nvPr>
        </p:nvSpPr>
        <p:spPr/>
        <p:txBody>
          <a:bodyPr/>
          <a:lstStyle/>
          <a:p>
            <a:r>
              <a:rPr lang="fr-FR" dirty="0"/>
              <a:t>Introduction à la programmation Objet en js</a:t>
            </a:r>
          </a:p>
        </p:txBody>
      </p:sp>
      <p:sp>
        <p:nvSpPr>
          <p:cNvPr id="5" name="Espace réservé du texte 4">
            <a:extLst>
              <a:ext uri="{FF2B5EF4-FFF2-40B4-BE49-F238E27FC236}">
                <a16:creationId xmlns:a16="http://schemas.microsoft.com/office/drawing/2014/main" id="{CEB70AA1-08B9-CA1F-FEA3-B3D39042CAD3}"/>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7369561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Titre 2"/>
          <p:cNvSpPr>
            <a:spLocks noGrp="1"/>
          </p:cNvSpPr>
          <p:nvPr>
            <p:ph type="title"/>
          </p:nvPr>
        </p:nvSpPr>
        <p:spPr/>
        <p:txBody>
          <a:bodyPr/>
          <a:lstStyle/>
          <a:p>
            <a:r>
              <a:rPr lang="fr-FR" dirty="0"/>
              <a:t>Notion d'objet</a:t>
            </a:r>
          </a:p>
        </p:txBody>
      </p:sp>
      <p:sp>
        <p:nvSpPr>
          <p:cNvPr id="2" name="Espace réservé du contenu 1"/>
          <p:cNvSpPr>
            <a:spLocks noGrp="1"/>
          </p:cNvSpPr>
          <p:nvPr>
            <p:ph idx="1"/>
          </p:nvPr>
        </p:nvSpPr>
        <p:spPr/>
        <p:txBody>
          <a:bodyPr/>
          <a:lstStyle/>
          <a:p>
            <a:pPr>
              <a:buNone/>
            </a:pPr>
            <a:endParaRPr lang="fr-FR" dirty="0"/>
          </a:p>
          <a:p>
            <a:pPr>
              <a:buNone/>
            </a:pPr>
            <a:endParaRPr lang="fr-FR" dirty="0"/>
          </a:p>
          <a:p>
            <a:endParaRPr lang="fr-FR" dirty="0"/>
          </a:p>
          <a:p>
            <a:endParaRPr lang="fr-FR" dirty="0"/>
          </a:p>
        </p:txBody>
      </p:sp>
      <p:grpSp>
        <p:nvGrpSpPr>
          <p:cNvPr id="3" name="Groupe 55"/>
          <p:cNvGrpSpPr/>
          <p:nvPr/>
        </p:nvGrpSpPr>
        <p:grpSpPr>
          <a:xfrm>
            <a:off x="571472" y="1643050"/>
            <a:ext cx="7848872" cy="3960440"/>
            <a:chOff x="174227" y="2427434"/>
            <a:chExt cx="8424936" cy="4320480"/>
          </a:xfrm>
        </p:grpSpPr>
        <p:sp>
          <p:nvSpPr>
            <p:cNvPr id="52" name="Rectangle 51"/>
            <p:cNvSpPr/>
            <p:nvPr/>
          </p:nvSpPr>
          <p:spPr>
            <a:xfrm>
              <a:off x="174227" y="2427434"/>
              <a:ext cx="8424936" cy="4320480"/>
            </a:xfrm>
            <a:prstGeom prst="rect">
              <a:avLst/>
            </a:prstGeom>
            <a:solidFill>
              <a:srgbClr val="00B050"/>
            </a:solidFill>
          </p:spPr>
          <p:style>
            <a:lnRef idx="2">
              <a:schemeClr val="accent5">
                <a:shade val="50000"/>
              </a:schemeClr>
            </a:lnRef>
            <a:fillRef idx="1">
              <a:schemeClr val="accent5"/>
            </a:fillRef>
            <a:effectRef idx="0">
              <a:schemeClr val="accent5"/>
            </a:effectRef>
            <a:fontRef idx="minor">
              <a:schemeClr val="lt1"/>
            </a:fontRef>
          </p:style>
          <p:txBody>
            <a:bodyPr rtlCol="0" anchor="t" anchorCtr="0"/>
            <a:lstStyle/>
            <a:p>
              <a:r>
                <a:rPr lang="fr-FR" dirty="0"/>
                <a:t>Objet</a:t>
              </a:r>
            </a:p>
          </p:txBody>
        </p:sp>
        <p:grpSp>
          <p:nvGrpSpPr>
            <p:cNvPr id="5" name="Groupe 50"/>
            <p:cNvGrpSpPr/>
            <p:nvPr/>
          </p:nvGrpSpPr>
          <p:grpSpPr>
            <a:xfrm>
              <a:off x="1488208" y="2765804"/>
              <a:ext cx="6912768" cy="3746448"/>
              <a:chOff x="1272184" y="2765804"/>
              <a:chExt cx="6912768" cy="3746448"/>
            </a:xfrm>
          </p:grpSpPr>
          <p:grpSp>
            <p:nvGrpSpPr>
              <p:cNvPr id="7" name="Groupe 49"/>
              <p:cNvGrpSpPr/>
              <p:nvPr/>
            </p:nvGrpSpPr>
            <p:grpSpPr>
              <a:xfrm>
                <a:off x="1272184" y="2765804"/>
                <a:ext cx="6912768" cy="3746448"/>
                <a:chOff x="779089" y="2411199"/>
                <a:chExt cx="7396661" cy="4104455"/>
              </a:xfrm>
            </p:grpSpPr>
            <p:sp>
              <p:nvSpPr>
                <p:cNvPr id="4" name="Rectangle 3"/>
                <p:cNvSpPr/>
                <p:nvPr/>
              </p:nvSpPr>
              <p:spPr>
                <a:xfrm>
                  <a:off x="779089" y="2411199"/>
                  <a:ext cx="7396661" cy="410445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t" anchorCtr="0"/>
                <a:lstStyle/>
                <a:p>
                  <a:r>
                    <a:rPr lang="fr-FR" dirty="0"/>
                    <a:t>Cafetière</a:t>
                  </a:r>
                </a:p>
              </p:txBody>
            </p:sp>
            <p:pic>
              <p:nvPicPr>
                <p:cNvPr id="2050" name="Picture 2" descr="C:\Users\tartinator\Pictures\machine-cafe-filtre-severin-4054.png"/>
                <p:cNvPicPr>
                  <a:picLocks noChangeAspect="1" noChangeArrowheads="1"/>
                </p:cNvPicPr>
                <p:nvPr/>
              </p:nvPicPr>
              <p:blipFill>
                <a:blip r:embed="rId3" cstate="print"/>
                <a:srcRect/>
                <a:stretch>
                  <a:fillRect/>
                </a:stretch>
              </p:blipFill>
              <p:spPr bwMode="auto">
                <a:xfrm>
                  <a:off x="1150900" y="3926660"/>
                  <a:ext cx="868363" cy="1219200"/>
                </a:xfrm>
                <a:prstGeom prst="rect">
                  <a:avLst/>
                </a:prstGeom>
                <a:noFill/>
              </p:spPr>
            </p:pic>
            <p:sp>
              <p:nvSpPr>
                <p:cNvPr id="25" name="Rectangle 24"/>
                <p:cNvSpPr/>
                <p:nvPr/>
              </p:nvSpPr>
              <p:spPr>
                <a:xfrm>
                  <a:off x="2843808" y="5517232"/>
                  <a:ext cx="2088232" cy="864096"/>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nchorCtr="0"/>
                <a:lstStyle/>
                <a:p>
                  <a:r>
                    <a:rPr lang="fr-FR" sz="1050" dirty="0"/>
                    <a:t>Cafetière ISOTHERME</a:t>
                  </a:r>
                </a:p>
              </p:txBody>
            </p:sp>
            <p:pic>
              <p:nvPicPr>
                <p:cNvPr id="2060" name="Picture 12" descr="C:\Users\tartinator\Pictures\CI430D-618x290.png"/>
                <p:cNvPicPr>
                  <a:picLocks noChangeAspect="1" noChangeArrowheads="1"/>
                </p:cNvPicPr>
                <p:nvPr/>
              </p:nvPicPr>
              <p:blipFill>
                <a:blip r:embed="rId4" cstate="print"/>
                <a:srcRect/>
                <a:stretch>
                  <a:fillRect/>
                </a:stretch>
              </p:blipFill>
              <p:spPr bwMode="auto">
                <a:xfrm>
                  <a:off x="3059832" y="5733256"/>
                  <a:ext cx="1584176" cy="743383"/>
                </a:xfrm>
                <a:prstGeom prst="rect">
                  <a:avLst/>
                </a:prstGeom>
                <a:noFill/>
              </p:spPr>
            </p:pic>
            <p:grpSp>
              <p:nvGrpSpPr>
                <p:cNvPr id="8" name="Groupe 48"/>
                <p:cNvGrpSpPr/>
                <p:nvPr/>
              </p:nvGrpSpPr>
              <p:grpSpPr>
                <a:xfrm>
                  <a:off x="2843808" y="2564904"/>
                  <a:ext cx="5256584" cy="2880320"/>
                  <a:chOff x="2843808" y="2564904"/>
                  <a:chExt cx="5256584" cy="2880320"/>
                </a:xfrm>
              </p:grpSpPr>
              <p:grpSp>
                <p:nvGrpSpPr>
                  <p:cNvPr id="9" name="Groupe 23"/>
                  <p:cNvGrpSpPr/>
                  <p:nvPr/>
                </p:nvGrpSpPr>
                <p:grpSpPr>
                  <a:xfrm>
                    <a:off x="2843808" y="2564904"/>
                    <a:ext cx="5256584" cy="2880320"/>
                    <a:chOff x="2843808" y="2708920"/>
                    <a:chExt cx="5256584" cy="2880320"/>
                  </a:xfrm>
                </p:grpSpPr>
                <p:sp>
                  <p:nvSpPr>
                    <p:cNvPr id="6" name="Rectangle 5"/>
                    <p:cNvSpPr/>
                    <p:nvPr/>
                  </p:nvSpPr>
                  <p:spPr>
                    <a:xfrm>
                      <a:off x="2843808" y="2708920"/>
                      <a:ext cx="5256584" cy="288032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nchorCtr="0"/>
                    <a:lstStyle/>
                    <a:p>
                      <a:r>
                        <a:rPr lang="fr-FR" sz="1050" dirty="0"/>
                        <a:t>Machine Expresso</a:t>
                      </a:r>
                    </a:p>
                  </p:txBody>
                </p:sp>
                <p:pic>
                  <p:nvPicPr>
                    <p:cNvPr id="2054" name="Picture 6" descr="C:\Users\tartinator\Pictures\small_lb800.png"/>
                    <p:cNvPicPr>
                      <a:picLocks noChangeAspect="1" noChangeArrowheads="1"/>
                    </p:cNvPicPr>
                    <p:nvPr/>
                  </p:nvPicPr>
                  <p:blipFill>
                    <a:blip r:embed="rId5" cstate="print"/>
                    <a:srcRect/>
                    <a:stretch>
                      <a:fillRect/>
                    </a:stretch>
                  </p:blipFill>
                  <p:spPr bwMode="auto">
                    <a:xfrm>
                      <a:off x="3131840" y="3429000"/>
                      <a:ext cx="1162368" cy="1180530"/>
                    </a:xfrm>
                    <a:prstGeom prst="rect">
                      <a:avLst/>
                    </a:prstGeom>
                    <a:noFill/>
                  </p:spPr>
                </p:pic>
                <p:grpSp>
                  <p:nvGrpSpPr>
                    <p:cNvPr id="10" name="Groupe 19"/>
                    <p:cNvGrpSpPr/>
                    <p:nvPr/>
                  </p:nvGrpSpPr>
                  <p:grpSpPr>
                    <a:xfrm>
                      <a:off x="4788023" y="2852936"/>
                      <a:ext cx="1371033" cy="1080120"/>
                      <a:chOff x="3995935" y="2996952"/>
                      <a:chExt cx="1532331" cy="1224136"/>
                    </a:xfrm>
                  </p:grpSpPr>
                  <p:sp>
                    <p:nvSpPr>
                      <p:cNvPr id="11" name="Rectangle 10"/>
                      <p:cNvSpPr/>
                      <p:nvPr/>
                    </p:nvSpPr>
                    <p:spPr>
                      <a:xfrm>
                        <a:off x="3995935" y="2996952"/>
                        <a:ext cx="1532331" cy="1224136"/>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nchorCtr="0"/>
                      <a:lstStyle/>
                      <a:p>
                        <a:r>
                          <a:rPr lang="fr-FR" sz="1050" dirty="0"/>
                          <a:t>Machine de bar</a:t>
                        </a:r>
                      </a:p>
                    </p:txBody>
                  </p:sp>
                  <p:pic>
                    <p:nvPicPr>
                      <p:cNvPr id="2053" name="Picture 5" descr="C:\Users\tartinator\Pictures\small_DOSAGE-MACHINE-A-CAFE-JDC-MP.png"/>
                      <p:cNvPicPr>
                        <a:picLocks noChangeAspect="1" noChangeArrowheads="1"/>
                      </p:cNvPicPr>
                      <p:nvPr/>
                    </p:nvPicPr>
                    <p:blipFill>
                      <a:blip r:embed="rId6" cstate="print"/>
                      <a:srcRect/>
                      <a:stretch>
                        <a:fillRect/>
                      </a:stretch>
                    </p:blipFill>
                    <p:spPr bwMode="auto">
                      <a:xfrm>
                        <a:off x="4136841" y="3284984"/>
                        <a:ext cx="1219200" cy="838200"/>
                      </a:xfrm>
                      <a:prstGeom prst="rect">
                        <a:avLst/>
                      </a:prstGeom>
                      <a:noFill/>
                    </p:spPr>
                  </p:pic>
                </p:grpSp>
                <p:grpSp>
                  <p:nvGrpSpPr>
                    <p:cNvPr id="12" name="Groupe 22"/>
                    <p:cNvGrpSpPr/>
                    <p:nvPr/>
                  </p:nvGrpSpPr>
                  <p:grpSpPr>
                    <a:xfrm>
                      <a:off x="4788024" y="4077073"/>
                      <a:ext cx="3168352" cy="1296145"/>
                      <a:chOff x="3995936" y="4437112"/>
                      <a:chExt cx="3744416" cy="1656185"/>
                    </a:xfrm>
                  </p:grpSpPr>
                  <p:grpSp>
                    <p:nvGrpSpPr>
                      <p:cNvPr id="14" name="Groupe 20"/>
                      <p:cNvGrpSpPr/>
                      <p:nvPr/>
                    </p:nvGrpSpPr>
                    <p:grpSpPr>
                      <a:xfrm>
                        <a:off x="3995936" y="4437112"/>
                        <a:ext cx="3744416" cy="1656185"/>
                        <a:chOff x="3995936" y="4437112"/>
                        <a:chExt cx="3744416" cy="1656185"/>
                      </a:xfrm>
                    </p:grpSpPr>
                    <p:sp>
                      <p:nvSpPr>
                        <p:cNvPr id="13" name="Rectangle 12"/>
                        <p:cNvSpPr/>
                        <p:nvPr/>
                      </p:nvSpPr>
                      <p:spPr>
                        <a:xfrm>
                          <a:off x="3995936" y="4437112"/>
                          <a:ext cx="3744416" cy="1656185"/>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t" anchorCtr="0"/>
                        <a:lstStyle/>
                        <a:p>
                          <a:r>
                            <a:rPr lang="fr-FR" sz="900" dirty="0"/>
                            <a:t>Machine Expresso à capsule</a:t>
                          </a:r>
                        </a:p>
                      </p:txBody>
                    </p:sp>
                    <p:pic>
                      <p:nvPicPr>
                        <p:cNvPr id="2055" name="Picture 7" descr="C:\Users\tartinator\Pictures\small_sticker_cafetiere.png"/>
                        <p:cNvPicPr>
                          <a:picLocks noChangeAspect="1" noChangeArrowheads="1"/>
                        </p:cNvPicPr>
                        <p:nvPr/>
                      </p:nvPicPr>
                      <p:blipFill>
                        <a:blip r:embed="rId7" cstate="print"/>
                        <a:srcRect/>
                        <a:stretch>
                          <a:fillRect/>
                        </a:stretch>
                      </p:blipFill>
                      <p:spPr bwMode="auto">
                        <a:xfrm>
                          <a:off x="4067944" y="4797152"/>
                          <a:ext cx="1219200" cy="1219200"/>
                        </a:xfrm>
                        <a:prstGeom prst="rect">
                          <a:avLst/>
                        </a:prstGeom>
                        <a:noFill/>
                      </p:spPr>
                    </p:pic>
                  </p:grpSp>
                  <p:grpSp>
                    <p:nvGrpSpPr>
                      <p:cNvPr id="16" name="Groupe 21"/>
                      <p:cNvGrpSpPr/>
                      <p:nvPr/>
                    </p:nvGrpSpPr>
                    <p:grpSpPr>
                      <a:xfrm>
                        <a:off x="5868144" y="4738237"/>
                        <a:ext cx="1656184" cy="1219427"/>
                        <a:chOff x="5552681" y="4576899"/>
                        <a:chExt cx="1971648" cy="1380765"/>
                      </a:xfrm>
                    </p:grpSpPr>
                    <p:sp>
                      <p:nvSpPr>
                        <p:cNvPr id="15" name="Rectangle 14"/>
                        <p:cNvSpPr/>
                        <p:nvPr/>
                      </p:nvSpPr>
                      <p:spPr>
                        <a:xfrm>
                          <a:off x="5552681" y="4576899"/>
                          <a:ext cx="1971648" cy="1380765"/>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fr-FR" sz="900" dirty="0"/>
                            <a:t>Machine Expresso</a:t>
                          </a:r>
                        </a:p>
                        <a:p>
                          <a:r>
                            <a:rPr lang="fr-FR" sz="900" dirty="0"/>
                            <a:t>a capsule chaud/froid</a:t>
                          </a:r>
                        </a:p>
                      </p:txBody>
                    </p:sp>
                    <p:pic>
                      <p:nvPicPr>
                        <p:cNvPr id="2058" name="Picture 10" descr="C:\Users\tartinator\Pictures\small_dolce-gusto-mashine.png"/>
                        <p:cNvPicPr>
                          <a:picLocks noChangeAspect="1" noChangeArrowheads="1"/>
                        </p:cNvPicPr>
                        <p:nvPr/>
                      </p:nvPicPr>
                      <p:blipFill>
                        <a:blip r:embed="rId8" cstate="print"/>
                        <a:srcRect/>
                        <a:stretch>
                          <a:fillRect/>
                        </a:stretch>
                      </p:blipFill>
                      <p:spPr bwMode="auto">
                        <a:xfrm>
                          <a:off x="6759491" y="5160490"/>
                          <a:ext cx="521972" cy="729945"/>
                        </a:xfrm>
                        <a:prstGeom prst="rect">
                          <a:avLst/>
                        </a:prstGeom>
                        <a:noFill/>
                      </p:spPr>
                    </p:pic>
                  </p:grpSp>
                </p:grpSp>
              </p:grpSp>
              <p:cxnSp>
                <p:nvCxnSpPr>
                  <p:cNvPr id="34" name="Connecteur droit avec flèche 33"/>
                  <p:cNvCxnSpPr>
                    <a:stCxn id="2054" idx="3"/>
                    <a:endCxn id="2053" idx="1"/>
                  </p:cNvCxnSpPr>
                  <p:nvPr/>
                </p:nvCxnSpPr>
                <p:spPr>
                  <a:xfrm flipV="1">
                    <a:off x="4294208" y="3332860"/>
                    <a:ext cx="619888" cy="542389"/>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37" name="Connecteur droit avec flèche 36"/>
                  <p:cNvCxnSpPr>
                    <a:stCxn id="2054" idx="3"/>
                    <a:endCxn id="2055" idx="1"/>
                  </p:cNvCxnSpPr>
                  <p:nvPr/>
                </p:nvCxnSpPr>
                <p:spPr>
                  <a:xfrm>
                    <a:off x="4294208" y="3875249"/>
                    <a:ext cx="554746" cy="81665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6" name="ZoneTexte 45"/>
                  <p:cNvSpPr txBox="1"/>
                  <p:nvPr/>
                </p:nvSpPr>
                <p:spPr>
                  <a:xfrm rot="18928414">
                    <a:off x="4053426" y="3373913"/>
                    <a:ext cx="777777" cy="276999"/>
                  </a:xfrm>
                  <a:prstGeom prst="rect">
                    <a:avLst/>
                  </a:prstGeom>
                  <a:noFill/>
                </p:spPr>
                <p:txBody>
                  <a:bodyPr wrap="none" rtlCol="0">
                    <a:spAutoFit/>
                  </a:bodyPr>
                  <a:lstStyle/>
                  <a:p>
                    <a:r>
                      <a:rPr lang="fr-FR" sz="1200" b="1" dirty="0" err="1">
                        <a:solidFill>
                          <a:schemeClr val="bg1"/>
                        </a:solidFill>
                      </a:rPr>
                      <a:t>Extends</a:t>
                    </a:r>
                    <a:endParaRPr lang="fr-FR" sz="1200" b="1" dirty="0">
                      <a:solidFill>
                        <a:schemeClr val="bg1"/>
                      </a:solidFill>
                    </a:endParaRPr>
                  </a:p>
                </p:txBody>
              </p:sp>
              <p:sp>
                <p:nvSpPr>
                  <p:cNvPr id="47" name="ZoneTexte 46"/>
                  <p:cNvSpPr txBox="1"/>
                  <p:nvPr/>
                </p:nvSpPr>
                <p:spPr>
                  <a:xfrm rot="3113753">
                    <a:off x="4036909" y="4180236"/>
                    <a:ext cx="777777" cy="276999"/>
                  </a:xfrm>
                  <a:prstGeom prst="rect">
                    <a:avLst/>
                  </a:prstGeom>
                  <a:noFill/>
                </p:spPr>
                <p:txBody>
                  <a:bodyPr wrap="none" rtlCol="0">
                    <a:spAutoFit/>
                  </a:bodyPr>
                  <a:lstStyle/>
                  <a:p>
                    <a:r>
                      <a:rPr lang="fr-FR" sz="1200" b="1" dirty="0" err="1">
                        <a:solidFill>
                          <a:schemeClr val="bg1"/>
                        </a:solidFill>
                      </a:rPr>
                      <a:t>Extends</a:t>
                    </a:r>
                    <a:endParaRPr lang="fr-FR" sz="1200" b="1" dirty="0">
                      <a:solidFill>
                        <a:schemeClr val="bg1"/>
                      </a:solidFill>
                    </a:endParaRPr>
                  </a:p>
                </p:txBody>
              </p:sp>
            </p:grpSp>
            <p:cxnSp>
              <p:nvCxnSpPr>
                <p:cNvPr id="30" name="Connecteur droit avec flèche 29"/>
                <p:cNvCxnSpPr>
                  <a:stCxn id="2050" idx="3"/>
                </p:cNvCxnSpPr>
                <p:nvPr/>
              </p:nvCxnSpPr>
              <p:spPr>
                <a:xfrm>
                  <a:off x="2019263" y="4536260"/>
                  <a:ext cx="1597191" cy="152040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43" name="ZoneTexte 42"/>
                <p:cNvSpPr txBox="1"/>
                <p:nvPr/>
              </p:nvSpPr>
              <p:spPr>
                <a:xfrm rot="20286879">
                  <a:off x="2181164" y="3881085"/>
                  <a:ext cx="1071127" cy="369332"/>
                </a:xfrm>
                <a:prstGeom prst="rect">
                  <a:avLst/>
                </a:prstGeom>
                <a:noFill/>
              </p:spPr>
              <p:txBody>
                <a:bodyPr wrap="none" rtlCol="0">
                  <a:spAutoFit/>
                </a:bodyPr>
                <a:lstStyle/>
                <a:p>
                  <a:r>
                    <a:rPr lang="fr-FR" b="1" dirty="0" err="1">
                      <a:solidFill>
                        <a:schemeClr val="bg1"/>
                      </a:solidFill>
                    </a:rPr>
                    <a:t>Extends</a:t>
                  </a:r>
                  <a:endParaRPr lang="fr-FR" b="1" dirty="0">
                    <a:solidFill>
                      <a:schemeClr val="bg1"/>
                    </a:solidFill>
                  </a:endParaRPr>
                </a:p>
              </p:txBody>
            </p:sp>
            <p:sp>
              <p:nvSpPr>
                <p:cNvPr id="45" name="ZoneTexte 44"/>
                <p:cNvSpPr txBox="1"/>
                <p:nvPr/>
              </p:nvSpPr>
              <p:spPr>
                <a:xfrm rot="2464007">
                  <a:off x="2019282" y="4951461"/>
                  <a:ext cx="1071127" cy="369332"/>
                </a:xfrm>
                <a:prstGeom prst="rect">
                  <a:avLst/>
                </a:prstGeom>
                <a:noFill/>
              </p:spPr>
              <p:txBody>
                <a:bodyPr wrap="none" rtlCol="0">
                  <a:spAutoFit/>
                </a:bodyPr>
                <a:lstStyle/>
                <a:p>
                  <a:r>
                    <a:rPr lang="fr-FR" b="1" dirty="0" err="1">
                      <a:solidFill>
                        <a:schemeClr val="bg1"/>
                      </a:solidFill>
                    </a:rPr>
                    <a:t>Extends</a:t>
                  </a:r>
                  <a:endParaRPr lang="fr-FR" b="1" dirty="0">
                    <a:solidFill>
                      <a:schemeClr val="bg1"/>
                    </a:solidFill>
                  </a:endParaRPr>
                </a:p>
              </p:txBody>
            </p:sp>
            <p:cxnSp>
              <p:nvCxnSpPr>
                <p:cNvPr id="29" name="Connecteur droit avec flèche 28"/>
                <p:cNvCxnSpPr>
                  <a:stCxn id="2050" idx="3"/>
                </p:cNvCxnSpPr>
                <p:nvPr/>
              </p:nvCxnSpPr>
              <p:spPr>
                <a:xfrm flipV="1">
                  <a:off x="2019263" y="3926660"/>
                  <a:ext cx="1520142" cy="60960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sp>
            <p:nvSpPr>
              <p:cNvPr id="48" name="ZoneTexte 47"/>
              <p:cNvSpPr txBox="1"/>
              <p:nvPr/>
            </p:nvSpPr>
            <p:spPr>
              <a:xfrm rot="320163">
                <a:off x="5950379" y="4718129"/>
                <a:ext cx="822806" cy="276999"/>
              </a:xfrm>
              <a:prstGeom prst="rect">
                <a:avLst/>
              </a:prstGeom>
              <a:noFill/>
            </p:spPr>
            <p:txBody>
              <a:bodyPr wrap="square" rtlCol="0">
                <a:spAutoFit/>
              </a:bodyPr>
              <a:lstStyle/>
              <a:p>
                <a:r>
                  <a:rPr lang="fr-FR" sz="1050" b="1" dirty="0" err="1">
                    <a:solidFill>
                      <a:schemeClr val="bg1"/>
                    </a:solidFill>
                  </a:rPr>
                  <a:t>Extends</a:t>
                </a:r>
                <a:endParaRPr lang="fr-FR" sz="1050" b="1" dirty="0">
                  <a:solidFill>
                    <a:schemeClr val="bg1"/>
                  </a:solidFill>
                </a:endParaRPr>
              </a:p>
            </p:txBody>
          </p:sp>
          <p:cxnSp>
            <p:nvCxnSpPr>
              <p:cNvPr id="40" name="Connecteur droit avec flèche 39"/>
              <p:cNvCxnSpPr/>
              <p:nvPr/>
            </p:nvCxnSpPr>
            <p:spPr>
              <a:xfrm>
                <a:off x="5967930" y="4910097"/>
                <a:ext cx="1003835" cy="8356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pSp>
        <p:pic>
          <p:nvPicPr>
            <p:cNvPr id="2061" name="Picture 13" descr="C:\Users\tartinator\Pictures\R-KTranShipStore_62046_LH.png"/>
            <p:cNvPicPr>
              <a:picLocks noChangeAspect="1" noChangeArrowheads="1"/>
            </p:cNvPicPr>
            <p:nvPr/>
          </p:nvPicPr>
          <p:blipFill>
            <a:blip r:embed="rId9" cstate="print"/>
            <a:srcRect/>
            <a:stretch>
              <a:fillRect/>
            </a:stretch>
          </p:blipFill>
          <p:spPr bwMode="auto">
            <a:xfrm>
              <a:off x="467544" y="4365104"/>
              <a:ext cx="786357" cy="673646"/>
            </a:xfrm>
            <a:prstGeom prst="rect">
              <a:avLst/>
            </a:prstGeom>
            <a:noFill/>
          </p:spPr>
        </p:pic>
      </p:grpSp>
    </p:spTree>
    <p:extLst>
      <p:ext uri="{BB962C8B-B14F-4D97-AF65-F5344CB8AC3E}">
        <p14:creationId xmlns:p14="http://schemas.microsoft.com/office/powerpoint/2010/main" val="207111113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hangingPunct="1">
              <a:defRPr/>
            </a:pPr>
            <a:r>
              <a:rPr lang="fr-FR" dirty="0"/>
              <a:t>Notions d'objet</a:t>
            </a:r>
          </a:p>
        </p:txBody>
      </p:sp>
      <p:sp>
        <p:nvSpPr>
          <p:cNvPr id="70659" name="Content Placeholder 2"/>
          <p:cNvSpPr>
            <a:spLocks noGrp="1"/>
          </p:cNvSpPr>
          <p:nvPr>
            <p:ph idx="1"/>
          </p:nvPr>
        </p:nvSpPr>
        <p:spPr/>
        <p:txBody>
          <a:bodyPr>
            <a:normAutofit fontScale="77500" lnSpcReduction="20000"/>
          </a:bodyPr>
          <a:lstStyle/>
          <a:p>
            <a:pPr marL="0" indent="0" eaLnBrk="1" hangingPunct="1">
              <a:buFont typeface="Arial" charset="0"/>
              <a:buNone/>
              <a:tabLst>
                <a:tab pos="8439150" algn="r"/>
              </a:tabLst>
            </a:pPr>
            <a:r>
              <a:rPr lang="fr-FR" b="1" dirty="0"/>
              <a:t>L’écosystème Objet</a:t>
            </a:r>
            <a:r>
              <a:rPr lang="fr-FR" dirty="0"/>
              <a:t>, </a:t>
            </a:r>
            <a:r>
              <a:rPr lang="fr-FR" dirty="0">
                <a:ea typeface="MS Mincho" pitchFamily="49" charset="-128"/>
              </a:rPr>
              <a:t>un programme peut être conçu comme un écosystème rempli d’entités en interaction (</a:t>
            </a:r>
            <a:r>
              <a:rPr lang="fr-FR" b="1" dirty="0">
                <a:ea typeface="MS Mincho" pitchFamily="49" charset="-128"/>
              </a:rPr>
              <a:t>objets</a:t>
            </a:r>
            <a:r>
              <a:rPr lang="fr-FR" dirty="0">
                <a:ea typeface="MS Mincho" pitchFamily="49" charset="-128"/>
              </a:rPr>
              <a:t>), disposant de caractéristiques propres (</a:t>
            </a:r>
            <a:r>
              <a:rPr lang="fr-FR" b="1" dirty="0">
                <a:ea typeface="MS Mincho" pitchFamily="49" charset="-128"/>
              </a:rPr>
              <a:t>propriétés</a:t>
            </a:r>
            <a:r>
              <a:rPr lang="fr-FR" dirty="0">
                <a:ea typeface="MS Mincho" pitchFamily="49" charset="-128"/>
              </a:rPr>
              <a:t>) et de moyens d’action (</a:t>
            </a:r>
            <a:r>
              <a:rPr lang="fr-FR" b="1" dirty="0">
                <a:ea typeface="MS Mincho" pitchFamily="49" charset="-128"/>
              </a:rPr>
              <a:t>méthodes</a:t>
            </a:r>
            <a:r>
              <a:rPr lang="fr-FR" dirty="0">
                <a:ea typeface="MS Mincho" pitchFamily="49" charset="-128"/>
              </a:rPr>
              <a:t>) et répondant à des stimuli externes (</a:t>
            </a:r>
            <a:r>
              <a:rPr lang="fr-FR" b="1" dirty="0">
                <a:ea typeface="MS Mincho" pitchFamily="49" charset="-128"/>
              </a:rPr>
              <a:t>événements</a:t>
            </a:r>
            <a:r>
              <a:rPr lang="fr-FR" dirty="0">
                <a:ea typeface="MS Mincho" pitchFamily="49" charset="-128"/>
              </a:rPr>
              <a:t>).</a:t>
            </a:r>
          </a:p>
          <a:p>
            <a:pPr marL="0" indent="0" eaLnBrk="1" hangingPunct="1">
              <a:buFont typeface="Arial" charset="0"/>
              <a:buNone/>
              <a:tabLst>
                <a:tab pos="8439150" algn="r"/>
              </a:tabLst>
            </a:pPr>
            <a:endParaRPr lang="fr-FR" dirty="0">
              <a:ea typeface="MS Mincho" pitchFamily="49" charset="-128"/>
            </a:endParaRPr>
          </a:p>
          <a:p>
            <a:pPr marL="0" indent="0" eaLnBrk="1" hangingPunct="1">
              <a:buFont typeface="Arial" charset="0"/>
              <a:buNone/>
              <a:tabLst>
                <a:tab pos="8439150" algn="r"/>
              </a:tabLst>
            </a:pPr>
            <a:r>
              <a:rPr lang="fr-FR" b="1" dirty="0">
                <a:ea typeface="MS Mincho" pitchFamily="49" charset="-128"/>
              </a:rPr>
              <a:t>On appelle "objet" une instance d'un modèle d'objet (classe*)</a:t>
            </a:r>
          </a:p>
          <a:p>
            <a:pPr marL="457200" lvl="1" indent="0" eaLnBrk="1" hangingPunct="1">
              <a:buFont typeface="Arial" charset="0"/>
              <a:buNone/>
              <a:tabLst>
                <a:tab pos="8439150" algn="r"/>
              </a:tabLst>
            </a:pPr>
            <a:r>
              <a:rPr lang="fr-FR" sz="1400" dirty="0">
                <a:ea typeface="MS Mincho" pitchFamily="49" charset="-128"/>
              </a:rPr>
              <a:t>Ex: une poule marron avec une seule patte (un objet) fait partie de la famille des poules (sa classe)</a:t>
            </a:r>
          </a:p>
          <a:p>
            <a:pPr marL="0" indent="0" eaLnBrk="1" hangingPunct="1">
              <a:buFont typeface="Arial" charset="0"/>
              <a:buNone/>
              <a:tabLst>
                <a:tab pos="8439150" algn="r"/>
              </a:tabLst>
            </a:pPr>
            <a:endParaRPr lang="fr-FR" b="1" dirty="0">
              <a:ea typeface="MS Mincho" pitchFamily="49" charset="-128"/>
            </a:endParaRPr>
          </a:p>
          <a:p>
            <a:pPr marL="0" indent="0" eaLnBrk="1" hangingPunct="1">
              <a:buFont typeface="Arial" charset="0"/>
              <a:buNone/>
              <a:tabLst>
                <a:tab pos="8439150" algn="r"/>
              </a:tabLst>
            </a:pPr>
            <a:r>
              <a:rPr lang="fr-FR" b="1" dirty="0">
                <a:ea typeface="MS Mincho" pitchFamily="49" charset="-128"/>
              </a:rPr>
              <a:t>On appelle "propriété" une variable et "méthode" une fonction de la classe*</a:t>
            </a:r>
          </a:p>
          <a:p>
            <a:pPr marL="457200" lvl="1" indent="0" eaLnBrk="1" hangingPunct="1">
              <a:buFont typeface="Arial" charset="0"/>
              <a:buNone/>
              <a:tabLst>
                <a:tab pos="8439150" algn="r"/>
              </a:tabLst>
            </a:pPr>
            <a:r>
              <a:rPr lang="fr-FR" sz="1400" dirty="0">
                <a:ea typeface="MS Mincho" pitchFamily="49" charset="-128"/>
              </a:rPr>
              <a:t>Ex: la couleur de la poule est une de ses propriétés. Le fait qu'elle plane est une méthode.</a:t>
            </a:r>
          </a:p>
          <a:p>
            <a:pPr marL="0" indent="0" eaLnBrk="1" hangingPunct="1">
              <a:buFont typeface="Arial" charset="0"/>
              <a:buNone/>
              <a:tabLst>
                <a:tab pos="8439150" algn="r"/>
              </a:tabLst>
            </a:pPr>
            <a:endParaRPr lang="fr-FR" b="1" dirty="0">
              <a:ea typeface="MS Mincho" pitchFamily="49" charset="-128"/>
            </a:endParaRPr>
          </a:p>
          <a:p>
            <a:pPr marL="0" indent="0" eaLnBrk="1" hangingPunct="1">
              <a:buFont typeface="Arial" charset="0"/>
              <a:buNone/>
              <a:tabLst>
                <a:tab pos="8439150" algn="r"/>
              </a:tabLst>
            </a:pPr>
            <a:r>
              <a:rPr lang="fr-FR" b="1" dirty="0">
                <a:ea typeface="MS Mincho" pitchFamily="49" charset="-128"/>
              </a:rPr>
              <a:t>On appelle gestionnaire d'événement une fonction qui répond à un stimuli</a:t>
            </a:r>
          </a:p>
          <a:p>
            <a:pPr marL="457200" lvl="1" indent="0" eaLnBrk="1" hangingPunct="1">
              <a:buFont typeface="Arial" charset="0"/>
              <a:buNone/>
              <a:tabLst>
                <a:tab pos="8439150" algn="r"/>
              </a:tabLst>
            </a:pPr>
            <a:r>
              <a:rPr lang="fr-FR" sz="1400" dirty="0">
                <a:ea typeface="MS Mincho" pitchFamily="49" charset="-128"/>
              </a:rPr>
              <a:t>Ex: quand un renard entre dans le poulailler, les poules piaillent et s'enfuient</a:t>
            </a:r>
          </a:p>
          <a:p>
            <a:pPr marL="457200" lvl="1" indent="0" eaLnBrk="1" hangingPunct="1">
              <a:buFont typeface="Arial" charset="0"/>
              <a:buNone/>
              <a:tabLst>
                <a:tab pos="8439150" algn="r"/>
              </a:tabLst>
            </a:pPr>
            <a:endParaRPr lang="fr-FR" sz="1400" dirty="0">
              <a:ea typeface="MS Mincho" pitchFamily="49" charset="-128"/>
            </a:endParaRPr>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9E6B6D93-B577-4049-A22B-8863D9CDA397}" type="slidenum">
              <a:rPr lang="en-JM" smtClean="0">
                <a:solidFill>
                  <a:schemeClr val="bg1"/>
                </a:solidFill>
              </a:rPr>
              <a:pPr fontAlgn="base">
                <a:spcBef>
                  <a:spcPct val="0"/>
                </a:spcBef>
                <a:spcAft>
                  <a:spcPct val="0"/>
                </a:spcAft>
                <a:defRPr/>
              </a:pPr>
              <a:t>61</a:t>
            </a:fld>
            <a:endParaRPr lang="en-JM" dirty="0">
              <a:solidFill>
                <a:schemeClr val="bg1"/>
              </a:solidFill>
            </a:endParaRPr>
          </a:p>
        </p:txBody>
      </p:sp>
    </p:spTree>
    <p:extLst>
      <p:ext uri="{BB962C8B-B14F-4D97-AF65-F5344CB8AC3E}">
        <p14:creationId xmlns:p14="http://schemas.microsoft.com/office/powerpoint/2010/main" val="36618866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hangingPunct="1">
              <a:defRPr/>
            </a:pPr>
            <a:r>
              <a:rPr lang="fr-FR" dirty="0"/>
              <a:t>Notions d'objet</a:t>
            </a:r>
          </a:p>
        </p:txBody>
      </p:sp>
      <p:sp>
        <p:nvSpPr>
          <p:cNvPr id="71683" name="Content Placeholder 2"/>
          <p:cNvSpPr>
            <a:spLocks noGrp="1"/>
          </p:cNvSpPr>
          <p:nvPr>
            <p:ph idx="1"/>
          </p:nvPr>
        </p:nvSpPr>
        <p:spPr/>
        <p:txBody>
          <a:bodyPr>
            <a:normAutofit/>
          </a:bodyPr>
          <a:lstStyle/>
          <a:p>
            <a:pPr marL="0" indent="0" eaLnBrk="1" hangingPunct="1">
              <a:buFont typeface="Arial" charset="0"/>
              <a:buNone/>
              <a:tabLst>
                <a:tab pos="8439150" algn="r"/>
              </a:tabLst>
            </a:pPr>
            <a:r>
              <a:rPr lang="fr-FR" dirty="0">
                <a:ea typeface="MS Mincho" pitchFamily="49" charset="-128"/>
              </a:rPr>
              <a:t>En JavaScript, tout ceci donne :</a:t>
            </a:r>
          </a:p>
          <a:p>
            <a:pPr marL="0" indent="0" eaLnBrk="1" hangingPunct="1">
              <a:buFont typeface="Arial" charset="0"/>
              <a:buNone/>
              <a:tabLst>
                <a:tab pos="8439150" algn="r"/>
              </a:tabLst>
            </a:pPr>
            <a:endParaRPr lang="fr-FR" dirty="0">
              <a:ea typeface="MS Mincho" pitchFamily="49" charset="-128"/>
            </a:endParaRPr>
          </a:p>
          <a:p>
            <a:pPr marL="457200" lvl="1" indent="0" eaLnBrk="1" hangingPunct="1">
              <a:buFont typeface="Arial" charset="0"/>
              <a:buNone/>
              <a:tabLst>
                <a:tab pos="8439150" algn="r"/>
              </a:tabLst>
            </a:pPr>
            <a:r>
              <a:rPr lang="fr-FR" dirty="0">
                <a:solidFill>
                  <a:srgbClr val="009AD0"/>
                </a:solidFill>
                <a:ea typeface="MS Mincho" pitchFamily="49" charset="-128"/>
              </a:rPr>
              <a:t>var myCutsom = new Custom({prop:1}); </a:t>
            </a:r>
          </a:p>
          <a:p>
            <a:pPr marL="457200" lvl="1" indent="0" eaLnBrk="1" hangingPunct="1">
              <a:buFont typeface="Arial" charset="0"/>
              <a:buNone/>
              <a:tabLst>
                <a:tab pos="8439150" algn="r"/>
              </a:tabLst>
            </a:pPr>
            <a:endParaRPr lang="fr-FR" dirty="0">
              <a:solidFill>
                <a:srgbClr val="009AD0"/>
              </a:solidFill>
              <a:ea typeface="MS Mincho" pitchFamily="49" charset="-128"/>
            </a:endParaRPr>
          </a:p>
          <a:p>
            <a:pPr marL="457200" lvl="1" indent="0" eaLnBrk="1" hangingPunct="1">
              <a:buFont typeface="Arial" charset="0"/>
              <a:buNone/>
              <a:tabLst>
                <a:tab pos="8439150" algn="r"/>
              </a:tabLst>
            </a:pPr>
            <a:r>
              <a:rPr lang="fr-FR" dirty="0">
                <a:solidFill>
                  <a:srgbClr val="009AD0"/>
                </a:solidFill>
                <a:ea typeface="MS Mincho" pitchFamily="49" charset="-128"/>
              </a:rPr>
              <a:t>myCutsom .couleur = 'marron'; </a:t>
            </a:r>
          </a:p>
          <a:p>
            <a:pPr marL="457200" lvl="1" indent="0" eaLnBrk="1" hangingPunct="1">
              <a:buFont typeface="Arial" charset="0"/>
              <a:buNone/>
              <a:tabLst>
                <a:tab pos="8439150" algn="r"/>
              </a:tabLst>
            </a:pPr>
            <a:endParaRPr lang="fr-FR" dirty="0">
              <a:solidFill>
                <a:srgbClr val="009AD0"/>
              </a:solidFill>
              <a:ea typeface="MS Mincho" pitchFamily="49" charset="-128"/>
            </a:endParaRPr>
          </a:p>
          <a:p>
            <a:pPr marL="457200" lvl="1" indent="0" eaLnBrk="1" hangingPunct="1">
              <a:buFont typeface="Arial" charset="0"/>
              <a:buNone/>
              <a:tabLst>
                <a:tab pos="8439150" algn="r"/>
              </a:tabLst>
            </a:pPr>
            <a:r>
              <a:rPr lang="fr-FR" dirty="0">
                <a:solidFill>
                  <a:srgbClr val="009AD0"/>
                </a:solidFill>
                <a:ea typeface="MS Mincho" pitchFamily="49" charset="-128"/>
              </a:rPr>
              <a:t>myCutsom .plane(); </a:t>
            </a:r>
          </a:p>
          <a:p>
            <a:pPr marL="457200" lvl="1" indent="0" eaLnBrk="1" hangingPunct="1">
              <a:buFont typeface="Arial" charset="0"/>
              <a:buNone/>
              <a:tabLst>
                <a:tab pos="8439150" algn="r"/>
              </a:tabLst>
            </a:pPr>
            <a:endParaRPr lang="fr-FR" dirty="0">
              <a:solidFill>
                <a:srgbClr val="009AD0"/>
              </a:solidFill>
              <a:ea typeface="MS Mincho" pitchFamily="49" charset="-128"/>
            </a:endParaRPr>
          </a:p>
          <a:p>
            <a:pPr marL="457200" lvl="1" indent="0" eaLnBrk="1" hangingPunct="1">
              <a:buFont typeface="Arial" charset="0"/>
              <a:buNone/>
              <a:tabLst>
                <a:tab pos="8439150" algn="r"/>
              </a:tabLst>
            </a:pPr>
            <a:r>
              <a:rPr lang="fr-FR" dirty="0">
                <a:solidFill>
                  <a:srgbClr val="009AD0"/>
                </a:solidFill>
                <a:ea typeface="MS Mincho" pitchFamily="49" charset="-128"/>
              </a:rPr>
              <a:t>myCutsom.onCustomEvent= function() { … }</a:t>
            </a:r>
          </a:p>
        </p:txBody>
      </p:sp>
      <p:sp>
        <p:nvSpPr>
          <p:cNvPr id="7" name="Footer Placeholder 12"/>
          <p:cNvSpPr>
            <a:spLocks noGrp="1"/>
          </p:cNvSpPr>
          <p:nvPr>
            <p:ph type="ftr" sz="quarter" idx="11"/>
          </p:nvPr>
        </p:nvSpPr>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DF0925A1-4DF1-4D7D-966F-52D7B6F987A3}" type="slidenum">
              <a:rPr lang="en-JM" smtClean="0">
                <a:solidFill>
                  <a:schemeClr val="bg1"/>
                </a:solidFill>
              </a:rPr>
              <a:pPr fontAlgn="base">
                <a:spcBef>
                  <a:spcPct val="0"/>
                </a:spcBef>
                <a:spcAft>
                  <a:spcPct val="0"/>
                </a:spcAft>
                <a:defRPr/>
              </a:pPr>
              <a:t>62</a:t>
            </a:fld>
            <a:endParaRPr lang="en-JM" dirty="0">
              <a:solidFill>
                <a:schemeClr val="bg1"/>
              </a:solidFill>
            </a:endParaRPr>
          </a:p>
        </p:txBody>
      </p:sp>
    </p:spTree>
    <p:extLst>
      <p:ext uri="{BB962C8B-B14F-4D97-AF65-F5344CB8AC3E}">
        <p14:creationId xmlns:p14="http://schemas.microsoft.com/office/powerpoint/2010/main" val="11108265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hangingPunct="1">
              <a:defRPr/>
            </a:pPr>
            <a:r>
              <a:rPr lang="fr-FR" dirty="0"/>
              <a:t>Notions d'objet</a:t>
            </a:r>
          </a:p>
        </p:txBody>
      </p:sp>
      <p:sp>
        <p:nvSpPr>
          <p:cNvPr id="3" name="Content Placeholder 2"/>
          <p:cNvSpPr>
            <a:spLocks noGrp="1"/>
          </p:cNvSpPr>
          <p:nvPr>
            <p:ph idx="1"/>
          </p:nvPr>
        </p:nvSpPr>
        <p:spPr>
          <a:xfrm>
            <a:off x="457200" y="1493838"/>
            <a:ext cx="8229600" cy="4525962"/>
          </a:xfrm>
        </p:spPr>
        <p:txBody>
          <a:bodyPr rtlCol="0">
            <a:noAutofit/>
          </a:bodyPr>
          <a:lstStyle/>
          <a:p>
            <a:pPr marL="0" indent="0" eaLnBrk="1" hangingPunct="1">
              <a:buFont typeface="Arial" charset="0"/>
              <a:buNone/>
              <a:defRPr/>
            </a:pPr>
            <a:r>
              <a:rPr lang="fr-FR" sz="2000" b="1" dirty="0">
                <a:solidFill>
                  <a:schemeClr val="tx1"/>
                </a:solidFill>
              </a:rPr>
              <a:t>Il existe des mots clés réservés à la manipulation des objets.</a:t>
            </a:r>
          </a:p>
          <a:p>
            <a:pPr marL="400050" lvl="1" indent="0" eaLnBrk="1" hangingPunct="1">
              <a:buFont typeface="Arial" charset="0"/>
              <a:buNone/>
              <a:defRPr/>
            </a:pPr>
            <a:endParaRPr lang="fr-FR" sz="1800" b="1" dirty="0">
              <a:solidFill>
                <a:srgbClr val="009AD0"/>
              </a:solidFill>
            </a:endParaRPr>
          </a:p>
          <a:p>
            <a:pPr marL="400050" lvl="1" indent="0" eaLnBrk="1" hangingPunct="1">
              <a:buFont typeface="Arial" charset="0"/>
              <a:buNone/>
              <a:defRPr/>
            </a:pPr>
            <a:r>
              <a:rPr lang="fr-FR" sz="1800" b="1" dirty="0">
                <a:solidFill>
                  <a:srgbClr val="009AD0"/>
                </a:solidFill>
              </a:rPr>
              <a:t>this</a:t>
            </a:r>
          </a:p>
          <a:p>
            <a:pPr lvl="1" eaLnBrk="1" hangingPunct="1">
              <a:defRPr/>
            </a:pPr>
            <a:r>
              <a:rPr lang="fr-FR" sz="1800" dirty="0">
                <a:ea typeface="MS Mincho" pitchFamily="49" charset="-128"/>
              </a:rPr>
              <a:t>this = objet courant, à savoir:</a:t>
            </a:r>
            <a:br>
              <a:rPr lang="fr-FR" sz="1800" dirty="0">
                <a:ea typeface="MS Mincho" pitchFamily="49" charset="-128"/>
              </a:rPr>
            </a:br>
            <a:r>
              <a:rPr lang="fr-FR" sz="1800" dirty="0">
                <a:ea typeface="MS Mincho" pitchFamily="49" charset="-128"/>
              </a:rPr>
              <a:t>niveau global : objet window courant (frame)</a:t>
            </a:r>
            <a:br>
              <a:rPr lang="fr-FR" sz="1800" dirty="0">
                <a:ea typeface="MS Mincho" pitchFamily="49" charset="-128"/>
              </a:rPr>
            </a:br>
            <a:r>
              <a:rPr lang="fr-FR" sz="1800" dirty="0">
                <a:ea typeface="MS Mincho" pitchFamily="49" charset="-128"/>
              </a:rPr>
              <a:t>fonction / méthode : l’objet associé à la méthode</a:t>
            </a:r>
            <a:br>
              <a:rPr lang="fr-FR" sz="1800" dirty="0">
                <a:ea typeface="MS Mincho" pitchFamily="49" charset="-128"/>
              </a:rPr>
            </a:br>
            <a:r>
              <a:rPr lang="fr-FR" sz="1800" dirty="0">
                <a:ea typeface="MS Mincho" pitchFamily="49" charset="-128"/>
              </a:rPr>
              <a:t>événements : objet déclencheur.</a:t>
            </a:r>
          </a:p>
          <a:p>
            <a:pPr marL="400050" lvl="1" indent="0" eaLnBrk="1" hangingPunct="1">
              <a:buFont typeface="Arial" charset="0"/>
              <a:buNone/>
              <a:defRPr/>
            </a:pPr>
            <a:endParaRPr lang="fr-FR" sz="1800" dirty="0">
              <a:ea typeface="MS Mincho" pitchFamily="49" charset="-128"/>
            </a:endParaRPr>
          </a:p>
          <a:p>
            <a:pPr marL="400050" lvl="1" indent="0" eaLnBrk="1" hangingPunct="1">
              <a:buFont typeface="Arial" charset="0"/>
              <a:buNone/>
              <a:defRPr/>
            </a:pPr>
            <a:r>
              <a:rPr lang="fr-FR" sz="1800" b="1" dirty="0">
                <a:solidFill>
                  <a:srgbClr val="009AD0"/>
                </a:solidFill>
              </a:rPr>
              <a:t>new et delete</a:t>
            </a:r>
          </a:p>
          <a:p>
            <a:pPr lvl="1" eaLnBrk="1" hangingPunct="1">
              <a:defRPr/>
            </a:pPr>
            <a:r>
              <a:rPr lang="fr-FR" sz="1800" dirty="0">
                <a:ea typeface="MS Mincho" pitchFamily="49" charset="-128"/>
              </a:rPr>
              <a:t>opérateur new pour créer (allouer) un nouvel objet.</a:t>
            </a:r>
          </a:p>
          <a:p>
            <a:pPr lvl="1" eaLnBrk="1" hangingPunct="1">
              <a:defRPr/>
            </a:pPr>
            <a:r>
              <a:rPr lang="fr-FR" sz="1800" dirty="0">
                <a:ea typeface="MS Mincho" pitchFamily="49" charset="-128"/>
              </a:rPr>
              <a:t>chaîne non-allouée et null</a:t>
            </a:r>
          </a:p>
          <a:p>
            <a:pPr lvl="1" eaLnBrk="1" hangingPunct="1">
              <a:defRPr/>
            </a:pPr>
            <a:r>
              <a:rPr lang="fr-FR" sz="1800" dirty="0">
                <a:ea typeface="MS Mincho" pitchFamily="49" charset="-128"/>
              </a:rPr>
              <a:t>pour dés-allouer utiliser delete (à noter : JS ne fournit pas de gestionnaire de destructeur car il dispose d’un ramasse-miettes = « garbage collector »)</a:t>
            </a:r>
          </a:p>
        </p:txBody>
      </p:sp>
      <p:sp>
        <p:nvSpPr>
          <p:cNvPr id="7" name="Footer Placeholder 12"/>
          <p:cNvSpPr>
            <a:spLocks noGrp="1"/>
          </p:cNvSpPr>
          <p:nvPr>
            <p:ph type="ftr" sz="quarter" idx="11"/>
          </p:nvPr>
        </p:nvSpPr>
        <p:spPr>
          <a:xfrm>
            <a:off x="457200" y="6400800"/>
            <a:ext cx="5638800" cy="365125"/>
          </a:xfrm>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xfrm>
            <a:off x="8153400" y="0"/>
            <a:ext cx="585788"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00BBFA46-AA72-4F81-B42B-5F22C086CD88}" type="slidenum">
              <a:rPr lang="en-JM" smtClean="0">
                <a:solidFill>
                  <a:schemeClr val="bg1"/>
                </a:solidFill>
              </a:rPr>
              <a:pPr fontAlgn="base">
                <a:spcBef>
                  <a:spcPct val="0"/>
                </a:spcBef>
                <a:spcAft>
                  <a:spcPct val="0"/>
                </a:spcAft>
                <a:defRPr/>
              </a:pPr>
              <a:t>63</a:t>
            </a:fld>
            <a:endParaRPr lang="en-JM" dirty="0">
              <a:solidFill>
                <a:schemeClr val="bg1"/>
              </a:solidFill>
            </a:endParaRPr>
          </a:p>
        </p:txBody>
      </p:sp>
    </p:spTree>
    <p:extLst>
      <p:ext uri="{BB962C8B-B14F-4D97-AF65-F5344CB8AC3E}">
        <p14:creationId xmlns:p14="http://schemas.microsoft.com/office/powerpoint/2010/main" val="120732905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hangingPunct="1">
              <a:defRPr/>
            </a:pPr>
            <a:r>
              <a:rPr lang="fr-FR" dirty="0"/>
              <a:t>Notions d'objet</a:t>
            </a:r>
          </a:p>
        </p:txBody>
      </p:sp>
      <p:sp>
        <p:nvSpPr>
          <p:cNvPr id="3" name="Content Placeholder 2"/>
          <p:cNvSpPr>
            <a:spLocks noGrp="1"/>
          </p:cNvSpPr>
          <p:nvPr>
            <p:ph idx="1"/>
          </p:nvPr>
        </p:nvSpPr>
        <p:spPr>
          <a:xfrm>
            <a:off x="457200" y="1493838"/>
            <a:ext cx="8229600" cy="4525962"/>
          </a:xfrm>
        </p:spPr>
        <p:txBody>
          <a:bodyPr rtlCol="0">
            <a:noAutofit/>
          </a:bodyPr>
          <a:lstStyle/>
          <a:p>
            <a:pPr marL="0" indent="0" eaLnBrk="1" hangingPunct="1">
              <a:buFont typeface="Arial" charset="0"/>
              <a:buNone/>
              <a:defRPr/>
            </a:pPr>
            <a:r>
              <a:rPr lang="fr-FR" sz="2000" b="1" dirty="0"/>
              <a:t>Des objets ou des classes ?</a:t>
            </a:r>
          </a:p>
          <a:p>
            <a:pPr eaLnBrk="1" hangingPunct="1">
              <a:buFont typeface="Wingdings" pitchFamily="2" charset="2"/>
              <a:buNone/>
              <a:defRPr/>
            </a:pPr>
            <a:endParaRPr lang="fr-FR" sz="2000" dirty="0">
              <a:ea typeface="MS Mincho" pitchFamily="49" charset="-128"/>
            </a:endParaRPr>
          </a:p>
          <a:p>
            <a:pPr lvl="1" eaLnBrk="1" hangingPunct="1">
              <a:defRPr/>
            </a:pPr>
            <a:r>
              <a:rPr lang="fr-FR" sz="1800" dirty="0">
                <a:ea typeface="MS Mincho" pitchFamily="49" charset="-128"/>
              </a:rPr>
              <a:t>Si on peut étendre les types existants à l’aide de la méthode prototype, les langages de prototype ne permettent pas de créer des classes.</a:t>
            </a:r>
          </a:p>
          <a:p>
            <a:pPr lvl="1" eaLnBrk="1" hangingPunct="1">
              <a:defRPr/>
            </a:pPr>
            <a:endParaRPr lang="fr-FR" sz="1800" dirty="0">
              <a:ea typeface="MS Mincho" pitchFamily="49" charset="-128"/>
            </a:endParaRPr>
          </a:p>
          <a:p>
            <a:pPr lvl="1" eaLnBrk="1" hangingPunct="1">
              <a:defRPr/>
            </a:pPr>
            <a:r>
              <a:rPr lang="fr-FR" sz="1800" dirty="0">
                <a:ea typeface="MS Mincho" pitchFamily="49" charset="-128"/>
              </a:rPr>
              <a:t>On peut néanmoins simuler les classes et espaces de noms en utilisant des conteneurs comme suit : </a:t>
            </a:r>
            <a:r>
              <a:rPr lang="fr-FR" sz="1800" dirty="0">
                <a:solidFill>
                  <a:srgbClr val="009AD0"/>
                </a:solidFill>
                <a:ea typeface="MS Mincho" pitchFamily="49" charset="-128"/>
              </a:rPr>
              <a:t>var Ajax = {}… Ajax.Updater = { … code … }</a:t>
            </a:r>
          </a:p>
          <a:p>
            <a:pPr lvl="1" eaLnBrk="1" hangingPunct="1">
              <a:defRPr/>
            </a:pPr>
            <a:endParaRPr lang="fr-FR" sz="1800" dirty="0">
              <a:ea typeface="MS Mincho" pitchFamily="49" charset="-128"/>
            </a:endParaRPr>
          </a:p>
          <a:p>
            <a:pPr lvl="1" eaLnBrk="1" hangingPunct="1">
              <a:defRPr/>
            </a:pPr>
            <a:r>
              <a:rPr lang="fr-FR" sz="1800" dirty="0">
                <a:ea typeface="MS Mincho" pitchFamily="49" charset="-128"/>
              </a:rPr>
              <a:t>Et simuler des classes en combinant conteneurs, la portée des variables et méthodes, l’usage de la méthode prototype…</a:t>
            </a:r>
          </a:p>
          <a:p>
            <a:pPr lvl="1" eaLnBrk="1" hangingPunct="1">
              <a:defRPr/>
            </a:pPr>
            <a:endParaRPr lang="fr-FR" sz="1800" dirty="0">
              <a:ea typeface="MS Mincho" pitchFamily="49" charset="-128"/>
            </a:endParaRPr>
          </a:p>
          <a:p>
            <a:pPr lvl="1" eaLnBrk="1" hangingPunct="1">
              <a:defRPr/>
            </a:pPr>
            <a:r>
              <a:rPr lang="fr-FR" sz="1800" u="sng" dirty="0">
                <a:ea typeface="MS Mincho" pitchFamily="49" charset="-128"/>
              </a:rPr>
              <a:t>NB:</a:t>
            </a:r>
            <a:r>
              <a:rPr lang="fr-FR" sz="1800" dirty="0">
                <a:ea typeface="MS Mincho" pitchFamily="49" charset="-128"/>
              </a:rPr>
              <a:t> utilisez des fonctions anonymes pas new Function sinon il risque d’y avoir des problèmes de linkeur.</a:t>
            </a:r>
          </a:p>
        </p:txBody>
      </p:sp>
      <p:sp>
        <p:nvSpPr>
          <p:cNvPr id="7" name="Footer Placeholder 12"/>
          <p:cNvSpPr>
            <a:spLocks noGrp="1"/>
          </p:cNvSpPr>
          <p:nvPr>
            <p:ph type="ftr" sz="quarter" idx="11"/>
          </p:nvPr>
        </p:nvSpPr>
        <p:spPr>
          <a:xfrm>
            <a:off x="457200" y="6400800"/>
            <a:ext cx="5638800" cy="365125"/>
          </a:xfrm>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xfrm>
            <a:off x="8153400" y="0"/>
            <a:ext cx="585788"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C812CAB8-DEAF-4387-BC5F-DA73962CF84D}" type="slidenum">
              <a:rPr lang="en-JM" smtClean="0">
                <a:solidFill>
                  <a:schemeClr val="bg1"/>
                </a:solidFill>
              </a:rPr>
              <a:pPr fontAlgn="base">
                <a:spcBef>
                  <a:spcPct val="0"/>
                </a:spcBef>
                <a:spcAft>
                  <a:spcPct val="0"/>
                </a:spcAft>
                <a:defRPr/>
              </a:pPr>
              <a:t>64</a:t>
            </a:fld>
            <a:endParaRPr lang="en-JM" dirty="0">
              <a:solidFill>
                <a:schemeClr val="bg1"/>
              </a:solidFill>
            </a:endParaRPr>
          </a:p>
        </p:txBody>
      </p:sp>
    </p:spTree>
    <p:extLst>
      <p:ext uri="{BB962C8B-B14F-4D97-AF65-F5344CB8AC3E}">
        <p14:creationId xmlns:p14="http://schemas.microsoft.com/office/powerpoint/2010/main" val="162518653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hangingPunct="1">
              <a:defRPr/>
            </a:pPr>
            <a:r>
              <a:rPr lang="fr-FR" dirty="0"/>
              <a:t>Notions d'objet</a:t>
            </a:r>
          </a:p>
        </p:txBody>
      </p:sp>
      <p:sp>
        <p:nvSpPr>
          <p:cNvPr id="67587" name="Content Placeholder 2"/>
          <p:cNvSpPr>
            <a:spLocks noGrp="1"/>
          </p:cNvSpPr>
          <p:nvPr>
            <p:ph idx="1"/>
          </p:nvPr>
        </p:nvSpPr>
        <p:spPr>
          <a:xfrm>
            <a:off x="457200" y="1493838"/>
            <a:ext cx="8229600" cy="4525962"/>
          </a:xfrm>
        </p:spPr>
        <p:txBody>
          <a:bodyPr>
            <a:normAutofit fontScale="62500" lnSpcReduction="20000"/>
          </a:bodyPr>
          <a:lstStyle/>
          <a:p>
            <a:pPr marL="0" indent="0" eaLnBrk="1" hangingPunct="1">
              <a:buFont typeface="Arial" charset="0"/>
              <a:buNone/>
              <a:defRPr/>
            </a:pPr>
            <a:r>
              <a:rPr lang="fr-FR" b="1" dirty="0"/>
              <a:t>Implémentation de classes</a:t>
            </a:r>
          </a:p>
          <a:p>
            <a:pPr lvl="1" eaLnBrk="1" hangingPunct="1">
              <a:defRPr/>
            </a:pPr>
            <a:r>
              <a:rPr lang="fr-FR" dirty="0">
                <a:ea typeface="MS Mincho" pitchFamily="49" charset="-128"/>
              </a:rPr>
              <a:t>les propriétés privées sont déclarées dans l’objet avec 'var‘ on ne peut y accéder que par des méthodes privées ou privilégiées.</a:t>
            </a:r>
          </a:p>
          <a:p>
            <a:pPr lvl="1" eaLnBrk="1" hangingPunct="1">
              <a:defRPr/>
            </a:pPr>
            <a:r>
              <a:rPr lang="fr-FR" dirty="0">
                <a:ea typeface="MS Mincho" pitchFamily="49" charset="-128"/>
              </a:rPr>
              <a:t>les méthodes privées déclarées inline dans le constructeur ou par : « </a:t>
            </a:r>
            <a:r>
              <a:rPr lang="fr-FR" dirty="0">
                <a:solidFill>
                  <a:srgbClr val="009AD0"/>
                </a:solidFill>
                <a:ea typeface="MS Mincho" pitchFamily="49" charset="-128"/>
              </a:rPr>
              <a:t>var functionName = function(){...} </a:t>
            </a:r>
            <a:r>
              <a:rPr lang="fr-FR" dirty="0">
                <a:ea typeface="MS Mincho" pitchFamily="49" charset="-128"/>
              </a:rPr>
              <a:t>» (même portée que précédent).</a:t>
            </a:r>
          </a:p>
          <a:p>
            <a:pPr lvl="1" eaLnBrk="1" hangingPunct="1">
              <a:defRPr/>
            </a:pPr>
            <a:r>
              <a:rPr lang="fr-FR" dirty="0">
                <a:ea typeface="MS Mincho" pitchFamily="49" charset="-128"/>
              </a:rPr>
              <a:t>les méthodes privilégiées déclarées par : « </a:t>
            </a:r>
            <a:r>
              <a:rPr lang="fr-FR" dirty="0">
                <a:solidFill>
                  <a:srgbClr val="009AD0"/>
                </a:solidFill>
                <a:ea typeface="MS Mincho" pitchFamily="49" charset="-128"/>
              </a:rPr>
              <a:t>this.methodName=function(){...}</a:t>
            </a:r>
            <a:r>
              <a:rPr lang="fr-FR" dirty="0">
                <a:ea typeface="MS Mincho" pitchFamily="49" charset="-128"/>
              </a:rPr>
              <a:t> » et invoquées depuis l’extérieur de l’objet.</a:t>
            </a:r>
          </a:p>
          <a:p>
            <a:pPr lvl="1" eaLnBrk="1" hangingPunct="1">
              <a:defRPr/>
            </a:pPr>
            <a:r>
              <a:rPr lang="fr-FR" dirty="0">
                <a:ea typeface="MS Mincho" pitchFamily="49" charset="-128"/>
              </a:rPr>
              <a:t>les propriétés publiques déclarées par « </a:t>
            </a:r>
            <a:r>
              <a:rPr lang="fr-FR" dirty="0">
                <a:solidFill>
                  <a:srgbClr val="009AD0"/>
                </a:solidFill>
                <a:ea typeface="MS Mincho" pitchFamily="49" charset="-128"/>
              </a:rPr>
              <a:t>this.variableName </a:t>
            </a:r>
            <a:r>
              <a:rPr lang="fr-FR" dirty="0">
                <a:ea typeface="MS Mincho" pitchFamily="49" charset="-128"/>
              </a:rPr>
              <a:t>» et lues et modifiées depuis l’extérieur de l’objet. </a:t>
            </a:r>
          </a:p>
          <a:p>
            <a:pPr lvl="1" eaLnBrk="1" hangingPunct="1">
              <a:defRPr/>
            </a:pPr>
            <a:r>
              <a:rPr lang="fr-FR" dirty="0">
                <a:ea typeface="MS Mincho" pitchFamily="49" charset="-128"/>
              </a:rPr>
              <a:t>les méthodes publiques sont définies par « </a:t>
            </a:r>
            <a:r>
              <a:rPr lang="fr-FR" dirty="0">
                <a:solidFill>
                  <a:srgbClr val="009AD0"/>
                </a:solidFill>
                <a:ea typeface="MS Mincho" pitchFamily="49" charset="-128"/>
              </a:rPr>
              <a:t>Classname.prototype.methodName = function(){...}</a:t>
            </a:r>
            <a:r>
              <a:rPr lang="fr-FR" dirty="0">
                <a:ea typeface="MS Mincho" pitchFamily="49" charset="-128"/>
              </a:rPr>
              <a:t> » et appelées depuis l’extérieur de l’objet.</a:t>
            </a:r>
          </a:p>
          <a:p>
            <a:pPr lvl="1" eaLnBrk="1" hangingPunct="1">
              <a:defRPr/>
            </a:pPr>
            <a:r>
              <a:rPr lang="fr-FR" dirty="0">
                <a:ea typeface="MS Mincho" pitchFamily="49" charset="-128"/>
              </a:rPr>
              <a:t>les propriétés de prototype par : « </a:t>
            </a:r>
            <a:r>
              <a:rPr lang="fr-FR" dirty="0">
                <a:solidFill>
                  <a:srgbClr val="009AD0"/>
                </a:solidFill>
                <a:ea typeface="MS Mincho" pitchFamily="49" charset="-128"/>
              </a:rPr>
              <a:t>Classname.prototype.propName = value</a:t>
            </a:r>
            <a:r>
              <a:rPr lang="fr-FR" dirty="0">
                <a:ea typeface="MS Mincho" pitchFamily="49" charset="-128"/>
              </a:rPr>
              <a:t> »</a:t>
            </a:r>
          </a:p>
          <a:p>
            <a:pPr lvl="1" eaLnBrk="1" hangingPunct="1">
              <a:defRPr/>
            </a:pPr>
            <a:r>
              <a:rPr lang="fr-FR" dirty="0">
                <a:ea typeface="MS Mincho" pitchFamily="49" charset="-128"/>
              </a:rPr>
              <a:t>les propriétés statiques définies et utilisées par « </a:t>
            </a:r>
            <a:r>
              <a:rPr lang="fr-FR" dirty="0">
                <a:solidFill>
                  <a:srgbClr val="009AD0"/>
                </a:solidFill>
                <a:ea typeface="MS Mincho" pitchFamily="49" charset="-128"/>
              </a:rPr>
              <a:t>Classname.propName</a:t>
            </a:r>
            <a:r>
              <a:rPr lang="fr-FR" dirty="0">
                <a:ea typeface="MS Mincho" pitchFamily="49" charset="-128"/>
              </a:rPr>
              <a:t> »</a:t>
            </a:r>
          </a:p>
          <a:p>
            <a:pPr lvl="1" eaLnBrk="1" hangingPunct="1">
              <a:defRPr/>
            </a:pPr>
            <a:r>
              <a:rPr lang="fr-FR" b="1" dirty="0">
                <a:ea typeface="MS Mincho" pitchFamily="49" charset="-128"/>
              </a:rPr>
              <a:t>JavaScript ne supporte pas les variables et méthodes protégées !</a:t>
            </a:r>
          </a:p>
        </p:txBody>
      </p:sp>
      <p:sp>
        <p:nvSpPr>
          <p:cNvPr id="7" name="Footer Placeholder 12"/>
          <p:cNvSpPr>
            <a:spLocks noGrp="1"/>
          </p:cNvSpPr>
          <p:nvPr>
            <p:ph type="ftr" sz="quarter" idx="11"/>
          </p:nvPr>
        </p:nvSpPr>
        <p:spPr>
          <a:xfrm>
            <a:off x="457200" y="6400800"/>
            <a:ext cx="5638800" cy="365125"/>
          </a:xfrm>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xfrm>
            <a:off x="8153400" y="0"/>
            <a:ext cx="585788"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28F7B26D-550F-44B1-A937-0A7D0E7C0B9C}" type="slidenum">
              <a:rPr lang="en-JM" smtClean="0">
                <a:solidFill>
                  <a:schemeClr val="bg1"/>
                </a:solidFill>
              </a:rPr>
              <a:pPr fontAlgn="base">
                <a:spcBef>
                  <a:spcPct val="0"/>
                </a:spcBef>
                <a:spcAft>
                  <a:spcPct val="0"/>
                </a:spcAft>
                <a:defRPr/>
              </a:pPr>
              <a:t>65</a:t>
            </a:fld>
            <a:endParaRPr lang="en-JM" dirty="0">
              <a:solidFill>
                <a:schemeClr val="bg1"/>
              </a:solidFill>
            </a:endParaRPr>
          </a:p>
        </p:txBody>
      </p:sp>
    </p:spTree>
    <p:extLst>
      <p:ext uri="{BB962C8B-B14F-4D97-AF65-F5344CB8AC3E}">
        <p14:creationId xmlns:p14="http://schemas.microsoft.com/office/powerpoint/2010/main" val="24334375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hangingPunct="1">
              <a:defRPr/>
            </a:pPr>
            <a:r>
              <a:rPr lang="fr-FR" dirty="0"/>
              <a:t>Notions d'objet</a:t>
            </a:r>
          </a:p>
        </p:txBody>
      </p:sp>
      <p:sp>
        <p:nvSpPr>
          <p:cNvPr id="75779" name="Content Placeholder 2"/>
          <p:cNvSpPr>
            <a:spLocks noGrp="1"/>
          </p:cNvSpPr>
          <p:nvPr>
            <p:ph idx="1"/>
          </p:nvPr>
        </p:nvSpPr>
        <p:spPr/>
        <p:txBody>
          <a:bodyPr>
            <a:normAutofit fontScale="70000" lnSpcReduction="20000"/>
          </a:bodyPr>
          <a:lstStyle/>
          <a:p>
            <a:pPr marL="0" indent="0" eaLnBrk="1" hangingPunct="1">
              <a:buFont typeface="Arial" charset="0"/>
              <a:buNone/>
            </a:pPr>
            <a:r>
              <a:rPr lang="fr-FR" b="1" dirty="0"/>
              <a:t>Simuler l’héritage</a:t>
            </a:r>
          </a:p>
          <a:p>
            <a:pPr lvl="1" eaLnBrk="1" hangingPunct="1"/>
            <a:r>
              <a:rPr lang="fr-FR" dirty="0">
                <a:ea typeface="MS Mincho" pitchFamily="49" charset="-128"/>
              </a:rPr>
              <a:t>Une classe peut hériter par « </a:t>
            </a:r>
            <a:r>
              <a:rPr lang="fr-FR" dirty="0">
                <a:solidFill>
                  <a:srgbClr val="009AD0"/>
                </a:solidFill>
                <a:ea typeface="MS Mincho" pitchFamily="49" charset="-128"/>
              </a:rPr>
              <a:t>ChildClassName.prototype = new ParentClass(); </a:t>
            </a:r>
            <a:r>
              <a:rPr lang="fr-FR" dirty="0">
                <a:ea typeface="MS Mincho" pitchFamily="49" charset="-128"/>
              </a:rPr>
              <a:t>»</a:t>
            </a:r>
          </a:p>
          <a:p>
            <a:pPr lvl="1" eaLnBrk="1" hangingPunct="1"/>
            <a:r>
              <a:rPr lang="fr-FR" dirty="0">
                <a:ea typeface="MS Mincho" pitchFamily="49" charset="-128"/>
              </a:rPr>
              <a:t>Il faut penser à rétablir immédiatement le constructeur, par :</a:t>
            </a:r>
            <a:br>
              <a:rPr lang="fr-FR" dirty="0">
                <a:ea typeface="MS Mincho" pitchFamily="49" charset="-128"/>
              </a:rPr>
            </a:br>
            <a:r>
              <a:rPr lang="fr-FR" dirty="0">
                <a:ea typeface="MS Mincho" pitchFamily="49" charset="-128"/>
              </a:rPr>
              <a:t>« </a:t>
            </a:r>
            <a:r>
              <a:rPr lang="fr-FR" dirty="0">
                <a:solidFill>
                  <a:srgbClr val="009AD0"/>
                </a:solidFill>
                <a:ea typeface="MS Mincho" pitchFamily="49" charset="-128"/>
              </a:rPr>
              <a:t>ChildClassName.prototype.constructor = ChildClassName;</a:t>
            </a:r>
            <a:r>
              <a:rPr lang="fr-FR" dirty="0">
                <a:ea typeface="MS Mincho" pitchFamily="49" charset="-128"/>
              </a:rPr>
              <a:t> »</a:t>
            </a:r>
          </a:p>
          <a:p>
            <a:pPr lvl="1" eaLnBrk="1" hangingPunct="1"/>
            <a:r>
              <a:rPr lang="fr-FR" dirty="0">
                <a:ea typeface="MS Mincho" pitchFamily="49" charset="-128"/>
              </a:rPr>
              <a:t>On peut appeler les méthodes des ancêtres (pas leurs propriétés privées) que vous avez surchargées à l’aide de la méthode Function.call(), ex :</a:t>
            </a:r>
            <a:br>
              <a:rPr lang="fr-FR" dirty="0">
                <a:ea typeface="MS Mincho" pitchFamily="49" charset="-128"/>
              </a:rPr>
            </a:br>
            <a:r>
              <a:rPr lang="fr-FR" dirty="0">
                <a:ea typeface="MS Mincho" pitchFamily="49" charset="-128"/>
              </a:rPr>
              <a:t>« </a:t>
            </a:r>
            <a:r>
              <a:rPr lang="fr-FR" dirty="0">
                <a:solidFill>
                  <a:srgbClr val="009AD0"/>
                </a:solidFill>
                <a:ea typeface="MS Mincho" pitchFamily="49" charset="-128"/>
              </a:rPr>
              <a:t>Chat.prototype.dors = function(){ Mammifere.prototype.dors.call( this);…}</a:t>
            </a:r>
            <a:r>
              <a:rPr lang="fr-FR" dirty="0">
                <a:ea typeface="MS Mincho" pitchFamily="49" charset="-128"/>
              </a:rPr>
              <a:t> »</a:t>
            </a:r>
          </a:p>
          <a:p>
            <a:pPr lvl="1" eaLnBrk="1" hangingPunct="1"/>
            <a:r>
              <a:rPr lang="fr-FR" dirty="0">
                <a:ea typeface="MS Mincho" pitchFamily="49" charset="-128"/>
              </a:rPr>
              <a:t>Pour garder une trace du parent (afin de ne pas avoir à se souvenir de tous les parents / enfants) on peut créer une propriété privée « parent », ex :</a:t>
            </a:r>
            <a:br>
              <a:rPr lang="fr-FR" dirty="0">
                <a:ea typeface="MS Mincho" pitchFamily="49" charset="-128"/>
              </a:rPr>
            </a:br>
            <a:r>
              <a:rPr lang="fr-FR" dirty="0">
                <a:ea typeface="MS Mincho" pitchFamily="49" charset="-128"/>
              </a:rPr>
              <a:t>« </a:t>
            </a:r>
            <a:r>
              <a:rPr lang="fr-FR" dirty="0">
                <a:solidFill>
                  <a:srgbClr val="009AD0"/>
                </a:solidFill>
                <a:ea typeface="MS Mincho" pitchFamily="49" charset="-128"/>
              </a:rPr>
              <a:t>Chat.prototype.parent = Mammifere.prototype;… this.parent.dors.call(this); </a:t>
            </a:r>
            <a:r>
              <a:rPr lang="fr-FR" dirty="0">
                <a:ea typeface="MS Mincho" pitchFamily="49" charset="-128"/>
              </a:rPr>
              <a:t>»</a:t>
            </a:r>
          </a:p>
          <a:p>
            <a:pPr lvl="1" eaLnBrk="1" hangingPunct="1"/>
            <a:r>
              <a:rPr lang="fr-FR" dirty="0">
                <a:ea typeface="MS Mincho" pitchFamily="49" charset="-128"/>
              </a:rPr>
              <a:t>On peut simplifier la notation en créant une fonction par prototypage sur le type Function (ex: heriteDe) et en instanciant les objets comme des fonctions.</a:t>
            </a:r>
          </a:p>
        </p:txBody>
      </p:sp>
      <p:sp>
        <p:nvSpPr>
          <p:cNvPr id="7" name="Footer Placeholder 12"/>
          <p:cNvSpPr>
            <a:spLocks noGrp="1"/>
          </p:cNvSpPr>
          <p:nvPr>
            <p:ph type="ftr" sz="quarter" idx="11"/>
          </p:nvPr>
        </p:nvSpPr>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39F27A85-8CCC-4A14-963A-83AABCD9E1AF}" type="slidenum">
              <a:rPr lang="en-JM" smtClean="0">
                <a:solidFill>
                  <a:schemeClr val="bg1"/>
                </a:solidFill>
              </a:rPr>
              <a:pPr fontAlgn="base">
                <a:spcBef>
                  <a:spcPct val="0"/>
                </a:spcBef>
                <a:spcAft>
                  <a:spcPct val="0"/>
                </a:spcAft>
                <a:defRPr/>
              </a:pPr>
              <a:t>66</a:t>
            </a:fld>
            <a:endParaRPr lang="en-JM" dirty="0">
              <a:solidFill>
                <a:schemeClr val="bg1"/>
              </a:solidFill>
            </a:endParaRPr>
          </a:p>
        </p:txBody>
      </p:sp>
    </p:spTree>
    <p:extLst>
      <p:ext uri="{BB962C8B-B14F-4D97-AF65-F5344CB8AC3E}">
        <p14:creationId xmlns:p14="http://schemas.microsoft.com/office/powerpoint/2010/main" val="31833815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A63FD0-2639-5C49-9B81-C0A9B923FABF}"/>
              </a:ext>
            </a:extLst>
          </p:cNvPr>
          <p:cNvSpPr>
            <a:spLocks noGrp="1"/>
          </p:cNvSpPr>
          <p:nvPr>
            <p:ph type="title"/>
          </p:nvPr>
        </p:nvSpPr>
        <p:spPr/>
        <p:txBody>
          <a:bodyPr/>
          <a:lstStyle/>
          <a:p>
            <a:r>
              <a:rPr lang="fr-FR" dirty="0"/>
              <a:t>Class</a:t>
            </a:r>
          </a:p>
        </p:txBody>
      </p:sp>
      <p:sp>
        <p:nvSpPr>
          <p:cNvPr id="3" name="Espace réservé du contenu 2">
            <a:extLst>
              <a:ext uri="{FF2B5EF4-FFF2-40B4-BE49-F238E27FC236}">
                <a16:creationId xmlns:a16="http://schemas.microsoft.com/office/drawing/2014/main" id="{63790C26-92C9-9D83-1A38-0649090E8D77}"/>
              </a:ext>
            </a:extLst>
          </p:cNvPr>
          <p:cNvSpPr>
            <a:spLocks noGrp="1"/>
          </p:cNvSpPr>
          <p:nvPr>
            <p:ph idx="1"/>
          </p:nvPr>
        </p:nvSpPr>
        <p:spPr>
          <a:xfrm>
            <a:off x="285720" y="1142984"/>
            <a:ext cx="5222384" cy="5286412"/>
          </a:xfrm>
        </p:spPr>
        <p:txBody>
          <a:bodyPr>
            <a:normAutofit fontScale="92500" lnSpcReduction="10000"/>
          </a:bodyPr>
          <a:lstStyle/>
          <a:p>
            <a:r>
              <a:rPr lang="fr-FR" dirty="0"/>
              <a:t>Le mot clef </a:t>
            </a:r>
            <a:r>
              <a:rPr lang="fr-FR" b="1" i="1" dirty="0"/>
              <a:t>class</a:t>
            </a:r>
            <a:r>
              <a:rPr lang="fr-FR" dirty="0"/>
              <a:t> est vraiment mis en œuvre dès l’ ES6 en es5 une fonction peut devenir un objet des lors qu’il est instancié avec le mot clef new</a:t>
            </a:r>
          </a:p>
          <a:p>
            <a:endParaRPr lang="fr-FR" dirty="0"/>
          </a:p>
          <a:p>
            <a:r>
              <a:rPr lang="fr-FR" dirty="0"/>
              <a:t>Pour rendre un champ disponible publiquement, il doit être définit sur l’instance </a:t>
            </a:r>
            <a:r>
              <a:rPr lang="fr-FR" b="1" i="1" dirty="0"/>
              <a:t>this</a:t>
            </a:r>
            <a:r>
              <a:rPr lang="fr-FR" dirty="0"/>
              <a:t> dans la fonction, il sera accessible que préfixé du mot clef </a:t>
            </a:r>
            <a:r>
              <a:rPr lang="fr-FR" b="1" i="1" dirty="0"/>
              <a:t>this., </a:t>
            </a:r>
            <a:r>
              <a:rPr lang="fr-FR" dirty="0"/>
              <a:t>dans la fonction</a:t>
            </a:r>
          </a:p>
          <a:p>
            <a:endParaRPr lang="fr-FR" dirty="0"/>
          </a:p>
        </p:txBody>
      </p:sp>
      <p:sp>
        <p:nvSpPr>
          <p:cNvPr id="5" name="ZoneTexte 4">
            <a:extLst>
              <a:ext uri="{FF2B5EF4-FFF2-40B4-BE49-F238E27FC236}">
                <a16:creationId xmlns:a16="http://schemas.microsoft.com/office/drawing/2014/main" id="{A158BA27-5BCB-D4FC-7A3B-16740D7D63E1}"/>
              </a:ext>
            </a:extLst>
          </p:cNvPr>
          <p:cNvSpPr txBox="1"/>
          <p:nvPr/>
        </p:nvSpPr>
        <p:spPr>
          <a:xfrm>
            <a:off x="5652120" y="2118833"/>
            <a:ext cx="3384376" cy="3489619"/>
          </a:xfrm>
          <a:prstGeom prst="rect">
            <a:avLst/>
          </a:prstGeom>
        </p:spPr>
        <p:style>
          <a:lnRef idx="2">
            <a:schemeClr val="accent1"/>
          </a:lnRef>
          <a:fillRef idx="1">
            <a:schemeClr val="lt1"/>
          </a:fillRef>
          <a:effectRef idx="0">
            <a:schemeClr val="accent1"/>
          </a:effectRef>
          <a:fontRef idx="minor">
            <a:schemeClr val="dk1"/>
          </a:fontRef>
        </p:style>
        <p:txBody>
          <a:bodyPr wrap="square" lIns="216000" tIns="216000" rIns="216000" bIns="216000">
            <a:spAutoFit/>
          </a:bodyPr>
          <a:lstStyle/>
          <a:p>
            <a:pPr>
              <a:lnSpc>
                <a:spcPts val="1425"/>
              </a:lnSpc>
              <a:buNone/>
            </a:pPr>
            <a:r>
              <a:rPr lang="fr-FR" sz="1400" b="0" dirty="0">
                <a:solidFill>
                  <a:srgbClr val="FF7B72"/>
                </a:solidFill>
                <a:effectLst/>
                <a:latin typeface="Consolas" panose="020B0609020204030204" pitchFamily="49" charset="0"/>
              </a:rPr>
              <a:t>function</a:t>
            </a:r>
            <a:r>
              <a:rPr lang="fr-FR" sz="1400" b="0" dirty="0">
                <a:solidFill>
                  <a:srgbClr val="BBBEBF"/>
                </a:solidFill>
                <a:effectLst/>
                <a:latin typeface="Consolas" panose="020B0609020204030204" pitchFamily="49" charset="0"/>
              </a:rPr>
              <a:t> </a:t>
            </a:r>
            <a:r>
              <a:rPr lang="fr-FR" sz="1400" b="0" dirty="0">
                <a:solidFill>
                  <a:srgbClr val="4EC9B0"/>
                </a:solidFill>
                <a:effectLst/>
                <a:latin typeface="Consolas" panose="020B0609020204030204" pitchFamily="49" charset="0"/>
              </a:rPr>
              <a:t>ObjetByFunc</a:t>
            </a:r>
            <a:r>
              <a:rPr lang="fr-FR" sz="1400" b="0" dirty="0">
                <a:effectLst/>
                <a:latin typeface="Consolas" panose="020B0609020204030204" pitchFamily="49" charset="0"/>
              </a:rPr>
              <a:t>(</a:t>
            </a:r>
            <a:r>
              <a:rPr lang="fr-FR" sz="1400" b="0" dirty="0">
                <a:solidFill>
                  <a:srgbClr val="FFA657"/>
                </a:solidFill>
                <a:effectLst/>
                <a:latin typeface="Consolas" panose="020B0609020204030204" pitchFamily="49" charset="0"/>
              </a:rPr>
              <a:t>param</a:t>
            </a:r>
            <a:r>
              <a:rPr lang="fr-FR" sz="1400" b="0" dirty="0">
                <a:effectLst/>
                <a:latin typeface="Consolas" panose="020B0609020204030204" pitchFamily="49" charset="0"/>
              </a:rPr>
              <a:t>){</a:t>
            </a:r>
          </a:p>
          <a:p>
            <a:pPr>
              <a:lnSpc>
                <a:spcPts val="1425"/>
              </a:lnSpc>
              <a:buNone/>
            </a:pPr>
            <a:r>
              <a:rPr lang="fr-FR" sz="1400" b="0" dirty="0">
                <a:solidFill>
                  <a:srgbClr val="C9D1D9"/>
                </a:solidFill>
                <a:effectLst/>
                <a:latin typeface="Consolas" panose="020B0609020204030204" pitchFamily="49" charset="0"/>
              </a:rPr>
              <a:t>  </a:t>
            </a:r>
            <a:r>
              <a:rPr lang="fr-FR" sz="1400" b="1" dirty="0">
                <a:solidFill>
                  <a:srgbClr val="79C0FF"/>
                </a:solidFill>
                <a:effectLst/>
                <a:latin typeface="Consolas" panose="020B0609020204030204" pitchFamily="49" charset="0"/>
              </a:rPr>
              <a:t>this</a:t>
            </a:r>
            <a:r>
              <a:rPr lang="fr-FR" sz="1400" b="1" dirty="0">
                <a:effectLst/>
                <a:latin typeface="Consolas" panose="020B0609020204030204" pitchFamily="49" charset="0"/>
              </a:rPr>
              <a:t>.</a:t>
            </a:r>
            <a:r>
              <a:rPr lang="fr-FR" sz="1400" b="0" dirty="0">
                <a:effectLst/>
                <a:latin typeface="Consolas" panose="020B0609020204030204" pitchFamily="49" charset="0"/>
              </a:rPr>
              <a:t>value=2</a:t>
            </a:r>
          </a:p>
          <a:p>
            <a:pPr>
              <a:lnSpc>
                <a:spcPts val="1425"/>
              </a:lnSpc>
              <a:buNone/>
            </a:pPr>
            <a:r>
              <a:rPr lang="fr-FR" sz="1100" b="0" dirty="0">
                <a:solidFill>
                  <a:srgbClr val="C9D1D9"/>
                </a:solidFill>
                <a:effectLst/>
                <a:latin typeface="Consolas" panose="020B0609020204030204" pitchFamily="49" charset="0"/>
              </a:rPr>
              <a:t>  </a:t>
            </a:r>
            <a:r>
              <a:rPr lang="fr-FR" sz="1100" b="0" dirty="0">
                <a:solidFill>
                  <a:srgbClr val="8B949E"/>
                </a:solidFill>
                <a:effectLst/>
                <a:latin typeface="Consolas" panose="020B0609020204030204" pitchFamily="49" charset="0"/>
              </a:rPr>
              <a:t>//variable public</a:t>
            </a:r>
            <a:endParaRPr lang="fr-FR" sz="1100" b="0" dirty="0">
              <a:solidFill>
                <a:srgbClr val="BBBEBF"/>
              </a:solidFill>
              <a:effectLst/>
              <a:latin typeface="Consolas" panose="020B0609020204030204" pitchFamily="49" charset="0"/>
            </a:endParaRPr>
          </a:p>
          <a:p>
            <a:pPr>
              <a:lnSpc>
                <a:spcPts val="1425"/>
              </a:lnSpc>
              <a:buNone/>
            </a:pPr>
            <a:r>
              <a:rPr lang="fr-FR" sz="1400" b="0" dirty="0">
                <a:solidFill>
                  <a:srgbClr val="C9D1D9"/>
                </a:solidFill>
                <a:effectLst/>
                <a:latin typeface="Consolas" panose="020B0609020204030204" pitchFamily="49" charset="0"/>
              </a:rPr>
              <a:t>  </a:t>
            </a:r>
            <a:r>
              <a:rPr lang="fr-FR" sz="1400" b="0" dirty="0">
                <a:solidFill>
                  <a:srgbClr val="FF7B72"/>
                </a:solidFill>
                <a:effectLst/>
                <a:latin typeface="Consolas" panose="020B0609020204030204" pitchFamily="49" charset="0"/>
              </a:rPr>
              <a:t>var</a:t>
            </a:r>
            <a:r>
              <a:rPr lang="fr-FR" sz="1400" b="0" dirty="0">
                <a:solidFill>
                  <a:srgbClr val="C9D1D9"/>
                </a:solidFill>
                <a:effectLst/>
                <a:latin typeface="Consolas" panose="020B0609020204030204" pitchFamily="49" charset="0"/>
              </a:rPr>
              <a:t> </a:t>
            </a:r>
            <a:r>
              <a:rPr lang="fr-FR" sz="1400" b="0" dirty="0">
                <a:effectLst/>
                <a:latin typeface="Consolas" panose="020B0609020204030204" pitchFamily="49" charset="0"/>
              </a:rPr>
              <a:t>privateValue=2</a:t>
            </a:r>
          </a:p>
          <a:p>
            <a:pPr>
              <a:lnSpc>
                <a:spcPts val="1425"/>
              </a:lnSpc>
              <a:buNone/>
            </a:pPr>
            <a:r>
              <a:rPr lang="fr-FR" sz="1100" b="0" dirty="0">
                <a:solidFill>
                  <a:srgbClr val="C9D1D9"/>
                </a:solidFill>
                <a:effectLst/>
                <a:latin typeface="Consolas" panose="020B0609020204030204" pitchFamily="49" charset="0"/>
              </a:rPr>
              <a:t>  </a:t>
            </a:r>
            <a:r>
              <a:rPr lang="fr-FR" sz="1100" b="0" dirty="0">
                <a:solidFill>
                  <a:srgbClr val="8B949E"/>
                </a:solidFill>
                <a:effectLst/>
                <a:latin typeface="Consolas" panose="020B0609020204030204" pitchFamily="49" charset="0"/>
              </a:rPr>
              <a:t>//variable local</a:t>
            </a:r>
            <a:endParaRPr lang="fr-FR" sz="1100" b="0" dirty="0">
              <a:solidFill>
                <a:srgbClr val="BBBEBF"/>
              </a:solidFill>
              <a:effectLst/>
              <a:latin typeface="Consolas" panose="020B0609020204030204" pitchFamily="49" charset="0"/>
            </a:endParaRPr>
          </a:p>
          <a:p>
            <a:pPr>
              <a:lnSpc>
                <a:spcPts val="1425"/>
              </a:lnSpc>
              <a:buNone/>
            </a:pPr>
            <a:r>
              <a:rPr lang="fr-FR" sz="1400" b="0" dirty="0">
                <a:solidFill>
                  <a:srgbClr val="C9D1D9"/>
                </a:solidFill>
                <a:effectLst/>
                <a:latin typeface="Consolas" panose="020B0609020204030204" pitchFamily="49" charset="0"/>
              </a:rPr>
              <a:t>  </a:t>
            </a:r>
            <a:r>
              <a:rPr lang="fr-FR" sz="1400" b="0" dirty="0">
                <a:solidFill>
                  <a:srgbClr val="FF7B72"/>
                </a:solidFill>
                <a:effectLst/>
                <a:latin typeface="Consolas" panose="020B0609020204030204" pitchFamily="49" charset="0"/>
              </a:rPr>
              <a:t>function</a:t>
            </a:r>
            <a:r>
              <a:rPr lang="fr-FR" sz="1400" b="0" dirty="0">
                <a:solidFill>
                  <a:srgbClr val="C9D1D9"/>
                </a:solidFill>
                <a:effectLst/>
                <a:latin typeface="Consolas" panose="020B0609020204030204" pitchFamily="49" charset="0"/>
              </a:rPr>
              <a:t> </a:t>
            </a:r>
            <a:r>
              <a:rPr lang="fr-FR" sz="1400" b="0" dirty="0">
                <a:solidFill>
                  <a:srgbClr val="4EC9B0"/>
                </a:solidFill>
                <a:effectLst/>
                <a:latin typeface="Consolas" panose="020B0609020204030204" pitchFamily="49" charset="0"/>
              </a:rPr>
              <a:t>fn1</a:t>
            </a:r>
            <a:r>
              <a:rPr lang="fr-FR" sz="1400" b="0" dirty="0">
                <a:effectLst/>
                <a:latin typeface="Consolas" panose="020B0609020204030204" pitchFamily="49" charset="0"/>
              </a:rPr>
              <a:t>(){</a:t>
            </a:r>
          </a:p>
          <a:p>
            <a:pPr>
              <a:lnSpc>
                <a:spcPts val="1425"/>
              </a:lnSpc>
              <a:buNone/>
            </a:pPr>
            <a:r>
              <a:rPr lang="fr-FR" sz="1100" b="0" dirty="0">
                <a:solidFill>
                  <a:srgbClr val="C9D1D9"/>
                </a:solidFill>
                <a:effectLst/>
                <a:latin typeface="Consolas" panose="020B0609020204030204" pitchFamily="49" charset="0"/>
              </a:rPr>
              <a:t>    </a:t>
            </a:r>
            <a:r>
              <a:rPr lang="fr-FR" sz="1100" b="0" dirty="0">
                <a:solidFill>
                  <a:srgbClr val="8B949E"/>
                </a:solidFill>
                <a:effectLst/>
                <a:latin typeface="Consolas" panose="020B0609020204030204" pitchFamily="49" charset="0"/>
              </a:rPr>
              <a:t>//fonction locale</a:t>
            </a:r>
            <a:endParaRPr lang="fr-FR" sz="1100" b="0" dirty="0">
              <a:solidFill>
                <a:srgbClr val="BBBEBF"/>
              </a:solidFill>
              <a:effectLst/>
              <a:latin typeface="Consolas" panose="020B0609020204030204" pitchFamily="49" charset="0"/>
            </a:endParaRPr>
          </a:p>
          <a:p>
            <a:pPr>
              <a:lnSpc>
                <a:spcPts val="1425"/>
              </a:lnSpc>
              <a:buNone/>
            </a:pPr>
            <a:r>
              <a:rPr lang="fr-FR" sz="1400" b="0" dirty="0">
                <a:solidFill>
                  <a:srgbClr val="C9D1D9"/>
                </a:solidFill>
                <a:effectLst/>
                <a:latin typeface="Consolas" panose="020B0609020204030204" pitchFamily="49" charset="0"/>
              </a:rPr>
              <a:t>    </a:t>
            </a:r>
            <a:r>
              <a:rPr lang="fr-FR" sz="1400" b="0" dirty="0">
                <a:effectLst/>
                <a:latin typeface="Consolas" panose="020B0609020204030204" pitchFamily="49" charset="0"/>
              </a:rPr>
              <a:t>privateValue=</a:t>
            </a:r>
            <a:r>
              <a:rPr lang="fr-FR" sz="1400" b="0" dirty="0">
                <a:solidFill>
                  <a:srgbClr val="B5CEA8"/>
                </a:solidFill>
                <a:effectLst/>
                <a:latin typeface="Consolas" panose="020B0609020204030204" pitchFamily="49" charset="0"/>
              </a:rPr>
              <a:t>5</a:t>
            </a:r>
            <a:endParaRPr lang="fr-FR" sz="1400" b="0" dirty="0">
              <a:solidFill>
                <a:srgbClr val="BBBEBF"/>
              </a:solidFill>
              <a:effectLst/>
              <a:latin typeface="Consolas" panose="020B0609020204030204" pitchFamily="49" charset="0"/>
            </a:endParaRPr>
          </a:p>
          <a:p>
            <a:pPr>
              <a:lnSpc>
                <a:spcPts val="1425"/>
              </a:lnSpc>
              <a:buNone/>
            </a:pPr>
            <a:r>
              <a:rPr lang="fr-FR" sz="1400" b="1" dirty="0">
                <a:solidFill>
                  <a:srgbClr val="C9D1D9"/>
                </a:solidFill>
                <a:effectLst/>
                <a:latin typeface="Consolas" panose="020B0609020204030204" pitchFamily="49" charset="0"/>
              </a:rPr>
              <a:t>    </a:t>
            </a:r>
            <a:r>
              <a:rPr lang="fr-FR" sz="1400" b="1" dirty="0">
                <a:solidFill>
                  <a:srgbClr val="79C0FF"/>
                </a:solidFill>
                <a:effectLst/>
                <a:latin typeface="Consolas" panose="020B0609020204030204" pitchFamily="49" charset="0"/>
              </a:rPr>
              <a:t>this</a:t>
            </a:r>
            <a:r>
              <a:rPr lang="fr-FR" sz="1400" b="1" dirty="0">
                <a:effectLst/>
                <a:latin typeface="Consolas" panose="020B0609020204030204" pitchFamily="49" charset="0"/>
              </a:rPr>
              <a:t>.</a:t>
            </a:r>
            <a:r>
              <a:rPr lang="fr-FR" sz="1400" b="0" dirty="0">
                <a:effectLst/>
                <a:latin typeface="Consolas" panose="020B0609020204030204" pitchFamily="49" charset="0"/>
              </a:rPr>
              <a:t>value=</a:t>
            </a:r>
            <a:r>
              <a:rPr lang="fr-FR" sz="1400" b="0" dirty="0">
                <a:solidFill>
                  <a:srgbClr val="B5CEA8"/>
                </a:solidFill>
                <a:effectLst/>
                <a:latin typeface="Consolas" panose="020B0609020204030204" pitchFamily="49" charset="0"/>
              </a:rPr>
              <a:t>5</a:t>
            </a:r>
            <a:endParaRPr lang="fr-FR" sz="1400" b="0" dirty="0">
              <a:solidFill>
                <a:srgbClr val="BBBEBF"/>
              </a:solidFill>
              <a:effectLst/>
              <a:latin typeface="Consolas" panose="020B0609020204030204" pitchFamily="49" charset="0"/>
            </a:endParaRPr>
          </a:p>
          <a:p>
            <a:pPr>
              <a:lnSpc>
                <a:spcPts val="1425"/>
              </a:lnSpc>
              <a:buNone/>
            </a:pPr>
            <a:r>
              <a:rPr lang="fr-FR" sz="1400" b="0" dirty="0">
                <a:solidFill>
                  <a:srgbClr val="C9D1D9"/>
                </a:solidFill>
                <a:effectLst/>
                <a:latin typeface="Consolas" panose="020B0609020204030204" pitchFamily="49" charset="0"/>
              </a:rPr>
              <a:t> </a:t>
            </a:r>
            <a:r>
              <a:rPr lang="fr-FR" sz="1400" b="0" dirty="0">
                <a:effectLst/>
                <a:latin typeface="Consolas" panose="020B0609020204030204" pitchFamily="49" charset="0"/>
              </a:rPr>
              <a:t> }</a:t>
            </a:r>
          </a:p>
          <a:p>
            <a:pPr>
              <a:lnSpc>
                <a:spcPts val="1425"/>
              </a:lnSpc>
              <a:buNone/>
            </a:pPr>
            <a:r>
              <a:rPr lang="fr-FR" sz="1400" b="0" dirty="0">
                <a:solidFill>
                  <a:srgbClr val="C9D1D9"/>
                </a:solidFill>
                <a:effectLst/>
                <a:latin typeface="Consolas" panose="020B0609020204030204" pitchFamily="49" charset="0"/>
              </a:rPr>
              <a:t>  </a:t>
            </a:r>
            <a:r>
              <a:rPr lang="fr-FR" sz="1400" b="1" dirty="0">
                <a:solidFill>
                  <a:srgbClr val="79C0FF"/>
                </a:solidFill>
                <a:effectLst/>
                <a:latin typeface="Consolas" panose="020B0609020204030204" pitchFamily="49" charset="0"/>
              </a:rPr>
              <a:t>this</a:t>
            </a:r>
            <a:r>
              <a:rPr lang="fr-FR" sz="1400" b="1" dirty="0">
                <a:effectLst/>
                <a:latin typeface="Consolas" panose="020B0609020204030204" pitchFamily="49" charset="0"/>
              </a:rPr>
              <a:t>.</a:t>
            </a:r>
            <a:r>
              <a:rPr lang="fr-FR" sz="1400" b="0" dirty="0">
                <a:effectLst/>
                <a:latin typeface="Consolas" panose="020B0609020204030204" pitchFamily="49" charset="0"/>
              </a:rPr>
              <a:t>publicFn=</a:t>
            </a:r>
            <a:r>
              <a:rPr lang="fr-FR" sz="1400" b="0" dirty="0">
                <a:solidFill>
                  <a:srgbClr val="4EC9B0"/>
                </a:solidFill>
                <a:effectLst/>
                <a:latin typeface="Consolas" panose="020B0609020204030204" pitchFamily="49" charset="0"/>
              </a:rPr>
              <a:t>fn1</a:t>
            </a:r>
            <a:r>
              <a:rPr lang="fr-FR" sz="1400" b="0" dirty="0">
                <a:solidFill>
                  <a:srgbClr val="C9D1D9"/>
                </a:solidFill>
                <a:effectLst/>
                <a:latin typeface="Consolas" panose="020B0609020204030204" pitchFamily="49" charset="0"/>
              </a:rPr>
              <a:t>;</a:t>
            </a:r>
            <a:endParaRPr lang="fr-FR" sz="1400" b="0" dirty="0">
              <a:solidFill>
                <a:srgbClr val="BBBEBF"/>
              </a:solidFill>
              <a:effectLst/>
              <a:latin typeface="Consolas" panose="020B0609020204030204" pitchFamily="49" charset="0"/>
            </a:endParaRPr>
          </a:p>
          <a:p>
            <a:pPr>
              <a:lnSpc>
                <a:spcPts val="1425"/>
              </a:lnSpc>
              <a:buNone/>
            </a:pPr>
            <a:r>
              <a:rPr lang="fr-FR" sz="1400" b="0" dirty="0">
                <a:solidFill>
                  <a:srgbClr val="C9D1D9"/>
                </a:solidFill>
                <a:effectLst/>
                <a:latin typeface="Consolas" panose="020B0609020204030204" pitchFamily="49" charset="0"/>
              </a:rPr>
              <a:t>  </a:t>
            </a:r>
            <a:r>
              <a:rPr lang="fr-FR" sz="1100" b="0" dirty="0">
                <a:solidFill>
                  <a:srgbClr val="8B949E"/>
                </a:solidFill>
                <a:effectLst/>
                <a:latin typeface="Consolas" panose="020B0609020204030204" pitchFamily="49" charset="0"/>
              </a:rPr>
              <a:t>//exposition public d'une fonction</a:t>
            </a:r>
            <a:endParaRPr lang="fr-FR" sz="1400" b="0" dirty="0">
              <a:solidFill>
                <a:srgbClr val="BBBEBF"/>
              </a:solidFill>
              <a:effectLst/>
              <a:latin typeface="Consolas" panose="020B0609020204030204" pitchFamily="49" charset="0"/>
            </a:endParaRPr>
          </a:p>
          <a:p>
            <a:pPr>
              <a:lnSpc>
                <a:spcPts val="1425"/>
              </a:lnSpc>
              <a:buNone/>
            </a:pPr>
            <a:r>
              <a:rPr lang="fr-FR" sz="1400" b="0" dirty="0">
                <a:effectLst/>
                <a:latin typeface="Consolas" panose="020B0609020204030204" pitchFamily="49" charset="0"/>
              </a:rPr>
              <a:t>}</a:t>
            </a:r>
          </a:p>
          <a:p>
            <a:pPr>
              <a:lnSpc>
                <a:spcPts val="1425"/>
              </a:lnSpc>
            </a:pPr>
            <a:r>
              <a:rPr lang="fr-FR" sz="1100" b="0" dirty="0">
                <a:solidFill>
                  <a:srgbClr val="FF7B72"/>
                </a:solidFill>
                <a:effectLst/>
                <a:latin typeface="Consolas" panose="020B0609020204030204" pitchFamily="49" charset="0"/>
              </a:rPr>
              <a:t>var</a:t>
            </a:r>
            <a:r>
              <a:rPr lang="fr-FR" sz="1100" b="0" dirty="0">
                <a:solidFill>
                  <a:srgbClr val="BBBEBF"/>
                </a:solidFill>
                <a:effectLst/>
                <a:latin typeface="Consolas" panose="020B0609020204030204" pitchFamily="49" charset="0"/>
              </a:rPr>
              <a:t> </a:t>
            </a:r>
            <a:r>
              <a:rPr lang="fr-FR" sz="1100" b="0" dirty="0">
                <a:effectLst/>
                <a:latin typeface="Consolas" panose="020B0609020204030204" pitchFamily="49" charset="0"/>
              </a:rPr>
              <a:t>instance</a:t>
            </a:r>
            <a:r>
              <a:rPr lang="fr-FR" sz="1400" b="0" dirty="0">
                <a:effectLst/>
                <a:latin typeface="Consolas" panose="020B0609020204030204" pitchFamily="49" charset="0"/>
              </a:rPr>
              <a:t>=</a:t>
            </a:r>
            <a:r>
              <a:rPr lang="fr-FR" sz="1400" b="0" dirty="0">
                <a:solidFill>
                  <a:srgbClr val="569CD6"/>
                </a:solidFill>
                <a:effectLst/>
                <a:latin typeface="Consolas" panose="020B0609020204030204" pitchFamily="49" charset="0"/>
              </a:rPr>
              <a:t>new</a:t>
            </a:r>
            <a:r>
              <a:rPr lang="fr-FR" sz="1400" b="0" dirty="0">
                <a:solidFill>
                  <a:srgbClr val="BBBEBF"/>
                </a:solidFill>
                <a:effectLst/>
                <a:latin typeface="Consolas" panose="020B0609020204030204" pitchFamily="49" charset="0"/>
              </a:rPr>
              <a:t> </a:t>
            </a:r>
            <a:r>
              <a:rPr lang="fr-FR" sz="1400" b="0" dirty="0">
                <a:solidFill>
                  <a:srgbClr val="4EC9B0"/>
                </a:solidFill>
                <a:effectLst/>
                <a:latin typeface="Consolas" panose="020B0609020204030204" pitchFamily="49" charset="0"/>
              </a:rPr>
              <a:t>ObjetByFunc</a:t>
            </a:r>
            <a:r>
              <a:rPr lang="fr-FR" sz="1400" b="0" dirty="0">
                <a:effectLst/>
                <a:latin typeface="Consolas" panose="020B0609020204030204" pitchFamily="49" charset="0"/>
              </a:rPr>
              <a:t>(</a:t>
            </a:r>
            <a:r>
              <a:rPr lang="fr-FR" sz="1200" b="0" dirty="0">
                <a:solidFill>
                  <a:srgbClr val="A5D6FF"/>
                </a:solidFill>
                <a:effectLst/>
                <a:latin typeface="Consolas" panose="020B0609020204030204" pitchFamily="49" charset="0"/>
              </a:rPr>
              <a:t>'value’</a:t>
            </a:r>
            <a:r>
              <a:rPr lang="fr-FR" sz="1400" b="0" dirty="0">
                <a:effectLst/>
                <a:latin typeface="Consolas" panose="020B0609020204030204" pitchFamily="49" charset="0"/>
              </a:rPr>
              <a:t>)</a:t>
            </a:r>
            <a:r>
              <a:rPr lang="fr-FR" sz="1400" dirty="0">
                <a:solidFill>
                  <a:srgbClr val="C9D1D9"/>
                </a:solidFill>
                <a:latin typeface="Consolas" panose="020B0609020204030204" pitchFamily="49" charset="0"/>
              </a:rPr>
              <a:t>;</a:t>
            </a:r>
          </a:p>
          <a:p>
            <a:pPr>
              <a:lnSpc>
                <a:spcPts val="1425"/>
              </a:lnSpc>
            </a:pPr>
            <a:endParaRPr lang="fr-FR" sz="1400" b="0" dirty="0">
              <a:effectLst/>
              <a:latin typeface="Consolas" panose="020B0609020204030204" pitchFamily="49" charset="0"/>
            </a:endParaRPr>
          </a:p>
          <a:p>
            <a:pPr>
              <a:lnSpc>
                <a:spcPts val="1425"/>
              </a:lnSpc>
            </a:pPr>
            <a:r>
              <a:rPr lang="fr-FR" sz="1400" b="0" dirty="0">
                <a:effectLst/>
                <a:latin typeface="Consolas" panose="020B0609020204030204" pitchFamily="49" charset="0"/>
              </a:rPr>
              <a:t>instance.value=</a:t>
            </a:r>
            <a:r>
              <a:rPr lang="fr-FR" sz="1400" b="0" dirty="0">
                <a:solidFill>
                  <a:srgbClr val="B5CEA8"/>
                </a:solidFill>
                <a:effectLst/>
                <a:latin typeface="Consolas" panose="020B0609020204030204" pitchFamily="49" charset="0"/>
              </a:rPr>
              <a:t>5</a:t>
            </a:r>
            <a:r>
              <a:rPr lang="fr-FR" sz="1400" dirty="0">
                <a:solidFill>
                  <a:srgbClr val="C9D1D9"/>
                </a:solidFill>
                <a:latin typeface="Consolas" panose="020B0609020204030204" pitchFamily="49" charset="0"/>
              </a:rPr>
              <a:t>;</a:t>
            </a:r>
            <a:endParaRPr lang="fr-FR" sz="1400" dirty="0">
              <a:solidFill>
                <a:srgbClr val="BBBEBF"/>
              </a:solidFill>
              <a:latin typeface="Consolas" panose="020B0609020204030204" pitchFamily="49" charset="0"/>
            </a:endParaRPr>
          </a:p>
        </p:txBody>
      </p:sp>
    </p:spTree>
    <p:extLst>
      <p:ext uri="{BB962C8B-B14F-4D97-AF65-F5344CB8AC3E}">
        <p14:creationId xmlns:p14="http://schemas.microsoft.com/office/powerpoint/2010/main" val="38230231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hangingPunct="1">
              <a:defRPr/>
            </a:pPr>
            <a:r>
              <a:rPr lang="fr-FR" dirty="0"/>
              <a:t>Principaux objets</a:t>
            </a:r>
          </a:p>
        </p:txBody>
      </p:sp>
      <p:sp>
        <p:nvSpPr>
          <p:cNvPr id="3" name="Content Placeholder 2"/>
          <p:cNvSpPr>
            <a:spLocks noGrp="1"/>
          </p:cNvSpPr>
          <p:nvPr>
            <p:ph idx="1"/>
          </p:nvPr>
        </p:nvSpPr>
        <p:spPr/>
        <p:txBody>
          <a:bodyPr rtlCol="0">
            <a:noAutofit/>
          </a:bodyPr>
          <a:lstStyle/>
          <a:p>
            <a:pPr marL="0" indent="0">
              <a:buNone/>
              <a:defRPr/>
            </a:pPr>
            <a:r>
              <a:rPr lang="fr-FR" sz="2400" b="1" dirty="0"/>
              <a:t>Fonctions/Classes globales (native ou built-in)</a:t>
            </a:r>
          </a:p>
          <a:p>
            <a:pPr>
              <a:buNone/>
              <a:defRPr/>
            </a:pPr>
            <a:r>
              <a:rPr lang="fr-FR" sz="2400" dirty="0">
                <a:ea typeface="MS Mincho" pitchFamily="49" charset="-128"/>
              </a:rPr>
              <a:t>   - built-in = intégrées nativement (ex: </a:t>
            </a:r>
            <a:r>
              <a:rPr lang="fr-FR" sz="2400" dirty="0">
                <a:solidFill>
                  <a:srgbClr val="009AD0"/>
                </a:solidFill>
                <a:ea typeface="MS Mincho" pitchFamily="49" charset="-128"/>
              </a:rPr>
              <a:t>Boolean, Number, String, undefined</a:t>
            </a:r>
            <a:r>
              <a:rPr lang="fr-FR" sz="2400" dirty="0">
                <a:ea typeface="MS Mincho" pitchFamily="49" charset="-128"/>
              </a:rPr>
              <a:t>…). Accessibles partout et sans propriétaire.</a:t>
            </a:r>
          </a:p>
          <a:p>
            <a:pPr marL="0" indent="0">
              <a:buNone/>
              <a:defRPr/>
            </a:pPr>
            <a:endParaRPr lang="fr-FR" sz="2400" b="1" dirty="0"/>
          </a:p>
          <a:p>
            <a:pPr marL="0" indent="0">
              <a:buNone/>
              <a:defRPr/>
            </a:pPr>
            <a:r>
              <a:rPr lang="fr-FR" sz="2400" b="1" dirty="0"/>
              <a:t>Les chaînes de caractères (String)</a:t>
            </a:r>
          </a:p>
          <a:p>
            <a:pPr>
              <a:buNone/>
              <a:defRPr/>
            </a:pPr>
            <a:r>
              <a:rPr lang="fr-FR" sz="2400" dirty="0">
                <a:ea typeface="MS Mincho" pitchFamily="49" charset="-128"/>
              </a:rPr>
              <a:t>Quelques propriétés et méthodes des chaînes de caractères:</a:t>
            </a:r>
          </a:p>
          <a:p>
            <a:pPr>
              <a:buNone/>
              <a:defRPr/>
            </a:pPr>
            <a:r>
              <a:rPr lang="fr-FR" sz="2400" dirty="0">
                <a:ea typeface="MS Mincho" pitchFamily="49" charset="-128"/>
              </a:rPr>
              <a:t>   - </a:t>
            </a:r>
            <a:r>
              <a:rPr lang="fr-FR" sz="2400" b="1" dirty="0">
                <a:solidFill>
                  <a:srgbClr val="009AD0"/>
                </a:solidFill>
                <a:ea typeface="MS Mincho" pitchFamily="49" charset="-128"/>
              </a:rPr>
              <a:t>String() </a:t>
            </a:r>
            <a:r>
              <a:rPr lang="fr-FR" sz="2400" dirty="0">
                <a:ea typeface="MS Mincho" pitchFamily="49" charset="-128"/>
              </a:rPr>
              <a:t>son constructeur, </a:t>
            </a:r>
            <a:r>
              <a:rPr lang="fr-FR" sz="2400" u="sng" dirty="0">
                <a:ea typeface="MS Mincho" pitchFamily="49" charset="-128"/>
              </a:rPr>
              <a:t>ex:</a:t>
            </a:r>
            <a:r>
              <a:rPr lang="fr-FR" sz="2400" dirty="0">
                <a:ea typeface="MS Mincho" pitchFamily="49" charset="-128"/>
              </a:rPr>
              <a:t> «</a:t>
            </a:r>
            <a:r>
              <a:rPr lang="fr-FR" sz="2400" dirty="0">
                <a:solidFill>
                  <a:srgbClr val="009AD0"/>
                </a:solidFill>
                <a:ea typeface="MS Mincho" pitchFamily="49" charset="-128"/>
              </a:rPr>
              <a:t> var strTxt = new String();</a:t>
            </a:r>
            <a:r>
              <a:rPr lang="fr-FR" sz="2400" dirty="0">
                <a:ea typeface="MS Mincho" pitchFamily="49" charset="-128"/>
              </a:rPr>
              <a:t> »</a:t>
            </a:r>
          </a:p>
          <a:p>
            <a:pPr>
              <a:buNone/>
              <a:defRPr/>
            </a:pPr>
            <a:r>
              <a:rPr lang="fr-FR" sz="2400" dirty="0">
                <a:ea typeface="MS Mincho" pitchFamily="49" charset="-128"/>
              </a:rPr>
              <a:t>   - </a:t>
            </a:r>
            <a:r>
              <a:rPr lang="fr-FR" sz="2400" b="1" dirty="0">
                <a:solidFill>
                  <a:srgbClr val="009AD0"/>
                </a:solidFill>
                <a:ea typeface="MS Mincho" pitchFamily="49" charset="-128"/>
              </a:rPr>
              <a:t>indexOf</a:t>
            </a:r>
            <a:r>
              <a:rPr lang="fr-FR" sz="2400" dirty="0">
                <a:ea typeface="MS Mincho" pitchFamily="49" charset="-128"/>
              </a:rPr>
              <a:t> position d’une sous-chaîne </a:t>
            </a:r>
            <a:r>
              <a:rPr lang="fr-FR" sz="2400" u="sng" dirty="0">
                <a:ea typeface="MS Mincho" pitchFamily="49" charset="-128"/>
              </a:rPr>
              <a:t>ex:</a:t>
            </a:r>
            <a:r>
              <a:rPr lang="fr-FR" sz="2400" dirty="0">
                <a:ea typeface="MS Mincho" pitchFamily="49" charset="-128"/>
              </a:rPr>
              <a:t> « </a:t>
            </a:r>
            <a:r>
              <a:rPr lang="fr-FR" sz="2400" dirty="0">
                <a:solidFill>
                  <a:srgbClr val="009AD0"/>
                </a:solidFill>
                <a:ea typeface="MS Mincho" pitchFamily="49" charset="-128"/>
              </a:rPr>
              <a:t>strTxt.indexOf('?');</a:t>
            </a:r>
            <a:r>
              <a:rPr lang="fr-FR" sz="2400" dirty="0">
                <a:ea typeface="MS Mincho" pitchFamily="49" charset="-128"/>
              </a:rPr>
              <a:t> »</a:t>
            </a:r>
          </a:p>
          <a:p>
            <a:pPr>
              <a:buNone/>
              <a:defRPr/>
            </a:pPr>
            <a:r>
              <a:rPr lang="fr-FR" sz="2400" dirty="0">
                <a:ea typeface="MS Mincho" pitchFamily="49" charset="-128"/>
              </a:rPr>
              <a:t>   - </a:t>
            </a:r>
            <a:r>
              <a:rPr lang="fr-FR" sz="2400" b="1" dirty="0">
                <a:solidFill>
                  <a:srgbClr val="009AD0"/>
                </a:solidFill>
                <a:ea typeface="MS Mincho" pitchFamily="49" charset="-128"/>
              </a:rPr>
              <a:t>charAt()</a:t>
            </a:r>
            <a:r>
              <a:rPr lang="fr-FR" sz="2400" dirty="0">
                <a:ea typeface="MS Mincho" pitchFamily="49" charset="-128"/>
              </a:rPr>
              <a:t> le caractère situé à une position (index) </a:t>
            </a:r>
            <a:r>
              <a:rPr lang="fr-FR" sz="2400" u="sng" dirty="0">
                <a:ea typeface="MS Mincho" pitchFamily="49" charset="-128"/>
              </a:rPr>
              <a:t>ex:</a:t>
            </a:r>
            <a:r>
              <a:rPr lang="fr-FR" sz="2400" dirty="0">
                <a:ea typeface="MS Mincho" pitchFamily="49" charset="-128"/>
              </a:rPr>
              <a:t> « </a:t>
            </a:r>
            <a:r>
              <a:rPr lang="fr-FR" sz="2400" dirty="0">
                <a:solidFill>
                  <a:srgbClr val="009AD0"/>
                </a:solidFill>
                <a:ea typeface="MS Mincho" pitchFamily="49" charset="-128"/>
              </a:rPr>
              <a:t>strTxt.charAt(3);</a:t>
            </a:r>
            <a:r>
              <a:rPr lang="fr-FR" sz="2400" dirty="0">
                <a:ea typeface="MS Mincho" pitchFamily="49" charset="-128"/>
              </a:rPr>
              <a:t> »</a:t>
            </a:r>
          </a:p>
          <a:p>
            <a:pPr>
              <a:buNone/>
              <a:defRPr/>
            </a:pPr>
            <a:r>
              <a:rPr lang="fr-FR" sz="2400" dirty="0">
                <a:ea typeface="MS Mincho" pitchFamily="49" charset="-128"/>
              </a:rPr>
              <a:t>   - </a:t>
            </a:r>
            <a:r>
              <a:rPr lang="fr-FR" sz="2400" b="1" dirty="0">
                <a:solidFill>
                  <a:srgbClr val="009AD0"/>
                </a:solidFill>
                <a:ea typeface="MS Mincho" pitchFamily="49" charset="-128"/>
              </a:rPr>
              <a:t>length</a:t>
            </a:r>
            <a:r>
              <a:rPr lang="fr-FR" sz="2400" dirty="0">
                <a:ea typeface="MS Mincho" pitchFamily="49" charset="-128"/>
              </a:rPr>
              <a:t> propriété indiquant la longueur de la chaîne</a:t>
            </a:r>
          </a:p>
        </p:txBody>
      </p:sp>
      <p:sp>
        <p:nvSpPr>
          <p:cNvPr id="7" name="Footer Placeholder 12"/>
          <p:cNvSpPr>
            <a:spLocks noGrp="1"/>
          </p:cNvSpPr>
          <p:nvPr>
            <p:ph type="ftr" sz="quarter" idx="11"/>
          </p:nvPr>
        </p:nvSpPr>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BE21855F-E9D9-4A4D-B5EC-F7F33A571A70}" type="slidenum">
              <a:rPr lang="en-JM" smtClean="0">
                <a:solidFill>
                  <a:schemeClr val="bg1"/>
                </a:solidFill>
              </a:rPr>
              <a:pPr fontAlgn="base">
                <a:spcBef>
                  <a:spcPct val="0"/>
                </a:spcBef>
                <a:spcAft>
                  <a:spcPct val="0"/>
                </a:spcAft>
                <a:defRPr/>
              </a:pPr>
              <a:t>68</a:t>
            </a:fld>
            <a:endParaRPr lang="en-JM" dirty="0">
              <a:solidFill>
                <a:schemeClr val="bg1"/>
              </a:solidFill>
            </a:endParaRPr>
          </a:p>
        </p:txBody>
      </p:sp>
    </p:spTree>
    <p:extLst>
      <p:ext uri="{BB962C8B-B14F-4D97-AF65-F5344CB8AC3E}">
        <p14:creationId xmlns:p14="http://schemas.microsoft.com/office/powerpoint/2010/main" val="5191601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hangingPunct="1">
              <a:defRPr/>
            </a:pPr>
            <a:r>
              <a:rPr lang="fr-FR" dirty="0"/>
              <a:t>Principaux objets</a:t>
            </a:r>
          </a:p>
        </p:txBody>
      </p:sp>
      <p:sp>
        <p:nvSpPr>
          <p:cNvPr id="3" name="Content Placeholder 2"/>
          <p:cNvSpPr>
            <a:spLocks noGrp="1"/>
          </p:cNvSpPr>
          <p:nvPr>
            <p:ph idx="1"/>
          </p:nvPr>
        </p:nvSpPr>
        <p:spPr/>
        <p:txBody>
          <a:bodyPr rtlCol="0">
            <a:noAutofit/>
          </a:bodyPr>
          <a:lstStyle/>
          <a:p>
            <a:pPr marL="0" indent="0" eaLnBrk="1" hangingPunct="1">
              <a:buFont typeface="Arial" charset="0"/>
              <a:buNone/>
              <a:defRPr/>
            </a:pPr>
            <a:r>
              <a:rPr lang="fr-FR" sz="2000" b="1" dirty="0"/>
              <a:t>La classe statique Math</a:t>
            </a:r>
          </a:p>
          <a:p>
            <a:pPr eaLnBrk="1" hangingPunct="1">
              <a:buFont typeface="Wingdings" pitchFamily="2" charset="2"/>
              <a:buNone/>
              <a:defRPr/>
            </a:pPr>
            <a:r>
              <a:rPr lang="fr-FR" sz="2000" dirty="0">
                <a:ea typeface="MS Mincho" pitchFamily="49" charset="-128"/>
              </a:rPr>
              <a:t>La classe Math est particulière et utile pour des calculs, ex:</a:t>
            </a:r>
          </a:p>
          <a:p>
            <a:pPr eaLnBrk="1" hangingPunct="1">
              <a:buFont typeface="Wingdings" pitchFamily="2" charset="2"/>
              <a:buNone/>
              <a:defRPr/>
            </a:pPr>
            <a:r>
              <a:rPr lang="fr-FR" sz="2000" dirty="0">
                <a:ea typeface="MS Mincho" pitchFamily="49" charset="-128"/>
              </a:rPr>
              <a:t>   - </a:t>
            </a:r>
            <a:r>
              <a:rPr lang="fr-FR" sz="2000" b="1" dirty="0">
                <a:solidFill>
                  <a:srgbClr val="009AD0"/>
                </a:solidFill>
                <a:ea typeface="MS Mincho" pitchFamily="49" charset="-128"/>
              </a:rPr>
              <a:t>Math.floor(</a:t>
            </a:r>
            <a:r>
              <a:rPr lang="fr-FR" sz="2000" b="1" u="sng" dirty="0">
                <a:solidFill>
                  <a:srgbClr val="009AD0"/>
                </a:solidFill>
                <a:ea typeface="MS Mincho" pitchFamily="49" charset="-128"/>
              </a:rPr>
              <a:t>valeur</a:t>
            </a:r>
            <a:r>
              <a:rPr lang="fr-FR" sz="2000" b="1" dirty="0">
                <a:solidFill>
                  <a:srgbClr val="009AD0"/>
                </a:solidFill>
                <a:ea typeface="MS Mincho" pitchFamily="49" charset="-128"/>
              </a:rPr>
              <a:t>) </a:t>
            </a:r>
            <a:r>
              <a:rPr lang="fr-FR" sz="2000" dirty="0">
                <a:ea typeface="MS Mincho" pitchFamily="49" charset="-128"/>
              </a:rPr>
              <a:t>renvoie l’entier inférieur (pas la partie entière !)</a:t>
            </a:r>
          </a:p>
          <a:p>
            <a:pPr eaLnBrk="1" hangingPunct="1">
              <a:buFont typeface="Wingdings" pitchFamily="2" charset="2"/>
              <a:buNone/>
              <a:defRPr/>
            </a:pPr>
            <a:r>
              <a:rPr lang="fr-FR" sz="2000" dirty="0">
                <a:ea typeface="MS Mincho" pitchFamily="49" charset="-128"/>
              </a:rPr>
              <a:t>   - </a:t>
            </a:r>
            <a:r>
              <a:rPr lang="fr-FR" sz="2000" b="1" dirty="0">
                <a:solidFill>
                  <a:srgbClr val="009AD0"/>
                </a:solidFill>
                <a:ea typeface="MS Mincho" pitchFamily="49" charset="-128"/>
              </a:rPr>
              <a:t>Math.random() </a:t>
            </a:r>
            <a:r>
              <a:rPr lang="fr-FR" sz="2000" dirty="0">
                <a:ea typeface="MS Mincho" pitchFamily="49" charset="-128"/>
              </a:rPr>
              <a:t>renvoie un chiffre à virgule aléatoire entre 0 et 1</a:t>
            </a:r>
          </a:p>
          <a:p>
            <a:pPr eaLnBrk="1" hangingPunct="1">
              <a:buFont typeface="Wingdings" pitchFamily="2" charset="2"/>
              <a:buNone/>
              <a:defRPr/>
            </a:pPr>
            <a:endParaRPr lang="fr-FR" sz="2000" dirty="0">
              <a:ea typeface="MS Mincho" pitchFamily="49" charset="-128"/>
            </a:endParaRPr>
          </a:p>
          <a:p>
            <a:pPr marL="0" indent="0" eaLnBrk="1" hangingPunct="1">
              <a:buFont typeface="Arial" charset="0"/>
              <a:buNone/>
              <a:defRPr/>
            </a:pPr>
            <a:r>
              <a:rPr lang="fr-FR" sz="2000" b="1" dirty="0"/>
              <a:t>Gestion du temps (Date)</a:t>
            </a:r>
          </a:p>
          <a:p>
            <a:pPr eaLnBrk="1" hangingPunct="1">
              <a:buFont typeface="Wingdings" pitchFamily="2" charset="2"/>
              <a:buNone/>
              <a:defRPr/>
            </a:pPr>
            <a:r>
              <a:rPr lang="fr-FR" sz="2000" dirty="0">
                <a:ea typeface="MS Mincho" pitchFamily="49" charset="-128"/>
              </a:rPr>
              <a:t>Quelques informations, propriétés et méthodes pour bien gérer les dates:</a:t>
            </a:r>
          </a:p>
          <a:p>
            <a:pPr eaLnBrk="1" hangingPunct="1">
              <a:buFont typeface="Wingdings" pitchFamily="2" charset="2"/>
              <a:buNone/>
              <a:defRPr/>
            </a:pPr>
            <a:r>
              <a:rPr lang="fr-FR" sz="2000" dirty="0">
                <a:ea typeface="MS Mincho" pitchFamily="49" charset="-128"/>
              </a:rPr>
              <a:t>   - Rappels sur les dates (GMT, US vs FR, Julian, DateStamp…)</a:t>
            </a:r>
          </a:p>
          <a:p>
            <a:pPr eaLnBrk="1" hangingPunct="1">
              <a:buFont typeface="Wingdings" pitchFamily="2" charset="2"/>
              <a:buNone/>
              <a:defRPr/>
            </a:pPr>
            <a:r>
              <a:rPr lang="fr-FR" sz="2000" dirty="0">
                <a:ea typeface="MS Mincho" pitchFamily="49" charset="-128"/>
              </a:rPr>
              <a:t>   - </a:t>
            </a:r>
            <a:r>
              <a:rPr lang="fr-FR" sz="2000" b="1" dirty="0">
                <a:solidFill>
                  <a:srgbClr val="009AD0"/>
                </a:solidFill>
                <a:ea typeface="MS Mincho" pitchFamily="49" charset="-128"/>
              </a:rPr>
              <a:t>Date() </a:t>
            </a:r>
            <a:r>
              <a:rPr lang="fr-FR" sz="2000" dirty="0">
                <a:ea typeface="MS Mincho" pitchFamily="49" charset="-128"/>
              </a:rPr>
              <a:t>constructeur, </a:t>
            </a:r>
            <a:r>
              <a:rPr lang="fr-FR" sz="2000" u="sng" dirty="0">
                <a:ea typeface="MS Mincho" pitchFamily="49" charset="-128"/>
              </a:rPr>
              <a:t>ex:</a:t>
            </a:r>
            <a:r>
              <a:rPr lang="fr-FR" sz="2000" dirty="0">
                <a:ea typeface="MS Mincho" pitchFamily="49" charset="-128"/>
              </a:rPr>
              <a:t> « </a:t>
            </a:r>
            <a:r>
              <a:rPr lang="fr-FR" sz="2000" dirty="0">
                <a:solidFill>
                  <a:srgbClr val="009AD0"/>
                </a:solidFill>
                <a:ea typeface="MS Mincho" pitchFamily="49" charset="-128"/>
              </a:rPr>
              <a:t>datTmp = new Date(); </a:t>
            </a:r>
            <a:r>
              <a:rPr lang="fr-FR" sz="2000" dirty="0">
                <a:ea typeface="MS Mincho" pitchFamily="49" charset="-128"/>
              </a:rPr>
              <a:t>» (date affectée ici)</a:t>
            </a:r>
          </a:p>
          <a:p>
            <a:pPr eaLnBrk="1" hangingPunct="1">
              <a:buFont typeface="Wingdings" pitchFamily="2" charset="2"/>
              <a:buNone/>
              <a:defRPr/>
            </a:pPr>
            <a:r>
              <a:rPr lang="fr-FR" sz="2000" dirty="0">
                <a:ea typeface="MS Mincho" pitchFamily="49" charset="-128"/>
              </a:rPr>
              <a:t>   - les méthodes </a:t>
            </a:r>
            <a:r>
              <a:rPr lang="fr-FR" sz="2000" dirty="0">
                <a:solidFill>
                  <a:srgbClr val="009AD0"/>
                </a:solidFill>
                <a:ea typeface="MS Mincho" pitchFamily="49" charset="-128"/>
              </a:rPr>
              <a:t>set/getTime(</a:t>
            </a:r>
            <a:r>
              <a:rPr lang="fr-FR" sz="2000" u="sng" dirty="0">
                <a:solidFill>
                  <a:srgbClr val="009AD0"/>
                </a:solidFill>
                <a:ea typeface="MS Mincho" pitchFamily="49" charset="-128"/>
              </a:rPr>
              <a:t>tps en sec</a:t>
            </a:r>
            <a:r>
              <a:rPr lang="fr-FR" sz="2000" dirty="0">
                <a:solidFill>
                  <a:srgbClr val="009AD0"/>
                </a:solidFill>
                <a:ea typeface="MS Mincho" pitchFamily="49" charset="-128"/>
              </a:rPr>
              <a:t>) </a:t>
            </a:r>
            <a:r>
              <a:rPr lang="fr-FR" sz="2000" dirty="0">
                <a:ea typeface="MS Mincho" pitchFamily="49" charset="-128"/>
              </a:rPr>
              <a:t>permettent de lire et de fixer l’heure</a:t>
            </a:r>
          </a:p>
          <a:p>
            <a:pPr eaLnBrk="1" hangingPunct="1">
              <a:buFont typeface="Wingdings" pitchFamily="2" charset="2"/>
              <a:buNone/>
              <a:defRPr/>
            </a:pPr>
            <a:r>
              <a:rPr lang="fr-FR" sz="2000" dirty="0">
                <a:ea typeface="MS Mincho" pitchFamily="49" charset="-128"/>
              </a:rPr>
              <a:t>   - la méthode </a:t>
            </a:r>
            <a:r>
              <a:rPr lang="fr-FR" sz="2000" dirty="0">
                <a:solidFill>
                  <a:srgbClr val="009AD0"/>
                </a:solidFill>
                <a:ea typeface="MS Mincho" pitchFamily="49" charset="-128"/>
              </a:rPr>
              <a:t>toGMTString() c</a:t>
            </a:r>
            <a:r>
              <a:rPr lang="fr-FR" sz="2000" dirty="0">
                <a:ea typeface="MS Mincho" pitchFamily="49" charset="-128"/>
              </a:rPr>
              <a:t>onvertit une heure en heure GMT (décalage)</a:t>
            </a:r>
          </a:p>
        </p:txBody>
      </p:sp>
      <p:sp>
        <p:nvSpPr>
          <p:cNvPr id="7" name="Footer Placeholder 12"/>
          <p:cNvSpPr>
            <a:spLocks noGrp="1"/>
          </p:cNvSpPr>
          <p:nvPr>
            <p:ph type="ftr" sz="quarter" idx="11"/>
          </p:nvPr>
        </p:nvSpPr>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BF996E7E-FB7D-4173-ABC5-EBBD43374A26}" type="slidenum">
              <a:rPr lang="en-JM" smtClean="0">
                <a:solidFill>
                  <a:schemeClr val="bg1"/>
                </a:solidFill>
              </a:rPr>
              <a:pPr fontAlgn="base">
                <a:spcBef>
                  <a:spcPct val="0"/>
                </a:spcBef>
                <a:spcAft>
                  <a:spcPct val="0"/>
                </a:spcAft>
                <a:defRPr/>
              </a:pPr>
              <a:t>69</a:t>
            </a:fld>
            <a:endParaRPr lang="en-JM" dirty="0">
              <a:solidFill>
                <a:schemeClr val="bg1"/>
              </a:solidFill>
            </a:endParaRPr>
          </a:p>
        </p:txBody>
      </p:sp>
    </p:spTree>
    <p:extLst>
      <p:ext uri="{BB962C8B-B14F-4D97-AF65-F5344CB8AC3E}">
        <p14:creationId xmlns:p14="http://schemas.microsoft.com/office/powerpoint/2010/main" val="375770802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hangingPunct="1">
              <a:defRPr/>
            </a:pPr>
            <a:r>
              <a:rPr lang="fr-FR" dirty="0"/>
              <a:t>Principaux objets</a:t>
            </a:r>
          </a:p>
        </p:txBody>
      </p:sp>
      <p:sp>
        <p:nvSpPr>
          <p:cNvPr id="3" name="Content Placeholder 2"/>
          <p:cNvSpPr>
            <a:spLocks noGrp="1"/>
          </p:cNvSpPr>
          <p:nvPr>
            <p:ph idx="1"/>
          </p:nvPr>
        </p:nvSpPr>
        <p:spPr>
          <a:xfrm>
            <a:off x="457200" y="1493838"/>
            <a:ext cx="8229600" cy="4864120"/>
          </a:xfrm>
        </p:spPr>
        <p:txBody>
          <a:bodyPr rtlCol="0">
            <a:noAutofit/>
          </a:bodyPr>
          <a:lstStyle/>
          <a:p>
            <a:pPr marL="0" indent="0" eaLnBrk="1" hangingPunct="1">
              <a:buFont typeface="Arial" charset="0"/>
              <a:buNone/>
              <a:defRPr/>
            </a:pPr>
            <a:r>
              <a:rPr lang="fr-FR" sz="1800" b="1" dirty="0"/>
              <a:t>screen,window, navigator</a:t>
            </a:r>
          </a:p>
          <a:p>
            <a:pPr eaLnBrk="1" hangingPunct="1">
              <a:buFont typeface="Wingdings" pitchFamily="2" charset="2"/>
              <a:buNone/>
              <a:defRPr/>
            </a:pPr>
            <a:endParaRPr lang="fr-FR" sz="1800" dirty="0">
              <a:ea typeface="MS Mincho" pitchFamily="49" charset="-128"/>
            </a:endParaRPr>
          </a:p>
          <a:p>
            <a:pPr eaLnBrk="1" hangingPunct="1">
              <a:buFont typeface="Wingdings" pitchFamily="2" charset="2"/>
              <a:buNone/>
              <a:defRPr/>
            </a:pPr>
            <a:r>
              <a:rPr lang="fr-FR" sz="1800" dirty="0">
                <a:ea typeface="MS Mincho" pitchFamily="49" charset="-128"/>
              </a:rPr>
              <a:t>   - </a:t>
            </a:r>
            <a:r>
              <a:rPr lang="fr-FR" sz="1800" b="1" dirty="0">
                <a:solidFill>
                  <a:srgbClr val="009AD0"/>
                </a:solidFill>
                <a:ea typeface="MS Mincho" pitchFamily="49" charset="-128"/>
              </a:rPr>
              <a:t>screen</a:t>
            </a:r>
            <a:r>
              <a:rPr lang="fr-FR" sz="1800" dirty="0">
                <a:solidFill>
                  <a:srgbClr val="009AD0"/>
                </a:solidFill>
                <a:ea typeface="MS Mincho" pitchFamily="49" charset="-128"/>
              </a:rPr>
              <a:t> </a:t>
            </a:r>
            <a:r>
              <a:rPr lang="fr-FR" sz="1800" dirty="0">
                <a:ea typeface="MS Mincho" pitchFamily="49" charset="-128"/>
              </a:rPr>
              <a:t>= écran de l’internaute (réso: width / height)</a:t>
            </a:r>
          </a:p>
          <a:p>
            <a:pPr eaLnBrk="1" hangingPunct="1">
              <a:buFont typeface="Wingdings" pitchFamily="2" charset="2"/>
              <a:buNone/>
              <a:defRPr/>
            </a:pPr>
            <a:r>
              <a:rPr lang="fr-FR" sz="1800" dirty="0">
                <a:ea typeface="MS Mincho" pitchFamily="49" charset="-128"/>
              </a:rPr>
              <a:t>   - </a:t>
            </a:r>
            <a:r>
              <a:rPr lang="fr-FR" sz="1800" b="1" dirty="0">
                <a:solidFill>
                  <a:srgbClr val="009AD0"/>
                </a:solidFill>
                <a:ea typeface="MS Mincho" pitchFamily="49" charset="-128"/>
              </a:rPr>
              <a:t>navigator</a:t>
            </a:r>
            <a:r>
              <a:rPr lang="fr-FR" sz="1800" dirty="0">
                <a:solidFill>
                  <a:srgbClr val="009AD0"/>
                </a:solidFill>
                <a:ea typeface="MS Mincho" pitchFamily="49" charset="-128"/>
              </a:rPr>
              <a:t> </a:t>
            </a:r>
            <a:r>
              <a:rPr lang="fr-FR" sz="1800" dirty="0">
                <a:ea typeface="MS Mincho" pitchFamily="49" charset="-128"/>
              </a:rPr>
              <a:t>= navigateur de l’internaute (MSIE, MFF), (info de param)</a:t>
            </a:r>
          </a:p>
          <a:p>
            <a:pPr eaLnBrk="1" hangingPunct="1">
              <a:buFont typeface="Wingdings" pitchFamily="2" charset="2"/>
              <a:buNone/>
              <a:defRPr/>
            </a:pPr>
            <a:r>
              <a:rPr lang="fr-FR" sz="1800" dirty="0">
                <a:ea typeface="MS Mincho" pitchFamily="49" charset="-128"/>
              </a:rPr>
              <a:t>   - </a:t>
            </a:r>
            <a:r>
              <a:rPr lang="fr-FR" sz="1800" b="1" dirty="0">
                <a:solidFill>
                  <a:srgbClr val="009AD0"/>
                </a:solidFill>
                <a:ea typeface="MS Mincho" pitchFamily="49" charset="-128"/>
              </a:rPr>
              <a:t>window</a:t>
            </a:r>
            <a:r>
              <a:rPr lang="fr-FR" sz="1800" dirty="0">
                <a:solidFill>
                  <a:srgbClr val="009AD0"/>
                </a:solidFill>
                <a:ea typeface="MS Mincho" pitchFamily="49" charset="-128"/>
              </a:rPr>
              <a:t> </a:t>
            </a:r>
            <a:r>
              <a:rPr lang="fr-FR" sz="1800" dirty="0">
                <a:ea typeface="MS Mincho" pitchFamily="49" charset="-128"/>
              </a:rPr>
              <a:t>= fenêtre courante (frame si frameset)</a:t>
            </a:r>
          </a:p>
          <a:p>
            <a:pPr eaLnBrk="1" hangingPunct="1">
              <a:buFont typeface="Wingdings" pitchFamily="2" charset="2"/>
              <a:buNone/>
              <a:defRPr/>
            </a:pPr>
            <a:endParaRPr lang="fr-FR" sz="1800" dirty="0">
              <a:ea typeface="MS Mincho" pitchFamily="49" charset="-128"/>
            </a:endParaRPr>
          </a:p>
          <a:p>
            <a:pPr marL="0" indent="0" eaLnBrk="1" hangingPunct="1">
              <a:buFont typeface="Arial" charset="0"/>
              <a:buNone/>
              <a:defRPr/>
            </a:pPr>
            <a:r>
              <a:rPr lang="fr-FR" sz="1800" b="1" dirty="0"/>
              <a:t>document</a:t>
            </a:r>
          </a:p>
          <a:p>
            <a:pPr eaLnBrk="1" hangingPunct="1">
              <a:buFont typeface="Wingdings" pitchFamily="2" charset="2"/>
              <a:buNone/>
              <a:defRPr/>
            </a:pPr>
            <a:endParaRPr lang="fr-FR" sz="1800" dirty="0">
              <a:ea typeface="MS Mincho" pitchFamily="49" charset="-128"/>
            </a:endParaRPr>
          </a:p>
          <a:p>
            <a:pPr eaLnBrk="1" hangingPunct="1">
              <a:buFont typeface="Wingdings" pitchFamily="2" charset="2"/>
              <a:buNone/>
              <a:defRPr/>
            </a:pPr>
            <a:r>
              <a:rPr lang="fr-FR" sz="1800" dirty="0">
                <a:ea typeface="MS Mincho" pitchFamily="49" charset="-128"/>
              </a:rPr>
              <a:t>   - </a:t>
            </a:r>
            <a:r>
              <a:rPr lang="fr-FR" sz="1800" b="1" dirty="0">
                <a:solidFill>
                  <a:srgbClr val="009AD0"/>
                </a:solidFill>
                <a:ea typeface="MS Mincho" pitchFamily="49" charset="-128"/>
              </a:rPr>
              <a:t>document</a:t>
            </a:r>
            <a:r>
              <a:rPr lang="fr-FR" sz="1800" dirty="0">
                <a:solidFill>
                  <a:srgbClr val="009AD0"/>
                </a:solidFill>
                <a:ea typeface="MS Mincho" pitchFamily="49" charset="-128"/>
              </a:rPr>
              <a:t> </a:t>
            </a:r>
            <a:r>
              <a:rPr lang="fr-FR" sz="1800" dirty="0">
                <a:ea typeface="MS Mincho" pitchFamily="49" charset="-128"/>
              </a:rPr>
              <a:t>= page actuelle (write, clientWidth/Height, arbre DOM)</a:t>
            </a:r>
          </a:p>
          <a:p>
            <a:pPr eaLnBrk="1" hangingPunct="1">
              <a:buFont typeface="Wingdings" pitchFamily="2" charset="2"/>
              <a:buNone/>
              <a:defRPr/>
            </a:pPr>
            <a:endParaRPr lang="fr-FR" sz="1800" dirty="0">
              <a:ea typeface="MS Mincho" pitchFamily="49" charset="-128"/>
            </a:endParaRPr>
          </a:p>
          <a:p>
            <a:pPr marL="0" indent="0" eaLnBrk="1" hangingPunct="1">
              <a:buFont typeface="Arial" charset="0"/>
              <a:buNone/>
              <a:defRPr/>
            </a:pPr>
            <a:r>
              <a:rPr lang="fr-FR" sz="1800" b="1" dirty="0"/>
              <a:t>e-mails (« mailto » pas js mais assimilée)</a:t>
            </a:r>
          </a:p>
          <a:p>
            <a:pPr eaLnBrk="1" hangingPunct="1">
              <a:buFont typeface="Wingdings" pitchFamily="2" charset="2"/>
              <a:buNone/>
              <a:defRPr/>
            </a:pPr>
            <a:endParaRPr lang="fr-FR" sz="1800" dirty="0">
              <a:ea typeface="MS Mincho" pitchFamily="49" charset="-128"/>
            </a:endParaRPr>
          </a:p>
          <a:p>
            <a:pPr eaLnBrk="1" hangingPunct="1">
              <a:buFont typeface="Wingdings" pitchFamily="2" charset="2"/>
              <a:buNone/>
              <a:defRPr/>
            </a:pPr>
            <a:r>
              <a:rPr lang="fr-FR" sz="1800" dirty="0">
                <a:ea typeface="MS Mincho" pitchFamily="49" charset="-128"/>
              </a:rPr>
              <a:t>   - mailto commande HTML assimilée JS pour ouvrir le maileur paramètres : adresse, subject, body…</a:t>
            </a:r>
          </a:p>
          <a:p>
            <a:pPr eaLnBrk="1" hangingPunct="1">
              <a:buFont typeface="Wingdings" pitchFamily="2" charset="2"/>
              <a:buNone/>
              <a:defRPr/>
            </a:pPr>
            <a:r>
              <a:rPr lang="fr-FR" sz="1800" dirty="0">
                <a:ea typeface="MS Mincho" pitchFamily="49" charset="-128"/>
              </a:rPr>
              <a:t>   - tel, sms fournit par html5</a:t>
            </a:r>
          </a:p>
        </p:txBody>
      </p:sp>
      <p:sp>
        <p:nvSpPr>
          <p:cNvPr id="22532" name="Slide Number Placeholder 8"/>
          <p:cNvSpPr>
            <a:spLocks noGrp="1"/>
          </p:cNvSpPr>
          <p:nvPr>
            <p:ph type="sldNum" sz="quarter" idx="12"/>
          </p:nvPr>
        </p:nvSpPr>
        <p:spPr bwMode="auto">
          <a:xfrm>
            <a:off x="8153400" y="0"/>
            <a:ext cx="585788"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2BDC4A2A-B00B-4E9E-9FED-8277E8888558}" type="slidenum">
              <a:rPr lang="en-JM" smtClean="0">
                <a:solidFill>
                  <a:schemeClr val="bg1"/>
                </a:solidFill>
              </a:rPr>
              <a:pPr fontAlgn="base">
                <a:spcBef>
                  <a:spcPct val="0"/>
                </a:spcBef>
                <a:spcAft>
                  <a:spcPct val="0"/>
                </a:spcAft>
                <a:defRPr/>
              </a:pPr>
              <a:t>70</a:t>
            </a:fld>
            <a:endParaRPr lang="en-JM" dirty="0">
              <a:solidFill>
                <a:schemeClr val="bg1"/>
              </a:solidFill>
            </a:endParaRPr>
          </a:p>
        </p:txBody>
      </p:sp>
    </p:spTree>
    <p:extLst>
      <p:ext uri="{BB962C8B-B14F-4D97-AF65-F5344CB8AC3E}">
        <p14:creationId xmlns:p14="http://schemas.microsoft.com/office/powerpoint/2010/main" val="216435065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AutoShape 2"/>
          <p:cNvSpPr>
            <a:spLocks noGrp="1" noChangeArrowheads="1"/>
          </p:cNvSpPr>
          <p:nvPr>
            <p:ph type="title"/>
          </p:nvPr>
        </p:nvSpPr>
        <p:spPr>
          <a:prstGeom prst="rect">
            <a:avLst/>
          </a:prstGeom>
        </p:spPr>
        <p:txBody>
          <a:bodyPr/>
          <a:lstStyle/>
          <a:p>
            <a:pPr eaLnBrk="1" hangingPunct="1"/>
            <a:r>
              <a:rPr lang="fr-FR" altLang="fr-FR" dirty="0"/>
              <a:t>Le JSON</a:t>
            </a:r>
          </a:p>
        </p:txBody>
      </p:sp>
      <p:sp>
        <p:nvSpPr>
          <p:cNvPr id="32770" name="Rectangle 13"/>
          <p:cNvSpPr>
            <a:spLocks noGrp="1" noChangeArrowheads="1"/>
          </p:cNvSpPr>
          <p:nvPr>
            <p:ph type="sldNum" sz="quarter" idx="12"/>
          </p:nvPr>
        </p:nvSpPr>
        <p:spPr>
          <a:prstGeom prst="rect">
            <a:avLst/>
          </a:prstGeom>
          <a:noFill/>
        </p:spPr>
        <p:txBody>
          <a:bodyPr/>
          <a:lstStyle/>
          <a:p>
            <a:fld id="{7C600246-0110-42B3-8F3E-326894ED83B6}" type="slidenum">
              <a:rPr lang="fr-FR" altLang="fr-FR" smtClean="0"/>
              <a:pPr/>
              <a:t>71</a:t>
            </a:fld>
            <a:endParaRPr lang="fr-FR" altLang="fr-FR" dirty="0"/>
          </a:p>
        </p:txBody>
      </p:sp>
      <p:sp>
        <p:nvSpPr>
          <p:cNvPr id="32772" name="Rectangle 3"/>
          <p:cNvSpPr>
            <a:spLocks noGrp="1" noChangeArrowheads="1"/>
          </p:cNvSpPr>
          <p:nvPr>
            <p:ph sz="half" idx="1"/>
          </p:nvPr>
        </p:nvSpPr>
        <p:spPr>
          <a:xfrm>
            <a:off x="214282" y="1071546"/>
            <a:ext cx="6572296" cy="5357850"/>
          </a:xfrm>
          <a:prstGeom prst="rect">
            <a:avLst/>
          </a:prstGeom>
        </p:spPr>
        <p:txBody>
          <a:bodyPr lIns="91440" tIns="45720" rIns="91440" bIns="45720">
            <a:normAutofit/>
          </a:bodyPr>
          <a:lstStyle/>
          <a:p>
            <a:pPr eaLnBrk="1" hangingPunct="1">
              <a:tabLst>
                <a:tab pos="8439150" algn="r"/>
              </a:tabLst>
            </a:pPr>
            <a:r>
              <a:rPr lang="fr-FR" altLang="fr-FR" dirty="0"/>
              <a:t>Le JSON Syntaxe proche de js </a:t>
            </a:r>
          </a:p>
          <a:p>
            <a:pPr lvl="2">
              <a:tabLst>
                <a:tab pos="8439150" algn="r"/>
              </a:tabLst>
            </a:pPr>
            <a:r>
              <a:rPr lang="fr-FR" dirty="0">
                <a:ea typeface="MS Mincho" pitchFamily="49" charset="-128"/>
              </a:rPr>
              <a:t>Basé sur un sous-ensemble ECMA-262 (3e éd.)</a:t>
            </a:r>
            <a:endParaRPr lang="fr-FR" altLang="fr-FR" dirty="0"/>
          </a:p>
          <a:p>
            <a:pPr eaLnBrk="1" hangingPunct="1">
              <a:tabLst>
                <a:tab pos="8439150" algn="r"/>
              </a:tabLst>
            </a:pPr>
            <a:r>
              <a:rPr lang="fr-FR" altLang="fr-FR" dirty="0"/>
              <a:t>Conversion rapide de JSON à JS</a:t>
            </a:r>
          </a:p>
          <a:p>
            <a:pPr eaLnBrk="1" hangingPunct="1">
              <a:tabLst>
                <a:tab pos="8439150" algn="r"/>
              </a:tabLst>
            </a:pPr>
            <a:endParaRPr lang="fr-FR" altLang="fr-FR" dirty="0"/>
          </a:p>
          <a:p>
            <a:pPr eaLnBrk="1" hangingPunct="1">
              <a:tabLst>
                <a:tab pos="8439150" algn="r"/>
              </a:tabLst>
            </a:pPr>
            <a:r>
              <a:rPr lang="fr-FR" altLang="fr-FR" dirty="0"/>
              <a:t>l'objet javascript </a:t>
            </a:r>
            <a:r>
              <a:rPr lang="fr-FR" altLang="fr-FR" i="1" dirty="0"/>
              <a:t>JSON</a:t>
            </a:r>
          </a:p>
          <a:p>
            <a:pPr eaLnBrk="1" hangingPunct="1">
              <a:tabLst>
                <a:tab pos="8439150" algn="r"/>
              </a:tabLst>
            </a:pPr>
            <a:endParaRPr lang="fr-FR" altLang="fr-FR" dirty="0"/>
          </a:p>
          <a:p>
            <a:pPr lvl="2">
              <a:tabLst>
                <a:tab pos="8439150" algn="r"/>
              </a:tabLst>
            </a:pPr>
            <a:r>
              <a:rPr lang="fr-FR" altLang="fr-FR" i="1" dirty="0"/>
              <a:t>JSON.parse(chaine)</a:t>
            </a:r>
          </a:p>
          <a:p>
            <a:pPr lvl="3">
              <a:tabLst>
                <a:tab pos="8439150" algn="r"/>
              </a:tabLst>
            </a:pPr>
            <a:r>
              <a:rPr lang="fr-FR" altLang="fr-FR" dirty="0"/>
              <a:t>une chaine json vers js</a:t>
            </a:r>
          </a:p>
          <a:p>
            <a:pPr lvl="3">
              <a:tabLst>
                <a:tab pos="8439150" algn="r"/>
              </a:tabLst>
            </a:pPr>
            <a:endParaRPr lang="fr-FR" altLang="fr-FR" dirty="0"/>
          </a:p>
          <a:p>
            <a:pPr lvl="2">
              <a:tabLst>
                <a:tab pos="8439150" algn="r"/>
              </a:tabLst>
            </a:pPr>
            <a:r>
              <a:rPr lang="fr-FR" altLang="fr-FR" i="1" dirty="0"/>
              <a:t>JSON.stringify(object)</a:t>
            </a:r>
          </a:p>
          <a:p>
            <a:pPr lvl="3">
              <a:tabLst>
                <a:tab pos="8439150" algn="r"/>
              </a:tabLst>
            </a:pPr>
            <a:r>
              <a:rPr lang="fr-FR" altLang="fr-FR" dirty="0"/>
              <a:t>un Objet js vers chaine json</a:t>
            </a:r>
          </a:p>
        </p:txBody>
      </p:sp>
      <p:pic>
        <p:nvPicPr>
          <p:cNvPr id="7" name="Picture 4" descr="https://www.percona.com/sites/default/files/json-logo.png"/>
          <p:cNvPicPr>
            <a:picLocks noChangeAspect="1" noChangeArrowheads="1"/>
          </p:cNvPicPr>
          <p:nvPr/>
        </p:nvPicPr>
        <p:blipFill>
          <a:blip r:embed="rId3"/>
          <a:srcRect/>
          <a:stretch>
            <a:fillRect/>
          </a:stretch>
        </p:blipFill>
        <p:spPr bwMode="auto">
          <a:xfrm>
            <a:off x="6786578" y="1308184"/>
            <a:ext cx="2286016" cy="906370"/>
          </a:xfrm>
          <a:prstGeom prst="rect">
            <a:avLst/>
          </a:prstGeom>
          <a:noFill/>
        </p:spPr>
      </p:pic>
    </p:spTree>
    <p:extLst>
      <p:ext uri="{BB962C8B-B14F-4D97-AF65-F5344CB8AC3E}">
        <p14:creationId xmlns:p14="http://schemas.microsoft.com/office/powerpoint/2010/main" val="21398457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AutoShape 2"/>
          <p:cNvSpPr>
            <a:spLocks noGrp="1" noChangeArrowheads="1"/>
          </p:cNvSpPr>
          <p:nvPr>
            <p:ph type="title"/>
          </p:nvPr>
        </p:nvSpPr>
        <p:spPr>
          <a:prstGeom prst="rect">
            <a:avLst/>
          </a:prstGeom>
        </p:spPr>
        <p:txBody>
          <a:bodyPr/>
          <a:lstStyle/>
          <a:p>
            <a:pPr eaLnBrk="1" hangingPunct="1"/>
            <a:r>
              <a:rPr lang="fr-FR" altLang="fr-FR" dirty="0"/>
              <a:t>Le JSON</a:t>
            </a:r>
          </a:p>
        </p:txBody>
      </p:sp>
      <p:sp>
        <p:nvSpPr>
          <p:cNvPr id="32770" name="Rectangle 13"/>
          <p:cNvSpPr>
            <a:spLocks noGrp="1" noChangeArrowheads="1"/>
          </p:cNvSpPr>
          <p:nvPr>
            <p:ph type="sldNum" sz="quarter" idx="12"/>
          </p:nvPr>
        </p:nvSpPr>
        <p:spPr>
          <a:prstGeom prst="rect">
            <a:avLst/>
          </a:prstGeom>
          <a:noFill/>
        </p:spPr>
        <p:txBody>
          <a:bodyPr/>
          <a:lstStyle/>
          <a:p>
            <a:fld id="{7C600246-0110-42B3-8F3E-326894ED83B6}" type="slidenum">
              <a:rPr lang="fr-FR" altLang="fr-FR" smtClean="0"/>
              <a:pPr/>
              <a:t>72</a:t>
            </a:fld>
            <a:endParaRPr lang="fr-FR" altLang="fr-FR" dirty="0"/>
          </a:p>
        </p:txBody>
      </p:sp>
      <p:sp>
        <p:nvSpPr>
          <p:cNvPr id="32772" name="Rectangle 3"/>
          <p:cNvSpPr>
            <a:spLocks noGrp="1" noChangeArrowheads="1"/>
          </p:cNvSpPr>
          <p:nvPr>
            <p:ph sz="half" idx="1"/>
          </p:nvPr>
        </p:nvSpPr>
        <p:spPr>
          <a:xfrm>
            <a:off x="214282" y="1071546"/>
            <a:ext cx="6572296" cy="5357850"/>
          </a:xfrm>
          <a:prstGeom prst="rect">
            <a:avLst/>
          </a:prstGeom>
        </p:spPr>
        <p:txBody>
          <a:bodyPr lIns="91440" tIns="45720" rIns="91440" bIns="45720">
            <a:normAutofit fontScale="92500" lnSpcReduction="10000"/>
          </a:bodyPr>
          <a:lstStyle/>
          <a:p>
            <a:pPr eaLnBrk="1" hangingPunct="1">
              <a:tabLst>
                <a:tab pos="8439150" algn="r"/>
              </a:tabLst>
            </a:pPr>
            <a:r>
              <a:rPr lang="fr-FR" altLang="fr-FR" dirty="0"/>
              <a:t>La syntaxe JSON (JavaScript Object Notation) </a:t>
            </a:r>
          </a:p>
          <a:p>
            <a:pPr lvl="1" eaLnBrk="1" hangingPunct="1">
              <a:tabLst>
                <a:tab pos="8439150" algn="r"/>
              </a:tabLst>
            </a:pPr>
            <a:r>
              <a:rPr lang="fr-FR" altLang="fr-FR" dirty="0"/>
              <a:t>Un array (tableau) = [ value, value, value]</a:t>
            </a:r>
          </a:p>
          <a:p>
            <a:pPr lvl="2" eaLnBrk="1" hangingPunct="1">
              <a:tabLst>
                <a:tab pos="8439150" algn="r"/>
              </a:tabLst>
            </a:pPr>
            <a:r>
              <a:rPr lang="fr-FR" altLang="fr-FR" dirty="0"/>
              <a:t>Ex: [1, 2, 3]   ou ["Albert", "Einstein",1960]</a:t>
            </a:r>
          </a:p>
          <a:p>
            <a:pPr lvl="1" eaLnBrk="1" hangingPunct="1">
              <a:tabLst>
                <a:tab pos="8439150" algn="r"/>
              </a:tabLst>
            </a:pPr>
            <a:endParaRPr lang="fr-FR" altLang="fr-FR" dirty="0"/>
          </a:p>
          <a:p>
            <a:pPr lvl="1" eaLnBrk="1" hangingPunct="1">
              <a:tabLst>
                <a:tab pos="8439150" algn="r"/>
              </a:tabLst>
            </a:pPr>
            <a:r>
              <a:rPr lang="fr-FR" altLang="fr-FR" dirty="0"/>
              <a:t>Un object (objet) = {"propriete":value,"propriete":value}</a:t>
            </a:r>
          </a:p>
          <a:p>
            <a:pPr lvl="2" eaLnBrk="1" hangingPunct="1">
              <a:tabLst>
                <a:tab pos="8439150" algn="r"/>
              </a:tabLst>
            </a:pPr>
            <a:r>
              <a:rPr lang="fr-FR" altLang="fr-FR" dirty="0"/>
              <a:t>Ex: {"prenom":"Albert", "nom":"EINSTEIN", "age":64, "adresse":{"cp":75008, "ville":"paris"}, "enfants":[{"prenom":"José"},{"prenom":"Bob"}]</a:t>
            </a:r>
          </a:p>
          <a:p>
            <a:pPr lvl="1" eaLnBrk="1" hangingPunct="1">
              <a:tabLst>
                <a:tab pos="8439150" algn="r"/>
              </a:tabLst>
            </a:pPr>
            <a:endParaRPr lang="fr-FR" altLang="fr-FR" dirty="0"/>
          </a:p>
          <a:p>
            <a:pPr lvl="1" eaLnBrk="1" hangingPunct="1">
              <a:tabLst>
                <a:tab pos="8439150" algn="r"/>
              </a:tabLst>
            </a:pPr>
            <a:r>
              <a:rPr lang="fr-FR" altLang="fr-FR" dirty="0"/>
              <a:t>Les paramètres de hash : idem au JSON mais sans les " autour des propriétés des objets, ex :</a:t>
            </a:r>
          </a:p>
          <a:p>
            <a:pPr lvl="2" eaLnBrk="1" hangingPunct="1">
              <a:tabLst>
                <a:tab pos="8439150" algn="r"/>
              </a:tabLst>
            </a:pPr>
            <a:r>
              <a:rPr lang="fr-FR" altLang="fr-FR" dirty="0"/>
              <a:t>{prenom:"Albert",nom:"EINSTEIN",age:64, adresse:{cp:75008,ville:"paris"}, enfants:[{prenom:"José"},{prenom:"Bob"}]</a:t>
            </a:r>
          </a:p>
        </p:txBody>
      </p:sp>
      <p:pic>
        <p:nvPicPr>
          <p:cNvPr id="7" name="Picture 4" descr="https://www.percona.com/sites/default/files/json-logo.png"/>
          <p:cNvPicPr>
            <a:picLocks noChangeAspect="1" noChangeArrowheads="1"/>
          </p:cNvPicPr>
          <p:nvPr/>
        </p:nvPicPr>
        <p:blipFill>
          <a:blip r:embed="rId3"/>
          <a:srcRect/>
          <a:stretch>
            <a:fillRect/>
          </a:stretch>
        </p:blipFill>
        <p:spPr bwMode="auto">
          <a:xfrm>
            <a:off x="6786578" y="1308184"/>
            <a:ext cx="2286016" cy="906370"/>
          </a:xfrm>
          <a:prstGeom prst="rect">
            <a:avLst/>
          </a:prstGeom>
          <a:noFill/>
        </p:spPr>
      </p:pic>
    </p:spTree>
    <p:extLst>
      <p:ext uri="{BB962C8B-B14F-4D97-AF65-F5344CB8AC3E}">
        <p14:creationId xmlns:p14="http://schemas.microsoft.com/office/powerpoint/2010/main" val="186951384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AutoShape 2"/>
          <p:cNvSpPr>
            <a:spLocks noGrp="1" noChangeArrowheads="1"/>
          </p:cNvSpPr>
          <p:nvPr>
            <p:ph type="title"/>
          </p:nvPr>
        </p:nvSpPr>
        <p:spPr>
          <a:prstGeom prst="rect">
            <a:avLst/>
          </a:prstGeom>
        </p:spPr>
        <p:txBody>
          <a:bodyPr/>
          <a:lstStyle/>
          <a:p>
            <a:pPr eaLnBrk="1" hangingPunct="1"/>
            <a:r>
              <a:rPr lang="fr-FR" altLang="fr-FR" dirty="0"/>
              <a:t>Le JSON</a:t>
            </a:r>
          </a:p>
        </p:txBody>
      </p:sp>
      <p:sp>
        <p:nvSpPr>
          <p:cNvPr id="32770" name="Rectangle 13"/>
          <p:cNvSpPr>
            <a:spLocks noGrp="1" noChangeArrowheads="1"/>
          </p:cNvSpPr>
          <p:nvPr>
            <p:ph type="sldNum" sz="quarter" idx="12"/>
          </p:nvPr>
        </p:nvSpPr>
        <p:spPr>
          <a:prstGeom prst="rect">
            <a:avLst/>
          </a:prstGeom>
          <a:noFill/>
        </p:spPr>
        <p:txBody>
          <a:bodyPr/>
          <a:lstStyle/>
          <a:p>
            <a:fld id="{7C600246-0110-42B3-8F3E-326894ED83B6}" type="slidenum">
              <a:rPr lang="fr-FR" altLang="fr-FR" smtClean="0"/>
              <a:pPr/>
              <a:t>73</a:t>
            </a:fld>
            <a:endParaRPr lang="fr-FR" altLang="fr-FR" dirty="0"/>
          </a:p>
        </p:txBody>
      </p:sp>
      <p:sp>
        <p:nvSpPr>
          <p:cNvPr id="32772" name="Rectangle 3"/>
          <p:cNvSpPr>
            <a:spLocks noGrp="1" noChangeArrowheads="1"/>
          </p:cNvSpPr>
          <p:nvPr>
            <p:ph sz="half" idx="1"/>
          </p:nvPr>
        </p:nvSpPr>
        <p:spPr>
          <a:prstGeom prst="rect">
            <a:avLst/>
          </a:prstGeom>
        </p:spPr>
        <p:txBody>
          <a:bodyPr lIns="91440" tIns="45720" rIns="91440" bIns="45720">
            <a:normAutofit/>
          </a:bodyPr>
          <a:lstStyle/>
          <a:p>
            <a:pPr eaLnBrk="1" hangingPunct="1">
              <a:tabLst>
                <a:tab pos="8439150" algn="r"/>
              </a:tabLst>
            </a:pPr>
            <a:r>
              <a:rPr lang="fr-FR" altLang="fr-FR" dirty="0"/>
              <a:t>La syntaxe JSON (</a:t>
            </a:r>
            <a:r>
              <a:rPr lang="fr-FR" altLang="fr-FR" sz="2000" dirty="0"/>
              <a:t>JavaScript Object Notation</a:t>
            </a:r>
            <a:r>
              <a:rPr lang="fr-FR" altLang="fr-FR" dirty="0"/>
              <a:t>) :</a:t>
            </a:r>
          </a:p>
          <a:p>
            <a:pPr lvl="1" eaLnBrk="1" hangingPunct="1">
              <a:tabLst>
                <a:tab pos="8439150" algn="r"/>
              </a:tabLst>
            </a:pPr>
            <a:endParaRPr lang="fr-FR" altLang="fr-FR" dirty="0"/>
          </a:p>
          <a:p>
            <a:pPr lvl="1" eaLnBrk="1" hangingPunct="1">
              <a:tabLst>
                <a:tab pos="8439150" algn="r"/>
              </a:tabLst>
            </a:pPr>
            <a:r>
              <a:rPr lang="fr-FR" altLang="fr-FR" dirty="0"/>
              <a:t>Une value (valeur) = number, string, object, array, null, true, false</a:t>
            </a:r>
          </a:p>
          <a:p>
            <a:pPr lvl="1" eaLnBrk="1" hangingPunct="1">
              <a:tabLst>
                <a:tab pos="8439150" algn="r"/>
              </a:tabLst>
            </a:pPr>
            <a:endParaRPr lang="fr-FR" altLang="fr-FR" dirty="0"/>
          </a:p>
          <a:p>
            <a:pPr lvl="1" eaLnBrk="1" hangingPunct="1">
              <a:tabLst>
                <a:tab pos="8439150" algn="r"/>
              </a:tabLst>
            </a:pPr>
            <a:r>
              <a:rPr lang="fr-FR" altLang="fr-FR" dirty="0"/>
              <a:t>Un number (nombre) = chiffres et nombres entiers / décimaux / exponentiels</a:t>
            </a:r>
          </a:p>
          <a:p>
            <a:pPr lvl="2" eaLnBrk="1" hangingPunct="1">
              <a:tabLst>
                <a:tab pos="8439150" algn="r"/>
              </a:tabLst>
            </a:pPr>
            <a:r>
              <a:rPr lang="fr-FR" altLang="fr-FR" dirty="0"/>
              <a:t>Ex: 12   ou   12.51   ou   0.221   ou   5e-6   ou   -15.50</a:t>
            </a:r>
          </a:p>
          <a:p>
            <a:pPr lvl="1" eaLnBrk="1" hangingPunct="1">
              <a:tabLst>
                <a:tab pos="8439150" algn="r"/>
              </a:tabLst>
            </a:pPr>
            <a:endParaRPr lang="fr-FR" altLang="fr-FR" dirty="0"/>
          </a:p>
          <a:p>
            <a:pPr lvl="1" eaLnBrk="1" hangingPunct="1">
              <a:tabLst>
                <a:tab pos="8439150" algn="r"/>
              </a:tabLst>
            </a:pPr>
            <a:r>
              <a:rPr lang="fr-FR" altLang="fr-FR" dirty="0"/>
              <a:t>Un string (chaine) = "chaine classique + caractères d’échappements (\n, \\...)"</a:t>
            </a:r>
          </a:p>
          <a:p>
            <a:pPr lvl="2" eaLnBrk="1" hangingPunct="1">
              <a:tabLst>
                <a:tab pos="8439150" algn="r"/>
              </a:tabLst>
            </a:pPr>
            <a:r>
              <a:rPr lang="fr-FR" altLang="fr-FR" dirty="0"/>
              <a:t>Ex: "nom", "petite phrase \nsur plusieurs lignes"</a:t>
            </a:r>
          </a:p>
        </p:txBody>
      </p:sp>
      <p:pic>
        <p:nvPicPr>
          <p:cNvPr id="77828" name="Picture 4" descr="https://www.percona.com/sites/default/files/json-logo.png"/>
          <p:cNvPicPr>
            <a:picLocks noChangeAspect="1" noChangeArrowheads="1"/>
          </p:cNvPicPr>
          <p:nvPr/>
        </p:nvPicPr>
        <p:blipFill>
          <a:blip r:embed="rId3"/>
          <a:srcRect/>
          <a:stretch>
            <a:fillRect/>
          </a:stretch>
        </p:blipFill>
        <p:spPr bwMode="auto">
          <a:xfrm>
            <a:off x="0" y="1357298"/>
            <a:ext cx="2286016" cy="906370"/>
          </a:xfrm>
          <a:prstGeom prst="rect">
            <a:avLst/>
          </a:prstGeom>
          <a:noFill/>
        </p:spPr>
      </p:pic>
    </p:spTree>
    <p:extLst>
      <p:ext uri="{BB962C8B-B14F-4D97-AF65-F5344CB8AC3E}">
        <p14:creationId xmlns:p14="http://schemas.microsoft.com/office/powerpoint/2010/main" val="255931093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lstStyle/>
          <a:p>
            <a:r>
              <a:rPr lang="fr-FR" dirty="0"/>
              <a:t>JSON</a:t>
            </a:r>
          </a:p>
        </p:txBody>
      </p:sp>
      <p:sp>
        <p:nvSpPr>
          <p:cNvPr id="8" name="Espace réservé du contenu 7"/>
          <p:cNvSpPr>
            <a:spLocks noGrp="1"/>
          </p:cNvSpPr>
          <p:nvPr>
            <p:ph idx="1"/>
          </p:nvPr>
        </p:nvSpPr>
        <p:spPr/>
        <p:txBody>
          <a:bodyPr>
            <a:normAutofit fontScale="92500" lnSpcReduction="10000"/>
          </a:bodyPr>
          <a:lstStyle/>
          <a:p>
            <a:r>
              <a:rPr lang="fr-FR" dirty="0"/>
              <a:t>JSON </a:t>
            </a:r>
            <a:r>
              <a:rPr lang="fr-FR" dirty="0">
                <a:sym typeface="Wingdings" panose="05000000000000000000" pitchFamily="2" charset="2"/>
              </a:rPr>
              <a:t> Javascript Object Notation</a:t>
            </a:r>
          </a:p>
          <a:p>
            <a:pPr lvl="1"/>
            <a:r>
              <a:rPr lang="fr-FR" dirty="0"/>
              <a:t>Un format concurrent à XML</a:t>
            </a:r>
          </a:p>
          <a:p>
            <a:endParaRPr lang="fr-FR" dirty="0"/>
          </a:p>
          <a:p>
            <a:pPr lvl="1"/>
            <a:r>
              <a:rPr lang="fr-FR" dirty="0"/>
              <a:t>JSON est un langage structuré basé sur la syntaxe Javascript</a:t>
            </a:r>
          </a:p>
          <a:p>
            <a:pPr lvl="2"/>
            <a:r>
              <a:rPr lang="fr-FR" dirty="0"/>
              <a:t>Association clefs / valeur</a:t>
            </a:r>
          </a:p>
          <a:p>
            <a:pPr lvl="2"/>
            <a:r>
              <a:rPr lang="fr-FR" dirty="0"/>
              <a:t>Différents types de valeurs :</a:t>
            </a:r>
          </a:p>
          <a:p>
            <a:pPr lvl="3"/>
            <a:r>
              <a:rPr lang="fr-FR" dirty="0"/>
              <a:t>Object, array, number, string, null</a:t>
            </a:r>
          </a:p>
          <a:p>
            <a:endParaRPr lang="fr-FR" dirty="0"/>
          </a:p>
          <a:p>
            <a:pPr lvl="1"/>
            <a:r>
              <a:rPr lang="fr-FR" dirty="0"/>
              <a:t>JSON possède désormais une technique de validation</a:t>
            </a:r>
          </a:p>
          <a:p>
            <a:pPr lvl="2"/>
            <a:r>
              <a:rPr lang="fr-FR" dirty="0"/>
              <a:t>JSON Schema </a:t>
            </a:r>
          </a:p>
          <a:p>
            <a:pPr lvl="3"/>
            <a:r>
              <a:rPr lang="fr-FR" dirty="0"/>
              <a:t>intégrable en js jusqu’à la version 2019</a:t>
            </a:r>
          </a:p>
          <a:p>
            <a:endParaRPr lang="fr-FR" dirty="0"/>
          </a:p>
        </p:txBody>
      </p:sp>
      <p:pic>
        <p:nvPicPr>
          <p:cNvPr id="10" name="Picture 4" descr="https://www.percona.com/sites/default/files/json-logo.png"/>
          <p:cNvPicPr>
            <a:picLocks noChangeAspect="1" noChangeArrowheads="1"/>
          </p:cNvPicPr>
          <p:nvPr/>
        </p:nvPicPr>
        <p:blipFill>
          <a:blip r:embed="rId3"/>
          <a:srcRect/>
          <a:stretch>
            <a:fillRect/>
          </a:stretch>
        </p:blipFill>
        <p:spPr bwMode="auto">
          <a:xfrm rot="250060">
            <a:off x="6742778" y="2730246"/>
            <a:ext cx="2112125" cy="837425"/>
          </a:xfrm>
          <a:prstGeom prst="rect">
            <a:avLst/>
          </a:prstGeom>
          <a:noFill/>
        </p:spPr>
      </p:pic>
    </p:spTree>
    <p:extLst>
      <p:ext uri="{BB962C8B-B14F-4D97-AF65-F5344CB8AC3E}">
        <p14:creationId xmlns:p14="http://schemas.microsoft.com/office/powerpoint/2010/main" val="100489199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p:cNvSpPr>
            <a:spLocks noGrp="1"/>
          </p:cNvSpPr>
          <p:nvPr>
            <p:ph type="title"/>
          </p:nvPr>
        </p:nvSpPr>
        <p:spPr/>
        <p:txBody>
          <a:bodyPr/>
          <a:lstStyle/>
          <a:p>
            <a:r>
              <a:rPr lang="fr-FR" dirty="0"/>
              <a:t>JSON</a:t>
            </a:r>
          </a:p>
        </p:txBody>
      </p:sp>
      <p:sp>
        <p:nvSpPr>
          <p:cNvPr id="11" name="Espace réservé du texte 10"/>
          <p:cNvSpPr>
            <a:spLocks noGrp="1"/>
          </p:cNvSpPr>
          <p:nvPr>
            <p:ph type="body" idx="1"/>
          </p:nvPr>
        </p:nvSpPr>
        <p:spPr/>
        <p:txBody>
          <a:bodyPr/>
          <a:lstStyle/>
          <a:p>
            <a:r>
              <a:rPr lang="fr-FR" dirty="0"/>
              <a:t>Code JSON - geojson</a:t>
            </a:r>
          </a:p>
        </p:txBody>
      </p:sp>
      <p:sp>
        <p:nvSpPr>
          <p:cNvPr id="9" name="Espace réservé du contenu 8"/>
          <p:cNvSpPr>
            <a:spLocks noGrp="1"/>
          </p:cNvSpPr>
          <p:nvPr>
            <p:ph sz="half" idx="2"/>
          </p:nvPr>
        </p:nvSpPr>
        <p:spPr>
          <a:xfrm>
            <a:off x="214282" y="1785926"/>
            <a:ext cx="4283106" cy="4714908"/>
          </a:xfrm>
          <a:solidFill>
            <a:schemeClr val="bg1">
              <a:alpha val="38000"/>
            </a:schemeClr>
          </a:solidFill>
        </p:spPr>
        <p:txBody>
          <a:bodyPr>
            <a:normAutofit fontScale="70000" lnSpcReduction="20000"/>
          </a:bodyPr>
          <a:lstStyle/>
          <a:p>
            <a:pPr>
              <a:buNone/>
            </a:pPr>
            <a:r>
              <a:rPr lang="fr-FR" dirty="0"/>
              <a:t>{ </a:t>
            </a:r>
          </a:p>
          <a:p>
            <a:pPr>
              <a:buNone/>
            </a:pPr>
            <a:r>
              <a:rPr lang="fr-FR" dirty="0">
                <a:solidFill>
                  <a:srgbClr val="BA2121"/>
                </a:solidFill>
              </a:rPr>
              <a:t>	"type"</a:t>
            </a:r>
            <a:r>
              <a:rPr lang="fr-FR" dirty="0">
                <a:solidFill>
                  <a:srgbClr val="666666"/>
                </a:solidFill>
              </a:rPr>
              <a:t>:</a:t>
            </a:r>
            <a:r>
              <a:rPr lang="fr-FR" dirty="0"/>
              <a:t> </a:t>
            </a:r>
            <a:r>
              <a:rPr lang="fr-FR" dirty="0">
                <a:solidFill>
                  <a:srgbClr val="BA2121"/>
                </a:solidFill>
              </a:rPr>
              <a:t>"FeatureCollection"</a:t>
            </a:r>
            <a:r>
              <a:rPr lang="fr-FR" dirty="0"/>
              <a:t>, </a:t>
            </a:r>
          </a:p>
          <a:p>
            <a:pPr>
              <a:buNone/>
            </a:pPr>
            <a:r>
              <a:rPr lang="fr-FR" dirty="0">
                <a:solidFill>
                  <a:srgbClr val="BA2121"/>
                </a:solidFill>
              </a:rPr>
              <a:t>	"features"</a:t>
            </a:r>
            <a:r>
              <a:rPr lang="fr-FR" dirty="0">
                <a:solidFill>
                  <a:srgbClr val="666666"/>
                </a:solidFill>
              </a:rPr>
              <a:t>:</a:t>
            </a:r>
            <a:r>
              <a:rPr lang="fr-FR" dirty="0"/>
              <a:t> [ </a:t>
            </a:r>
          </a:p>
          <a:p>
            <a:pPr>
              <a:buNone/>
            </a:pPr>
            <a:r>
              <a:rPr lang="fr-FR" dirty="0"/>
              <a:t>		{ </a:t>
            </a:r>
          </a:p>
          <a:p>
            <a:pPr>
              <a:buNone/>
            </a:pPr>
            <a:r>
              <a:rPr lang="fr-FR" dirty="0">
                <a:solidFill>
                  <a:srgbClr val="BA2121"/>
                </a:solidFill>
              </a:rPr>
              <a:t>		    "type"</a:t>
            </a:r>
            <a:r>
              <a:rPr lang="fr-FR" dirty="0">
                <a:solidFill>
                  <a:srgbClr val="666666"/>
                </a:solidFill>
              </a:rPr>
              <a:t>:</a:t>
            </a:r>
            <a:r>
              <a:rPr lang="fr-FR" dirty="0"/>
              <a:t> </a:t>
            </a:r>
            <a:r>
              <a:rPr lang="fr-FR" dirty="0">
                <a:solidFill>
                  <a:srgbClr val="BA2121"/>
                </a:solidFill>
              </a:rPr>
              <a:t>"Feature"</a:t>
            </a:r>
            <a:r>
              <a:rPr lang="fr-FR" dirty="0"/>
              <a:t>, </a:t>
            </a:r>
          </a:p>
          <a:p>
            <a:pPr>
              <a:buNone/>
            </a:pPr>
            <a:r>
              <a:rPr lang="fr-FR" dirty="0">
                <a:solidFill>
                  <a:srgbClr val="BA2121"/>
                </a:solidFill>
              </a:rPr>
              <a:t>		    "geometry"</a:t>
            </a:r>
            <a:r>
              <a:rPr lang="fr-FR" dirty="0">
                <a:solidFill>
                  <a:srgbClr val="666666"/>
                </a:solidFill>
              </a:rPr>
              <a:t>:</a:t>
            </a:r>
            <a:r>
              <a:rPr lang="fr-FR" dirty="0"/>
              <a:t> { </a:t>
            </a:r>
          </a:p>
          <a:p>
            <a:pPr>
              <a:buNone/>
            </a:pPr>
            <a:r>
              <a:rPr lang="fr-FR" dirty="0">
                <a:solidFill>
                  <a:srgbClr val="BA2121"/>
                </a:solidFill>
              </a:rPr>
              <a:t>		           "type"</a:t>
            </a:r>
            <a:r>
              <a:rPr lang="fr-FR" dirty="0">
                <a:solidFill>
                  <a:srgbClr val="666666"/>
                </a:solidFill>
              </a:rPr>
              <a:t>:</a:t>
            </a:r>
            <a:r>
              <a:rPr lang="fr-FR" dirty="0"/>
              <a:t> </a:t>
            </a:r>
            <a:r>
              <a:rPr lang="fr-FR" dirty="0">
                <a:solidFill>
                  <a:srgbClr val="BA2121"/>
                </a:solidFill>
              </a:rPr>
              <a:t>"Point"</a:t>
            </a:r>
            <a:r>
              <a:rPr lang="fr-FR" dirty="0"/>
              <a:t>, 		           </a:t>
            </a:r>
            <a:r>
              <a:rPr lang="fr-FR" dirty="0">
                <a:solidFill>
                  <a:srgbClr val="BA2121"/>
                </a:solidFill>
              </a:rPr>
              <a:t>"coordinates"</a:t>
            </a:r>
            <a:r>
              <a:rPr lang="fr-FR" dirty="0">
                <a:solidFill>
                  <a:srgbClr val="666666"/>
                </a:solidFill>
              </a:rPr>
              <a:t>:</a:t>
            </a:r>
            <a:r>
              <a:rPr lang="fr-FR" dirty="0"/>
              <a:t> </a:t>
            </a:r>
          </a:p>
          <a:p>
            <a:pPr>
              <a:buNone/>
            </a:pPr>
            <a:r>
              <a:rPr lang="fr-FR" dirty="0"/>
              <a:t>			[</a:t>
            </a:r>
          </a:p>
          <a:p>
            <a:pPr>
              <a:buNone/>
            </a:pPr>
            <a:r>
              <a:rPr lang="fr-FR" dirty="0">
                <a:solidFill>
                  <a:srgbClr val="666666"/>
                </a:solidFill>
              </a:rPr>
              <a:t>			        102.0</a:t>
            </a:r>
            <a:r>
              <a:rPr lang="fr-FR" dirty="0"/>
              <a:t>, </a:t>
            </a:r>
            <a:r>
              <a:rPr lang="fr-FR" dirty="0">
                <a:solidFill>
                  <a:srgbClr val="666666"/>
                </a:solidFill>
              </a:rPr>
              <a:t>0.5</a:t>
            </a:r>
          </a:p>
          <a:p>
            <a:pPr>
              <a:buNone/>
            </a:pPr>
            <a:r>
              <a:rPr lang="fr-FR" dirty="0"/>
              <a:t>			] </a:t>
            </a:r>
          </a:p>
          <a:p>
            <a:pPr>
              <a:buNone/>
            </a:pPr>
            <a:r>
              <a:rPr lang="fr-FR" dirty="0"/>
              <a:t>		       }, </a:t>
            </a:r>
          </a:p>
          <a:p>
            <a:pPr>
              <a:buNone/>
            </a:pPr>
            <a:r>
              <a:rPr lang="fr-FR" dirty="0">
                <a:solidFill>
                  <a:srgbClr val="BA2121"/>
                </a:solidFill>
              </a:rPr>
              <a:t>		      "properties"</a:t>
            </a:r>
            <a:r>
              <a:rPr lang="fr-FR" dirty="0">
                <a:solidFill>
                  <a:srgbClr val="666666"/>
                </a:solidFill>
              </a:rPr>
              <a:t>:</a:t>
            </a:r>
            <a:r>
              <a:rPr lang="fr-FR" dirty="0"/>
              <a:t> </a:t>
            </a:r>
          </a:p>
          <a:p>
            <a:pPr>
              <a:buNone/>
            </a:pPr>
            <a:r>
              <a:rPr lang="fr-FR" dirty="0"/>
              <a:t>			{ </a:t>
            </a:r>
            <a:r>
              <a:rPr lang="fr-FR" dirty="0">
                <a:solidFill>
                  <a:srgbClr val="BA2121"/>
                </a:solidFill>
              </a:rPr>
              <a:t>"prop0"</a:t>
            </a:r>
            <a:r>
              <a:rPr lang="fr-FR" dirty="0">
                <a:solidFill>
                  <a:srgbClr val="666666"/>
                </a:solidFill>
              </a:rPr>
              <a:t>:</a:t>
            </a:r>
            <a:r>
              <a:rPr lang="fr-FR" dirty="0"/>
              <a:t> </a:t>
            </a:r>
            <a:r>
              <a:rPr lang="fr-FR" dirty="0">
                <a:solidFill>
                  <a:srgbClr val="BA2121"/>
                </a:solidFill>
              </a:rPr>
              <a:t>"value0"</a:t>
            </a:r>
            <a:r>
              <a:rPr lang="fr-FR" dirty="0"/>
              <a:t> } </a:t>
            </a:r>
          </a:p>
          <a:p>
            <a:pPr>
              <a:buNone/>
            </a:pPr>
            <a:r>
              <a:rPr lang="fr-FR" dirty="0"/>
              <a:t>		}, {</a:t>
            </a:r>
            <a:r>
              <a:rPr lang="fr-FR" dirty="0">
                <a:solidFill>
                  <a:srgbClr val="BA2121"/>
                </a:solidFill>
              </a:rPr>
              <a:t>"type"</a:t>
            </a:r>
            <a:r>
              <a:rPr lang="fr-FR" dirty="0">
                <a:solidFill>
                  <a:srgbClr val="666666"/>
                </a:solidFill>
              </a:rPr>
              <a:t>:</a:t>
            </a:r>
            <a:r>
              <a:rPr lang="fr-FR" dirty="0"/>
              <a:t> </a:t>
            </a:r>
            <a:r>
              <a:rPr lang="fr-FR" dirty="0">
                <a:solidFill>
                  <a:srgbClr val="BA2121"/>
                </a:solidFill>
              </a:rPr>
              <a:t>"Feature"</a:t>
            </a:r>
            <a:r>
              <a:rPr lang="fr-FR" dirty="0"/>
              <a:t>, </a:t>
            </a:r>
            <a:r>
              <a:rPr lang="fr-FR" i="1" dirty="0"/>
              <a:t>[…]</a:t>
            </a:r>
            <a:r>
              <a:rPr lang="fr-FR" dirty="0"/>
              <a:t>}</a:t>
            </a:r>
          </a:p>
          <a:p>
            <a:pPr>
              <a:buNone/>
            </a:pPr>
            <a:r>
              <a:rPr lang="fr-FR" dirty="0"/>
              <a:t>	] </a:t>
            </a:r>
          </a:p>
          <a:p>
            <a:pPr>
              <a:buNone/>
            </a:pPr>
            <a:r>
              <a:rPr lang="fr-FR" dirty="0"/>
              <a:t>}</a:t>
            </a:r>
          </a:p>
        </p:txBody>
      </p:sp>
      <p:sp>
        <p:nvSpPr>
          <p:cNvPr id="12" name="Espace réservé du texte 11"/>
          <p:cNvSpPr>
            <a:spLocks noGrp="1"/>
          </p:cNvSpPr>
          <p:nvPr>
            <p:ph type="body" sz="quarter" idx="3"/>
          </p:nvPr>
        </p:nvSpPr>
        <p:spPr/>
        <p:txBody>
          <a:bodyPr/>
          <a:lstStyle/>
          <a:p>
            <a:r>
              <a:rPr lang="fr-FR" dirty="0"/>
              <a:t>Représentation</a:t>
            </a:r>
          </a:p>
        </p:txBody>
      </p:sp>
      <p:sp>
        <p:nvSpPr>
          <p:cNvPr id="13" name="Espace réservé du contenu 12"/>
          <p:cNvSpPr>
            <a:spLocks noGrp="1"/>
          </p:cNvSpPr>
          <p:nvPr>
            <p:ph sz="quarter" idx="4"/>
          </p:nvPr>
        </p:nvSpPr>
        <p:spPr>
          <a:xfrm>
            <a:off x="4645025" y="1785926"/>
            <a:ext cx="4284693" cy="4714908"/>
          </a:xfrm>
        </p:spPr>
        <p:txBody>
          <a:bodyPr/>
          <a:lstStyle/>
          <a:p>
            <a:r>
              <a:rPr lang="fr-FR" dirty="0"/>
              <a:t>Association </a:t>
            </a:r>
          </a:p>
          <a:p>
            <a:pPr lvl="1"/>
            <a:r>
              <a:rPr lang="fr-FR" dirty="0"/>
              <a:t>"Clef"	Toujours entre " "</a:t>
            </a:r>
          </a:p>
          <a:p>
            <a:pPr lvl="1"/>
            <a:r>
              <a:rPr lang="fr-FR" dirty="0"/>
              <a:t>Valeur	Plusieurs types</a:t>
            </a:r>
          </a:p>
          <a:p>
            <a:pPr lvl="1"/>
            <a:endParaRPr lang="fr-FR" dirty="0"/>
          </a:p>
          <a:p>
            <a:pPr lvl="2"/>
            <a:r>
              <a:rPr lang="fr-FR" dirty="0"/>
              <a:t>Array</a:t>
            </a:r>
          </a:p>
          <a:p>
            <a:pPr lvl="3"/>
            <a:r>
              <a:rPr lang="fr-FR" b="1" dirty="0"/>
              <a:t>[</a:t>
            </a:r>
            <a:r>
              <a:rPr lang="fr-FR" dirty="0"/>
              <a:t>  </a:t>
            </a:r>
            <a:r>
              <a:rPr lang="fr-FR" i="1" dirty="0"/>
              <a:t>items</a:t>
            </a:r>
            <a:r>
              <a:rPr lang="fr-FR" dirty="0"/>
              <a:t> </a:t>
            </a:r>
            <a:r>
              <a:rPr lang="fr-FR" b="1" dirty="0"/>
              <a:t>]</a:t>
            </a:r>
            <a:endParaRPr lang="fr-FR" dirty="0"/>
          </a:p>
          <a:p>
            <a:pPr lvl="2"/>
            <a:r>
              <a:rPr lang="fr-FR" dirty="0"/>
              <a:t>Number</a:t>
            </a:r>
          </a:p>
          <a:p>
            <a:pPr lvl="2"/>
            <a:endParaRPr lang="fr-FR" dirty="0"/>
          </a:p>
          <a:p>
            <a:pPr lvl="2"/>
            <a:r>
              <a:rPr lang="fr-FR" dirty="0"/>
              <a:t>Objet</a:t>
            </a:r>
          </a:p>
          <a:p>
            <a:pPr lvl="3"/>
            <a:r>
              <a:rPr lang="fr-FR" b="1" dirty="0"/>
              <a:t>{</a:t>
            </a:r>
            <a:r>
              <a:rPr lang="fr-FR" dirty="0"/>
              <a:t> contenu </a:t>
            </a:r>
            <a:r>
              <a:rPr lang="fr-FR" b="1" dirty="0"/>
              <a:t>}</a:t>
            </a:r>
          </a:p>
          <a:p>
            <a:pPr lvl="2"/>
            <a:r>
              <a:rPr lang="fr-FR" dirty="0"/>
              <a:t>String</a:t>
            </a:r>
          </a:p>
          <a:p>
            <a:pPr lvl="3"/>
            <a:r>
              <a:rPr lang="fr-FR" b="1" dirty="0"/>
              <a:t>"</a:t>
            </a:r>
            <a:r>
              <a:rPr lang="fr-FR" dirty="0"/>
              <a:t>Valeur de la chaine</a:t>
            </a:r>
            <a:r>
              <a:rPr lang="fr-FR" b="1" dirty="0"/>
              <a:t>"</a:t>
            </a:r>
          </a:p>
          <a:p>
            <a:r>
              <a:rPr lang="fr-FR" dirty="0"/>
              <a:t>Séparateur de champs </a:t>
            </a:r>
            <a:r>
              <a:rPr lang="fr-FR" dirty="0">
                <a:sym typeface="Wingdings" pitchFamily="2" charset="2"/>
              </a:rPr>
              <a:t> '</a:t>
            </a:r>
            <a:r>
              <a:rPr lang="fr-FR" b="1" dirty="0">
                <a:sym typeface="Wingdings" pitchFamily="2" charset="2"/>
              </a:rPr>
              <a:t>,</a:t>
            </a:r>
            <a:r>
              <a:rPr lang="fr-FR" dirty="0">
                <a:sym typeface="Wingdings" pitchFamily="2" charset="2"/>
              </a:rPr>
              <a:t>' </a:t>
            </a:r>
            <a:endParaRPr lang="fr-FR" dirty="0"/>
          </a:p>
          <a:p>
            <a:pPr lvl="2"/>
            <a:endParaRPr lang="fr-FR" dirty="0"/>
          </a:p>
          <a:p>
            <a:pPr lvl="2"/>
            <a:endParaRPr lang="fr-FR" dirty="0"/>
          </a:p>
        </p:txBody>
      </p:sp>
      <p:sp>
        <p:nvSpPr>
          <p:cNvPr id="14" name="Rectangle à coins arrondis 13"/>
          <p:cNvSpPr/>
          <p:nvPr/>
        </p:nvSpPr>
        <p:spPr>
          <a:xfrm>
            <a:off x="642910" y="2071678"/>
            <a:ext cx="642942" cy="285752"/>
          </a:xfrm>
          <a:prstGeom prst="roundRect">
            <a:avLst/>
          </a:prstGeom>
          <a:solidFill>
            <a:schemeClr val="accent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5" name="Rectangle à coins arrondis 14"/>
          <p:cNvSpPr/>
          <p:nvPr/>
        </p:nvSpPr>
        <p:spPr>
          <a:xfrm>
            <a:off x="642910" y="2357430"/>
            <a:ext cx="1000132" cy="285752"/>
          </a:xfrm>
          <a:prstGeom prst="roundRect">
            <a:avLst/>
          </a:prstGeom>
          <a:solidFill>
            <a:schemeClr val="accent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6" name="Rectangle à coins arrondis 15"/>
          <p:cNvSpPr/>
          <p:nvPr/>
        </p:nvSpPr>
        <p:spPr>
          <a:xfrm>
            <a:off x="5429256" y="2214554"/>
            <a:ext cx="642942" cy="357190"/>
          </a:xfrm>
          <a:prstGeom prst="roundRect">
            <a:avLst/>
          </a:prstGeom>
          <a:solidFill>
            <a:schemeClr val="accent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7" name="Rectangle à coins arrondis 16"/>
          <p:cNvSpPr/>
          <p:nvPr/>
        </p:nvSpPr>
        <p:spPr>
          <a:xfrm>
            <a:off x="5429256" y="2643182"/>
            <a:ext cx="785818" cy="357190"/>
          </a:xfrm>
          <a:prstGeom prst="roundRect">
            <a:avLst/>
          </a:prstGeom>
          <a:solidFill>
            <a:schemeClr val="accent3">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8" name="Rectangle à coins arrondis 17"/>
          <p:cNvSpPr/>
          <p:nvPr/>
        </p:nvSpPr>
        <p:spPr>
          <a:xfrm>
            <a:off x="1285852" y="2071678"/>
            <a:ext cx="1928826" cy="285752"/>
          </a:xfrm>
          <a:prstGeom prst="roundRect">
            <a:avLst/>
          </a:prstGeom>
          <a:solidFill>
            <a:schemeClr val="accent3">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Rectangle à coins arrondis 18"/>
          <p:cNvSpPr/>
          <p:nvPr/>
        </p:nvSpPr>
        <p:spPr>
          <a:xfrm>
            <a:off x="2000232" y="2786058"/>
            <a:ext cx="1000132" cy="285752"/>
          </a:xfrm>
          <a:prstGeom prst="roundRect">
            <a:avLst/>
          </a:prstGeom>
          <a:solidFill>
            <a:schemeClr val="accent3">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Rectangle à coins arrondis 19"/>
          <p:cNvSpPr/>
          <p:nvPr/>
        </p:nvSpPr>
        <p:spPr>
          <a:xfrm>
            <a:off x="1285852" y="2786058"/>
            <a:ext cx="642942" cy="285752"/>
          </a:xfrm>
          <a:prstGeom prst="roundRect">
            <a:avLst/>
          </a:prstGeom>
          <a:solidFill>
            <a:schemeClr val="accent1">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1" name="Rectangle à coins arrondis 20"/>
          <p:cNvSpPr/>
          <p:nvPr/>
        </p:nvSpPr>
        <p:spPr>
          <a:xfrm>
            <a:off x="2071670" y="3786190"/>
            <a:ext cx="1643074" cy="785818"/>
          </a:xfrm>
          <a:prstGeom prst="roundRect">
            <a:avLst/>
          </a:prstGeom>
          <a:solidFill>
            <a:schemeClr val="accent4">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2" name="Rectangle à coins arrondis 21"/>
          <p:cNvSpPr/>
          <p:nvPr/>
        </p:nvSpPr>
        <p:spPr>
          <a:xfrm>
            <a:off x="2071670" y="5072074"/>
            <a:ext cx="1928826" cy="357190"/>
          </a:xfrm>
          <a:prstGeom prst="roundRect">
            <a:avLst/>
          </a:prstGeom>
          <a:solidFill>
            <a:schemeClr val="accent4">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3" name="Rectangle à coins arrondis 22"/>
          <p:cNvSpPr/>
          <p:nvPr/>
        </p:nvSpPr>
        <p:spPr>
          <a:xfrm>
            <a:off x="2500298" y="3938590"/>
            <a:ext cx="500066" cy="490542"/>
          </a:xfrm>
          <a:prstGeom prst="roundRect">
            <a:avLst/>
          </a:prstGeom>
          <a:solidFill>
            <a:schemeClr val="bg2">
              <a:lumMod val="50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nvGrpSpPr>
          <p:cNvPr id="34" name="Groupe 33"/>
          <p:cNvGrpSpPr/>
          <p:nvPr/>
        </p:nvGrpSpPr>
        <p:grpSpPr>
          <a:xfrm>
            <a:off x="5500694" y="3929066"/>
            <a:ext cx="1357322" cy="500066"/>
            <a:chOff x="5572132" y="3929066"/>
            <a:chExt cx="1357322" cy="500066"/>
          </a:xfrm>
        </p:grpSpPr>
        <p:sp>
          <p:nvSpPr>
            <p:cNvPr id="24" name="Rectangle à coins arrondis 23"/>
            <p:cNvSpPr/>
            <p:nvPr/>
          </p:nvSpPr>
          <p:spPr>
            <a:xfrm>
              <a:off x="5572132" y="3929066"/>
              <a:ext cx="1357322" cy="500066"/>
            </a:xfrm>
            <a:prstGeom prst="roundRect">
              <a:avLst/>
            </a:prstGeom>
            <a:solidFill>
              <a:schemeClr val="accent4">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5" name="Rectangle à coins arrondis 24"/>
            <p:cNvSpPr/>
            <p:nvPr/>
          </p:nvSpPr>
          <p:spPr>
            <a:xfrm>
              <a:off x="5581656" y="3929066"/>
              <a:ext cx="1347798" cy="490542"/>
            </a:xfrm>
            <a:prstGeom prst="roundRect">
              <a:avLst/>
            </a:prstGeom>
            <a:solidFill>
              <a:schemeClr val="bg2">
                <a:lumMod val="50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grpSp>
        <p:nvGrpSpPr>
          <p:cNvPr id="35" name="Groupe 34"/>
          <p:cNvGrpSpPr/>
          <p:nvPr/>
        </p:nvGrpSpPr>
        <p:grpSpPr>
          <a:xfrm>
            <a:off x="5562608" y="4572008"/>
            <a:ext cx="1081094" cy="357190"/>
            <a:chOff x="5562608" y="4643446"/>
            <a:chExt cx="1081094" cy="357190"/>
          </a:xfrm>
        </p:grpSpPr>
        <p:sp>
          <p:nvSpPr>
            <p:cNvPr id="26" name="Rectangle à coins arrondis 25"/>
            <p:cNvSpPr/>
            <p:nvPr/>
          </p:nvSpPr>
          <p:spPr>
            <a:xfrm>
              <a:off x="5562608" y="4643446"/>
              <a:ext cx="1081094" cy="357190"/>
            </a:xfrm>
            <a:prstGeom prst="roundRect">
              <a:avLst/>
            </a:prstGeom>
            <a:solidFill>
              <a:schemeClr val="accent4">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7" name="Rectangle à coins arrondis 26"/>
            <p:cNvSpPr/>
            <p:nvPr/>
          </p:nvSpPr>
          <p:spPr>
            <a:xfrm>
              <a:off x="5572132" y="4643446"/>
              <a:ext cx="1071570" cy="357190"/>
            </a:xfrm>
            <a:prstGeom prst="roundRect">
              <a:avLst/>
            </a:prstGeom>
            <a:solidFill>
              <a:srgbClr val="FFFF00">
                <a:alpha val="3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grpSp>
      <p:sp>
        <p:nvSpPr>
          <p:cNvPr id="28" name="Rectangle à coins arrondis 27"/>
          <p:cNvSpPr/>
          <p:nvPr/>
        </p:nvSpPr>
        <p:spPr>
          <a:xfrm>
            <a:off x="5643570" y="3286124"/>
            <a:ext cx="928694" cy="428628"/>
          </a:xfrm>
          <a:prstGeom prst="roundRect">
            <a:avLst/>
          </a:prstGeom>
          <a:solidFill>
            <a:schemeClr val="accent4">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0" name="Rectangle à coins arrondis 29"/>
          <p:cNvSpPr/>
          <p:nvPr/>
        </p:nvSpPr>
        <p:spPr>
          <a:xfrm>
            <a:off x="5572132" y="5214950"/>
            <a:ext cx="1071570" cy="428628"/>
          </a:xfrm>
          <a:prstGeom prst="roundRect">
            <a:avLst/>
          </a:prstGeom>
          <a:solidFill>
            <a:schemeClr val="accent6">
              <a:lumMod val="60000"/>
              <a:lumOff val="40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1" name="Rectangle à coins arrondis 30"/>
          <p:cNvSpPr/>
          <p:nvPr/>
        </p:nvSpPr>
        <p:spPr>
          <a:xfrm>
            <a:off x="2428860" y="3357562"/>
            <a:ext cx="714380" cy="285752"/>
          </a:xfrm>
          <a:prstGeom prst="roundRect">
            <a:avLst/>
          </a:prstGeom>
          <a:solidFill>
            <a:schemeClr val="accent6">
              <a:lumMod val="60000"/>
              <a:lumOff val="40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2" name="Rectangle à coins arrondis 31"/>
          <p:cNvSpPr/>
          <p:nvPr/>
        </p:nvSpPr>
        <p:spPr>
          <a:xfrm>
            <a:off x="2143108" y="5357826"/>
            <a:ext cx="714380" cy="285752"/>
          </a:xfrm>
          <a:prstGeom prst="roundRect">
            <a:avLst/>
          </a:prstGeom>
          <a:solidFill>
            <a:schemeClr val="accent6">
              <a:lumMod val="60000"/>
              <a:lumOff val="40000"/>
              <a:alpha val="4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33" name="Rectangle à coins arrondis 32"/>
          <p:cNvSpPr/>
          <p:nvPr/>
        </p:nvSpPr>
        <p:spPr>
          <a:xfrm>
            <a:off x="2071670" y="5072074"/>
            <a:ext cx="1928826" cy="357190"/>
          </a:xfrm>
          <a:prstGeom prst="roundRect">
            <a:avLst/>
          </a:prstGeom>
          <a:solidFill>
            <a:srgbClr val="FFFF00">
              <a:alpha val="2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pic>
        <p:nvPicPr>
          <p:cNvPr id="36" name="Picture 5" descr="C:\Users\Alex\Desktop\unnamed.png"/>
          <p:cNvPicPr>
            <a:picLocks noChangeAspect="1" noChangeArrowheads="1"/>
          </p:cNvPicPr>
          <p:nvPr/>
        </p:nvPicPr>
        <p:blipFill>
          <a:blip r:embed="rId3"/>
          <a:srcRect/>
          <a:stretch>
            <a:fillRect/>
          </a:stretch>
        </p:blipFill>
        <p:spPr bwMode="auto">
          <a:xfrm>
            <a:off x="6929454" y="0"/>
            <a:ext cx="2214546" cy="2214546"/>
          </a:xfrm>
          <a:prstGeom prst="rect">
            <a:avLst/>
          </a:prstGeom>
          <a:noFill/>
        </p:spPr>
      </p:pic>
      <p:sp>
        <p:nvSpPr>
          <p:cNvPr id="37" name="ZoneTexte 36"/>
          <p:cNvSpPr txBox="1"/>
          <p:nvPr/>
        </p:nvSpPr>
        <p:spPr>
          <a:xfrm rot="21302040">
            <a:off x="7076544" y="405666"/>
            <a:ext cx="1857388" cy="1477328"/>
          </a:xfrm>
          <a:prstGeom prst="rect">
            <a:avLst/>
          </a:prstGeom>
          <a:noFill/>
        </p:spPr>
        <p:txBody>
          <a:bodyPr wrap="square" rtlCol="0">
            <a:spAutoFit/>
          </a:bodyPr>
          <a:lstStyle/>
          <a:p>
            <a:pPr algn="ctr"/>
            <a:r>
              <a:rPr lang="fr-FR" dirty="0">
                <a:latin typeface="Permanent Marker" pitchFamily="2" charset="0"/>
                <a:ea typeface="Permanent Marker" pitchFamily="2" charset="0"/>
              </a:rPr>
              <a:t>Un flux est toujours </a:t>
            </a:r>
          </a:p>
          <a:p>
            <a:pPr algn="ctr"/>
            <a:r>
              <a:rPr lang="fr-FR" dirty="0">
                <a:latin typeface="Permanent Marker" pitchFamily="2" charset="0"/>
                <a:ea typeface="Permanent Marker" pitchFamily="2" charset="0"/>
              </a:rPr>
              <a:t>contenu entre </a:t>
            </a:r>
          </a:p>
          <a:p>
            <a:pPr algn="ctr"/>
            <a:r>
              <a:rPr lang="fr-FR" i="1" dirty="0">
                <a:latin typeface="Permanent Marker" pitchFamily="2" charset="0"/>
                <a:ea typeface="Permanent Marker" pitchFamily="2" charset="0"/>
              </a:rPr>
              <a:t>{ … } </a:t>
            </a:r>
          </a:p>
          <a:p>
            <a:pPr algn="ctr"/>
            <a:r>
              <a:rPr lang="fr-FR" dirty="0">
                <a:latin typeface="Permanent Marker" pitchFamily="2" charset="0"/>
                <a:ea typeface="Permanent Marker" pitchFamily="2" charset="0"/>
              </a:rPr>
              <a:t>principales</a:t>
            </a:r>
          </a:p>
        </p:txBody>
      </p:sp>
      <p:sp>
        <p:nvSpPr>
          <p:cNvPr id="38" name="Rectangle à coins arrondis 37"/>
          <p:cNvSpPr/>
          <p:nvPr/>
        </p:nvSpPr>
        <p:spPr>
          <a:xfrm>
            <a:off x="3071802" y="3929066"/>
            <a:ext cx="500066" cy="490542"/>
          </a:xfrm>
          <a:prstGeom prst="roundRect">
            <a:avLst/>
          </a:prstGeom>
          <a:solidFill>
            <a:schemeClr val="bg2">
              <a:lumMod val="50000"/>
              <a:alpha val="3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dirty="0"/>
          </a:p>
        </p:txBody>
      </p:sp>
    </p:spTree>
    <p:extLst>
      <p:ext uri="{BB962C8B-B14F-4D97-AF65-F5344CB8AC3E}">
        <p14:creationId xmlns:p14="http://schemas.microsoft.com/office/powerpoint/2010/main" val="42567747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E4B8A48E-25B2-7A48-BCF1-1909593D0F95}"/>
              </a:ext>
            </a:extLst>
          </p:cNvPr>
          <p:cNvSpPr>
            <a:spLocks noGrp="1"/>
          </p:cNvSpPr>
          <p:nvPr>
            <p:ph type="title"/>
          </p:nvPr>
        </p:nvSpPr>
        <p:spPr/>
        <p:txBody>
          <a:bodyPr/>
          <a:lstStyle/>
          <a:p>
            <a:r>
              <a:rPr lang="fr-FR" dirty="0"/>
              <a:t>JSON et Sérialisation / Désérialisation</a:t>
            </a:r>
          </a:p>
        </p:txBody>
      </p:sp>
      <p:sp>
        <p:nvSpPr>
          <p:cNvPr id="8" name="Espace réservé du contenu 7">
            <a:extLst>
              <a:ext uri="{FF2B5EF4-FFF2-40B4-BE49-F238E27FC236}">
                <a16:creationId xmlns:a16="http://schemas.microsoft.com/office/drawing/2014/main" id="{0B09065C-D438-45D7-B0BA-18A774DD2BC6}"/>
              </a:ext>
            </a:extLst>
          </p:cNvPr>
          <p:cNvSpPr>
            <a:spLocks noGrp="1"/>
          </p:cNvSpPr>
          <p:nvPr>
            <p:ph idx="1"/>
          </p:nvPr>
        </p:nvSpPr>
        <p:spPr/>
        <p:txBody>
          <a:bodyPr>
            <a:normAutofit fontScale="70000" lnSpcReduction="20000"/>
          </a:bodyPr>
          <a:lstStyle/>
          <a:p>
            <a:r>
              <a:rPr lang="fr-FR" dirty="0"/>
              <a:t>La sérialisation est un process qui permet de rendre une instance d’objet enregistrable</a:t>
            </a:r>
          </a:p>
          <a:p>
            <a:pPr lvl="2"/>
            <a:r>
              <a:rPr lang="fr-FR" dirty="0"/>
              <a:t>Seules les valeurs sont préservées</a:t>
            </a:r>
          </a:p>
          <a:p>
            <a:pPr lvl="2"/>
            <a:r>
              <a:rPr lang="fr-FR" dirty="0"/>
              <a:t>Aucune fonction n’est gardée</a:t>
            </a:r>
          </a:p>
          <a:p>
            <a:pPr marL="0" indent="0" algn="ctr">
              <a:buNone/>
            </a:pPr>
            <a:r>
              <a:rPr lang="fr-FR" b="1" i="1" dirty="0"/>
              <a:t>JSON.stringify(monObjet)</a:t>
            </a:r>
          </a:p>
          <a:p>
            <a:endParaRPr lang="fr-FR" dirty="0"/>
          </a:p>
          <a:p>
            <a:r>
              <a:rPr lang="fr-FR" dirty="0"/>
              <a:t>La désérialisation, est le processus inverse, il créer une instance d’objet a partir des valeurs </a:t>
            </a:r>
          </a:p>
          <a:p>
            <a:pPr marL="0" indent="0" algn="ctr">
              <a:buNone/>
            </a:pPr>
            <a:r>
              <a:rPr lang="fr-FR" b="1" i="1" dirty="0"/>
              <a:t>JSON.parse(‘chaine JSON’)</a:t>
            </a:r>
          </a:p>
          <a:p>
            <a:endParaRPr lang="fr-FR" b="1" dirty="0"/>
          </a:p>
          <a:p>
            <a:r>
              <a:rPr lang="fr-FR" b="1" dirty="0"/>
              <a:t>Attention</a:t>
            </a:r>
            <a:r>
              <a:rPr lang="fr-FR" dirty="0"/>
              <a:t> la désérialisation rend une instance d’objet générique. Si c’est pour peupler une instance d’objet spécifique et que les valeurs correspondent alors on peut merger les objets</a:t>
            </a:r>
          </a:p>
          <a:p>
            <a:pPr marL="0" indent="0" algn="ctr">
              <a:buNone/>
            </a:pPr>
            <a:r>
              <a:rPr lang="fr-FR" b="1" i="1" dirty="0"/>
              <a:t>Object.assign(instanceClass,objectParsed)</a:t>
            </a:r>
          </a:p>
          <a:p>
            <a:endParaRPr lang="fr-FR" dirty="0"/>
          </a:p>
          <a:p>
            <a:r>
              <a:rPr lang="fr-FR" dirty="0"/>
              <a:t>Si les champs ne correspondent pas, une fonction de mapping du parsing générique devra être écrite</a:t>
            </a:r>
          </a:p>
        </p:txBody>
      </p:sp>
    </p:spTree>
    <p:extLst>
      <p:ext uri="{BB962C8B-B14F-4D97-AF65-F5344CB8AC3E}">
        <p14:creationId xmlns:p14="http://schemas.microsoft.com/office/powerpoint/2010/main" val="124868784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452191C-BE54-A3DD-E2E3-6177559D7655}"/>
              </a:ext>
            </a:extLst>
          </p:cNvPr>
          <p:cNvSpPr>
            <a:spLocks noGrp="1"/>
          </p:cNvSpPr>
          <p:nvPr>
            <p:ph type="title"/>
          </p:nvPr>
        </p:nvSpPr>
        <p:spPr>
          <a:xfrm>
            <a:off x="760040" y="4406900"/>
            <a:ext cx="7772400" cy="1362075"/>
          </a:xfrm>
        </p:spPr>
        <p:txBody>
          <a:bodyPr/>
          <a:lstStyle/>
          <a:p>
            <a:r>
              <a:rPr lang="fr-FR" dirty="0"/>
              <a:t>6. Evènements Js</a:t>
            </a:r>
          </a:p>
        </p:txBody>
      </p:sp>
      <p:sp>
        <p:nvSpPr>
          <p:cNvPr id="5" name="Espace réservé du texte 4">
            <a:extLst>
              <a:ext uri="{FF2B5EF4-FFF2-40B4-BE49-F238E27FC236}">
                <a16:creationId xmlns:a16="http://schemas.microsoft.com/office/drawing/2014/main" id="{56BE42AC-84F7-B43F-5BD8-C567BA0907F9}"/>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1129707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48BA233-9E19-C0CF-F4BA-D46AFEBB1C19}"/>
              </a:ext>
            </a:extLst>
          </p:cNvPr>
          <p:cNvSpPr>
            <a:spLocks noGrp="1"/>
          </p:cNvSpPr>
          <p:nvPr>
            <p:ph type="title"/>
          </p:nvPr>
        </p:nvSpPr>
        <p:spPr/>
        <p:txBody>
          <a:bodyPr/>
          <a:lstStyle/>
          <a:p>
            <a:r>
              <a:rPr lang="fr-FR" dirty="0"/>
              <a:t>System d’évènements</a:t>
            </a:r>
          </a:p>
        </p:txBody>
      </p:sp>
      <p:sp>
        <p:nvSpPr>
          <p:cNvPr id="5" name="Espace réservé du contenu 4">
            <a:extLst>
              <a:ext uri="{FF2B5EF4-FFF2-40B4-BE49-F238E27FC236}">
                <a16:creationId xmlns:a16="http://schemas.microsoft.com/office/drawing/2014/main" id="{817B0FAC-AEBC-8974-E66F-39B7E5A8D975}"/>
              </a:ext>
            </a:extLst>
          </p:cNvPr>
          <p:cNvSpPr>
            <a:spLocks noGrp="1"/>
          </p:cNvSpPr>
          <p:nvPr>
            <p:ph idx="1"/>
          </p:nvPr>
        </p:nvSpPr>
        <p:spPr/>
        <p:txBody>
          <a:bodyPr>
            <a:normAutofit fontScale="70000" lnSpcReduction="20000"/>
          </a:bodyPr>
          <a:lstStyle/>
          <a:p>
            <a:r>
              <a:rPr lang="fr-FR" dirty="0"/>
              <a:t>La représentation DOM est l’affichage des balises, pour interagir il nécessite la gestion des évènements qui se produise dans la fenêtre</a:t>
            </a:r>
          </a:p>
          <a:p>
            <a:pPr lvl="1"/>
            <a:endParaRPr lang="fr-FR" dirty="0"/>
          </a:p>
          <a:p>
            <a:pPr lvl="1"/>
            <a:r>
              <a:rPr lang="fr-FR" dirty="0"/>
              <a:t>Chaque action déclenche un évènement associé au type d’action rencontré</a:t>
            </a:r>
          </a:p>
          <a:p>
            <a:pPr lvl="3"/>
            <a:r>
              <a:rPr lang="fr-FR" dirty="0"/>
              <a:t>DOM EVENT</a:t>
            </a:r>
          </a:p>
          <a:p>
            <a:pPr lvl="3"/>
            <a:r>
              <a:rPr lang="fr-FR" dirty="0"/>
              <a:t>MouseEvent</a:t>
            </a:r>
          </a:p>
          <a:p>
            <a:pPr lvl="3"/>
            <a:r>
              <a:rPr lang="fr-FR" dirty="0"/>
              <a:t>KeyboardEvent</a:t>
            </a:r>
          </a:p>
          <a:p>
            <a:pPr lvl="1"/>
            <a:endParaRPr lang="fr-FR" dirty="0"/>
          </a:p>
          <a:p>
            <a:pPr lvl="1"/>
            <a:r>
              <a:rPr lang="fr-FR" dirty="0"/>
              <a:t>Ces événements peuvent déclencher des fonctions associées lorsqu’elles sont écoutées</a:t>
            </a:r>
          </a:p>
          <a:p>
            <a:pPr lvl="3"/>
            <a:r>
              <a:rPr lang="fr-FR" i="1" dirty="0"/>
              <a:t>baliseDOM.</a:t>
            </a:r>
            <a:r>
              <a:rPr lang="fr-FR" b="1" i="1" dirty="0"/>
              <a:t>addEventListener</a:t>
            </a:r>
            <a:r>
              <a:rPr lang="fr-FR" i="1" dirty="0"/>
              <a:t>(‘</a:t>
            </a:r>
            <a:r>
              <a:rPr lang="fr-FR" i="1" dirty="0" err="1"/>
              <a:t>event</a:t>
            </a:r>
            <a:r>
              <a:rPr lang="fr-FR" i="1" dirty="0"/>
              <a:t>’,(</a:t>
            </a:r>
            <a:r>
              <a:rPr lang="fr-FR" i="1" dirty="0" err="1"/>
              <a:t>objtEvent</a:t>
            </a:r>
            <a:r>
              <a:rPr lang="fr-FR" i="1" dirty="0"/>
              <a:t>)=&gt;{…..})</a:t>
            </a:r>
            <a:endParaRPr lang="fr-FR" dirty="0"/>
          </a:p>
          <a:p>
            <a:endParaRPr lang="fr-FR" dirty="0"/>
          </a:p>
          <a:p>
            <a:r>
              <a:rPr lang="fr-FR" dirty="0"/>
              <a:t>Les évènements sont liés a un contexte ou ils sont écoutés</a:t>
            </a:r>
          </a:p>
          <a:p>
            <a:pPr lvl="2"/>
            <a:r>
              <a:rPr lang="fr-FR" dirty="0"/>
              <a:t>Balise</a:t>
            </a:r>
          </a:p>
          <a:p>
            <a:pPr lvl="2"/>
            <a:r>
              <a:rPr lang="fr-FR" dirty="0"/>
              <a:t>Window</a:t>
            </a:r>
          </a:p>
          <a:p>
            <a:pPr lvl="2"/>
            <a:r>
              <a:rPr lang="fr-FR" dirty="0"/>
              <a:t>Storage, …</a:t>
            </a:r>
          </a:p>
          <a:p>
            <a:pPr lvl="2"/>
            <a:endParaRPr lang="fr-FR" dirty="0"/>
          </a:p>
        </p:txBody>
      </p:sp>
    </p:spTree>
    <p:extLst>
      <p:ext uri="{BB962C8B-B14F-4D97-AF65-F5344CB8AC3E}">
        <p14:creationId xmlns:p14="http://schemas.microsoft.com/office/powerpoint/2010/main" val="11353213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52E7F7-40F1-4299-39F2-DDCD02C60F9C}"/>
              </a:ext>
            </a:extLst>
          </p:cNvPr>
          <p:cNvSpPr>
            <a:spLocks noGrp="1"/>
          </p:cNvSpPr>
          <p:nvPr>
            <p:ph type="title"/>
          </p:nvPr>
        </p:nvSpPr>
        <p:spPr/>
        <p:txBody>
          <a:bodyPr/>
          <a:lstStyle/>
          <a:p>
            <a:r>
              <a:rPr lang="fr-FR" dirty="0"/>
              <a:t>La propagation des events</a:t>
            </a:r>
          </a:p>
        </p:txBody>
      </p:sp>
      <p:sp>
        <p:nvSpPr>
          <p:cNvPr id="3" name="Espace réservé du contenu 2">
            <a:extLst>
              <a:ext uri="{FF2B5EF4-FFF2-40B4-BE49-F238E27FC236}">
                <a16:creationId xmlns:a16="http://schemas.microsoft.com/office/drawing/2014/main" id="{A6EA72E6-D467-DCA2-9DF6-32FCA500E3FD}"/>
              </a:ext>
            </a:extLst>
          </p:cNvPr>
          <p:cNvSpPr>
            <a:spLocks noGrp="1"/>
          </p:cNvSpPr>
          <p:nvPr>
            <p:ph idx="1"/>
          </p:nvPr>
        </p:nvSpPr>
        <p:spPr>
          <a:xfrm>
            <a:off x="285720" y="1142984"/>
            <a:ext cx="8572560" cy="5572164"/>
          </a:xfrm>
        </p:spPr>
        <p:txBody>
          <a:bodyPr>
            <a:normAutofit fontScale="77500" lnSpcReduction="20000"/>
          </a:bodyPr>
          <a:lstStyle/>
          <a:p>
            <a:r>
              <a:rPr lang="fr-FR" sz="2600" dirty="0"/>
              <a:t>Les events sont par nature propagés :</a:t>
            </a:r>
          </a:p>
          <a:p>
            <a:r>
              <a:rPr lang="fr-FR" sz="2600" dirty="0"/>
              <a:t>Lorsque on clique sur l’image, indirectement on clique sur:</a:t>
            </a:r>
          </a:p>
          <a:p>
            <a:pPr lvl="2"/>
            <a:r>
              <a:rPr lang="fr-FR" sz="1900" dirty="0"/>
              <a:t>Div.container</a:t>
            </a:r>
          </a:p>
          <a:p>
            <a:pPr lvl="2"/>
            <a:r>
              <a:rPr lang="fr-FR" sz="1900" dirty="0"/>
              <a:t>Div.main</a:t>
            </a:r>
          </a:p>
          <a:p>
            <a:pPr lvl="2"/>
            <a:r>
              <a:rPr lang="fr-FR" sz="1900" dirty="0"/>
              <a:t>Window</a:t>
            </a:r>
          </a:p>
          <a:p>
            <a:endParaRPr lang="fr-FR" sz="2600" dirty="0"/>
          </a:p>
          <a:p>
            <a:r>
              <a:rPr lang="fr-FR" sz="2600" dirty="0"/>
              <a:t>Chaque niveau de balise</a:t>
            </a:r>
          </a:p>
          <a:p>
            <a:pPr marL="0" indent="0">
              <a:buNone/>
            </a:pPr>
            <a:r>
              <a:rPr lang="fr-FR" sz="2600" dirty="0"/>
              <a:t>peux posséder sa gestion de</a:t>
            </a:r>
          </a:p>
          <a:p>
            <a:pPr marL="0" indent="0">
              <a:buNone/>
            </a:pPr>
            <a:r>
              <a:rPr lang="fr-FR" sz="2600" dirty="0"/>
              <a:t>l’évènement </a:t>
            </a:r>
            <a:r>
              <a:rPr lang="fr-FR" sz="2600" i="1" dirty="0"/>
              <a:t>click</a:t>
            </a:r>
            <a:r>
              <a:rPr lang="fr-FR" sz="2600" dirty="0"/>
              <a:t> si il est </a:t>
            </a:r>
          </a:p>
          <a:p>
            <a:pPr marL="0" indent="0">
              <a:buNone/>
            </a:pPr>
            <a:r>
              <a:rPr lang="fr-FR" sz="2600" dirty="0"/>
              <a:t>Disponible dans la balise</a:t>
            </a:r>
            <a:endParaRPr lang="fr-FR" sz="2600" i="1" dirty="0"/>
          </a:p>
          <a:p>
            <a:pPr marL="0" indent="0">
              <a:buNone/>
            </a:pPr>
            <a:endParaRPr lang="fr-FR" sz="2600" i="1" dirty="0"/>
          </a:p>
          <a:p>
            <a:r>
              <a:rPr lang="fr-FR" sz="2400" dirty="0"/>
              <a:t>L’évènement est donc </a:t>
            </a:r>
          </a:p>
          <a:p>
            <a:pPr marL="0" indent="0">
              <a:buNone/>
            </a:pPr>
            <a:r>
              <a:rPr lang="fr-FR" sz="2400" dirty="0"/>
              <a:t>diffusé à chaque couche de </a:t>
            </a:r>
          </a:p>
          <a:p>
            <a:pPr marL="0" indent="0">
              <a:buNone/>
            </a:pPr>
            <a:r>
              <a:rPr lang="fr-FR" sz="2400" dirty="0"/>
              <a:t>balises parent contenant </a:t>
            </a:r>
          </a:p>
          <a:p>
            <a:pPr marL="0" indent="0">
              <a:buNone/>
            </a:pPr>
            <a:r>
              <a:rPr lang="fr-FR" sz="2400" dirty="0"/>
              <a:t>la balise déclencheur de </a:t>
            </a:r>
          </a:p>
          <a:p>
            <a:pPr marL="0" indent="0">
              <a:buNone/>
            </a:pPr>
            <a:r>
              <a:rPr lang="fr-FR" sz="2400" dirty="0"/>
              <a:t>l’évènement</a:t>
            </a:r>
          </a:p>
          <a:p>
            <a:pPr marL="0" indent="0">
              <a:buNone/>
            </a:pPr>
            <a:endParaRPr lang="fr-FR" sz="2400" dirty="0"/>
          </a:p>
          <a:p>
            <a:r>
              <a:rPr lang="fr-FR" sz="2400" dirty="0"/>
              <a:t>Il est possible d’ arrêter la propagation :</a:t>
            </a:r>
          </a:p>
          <a:p>
            <a:pPr lvl="2"/>
            <a:r>
              <a:rPr lang="fr-FR" sz="2300" b="1" i="1" dirty="0"/>
              <a:t>objetEvent.stopPropagation()</a:t>
            </a:r>
          </a:p>
        </p:txBody>
      </p:sp>
      <p:grpSp>
        <p:nvGrpSpPr>
          <p:cNvPr id="14" name="Groupe 13">
            <a:extLst>
              <a:ext uri="{FF2B5EF4-FFF2-40B4-BE49-F238E27FC236}">
                <a16:creationId xmlns:a16="http://schemas.microsoft.com/office/drawing/2014/main" id="{DB485BB6-C56E-D7CE-8157-1BE14D7A92FD}"/>
              </a:ext>
            </a:extLst>
          </p:cNvPr>
          <p:cNvGrpSpPr/>
          <p:nvPr/>
        </p:nvGrpSpPr>
        <p:grpSpPr>
          <a:xfrm>
            <a:off x="4092300" y="1935072"/>
            <a:ext cx="4944196" cy="3726176"/>
            <a:chOff x="3635896" y="2492896"/>
            <a:chExt cx="4944196" cy="3726176"/>
          </a:xfrm>
        </p:grpSpPr>
        <p:pic>
          <p:nvPicPr>
            <p:cNvPr id="4" name="Image 3">
              <a:extLst>
                <a:ext uri="{FF2B5EF4-FFF2-40B4-BE49-F238E27FC236}">
                  <a16:creationId xmlns:a16="http://schemas.microsoft.com/office/drawing/2014/main" id="{1DD03FAD-3F24-C5A2-F200-7ED7450884FA}"/>
                </a:ext>
              </a:extLst>
            </p:cNvPr>
            <p:cNvPicPr>
              <a:picLocks noChangeAspect="1"/>
            </p:cNvPicPr>
            <p:nvPr/>
          </p:nvPicPr>
          <p:blipFill>
            <a:blip r:embed="rId2"/>
            <a:stretch>
              <a:fillRect/>
            </a:stretch>
          </p:blipFill>
          <p:spPr>
            <a:xfrm>
              <a:off x="3635896" y="2492896"/>
              <a:ext cx="4944196" cy="3726176"/>
            </a:xfrm>
            <a:prstGeom prst="rect">
              <a:avLst/>
            </a:prstGeom>
          </p:spPr>
        </p:pic>
        <p:sp>
          <p:nvSpPr>
            <p:cNvPr id="5" name="Rectangle 4">
              <a:extLst>
                <a:ext uri="{FF2B5EF4-FFF2-40B4-BE49-F238E27FC236}">
                  <a16:creationId xmlns:a16="http://schemas.microsoft.com/office/drawing/2014/main" id="{8E79AFD8-E15F-A38B-2768-85DD664F9F03}"/>
                </a:ext>
              </a:extLst>
            </p:cNvPr>
            <p:cNvSpPr/>
            <p:nvPr/>
          </p:nvSpPr>
          <p:spPr>
            <a:xfrm>
              <a:off x="4283968" y="3429000"/>
              <a:ext cx="4032448" cy="25922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fr-FR" dirty="0"/>
                <a:t>div.main</a:t>
              </a:r>
            </a:p>
          </p:txBody>
        </p:sp>
        <p:sp>
          <p:nvSpPr>
            <p:cNvPr id="6" name="Rectangle 5">
              <a:extLst>
                <a:ext uri="{FF2B5EF4-FFF2-40B4-BE49-F238E27FC236}">
                  <a16:creationId xmlns:a16="http://schemas.microsoft.com/office/drawing/2014/main" id="{35950DB5-3C36-B064-677C-610FB01F16DA}"/>
                </a:ext>
              </a:extLst>
            </p:cNvPr>
            <p:cNvSpPr/>
            <p:nvPr/>
          </p:nvSpPr>
          <p:spPr>
            <a:xfrm>
              <a:off x="4644008" y="4149080"/>
              <a:ext cx="3320752" cy="1656184"/>
            </a:xfrm>
            <a:prstGeom prst="rect">
              <a:avLst/>
            </a:prstGeom>
          </p:spPr>
          <p:style>
            <a:lnRef idx="2">
              <a:schemeClr val="accent4">
                <a:shade val="15000"/>
              </a:schemeClr>
            </a:lnRef>
            <a:fillRef idx="1">
              <a:schemeClr val="accent4"/>
            </a:fillRef>
            <a:effectRef idx="0">
              <a:schemeClr val="accent4"/>
            </a:effectRef>
            <a:fontRef idx="minor">
              <a:schemeClr val="lt1"/>
            </a:fontRef>
          </p:style>
          <p:txBody>
            <a:bodyPr rtlCol="0" anchor="t" anchorCtr="0"/>
            <a:lstStyle/>
            <a:p>
              <a:pPr algn="ctr"/>
              <a:r>
                <a:rPr lang="fr-FR" dirty="0"/>
                <a:t>div.container</a:t>
              </a:r>
            </a:p>
          </p:txBody>
        </p:sp>
        <p:sp>
          <p:nvSpPr>
            <p:cNvPr id="7" name="Rectangle : coins arrondis 6">
              <a:extLst>
                <a:ext uri="{FF2B5EF4-FFF2-40B4-BE49-F238E27FC236}">
                  <a16:creationId xmlns:a16="http://schemas.microsoft.com/office/drawing/2014/main" id="{ED67E3AE-3490-9498-981C-99FA5039B2C4}"/>
                </a:ext>
              </a:extLst>
            </p:cNvPr>
            <p:cNvSpPr/>
            <p:nvPr/>
          </p:nvSpPr>
          <p:spPr>
            <a:xfrm>
              <a:off x="5148064" y="4869160"/>
              <a:ext cx="2304256" cy="648072"/>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fr-FR" dirty="0"/>
                <a:t>img</a:t>
              </a:r>
            </a:p>
          </p:txBody>
        </p:sp>
        <p:cxnSp>
          <p:nvCxnSpPr>
            <p:cNvPr id="9" name="Connecteur droit avec flèche 8">
              <a:extLst>
                <a:ext uri="{FF2B5EF4-FFF2-40B4-BE49-F238E27FC236}">
                  <a16:creationId xmlns:a16="http://schemas.microsoft.com/office/drawing/2014/main" id="{31A6D9D4-CA78-52ED-9E50-A687FC886AB8}"/>
                </a:ext>
              </a:extLst>
            </p:cNvPr>
            <p:cNvCxnSpPr>
              <a:stCxn id="7" idx="0"/>
            </p:cNvCxnSpPr>
            <p:nvPr/>
          </p:nvCxnSpPr>
          <p:spPr>
            <a:xfrm flipV="1">
              <a:off x="6300192" y="4581128"/>
              <a:ext cx="0" cy="288032"/>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cxnSp>
          <p:nvCxnSpPr>
            <p:cNvPr id="11" name="Connecteur droit avec flèche 10">
              <a:extLst>
                <a:ext uri="{FF2B5EF4-FFF2-40B4-BE49-F238E27FC236}">
                  <a16:creationId xmlns:a16="http://schemas.microsoft.com/office/drawing/2014/main" id="{BB58A37E-A774-7A40-046C-A7418FEFCAF9}"/>
                </a:ext>
              </a:extLst>
            </p:cNvPr>
            <p:cNvCxnSpPr>
              <a:stCxn id="6" idx="0"/>
            </p:cNvCxnSpPr>
            <p:nvPr/>
          </p:nvCxnSpPr>
          <p:spPr>
            <a:xfrm flipH="1" flipV="1">
              <a:off x="6300192" y="3861048"/>
              <a:ext cx="4192" cy="288032"/>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cxnSp>
          <p:nvCxnSpPr>
            <p:cNvPr id="13" name="Connecteur droit avec flèche 12">
              <a:extLst>
                <a:ext uri="{FF2B5EF4-FFF2-40B4-BE49-F238E27FC236}">
                  <a16:creationId xmlns:a16="http://schemas.microsoft.com/office/drawing/2014/main" id="{335AF5E6-805C-436C-7C08-1481669435D9}"/>
                </a:ext>
              </a:extLst>
            </p:cNvPr>
            <p:cNvCxnSpPr>
              <a:stCxn id="5" idx="0"/>
            </p:cNvCxnSpPr>
            <p:nvPr/>
          </p:nvCxnSpPr>
          <p:spPr>
            <a:xfrm flipV="1">
              <a:off x="6300192" y="3068960"/>
              <a:ext cx="0" cy="360040"/>
            </a:xfrm>
            <a:prstGeom prst="straightConnector1">
              <a:avLst/>
            </a:prstGeom>
            <a:ln w="76200">
              <a:tailEnd type="triangle"/>
            </a:ln>
          </p:spPr>
          <p:style>
            <a:lnRef idx="3">
              <a:schemeClr val="accent5"/>
            </a:lnRef>
            <a:fillRef idx="0">
              <a:schemeClr val="accent5"/>
            </a:fillRef>
            <a:effectRef idx="2">
              <a:schemeClr val="accent5"/>
            </a:effectRef>
            <a:fontRef idx="minor">
              <a:schemeClr val="tx1"/>
            </a:fontRef>
          </p:style>
        </p:cxnSp>
      </p:grpSp>
    </p:spTree>
    <p:extLst>
      <p:ext uri="{BB962C8B-B14F-4D97-AF65-F5344CB8AC3E}">
        <p14:creationId xmlns:p14="http://schemas.microsoft.com/office/powerpoint/2010/main" val="362069133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9E5E56-0067-6CDE-9A5E-6513CFAA2296}"/>
              </a:ext>
            </a:extLst>
          </p:cNvPr>
          <p:cNvSpPr>
            <a:spLocks noGrp="1"/>
          </p:cNvSpPr>
          <p:nvPr>
            <p:ph type="title"/>
          </p:nvPr>
        </p:nvSpPr>
        <p:spPr/>
        <p:txBody>
          <a:bodyPr/>
          <a:lstStyle/>
          <a:p>
            <a:r>
              <a:rPr lang="fr-FR" dirty="0"/>
              <a:t>Comportement par défaut d’event</a:t>
            </a:r>
          </a:p>
        </p:txBody>
      </p:sp>
      <p:sp>
        <p:nvSpPr>
          <p:cNvPr id="3" name="Espace réservé du contenu 2">
            <a:extLst>
              <a:ext uri="{FF2B5EF4-FFF2-40B4-BE49-F238E27FC236}">
                <a16:creationId xmlns:a16="http://schemas.microsoft.com/office/drawing/2014/main" id="{1D23E388-53E9-C7BB-BED4-52C89B731FC2}"/>
              </a:ext>
            </a:extLst>
          </p:cNvPr>
          <p:cNvSpPr>
            <a:spLocks noGrp="1"/>
          </p:cNvSpPr>
          <p:nvPr>
            <p:ph idx="1"/>
          </p:nvPr>
        </p:nvSpPr>
        <p:spPr/>
        <p:txBody>
          <a:bodyPr>
            <a:normAutofit fontScale="92500" lnSpcReduction="10000"/>
          </a:bodyPr>
          <a:lstStyle/>
          <a:p>
            <a:r>
              <a:rPr lang="fr-FR" dirty="0"/>
              <a:t>Certaines balises possèdent un comportement par défaut lors du déclenchement de certains events :</a:t>
            </a:r>
          </a:p>
          <a:p>
            <a:pPr lvl="2"/>
            <a:r>
              <a:rPr lang="fr-FR" dirty="0"/>
              <a:t>Liens &lt;a href=«  »&gt; </a:t>
            </a:r>
          </a:p>
          <a:p>
            <a:pPr lvl="3"/>
            <a:r>
              <a:rPr lang="fr-FR" dirty="0"/>
              <a:t>rechargement de la page vers </a:t>
            </a:r>
            <a:r>
              <a:rPr lang="fr-FR" i="1" dirty="0"/>
              <a:t>href</a:t>
            </a:r>
          </a:p>
          <a:p>
            <a:pPr lvl="2"/>
            <a:endParaRPr lang="fr-FR" i="1" dirty="0"/>
          </a:p>
          <a:p>
            <a:pPr lvl="2"/>
            <a:r>
              <a:rPr lang="fr-FR" i="1" dirty="0"/>
              <a:t>Formulaire &lt;form action=«  » method=«  »&gt; </a:t>
            </a:r>
          </a:p>
          <a:p>
            <a:pPr lvl="3"/>
            <a:r>
              <a:rPr lang="fr-FR" dirty="0"/>
              <a:t>Rechargement de la page vers le lien </a:t>
            </a:r>
            <a:r>
              <a:rPr lang="fr-FR" i="1" dirty="0"/>
              <a:t>action</a:t>
            </a:r>
          </a:p>
          <a:p>
            <a:pPr lvl="3"/>
            <a:r>
              <a:rPr lang="fr-FR" dirty="0"/>
              <a:t>Surcharge de l’url avec query string si </a:t>
            </a:r>
            <a:r>
              <a:rPr lang="fr-FR" i="1" dirty="0"/>
              <a:t>method="GET"</a:t>
            </a:r>
          </a:p>
          <a:p>
            <a:pPr lvl="3"/>
            <a:endParaRPr lang="fr-FR" i="1" dirty="0"/>
          </a:p>
          <a:p>
            <a:r>
              <a:rPr lang="fr-FR" i="1" dirty="0"/>
              <a:t>Ces comportements peuvent être arrêter par l’objet d’event grâce à </a:t>
            </a:r>
            <a:r>
              <a:rPr lang="fr-FR" b="1" i="1" dirty="0"/>
              <a:t>objetEvent.preventDefault()</a:t>
            </a:r>
          </a:p>
          <a:p>
            <a:pPr lvl="2"/>
            <a:r>
              <a:rPr lang="fr-FR" i="1" dirty="0"/>
              <a:t>Liens sur l’event onclick</a:t>
            </a:r>
          </a:p>
          <a:p>
            <a:pPr lvl="2"/>
            <a:r>
              <a:rPr lang="fr-FR" i="1" dirty="0"/>
              <a:t>Formulaire sur l’event onsubmit</a:t>
            </a:r>
          </a:p>
        </p:txBody>
      </p:sp>
    </p:spTree>
    <p:extLst>
      <p:ext uri="{BB962C8B-B14F-4D97-AF65-F5344CB8AC3E}">
        <p14:creationId xmlns:p14="http://schemas.microsoft.com/office/powerpoint/2010/main" val="326747416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D2BA172-316A-5509-2B1B-5E4C91AB9502}"/>
              </a:ext>
            </a:extLst>
          </p:cNvPr>
          <p:cNvSpPr>
            <a:spLocks noGrp="1"/>
          </p:cNvSpPr>
          <p:nvPr>
            <p:ph type="title"/>
          </p:nvPr>
        </p:nvSpPr>
        <p:spPr/>
        <p:txBody>
          <a:bodyPr/>
          <a:lstStyle/>
          <a:p>
            <a:r>
              <a:rPr lang="fr-FR" dirty="0"/>
              <a:t>Event et formulaire</a:t>
            </a:r>
          </a:p>
        </p:txBody>
      </p:sp>
      <p:sp>
        <p:nvSpPr>
          <p:cNvPr id="3" name="Espace réservé du contenu 2">
            <a:extLst>
              <a:ext uri="{FF2B5EF4-FFF2-40B4-BE49-F238E27FC236}">
                <a16:creationId xmlns:a16="http://schemas.microsoft.com/office/drawing/2014/main" id="{903D3E40-E7F6-0F32-4280-B480715E3659}"/>
              </a:ext>
            </a:extLst>
          </p:cNvPr>
          <p:cNvSpPr>
            <a:spLocks noGrp="1"/>
          </p:cNvSpPr>
          <p:nvPr>
            <p:ph idx="1"/>
          </p:nvPr>
        </p:nvSpPr>
        <p:spPr/>
        <p:txBody>
          <a:bodyPr>
            <a:normAutofit fontScale="92500" lnSpcReduction="20000"/>
          </a:bodyPr>
          <a:lstStyle/>
          <a:p>
            <a:r>
              <a:rPr lang="fr-FR" dirty="0"/>
              <a:t>Les formulaires possèdent 2 events spécifiques</a:t>
            </a:r>
          </a:p>
          <a:p>
            <a:pPr lvl="2"/>
            <a:r>
              <a:rPr lang="fr-FR" b="1" dirty="0"/>
              <a:t>submit</a:t>
            </a:r>
          </a:p>
          <a:p>
            <a:pPr lvl="3"/>
            <a:r>
              <a:rPr lang="fr-FR" dirty="0"/>
              <a:t>Evènement levé lorsque un </a:t>
            </a:r>
            <a:r>
              <a:rPr lang="fr-FR" i="1" dirty="0"/>
              <a:t>Button</a:t>
            </a:r>
            <a:r>
              <a:rPr lang="fr-FR" dirty="0"/>
              <a:t> type </a:t>
            </a:r>
            <a:r>
              <a:rPr lang="fr-FR" i="1" dirty="0"/>
              <a:t>submit</a:t>
            </a:r>
            <a:r>
              <a:rPr lang="fr-FR" dirty="0"/>
              <a:t> est pressé ou par instruction js</a:t>
            </a:r>
          </a:p>
          <a:p>
            <a:pPr lvl="3"/>
            <a:r>
              <a:rPr lang="fr-FR" dirty="0"/>
              <a:t>Cette action doit en premier stopper le comportement par défaut du formulaire (</a:t>
            </a:r>
            <a:r>
              <a:rPr lang="fr-FR" i="1" dirty="0"/>
              <a:t>preventDefault)</a:t>
            </a:r>
            <a:r>
              <a:rPr lang="fr-FR" dirty="0"/>
              <a:t> avant toute autre instruction</a:t>
            </a:r>
          </a:p>
          <a:p>
            <a:pPr lvl="3"/>
            <a:r>
              <a:rPr lang="fr-FR" dirty="0"/>
              <a:t>Cet évènement peut être déclenché par js : monForm.submit()</a:t>
            </a:r>
          </a:p>
          <a:p>
            <a:pPr lvl="2"/>
            <a:endParaRPr lang="fr-FR" dirty="0"/>
          </a:p>
          <a:p>
            <a:pPr lvl="2"/>
            <a:r>
              <a:rPr lang="fr-FR" b="1" dirty="0"/>
              <a:t>reset</a:t>
            </a:r>
          </a:p>
          <a:p>
            <a:pPr lvl="3"/>
            <a:r>
              <a:rPr lang="fr-FR" dirty="0"/>
              <a:t>Evènement levé lorsque un </a:t>
            </a:r>
            <a:r>
              <a:rPr lang="fr-FR" i="1" dirty="0"/>
              <a:t>Button</a:t>
            </a:r>
            <a:r>
              <a:rPr lang="fr-FR" dirty="0"/>
              <a:t> type reset est pressé ou par instruction js</a:t>
            </a:r>
          </a:p>
          <a:p>
            <a:pPr lvl="3"/>
            <a:r>
              <a:rPr lang="fr-FR" dirty="0"/>
              <a:t>Cette action remet tous les </a:t>
            </a:r>
            <a:r>
              <a:rPr lang="fr-FR" i="1" dirty="0"/>
              <a:t>inputs </a:t>
            </a:r>
            <a:r>
              <a:rPr lang="fr-FR" dirty="0"/>
              <a:t>à leurs valeurs émise dans l’attribut </a:t>
            </a:r>
            <a:r>
              <a:rPr lang="fr-FR" i="1" dirty="0"/>
              <a:t>value</a:t>
            </a:r>
          </a:p>
          <a:p>
            <a:pPr lvl="3"/>
            <a:r>
              <a:rPr lang="fr-FR" dirty="0"/>
              <a:t>Cet évènement peut être déclenché par js : monForm.reset()</a:t>
            </a:r>
          </a:p>
          <a:p>
            <a:pPr lvl="1"/>
            <a:r>
              <a:rPr lang="fr-FR" dirty="0"/>
              <a:t>Pour rappel, les inputs sont accessibles depuis la balise formulaire par leurs </a:t>
            </a:r>
            <a:r>
              <a:rPr lang="fr-FR" i="1" dirty="0"/>
              <a:t>name </a:t>
            </a:r>
            <a:r>
              <a:rPr lang="fr-FR" dirty="0"/>
              <a:t>ou position</a:t>
            </a:r>
            <a:r>
              <a:rPr lang="fr-FR" i="1" dirty="0"/>
              <a:t>:</a:t>
            </a:r>
          </a:p>
          <a:p>
            <a:pPr lvl="3"/>
            <a:r>
              <a:rPr lang="fr-FR" i="1" dirty="0"/>
              <a:t>monForm[‘inputName’].value / monForm[0].value</a:t>
            </a:r>
            <a:endParaRPr lang="fr-FR" dirty="0"/>
          </a:p>
          <a:p>
            <a:pPr lvl="3"/>
            <a:endParaRPr lang="fr-FR" dirty="0"/>
          </a:p>
        </p:txBody>
      </p:sp>
    </p:spTree>
    <p:extLst>
      <p:ext uri="{BB962C8B-B14F-4D97-AF65-F5344CB8AC3E}">
        <p14:creationId xmlns:p14="http://schemas.microsoft.com/office/powerpoint/2010/main" val="349588891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4B8DB60-1E6E-359D-C005-B77019FFE283}"/>
              </a:ext>
            </a:extLst>
          </p:cNvPr>
          <p:cNvSpPr>
            <a:spLocks noGrp="1"/>
          </p:cNvSpPr>
          <p:nvPr>
            <p:ph type="title"/>
          </p:nvPr>
        </p:nvSpPr>
        <p:spPr/>
        <p:txBody>
          <a:bodyPr/>
          <a:lstStyle/>
          <a:p>
            <a:r>
              <a:rPr lang="fr-FR" dirty="0"/>
              <a:t>Evènement souris</a:t>
            </a:r>
          </a:p>
        </p:txBody>
      </p:sp>
      <p:sp>
        <p:nvSpPr>
          <p:cNvPr id="3" name="Espace réservé du contenu 2">
            <a:extLst>
              <a:ext uri="{FF2B5EF4-FFF2-40B4-BE49-F238E27FC236}">
                <a16:creationId xmlns:a16="http://schemas.microsoft.com/office/drawing/2014/main" id="{7A7FA4CF-3A1D-8544-DC59-3798E30EB8A1}"/>
              </a:ext>
            </a:extLst>
          </p:cNvPr>
          <p:cNvSpPr>
            <a:spLocks noGrp="1"/>
          </p:cNvSpPr>
          <p:nvPr>
            <p:ph idx="1"/>
          </p:nvPr>
        </p:nvSpPr>
        <p:spPr/>
        <p:txBody>
          <a:bodyPr>
            <a:normAutofit fontScale="70000" lnSpcReduction="20000"/>
          </a:bodyPr>
          <a:lstStyle/>
          <a:p>
            <a:r>
              <a:rPr lang="fr-FR" dirty="0"/>
              <a:t>Cette catégorie permet la gestion des events lié a la souris.</a:t>
            </a:r>
          </a:p>
          <a:p>
            <a:pPr lvl="1"/>
            <a:r>
              <a:rPr lang="fr-FR" dirty="0"/>
              <a:t>Plusieurs types d’events, tous issues de mouse event</a:t>
            </a:r>
          </a:p>
          <a:p>
            <a:pPr lvl="2"/>
            <a:r>
              <a:rPr lang="fr-FR" dirty="0"/>
              <a:t>dragEvent</a:t>
            </a:r>
          </a:p>
          <a:p>
            <a:pPr lvl="2"/>
            <a:r>
              <a:rPr lang="fr-FR" dirty="0"/>
              <a:t>wheelEvent</a:t>
            </a:r>
          </a:p>
          <a:p>
            <a:pPr lvl="2"/>
            <a:r>
              <a:rPr lang="fr-FR" dirty="0"/>
              <a:t>PointerEvent</a:t>
            </a:r>
          </a:p>
          <a:p>
            <a:endParaRPr lang="fr-FR" dirty="0"/>
          </a:p>
          <a:p>
            <a:r>
              <a:rPr lang="fr-FR" dirty="0"/>
              <a:t>Principaux events :</a:t>
            </a:r>
          </a:p>
          <a:p>
            <a:pPr lvl="2"/>
            <a:r>
              <a:rPr lang="fr-FR" b="1" dirty="0"/>
              <a:t>mouseenter/mouseover/mouseleave</a:t>
            </a:r>
            <a:r>
              <a:rPr lang="fr-FR" dirty="0"/>
              <a:t> : entrer, survole, sortie du pointer</a:t>
            </a:r>
          </a:p>
          <a:p>
            <a:pPr lvl="2"/>
            <a:r>
              <a:rPr lang="fr-FR" b="1" i="1" dirty="0"/>
              <a:t>mouseDown</a:t>
            </a:r>
            <a:r>
              <a:rPr lang="fr-FR" dirty="0"/>
              <a:t> : quand un bouton est enfoncé</a:t>
            </a:r>
          </a:p>
          <a:p>
            <a:pPr lvl="2"/>
            <a:r>
              <a:rPr lang="fr-FR" b="1" i="1" dirty="0"/>
              <a:t>click</a:t>
            </a:r>
            <a:r>
              <a:rPr lang="fr-FR" dirty="0"/>
              <a:t>	: un bouton est enfoncé puis relâché</a:t>
            </a:r>
          </a:p>
          <a:p>
            <a:pPr lvl="2"/>
            <a:r>
              <a:rPr lang="fr-FR" b="1" i="1" dirty="0"/>
              <a:t>mouseUp</a:t>
            </a:r>
            <a:r>
              <a:rPr lang="fr-FR" dirty="0"/>
              <a:t> : un bouton est relâché</a:t>
            </a:r>
          </a:p>
          <a:p>
            <a:pPr lvl="2"/>
            <a:r>
              <a:rPr lang="fr-FR" b="1" i="1" dirty="0"/>
              <a:t>dbclick</a:t>
            </a:r>
            <a:r>
              <a:rPr lang="fr-FR" dirty="0"/>
              <a:t> : lors d’un double click</a:t>
            </a:r>
          </a:p>
          <a:p>
            <a:endParaRPr lang="fr-FR" dirty="0"/>
          </a:p>
          <a:p>
            <a:r>
              <a:rPr lang="fr-FR" dirty="0"/>
              <a:t>Il existe des event spécifique a la roulette et aux action </a:t>
            </a:r>
            <a:r>
              <a:rPr lang="fr-FR" i="1" dirty="0"/>
              <a:t>drag and drop:</a:t>
            </a:r>
          </a:p>
          <a:p>
            <a:pPr lvl="2"/>
            <a:r>
              <a:rPr lang="fr-FR" b="1" dirty="0"/>
              <a:t>dragStart</a:t>
            </a:r>
          </a:p>
          <a:p>
            <a:pPr lvl="2"/>
            <a:r>
              <a:rPr lang="fr-FR" b="1" dirty="0"/>
              <a:t>dragEnd</a:t>
            </a:r>
          </a:p>
        </p:txBody>
      </p:sp>
    </p:spTree>
    <p:extLst>
      <p:ext uri="{BB962C8B-B14F-4D97-AF65-F5344CB8AC3E}">
        <p14:creationId xmlns:p14="http://schemas.microsoft.com/office/powerpoint/2010/main" val="335744640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2ED936A-F8EE-C9BF-644A-2C9006D16B24}"/>
              </a:ext>
            </a:extLst>
          </p:cNvPr>
          <p:cNvSpPr>
            <a:spLocks noGrp="1"/>
          </p:cNvSpPr>
          <p:nvPr>
            <p:ph type="title"/>
          </p:nvPr>
        </p:nvSpPr>
        <p:spPr/>
        <p:txBody>
          <a:bodyPr/>
          <a:lstStyle/>
          <a:p>
            <a:r>
              <a:rPr lang="fr-FR" dirty="0"/>
              <a:t>Keyboard event</a:t>
            </a:r>
          </a:p>
        </p:txBody>
      </p:sp>
      <p:sp>
        <p:nvSpPr>
          <p:cNvPr id="3" name="Espace réservé du contenu 2">
            <a:extLst>
              <a:ext uri="{FF2B5EF4-FFF2-40B4-BE49-F238E27FC236}">
                <a16:creationId xmlns:a16="http://schemas.microsoft.com/office/drawing/2014/main" id="{33C7BA6E-AD19-316B-85F5-C5F41BDDC251}"/>
              </a:ext>
            </a:extLst>
          </p:cNvPr>
          <p:cNvSpPr>
            <a:spLocks noGrp="1"/>
          </p:cNvSpPr>
          <p:nvPr>
            <p:ph idx="1"/>
          </p:nvPr>
        </p:nvSpPr>
        <p:spPr/>
        <p:txBody>
          <a:bodyPr/>
          <a:lstStyle/>
          <a:p>
            <a:r>
              <a:rPr lang="fr-FR" dirty="0"/>
              <a:t>Les évènements du clavier</a:t>
            </a:r>
          </a:p>
          <a:p>
            <a:pPr lvl="2"/>
            <a:endParaRPr lang="fr-FR" dirty="0"/>
          </a:p>
          <a:p>
            <a:pPr lvl="2"/>
            <a:r>
              <a:rPr lang="fr-FR" dirty="0"/>
              <a:t>Type : KeyboardEvent</a:t>
            </a:r>
          </a:p>
          <a:p>
            <a:pPr lvl="3"/>
            <a:endParaRPr lang="fr-FR" dirty="0"/>
          </a:p>
          <a:p>
            <a:pPr lvl="3"/>
            <a:r>
              <a:rPr lang="fr-FR" dirty="0"/>
              <a:t>keydown : lorsque une touche est enfoncée</a:t>
            </a:r>
          </a:p>
          <a:p>
            <a:pPr lvl="3"/>
            <a:r>
              <a:rPr lang="fr-FR" dirty="0"/>
              <a:t>input : lorsque une touche est enfoncé puis relâchée</a:t>
            </a:r>
          </a:p>
          <a:p>
            <a:pPr lvl="3"/>
            <a:r>
              <a:rPr lang="fr-FR" dirty="0" err="1"/>
              <a:t>keyup</a:t>
            </a:r>
            <a:r>
              <a:rPr lang="fr-FR" dirty="0"/>
              <a:t> : lorsque une touche est relâchée</a:t>
            </a:r>
          </a:p>
          <a:p>
            <a:pPr lvl="3"/>
            <a:r>
              <a:rPr lang="fr-FR" dirty="0"/>
              <a:t>focusin/focus/focusout : lors des focus des sur les inputs</a:t>
            </a:r>
          </a:p>
          <a:p>
            <a:endParaRPr lang="fr-FR" dirty="0"/>
          </a:p>
          <a:p>
            <a:r>
              <a:rPr lang="fr-FR" dirty="0"/>
              <a:t>Cet </a:t>
            </a:r>
            <a:r>
              <a:rPr lang="fr-FR" i="1" dirty="0"/>
              <a:t>event</a:t>
            </a:r>
            <a:r>
              <a:rPr lang="fr-FR" dirty="0"/>
              <a:t> se déclenche lorsque une action au clavier est faite</a:t>
            </a:r>
          </a:p>
        </p:txBody>
      </p:sp>
    </p:spTree>
    <p:extLst>
      <p:ext uri="{BB962C8B-B14F-4D97-AF65-F5344CB8AC3E}">
        <p14:creationId xmlns:p14="http://schemas.microsoft.com/office/powerpoint/2010/main" val="68990911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8DAECB42-B702-4C33-B1DE-7B5A0CBA5E81}"/>
              </a:ext>
            </a:extLst>
          </p:cNvPr>
          <p:cNvSpPr>
            <a:spLocks noGrp="1"/>
          </p:cNvSpPr>
          <p:nvPr>
            <p:ph type="title"/>
          </p:nvPr>
        </p:nvSpPr>
        <p:spPr/>
        <p:txBody>
          <a:bodyPr/>
          <a:lstStyle/>
          <a:p>
            <a:r>
              <a:rPr lang="fr-FR" dirty="0"/>
              <a:t>L’event online</a:t>
            </a:r>
          </a:p>
        </p:txBody>
      </p:sp>
      <p:sp>
        <p:nvSpPr>
          <p:cNvPr id="5" name="Espace réservé du contenu 4">
            <a:extLst>
              <a:ext uri="{FF2B5EF4-FFF2-40B4-BE49-F238E27FC236}">
                <a16:creationId xmlns:a16="http://schemas.microsoft.com/office/drawing/2014/main" id="{C22D6A20-D37B-43C1-833F-3884ACBA340B}"/>
              </a:ext>
            </a:extLst>
          </p:cNvPr>
          <p:cNvSpPr>
            <a:spLocks noGrp="1"/>
          </p:cNvSpPr>
          <p:nvPr>
            <p:ph idx="1"/>
          </p:nvPr>
        </p:nvSpPr>
        <p:spPr/>
        <p:txBody>
          <a:bodyPr/>
          <a:lstStyle/>
          <a:p>
            <a:r>
              <a:rPr lang="fr-FR" dirty="0"/>
              <a:t>Connaitre l’état de connexion au réseau</a:t>
            </a:r>
          </a:p>
          <a:p>
            <a:pPr lvl="2"/>
            <a:r>
              <a:rPr lang="fr-FR" dirty="0"/>
              <a:t>Etat de la carte pas état de la connexion</a:t>
            </a:r>
          </a:p>
          <a:p>
            <a:pPr lvl="7"/>
            <a:r>
              <a:rPr lang="fr-FR" dirty="0"/>
              <a:t>Online.js</a:t>
            </a:r>
          </a:p>
          <a:p>
            <a:pPr marL="396875" lvl="7" indent="0" algn="ctr">
              <a:buNone/>
            </a:pPr>
            <a:r>
              <a:rPr lang="fr-FR" dirty="0"/>
              <a:t>window.navigator.onLine ou navigator.onLine</a:t>
            </a:r>
          </a:p>
          <a:p>
            <a:endParaRPr lang="fr-FR" dirty="0"/>
          </a:p>
          <a:p>
            <a:endParaRPr lang="fr-FR" dirty="0"/>
          </a:p>
          <a:p>
            <a:r>
              <a:rPr lang="fr-FR" dirty="0"/>
              <a:t>Un event permet de gérer le changement d’état</a:t>
            </a:r>
          </a:p>
          <a:p>
            <a:pPr lvl="7"/>
            <a:r>
              <a:rPr lang="fr-FR" dirty="0"/>
              <a:t>changeState.js</a:t>
            </a:r>
          </a:p>
          <a:p>
            <a:pPr marL="396875" lvl="7" indent="0">
              <a:buNone/>
            </a:pPr>
            <a:r>
              <a:rPr lang="fr-FR" b="0" dirty="0">
                <a:solidFill>
                  <a:srgbClr val="E5C07B"/>
                </a:solidFill>
                <a:effectLst/>
                <a:latin typeface="Consolas" panose="020B0609020204030204" pitchFamily="49" charset="0"/>
              </a:rPr>
              <a:t>window</a:t>
            </a:r>
            <a:r>
              <a:rPr lang="fr-FR" b="0" dirty="0">
                <a:solidFill>
                  <a:srgbClr val="ABB2BF"/>
                </a:solidFill>
                <a:effectLst/>
                <a:latin typeface="Consolas" panose="020B0609020204030204" pitchFamily="49" charset="0"/>
              </a:rPr>
              <a:t>.</a:t>
            </a:r>
            <a:r>
              <a:rPr lang="fr-FR" b="0" dirty="0">
                <a:solidFill>
                  <a:srgbClr val="56B6C2"/>
                </a:solidFill>
                <a:effectLst/>
                <a:latin typeface="Consolas" panose="020B0609020204030204" pitchFamily="49" charset="0"/>
              </a:rPr>
              <a:t>addEventListener</a:t>
            </a:r>
            <a:r>
              <a:rPr lang="fr-FR" b="0" dirty="0">
                <a:solidFill>
                  <a:srgbClr val="ABB2BF"/>
                </a:solidFill>
                <a:effectLst/>
                <a:latin typeface="Consolas" panose="020B0609020204030204" pitchFamily="49" charset="0"/>
              </a:rPr>
              <a:t>(</a:t>
            </a:r>
            <a:r>
              <a:rPr lang="fr-FR" b="0" dirty="0">
                <a:solidFill>
                  <a:srgbClr val="98C379"/>
                </a:solidFill>
                <a:effectLst/>
                <a:latin typeface="Consolas" panose="020B0609020204030204" pitchFamily="49" charset="0"/>
              </a:rPr>
              <a:t>'offline'</a:t>
            </a:r>
            <a:r>
              <a:rPr lang="fr-FR" b="0" dirty="0">
                <a:solidFill>
                  <a:srgbClr val="ABB2BF"/>
                </a:solidFill>
                <a:effectLst/>
                <a:latin typeface="Consolas" panose="020B0609020204030204" pitchFamily="49" charset="0"/>
              </a:rPr>
              <a:t>, (</a:t>
            </a:r>
            <a:r>
              <a:rPr lang="fr-FR" b="0" i="1" dirty="0">
                <a:solidFill>
                  <a:srgbClr val="E06C75"/>
                </a:solidFill>
                <a:effectLst/>
                <a:latin typeface="Consolas" panose="020B0609020204030204" pitchFamily="49" charset="0"/>
              </a:rPr>
              <a:t>e</a:t>
            </a:r>
            <a:r>
              <a:rPr lang="fr-FR" b="0" dirty="0">
                <a:solidFill>
                  <a:srgbClr val="ABB2BF"/>
                </a:solidFill>
                <a:effectLst/>
                <a:latin typeface="Consolas" panose="020B0609020204030204" pitchFamily="49" charset="0"/>
              </a:rPr>
              <a:t>) </a:t>
            </a:r>
            <a:r>
              <a:rPr lang="fr-FR" b="0" dirty="0">
                <a:solidFill>
                  <a:srgbClr val="C678DD"/>
                </a:solidFill>
                <a:effectLst/>
                <a:latin typeface="Consolas" panose="020B0609020204030204" pitchFamily="49" charset="0"/>
              </a:rPr>
              <a:t>=&gt;</a:t>
            </a:r>
            <a:r>
              <a:rPr lang="fr-FR" b="0" dirty="0">
                <a:solidFill>
                  <a:srgbClr val="ABB2BF"/>
                </a:solidFill>
                <a:effectLst/>
                <a:latin typeface="Consolas" panose="020B0609020204030204" pitchFamily="49" charset="0"/>
              </a:rPr>
              <a:t> { ... })</a:t>
            </a:r>
          </a:p>
          <a:p>
            <a:pPr marL="396875" lvl="7" indent="0">
              <a:buNone/>
            </a:pPr>
            <a:r>
              <a:rPr lang="fr-FR" b="0" dirty="0">
                <a:solidFill>
                  <a:srgbClr val="E5C07B"/>
                </a:solidFill>
                <a:effectLst/>
                <a:latin typeface="Consolas" panose="020B0609020204030204" pitchFamily="49" charset="0"/>
              </a:rPr>
              <a:t>window</a:t>
            </a:r>
            <a:r>
              <a:rPr lang="fr-FR" b="0" dirty="0">
                <a:solidFill>
                  <a:srgbClr val="ABB2BF"/>
                </a:solidFill>
                <a:effectLst/>
                <a:latin typeface="Consolas" panose="020B0609020204030204" pitchFamily="49" charset="0"/>
              </a:rPr>
              <a:t>.</a:t>
            </a:r>
            <a:r>
              <a:rPr lang="fr-FR" b="0" dirty="0">
                <a:solidFill>
                  <a:srgbClr val="56B6C2"/>
                </a:solidFill>
                <a:effectLst/>
                <a:latin typeface="Consolas" panose="020B0609020204030204" pitchFamily="49" charset="0"/>
              </a:rPr>
              <a:t>addEventListener</a:t>
            </a:r>
            <a:r>
              <a:rPr lang="fr-FR" b="0" dirty="0">
                <a:solidFill>
                  <a:srgbClr val="ABB2BF"/>
                </a:solidFill>
                <a:effectLst/>
                <a:latin typeface="Consolas" panose="020B0609020204030204" pitchFamily="49" charset="0"/>
              </a:rPr>
              <a:t>(</a:t>
            </a:r>
            <a:r>
              <a:rPr lang="fr-FR" dirty="0">
                <a:solidFill>
                  <a:srgbClr val="98C379"/>
                </a:solidFill>
                <a:latin typeface="Consolas" panose="020B0609020204030204" pitchFamily="49" charset="0"/>
              </a:rPr>
              <a:t>'</a:t>
            </a:r>
            <a:r>
              <a:rPr lang="fr-FR" b="0" dirty="0">
                <a:solidFill>
                  <a:srgbClr val="98C379"/>
                </a:solidFill>
                <a:effectLst/>
                <a:latin typeface="Consolas" panose="020B0609020204030204" pitchFamily="49" charset="0"/>
              </a:rPr>
              <a:t>online'</a:t>
            </a:r>
            <a:r>
              <a:rPr lang="fr-FR" b="0" dirty="0">
                <a:solidFill>
                  <a:srgbClr val="ABB2BF"/>
                </a:solidFill>
                <a:effectLst/>
                <a:latin typeface="Consolas" panose="020B0609020204030204" pitchFamily="49" charset="0"/>
              </a:rPr>
              <a:t>, (</a:t>
            </a:r>
            <a:r>
              <a:rPr lang="fr-FR" b="0" i="1" dirty="0">
                <a:solidFill>
                  <a:srgbClr val="E06C75"/>
                </a:solidFill>
                <a:effectLst/>
                <a:latin typeface="Consolas" panose="020B0609020204030204" pitchFamily="49" charset="0"/>
              </a:rPr>
              <a:t>e</a:t>
            </a:r>
            <a:r>
              <a:rPr lang="fr-FR" b="0" dirty="0">
                <a:solidFill>
                  <a:srgbClr val="ABB2BF"/>
                </a:solidFill>
                <a:effectLst/>
                <a:latin typeface="Consolas" panose="020B0609020204030204" pitchFamily="49" charset="0"/>
              </a:rPr>
              <a:t>) </a:t>
            </a:r>
            <a:r>
              <a:rPr lang="fr-FR" b="0" dirty="0">
                <a:solidFill>
                  <a:srgbClr val="C678DD"/>
                </a:solidFill>
                <a:effectLst/>
                <a:latin typeface="Consolas" panose="020B0609020204030204" pitchFamily="49" charset="0"/>
              </a:rPr>
              <a:t>=&gt;</a:t>
            </a:r>
            <a:r>
              <a:rPr lang="fr-FR" b="0" dirty="0">
                <a:solidFill>
                  <a:srgbClr val="ABB2BF"/>
                </a:solidFill>
                <a:effectLst/>
                <a:latin typeface="Consolas" panose="020B0609020204030204" pitchFamily="49" charset="0"/>
              </a:rPr>
              <a:t> { ... })</a:t>
            </a:r>
          </a:p>
          <a:p>
            <a:pPr marL="396875" lvl="7" indent="0">
              <a:buNone/>
            </a:pPr>
            <a:endParaRPr lang="fr-FR" dirty="0"/>
          </a:p>
        </p:txBody>
      </p:sp>
    </p:spTree>
    <p:extLst>
      <p:ext uri="{BB962C8B-B14F-4D97-AF65-F5344CB8AC3E}">
        <p14:creationId xmlns:p14="http://schemas.microsoft.com/office/powerpoint/2010/main" val="21001607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15CD29-371F-0155-D0D3-DCF8D6F63204}"/>
              </a:ext>
            </a:extLst>
          </p:cNvPr>
          <p:cNvSpPr>
            <a:spLocks noGrp="1"/>
          </p:cNvSpPr>
          <p:nvPr>
            <p:ph type="title"/>
          </p:nvPr>
        </p:nvSpPr>
        <p:spPr/>
        <p:txBody>
          <a:bodyPr/>
          <a:lstStyle/>
          <a:p>
            <a:r>
              <a:rPr lang="fr-FR" dirty="0"/>
              <a:t>Liste des Type d’events</a:t>
            </a:r>
          </a:p>
        </p:txBody>
      </p:sp>
      <p:sp>
        <p:nvSpPr>
          <p:cNvPr id="3" name="Espace réservé du contenu 2">
            <a:extLst>
              <a:ext uri="{FF2B5EF4-FFF2-40B4-BE49-F238E27FC236}">
                <a16:creationId xmlns:a16="http://schemas.microsoft.com/office/drawing/2014/main" id="{5245C1DE-C5C2-CF7F-42FF-F3EFD523EAAB}"/>
              </a:ext>
            </a:extLst>
          </p:cNvPr>
          <p:cNvSpPr>
            <a:spLocks noGrp="1"/>
          </p:cNvSpPr>
          <p:nvPr>
            <p:ph sz="half" idx="1"/>
          </p:nvPr>
        </p:nvSpPr>
        <p:spPr>
          <a:xfrm>
            <a:off x="214282" y="1772816"/>
            <a:ext cx="4214842" cy="4656580"/>
          </a:xfrm>
        </p:spPr>
        <p:txBody>
          <a:bodyPr>
            <a:normAutofit fontScale="47500" lnSpcReduction="20000"/>
          </a:bodyPr>
          <a:lstStyle/>
          <a:p>
            <a:r>
              <a:rPr lang="en-US" dirty="0"/>
              <a:t>AnimationEvent</a:t>
            </a:r>
          </a:p>
          <a:p>
            <a:r>
              <a:rPr lang="en-US" dirty="0"/>
              <a:t>AudioProcessingEvent Deprecated</a:t>
            </a:r>
          </a:p>
          <a:p>
            <a:r>
              <a:rPr lang="en-US" dirty="0"/>
              <a:t>BeforeUnloadEvent</a:t>
            </a:r>
          </a:p>
          <a:p>
            <a:r>
              <a:rPr lang="en-US" dirty="0"/>
              <a:t>BlobEvent</a:t>
            </a:r>
          </a:p>
          <a:p>
            <a:r>
              <a:rPr lang="en-US" dirty="0"/>
              <a:t>ClipboardChangeEvent</a:t>
            </a:r>
          </a:p>
          <a:p>
            <a:r>
              <a:rPr lang="en-US" dirty="0"/>
              <a:t>ClipboardEvent</a:t>
            </a:r>
          </a:p>
          <a:p>
            <a:r>
              <a:rPr lang="en-US" dirty="0"/>
              <a:t>CloseEvent</a:t>
            </a:r>
          </a:p>
          <a:p>
            <a:r>
              <a:rPr lang="en-US" dirty="0"/>
              <a:t>CompositionEvent</a:t>
            </a:r>
          </a:p>
          <a:p>
            <a:r>
              <a:rPr lang="en-US" dirty="0"/>
              <a:t>CustomEvent</a:t>
            </a:r>
          </a:p>
          <a:p>
            <a:r>
              <a:rPr lang="en-US" dirty="0"/>
              <a:t>DeviceMotionEvent</a:t>
            </a:r>
          </a:p>
          <a:p>
            <a:r>
              <a:rPr lang="en-US" dirty="0"/>
              <a:t>DeviceOrientationEvent</a:t>
            </a:r>
          </a:p>
          <a:p>
            <a:r>
              <a:rPr lang="en-US" dirty="0"/>
              <a:t>DragEvent</a:t>
            </a:r>
          </a:p>
          <a:p>
            <a:r>
              <a:rPr lang="en-US" dirty="0"/>
              <a:t>ErrorEvent</a:t>
            </a:r>
          </a:p>
          <a:p>
            <a:r>
              <a:rPr lang="en-US" dirty="0"/>
              <a:t>FetchEvent</a:t>
            </a:r>
          </a:p>
          <a:p>
            <a:r>
              <a:rPr lang="en-US" dirty="0"/>
              <a:t>FocusEvent</a:t>
            </a:r>
          </a:p>
          <a:p>
            <a:r>
              <a:rPr lang="en-US" dirty="0"/>
              <a:t>FontFaceSetLoadEvent</a:t>
            </a:r>
          </a:p>
          <a:p>
            <a:r>
              <a:rPr lang="en-US" dirty="0"/>
              <a:t>FormDataEvent</a:t>
            </a:r>
          </a:p>
          <a:p>
            <a:r>
              <a:rPr lang="en-US" dirty="0"/>
              <a:t>GamepadEvent</a:t>
            </a:r>
          </a:p>
          <a:p>
            <a:r>
              <a:rPr lang="en-US" dirty="0"/>
              <a:t>HashChangeEvent</a:t>
            </a:r>
          </a:p>
          <a:p>
            <a:r>
              <a:rPr lang="en-US" dirty="0"/>
              <a:t>HIDInputReportEvent</a:t>
            </a:r>
          </a:p>
          <a:p>
            <a:r>
              <a:rPr lang="en-US" dirty="0"/>
              <a:t>IDBVersionChangeEvent</a:t>
            </a:r>
          </a:p>
          <a:p>
            <a:r>
              <a:rPr lang="en-US" dirty="0"/>
              <a:t>InputEvent</a:t>
            </a:r>
          </a:p>
          <a:p>
            <a:endParaRPr lang="en-US" dirty="0"/>
          </a:p>
        </p:txBody>
      </p:sp>
      <p:sp>
        <p:nvSpPr>
          <p:cNvPr id="6" name="Espace réservé du contenu 5">
            <a:extLst>
              <a:ext uri="{FF2B5EF4-FFF2-40B4-BE49-F238E27FC236}">
                <a16:creationId xmlns:a16="http://schemas.microsoft.com/office/drawing/2014/main" id="{2E25238A-9CB1-FB2E-165A-3886B2D829E7}"/>
              </a:ext>
            </a:extLst>
          </p:cNvPr>
          <p:cNvSpPr>
            <a:spLocks noGrp="1"/>
          </p:cNvSpPr>
          <p:nvPr>
            <p:ph sz="half" idx="2"/>
          </p:nvPr>
        </p:nvSpPr>
        <p:spPr>
          <a:xfrm>
            <a:off x="4714876" y="1772816"/>
            <a:ext cx="4214842" cy="4656580"/>
          </a:xfrm>
        </p:spPr>
        <p:txBody>
          <a:bodyPr>
            <a:normAutofit fontScale="47500" lnSpcReduction="20000"/>
          </a:bodyPr>
          <a:lstStyle/>
          <a:p>
            <a:r>
              <a:rPr lang="en-US" b="1" dirty="0"/>
              <a:t>KeyboardEvent</a:t>
            </a:r>
          </a:p>
          <a:p>
            <a:r>
              <a:rPr lang="en-US" dirty="0"/>
              <a:t>MediaStreamEvent Deprecated</a:t>
            </a:r>
          </a:p>
          <a:p>
            <a:r>
              <a:rPr lang="en-US" dirty="0"/>
              <a:t>MessageEvent</a:t>
            </a:r>
          </a:p>
          <a:p>
            <a:r>
              <a:rPr lang="en-US" b="1" dirty="0"/>
              <a:t>MouseEvent</a:t>
            </a:r>
          </a:p>
          <a:p>
            <a:r>
              <a:rPr lang="en-US" dirty="0"/>
              <a:t>MutationEvent Deprecated</a:t>
            </a:r>
          </a:p>
          <a:p>
            <a:r>
              <a:rPr lang="en-US" dirty="0"/>
              <a:t>OfflineAudioCompletionEvent</a:t>
            </a:r>
          </a:p>
          <a:p>
            <a:r>
              <a:rPr lang="en-US" dirty="0"/>
              <a:t>PageTransitionEvent</a:t>
            </a:r>
          </a:p>
          <a:p>
            <a:r>
              <a:rPr lang="en-US" dirty="0"/>
              <a:t>PaymentRequestUpdateEvent</a:t>
            </a:r>
          </a:p>
          <a:p>
            <a:r>
              <a:rPr lang="en-US" b="1" dirty="0"/>
              <a:t>PointerEvent</a:t>
            </a:r>
          </a:p>
          <a:p>
            <a:r>
              <a:rPr lang="en-US" dirty="0"/>
              <a:t>PopStateEvent</a:t>
            </a:r>
          </a:p>
          <a:p>
            <a:r>
              <a:rPr lang="en-US" dirty="0"/>
              <a:t>ProgressEvent</a:t>
            </a:r>
          </a:p>
          <a:p>
            <a:r>
              <a:rPr lang="en-US" dirty="0"/>
              <a:t>RTCDataChannelEvent</a:t>
            </a:r>
          </a:p>
          <a:p>
            <a:r>
              <a:rPr lang="en-US" dirty="0"/>
              <a:t>RTCPeerConnectionIceEvent</a:t>
            </a:r>
          </a:p>
          <a:p>
            <a:r>
              <a:rPr lang="en-US" dirty="0"/>
              <a:t>StorageEvent</a:t>
            </a:r>
          </a:p>
          <a:p>
            <a:r>
              <a:rPr lang="en-US" dirty="0"/>
              <a:t>SubmitEvent</a:t>
            </a:r>
          </a:p>
          <a:p>
            <a:r>
              <a:rPr lang="en-US" dirty="0"/>
              <a:t>TimeEvent</a:t>
            </a:r>
          </a:p>
          <a:p>
            <a:r>
              <a:rPr lang="en-US" dirty="0"/>
              <a:t>TouchEvent</a:t>
            </a:r>
          </a:p>
          <a:p>
            <a:r>
              <a:rPr lang="en-US" dirty="0"/>
              <a:t>TrackEvent</a:t>
            </a:r>
          </a:p>
          <a:p>
            <a:r>
              <a:rPr lang="en-US" dirty="0"/>
              <a:t>TransitionEvent</a:t>
            </a:r>
          </a:p>
          <a:p>
            <a:r>
              <a:rPr lang="en-US" dirty="0"/>
              <a:t>UIEvent</a:t>
            </a:r>
          </a:p>
          <a:p>
            <a:r>
              <a:rPr lang="en-US" dirty="0"/>
              <a:t>WebGLContextEvent</a:t>
            </a:r>
          </a:p>
          <a:p>
            <a:r>
              <a:rPr lang="en-US" dirty="0"/>
              <a:t>WheelEvent</a:t>
            </a:r>
            <a:endParaRPr lang="fr-FR" dirty="0"/>
          </a:p>
          <a:p>
            <a:endParaRPr lang="fr-FR" dirty="0"/>
          </a:p>
        </p:txBody>
      </p:sp>
      <p:sp>
        <p:nvSpPr>
          <p:cNvPr id="7" name="ZoneTexte 6">
            <a:extLst>
              <a:ext uri="{FF2B5EF4-FFF2-40B4-BE49-F238E27FC236}">
                <a16:creationId xmlns:a16="http://schemas.microsoft.com/office/drawing/2014/main" id="{0C32031D-A2D2-AE55-0A88-D876E9ED1C35}"/>
              </a:ext>
            </a:extLst>
          </p:cNvPr>
          <p:cNvSpPr txBox="1"/>
          <p:nvPr/>
        </p:nvSpPr>
        <p:spPr>
          <a:xfrm>
            <a:off x="323528" y="1052736"/>
            <a:ext cx="8606190" cy="646331"/>
          </a:xfrm>
          <a:prstGeom prst="rect">
            <a:avLst/>
          </a:prstGeom>
          <a:solidFill>
            <a:schemeClr val="bg1"/>
          </a:solidFill>
        </p:spPr>
        <p:txBody>
          <a:bodyPr wrap="square" rtlCol="0">
            <a:spAutoFit/>
          </a:bodyPr>
          <a:lstStyle/>
          <a:p>
            <a:r>
              <a:rPr lang="fr-FR" dirty="0"/>
              <a:t>Voici tous les types d’events disponible avec leurs spécificités. Tous ces type d’events hérites tous de l’objet Event </a:t>
            </a:r>
          </a:p>
        </p:txBody>
      </p:sp>
    </p:spTree>
    <p:extLst>
      <p:ext uri="{BB962C8B-B14F-4D97-AF65-F5344CB8AC3E}">
        <p14:creationId xmlns:p14="http://schemas.microsoft.com/office/powerpoint/2010/main" val="249430333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AF38FF-6956-6FCF-016F-E1F742FD39C9}"/>
              </a:ext>
            </a:extLst>
          </p:cNvPr>
          <p:cNvSpPr>
            <a:spLocks noGrp="1"/>
          </p:cNvSpPr>
          <p:nvPr>
            <p:ph type="title"/>
          </p:nvPr>
        </p:nvSpPr>
        <p:spPr/>
        <p:txBody>
          <a:bodyPr/>
          <a:lstStyle/>
          <a:p>
            <a:r>
              <a:rPr lang="fr-FR" dirty="0"/>
              <a:t>7.Manipulation Dom</a:t>
            </a:r>
            <a:br>
              <a:rPr lang="fr-FR" dirty="0"/>
            </a:br>
            <a:endParaRPr lang="fr-FR" dirty="0"/>
          </a:p>
        </p:txBody>
      </p:sp>
      <p:sp>
        <p:nvSpPr>
          <p:cNvPr id="3" name="Espace réservé du texte 2">
            <a:extLst>
              <a:ext uri="{FF2B5EF4-FFF2-40B4-BE49-F238E27FC236}">
                <a16:creationId xmlns:a16="http://schemas.microsoft.com/office/drawing/2014/main" id="{B9691D3B-B7B1-F259-9ED1-794C5A1CEB46}"/>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7799911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D331EA3C-206B-4FFC-AC23-646A397A4F51}"/>
              </a:ext>
            </a:extLst>
          </p:cNvPr>
          <p:cNvSpPr>
            <a:spLocks noGrp="1"/>
          </p:cNvSpPr>
          <p:nvPr>
            <p:ph type="title"/>
          </p:nvPr>
        </p:nvSpPr>
        <p:spPr/>
        <p:txBody>
          <a:bodyPr/>
          <a:lstStyle/>
          <a:p>
            <a:r>
              <a:rPr lang="fr-FR" dirty="0"/>
              <a:t>Fonctions du DOM</a:t>
            </a:r>
          </a:p>
        </p:txBody>
      </p:sp>
      <p:sp>
        <p:nvSpPr>
          <p:cNvPr id="10" name="Espace réservé du contenu 9">
            <a:extLst>
              <a:ext uri="{FF2B5EF4-FFF2-40B4-BE49-F238E27FC236}">
                <a16:creationId xmlns:a16="http://schemas.microsoft.com/office/drawing/2014/main" id="{BE0CDEB6-1A56-BC66-4F4C-DF3B96F2DEEB}"/>
              </a:ext>
            </a:extLst>
          </p:cNvPr>
          <p:cNvSpPr>
            <a:spLocks noGrp="1"/>
          </p:cNvSpPr>
          <p:nvPr>
            <p:ph idx="1"/>
          </p:nvPr>
        </p:nvSpPr>
        <p:spPr/>
        <p:txBody>
          <a:bodyPr/>
          <a:lstStyle/>
          <a:p>
            <a:r>
              <a:rPr lang="fr-FR" dirty="0"/>
              <a:t>Le DOM c’est aussi un ensemble de fonctions JS pour la manipulation du DOM:</a:t>
            </a:r>
          </a:p>
          <a:p>
            <a:pPr lvl="2"/>
            <a:endParaRPr lang="fr-FR" dirty="0"/>
          </a:p>
          <a:p>
            <a:pPr lvl="2"/>
            <a:r>
              <a:rPr lang="fr-FR" dirty="0"/>
              <a:t>Création d’éléments</a:t>
            </a:r>
          </a:p>
          <a:p>
            <a:pPr lvl="2"/>
            <a:endParaRPr lang="fr-FR" dirty="0"/>
          </a:p>
          <a:p>
            <a:pPr lvl="2"/>
            <a:r>
              <a:rPr lang="fr-FR" dirty="0"/>
              <a:t>Navigation dans les éléments</a:t>
            </a:r>
          </a:p>
          <a:p>
            <a:pPr lvl="2"/>
            <a:endParaRPr lang="fr-FR" dirty="0"/>
          </a:p>
          <a:p>
            <a:pPr lvl="2"/>
            <a:r>
              <a:rPr lang="fr-FR" dirty="0"/>
              <a:t>Ajout suppression de balise</a:t>
            </a:r>
          </a:p>
          <a:p>
            <a:pPr lvl="2"/>
            <a:endParaRPr lang="fr-FR" dirty="0"/>
          </a:p>
          <a:p>
            <a:pPr lvl="2"/>
            <a:r>
              <a:rPr lang="fr-FR" dirty="0"/>
              <a:t>Manipulation des attributs des éléments</a:t>
            </a:r>
          </a:p>
        </p:txBody>
      </p:sp>
    </p:spTree>
    <p:extLst>
      <p:ext uri="{BB962C8B-B14F-4D97-AF65-F5344CB8AC3E}">
        <p14:creationId xmlns:p14="http://schemas.microsoft.com/office/powerpoint/2010/main" val="187725573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E9AE4F-DDB8-2AC4-8AAA-7EB02D23726D}"/>
              </a:ext>
            </a:extLst>
          </p:cNvPr>
          <p:cNvSpPr>
            <a:spLocks noGrp="1"/>
          </p:cNvSpPr>
          <p:nvPr>
            <p:ph type="title"/>
          </p:nvPr>
        </p:nvSpPr>
        <p:spPr/>
        <p:txBody>
          <a:bodyPr/>
          <a:lstStyle/>
          <a:p>
            <a:r>
              <a:rPr lang="fr-FR" dirty="0"/>
              <a:t>Sélection des éléments du DOM</a:t>
            </a:r>
          </a:p>
        </p:txBody>
      </p:sp>
      <p:sp>
        <p:nvSpPr>
          <p:cNvPr id="3" name="Espace réservé du contenu 2">
            <a:extLst>
              <a:ext uri="{FF2B5EF4-FFF2-40B4-BE49-F238E27FC236}">
                <a16:creationId xmlns:a16="http://schemas.microsoft.com/office/drawing/2014/main" id="{4BB3F451-933E-9BF6-2684-84D276A1E543}"/>
              </a:ext>
            </a:extLst>
          </p:cNvPr>
          <p:cNvSpPr>
            <a:spLocks noGrp="1"/>
          </p:cNvSpPr>
          <p:nvPr>
            <p:ph idx="1"/>
          </p:nvPr>
        </p:nvSpPr>
        <p:spPr/>
        <p:txBody>
          <a:bodyPr>
            <a:normAutofit fontScale="92500" lnSpcReduction="10000"/>
          </a:bodyPr>
          <a:lstStyle/>
          <a:p>
            <a:r>
              <a:rPr lang="fr-FR" dirty="0"/>
              <a:t>Pour sélectionner un élément plusieurs possibilités depuis un document (ou fragment) DOM instancié:</a:t>
            </a:r>
          </a:p>
          <a:p>
            <a:pPr lvl="1"/>
            <a:r>
              <a:rPr lang="fr-FR" dirty="0"/>
              <a:t>Sélection balise unique</a:t>
            </a:r>
          </a:p>
          <a:p>
            <a:pPr lvl="2"/>
            <a:r>
              <a:rPr lang="fr-FR" dirty="0"/>
              <a:t>Renvoi l’élément DOM unique</a:t>
            </a:r>
          </a:p>
          <a:p>
            <a:pPr lvl="3"/>
            <a:r>
              <a:rPr lang="fr-FR" b="1" i="1" dirty="0"/>
              <a:t>document.getElementById(‘id’)</a:t>
            </a:r>
          </a:p>
          <a:p>
            <a:pPr marL="457200" lvl="1" indent="0">
              <a:buNone/>
            </a:pPr>
            <a:endParaRPr lang="fr-FR" dirty="0"/>
          </a:p>
          <a:p>
            <a:pPr lvl="1"/>
            <a:r>
              <a:rPr lang="fr-FR" dirty="0"/>
              <a:t>Sélection liste de éléments</a:t>
            </a:r>
          </a:p>
          <a:p>
            <a:pPr lvl="2"/>
            <a:r>
              <a:rPr lang="fr-FR" sz="1900" dirty="0"/>
              <a:t>Revoie un </a:t>
            </a:r>
            <a:r>
              <a:rPr lang="fr-FR" sz="1900" i="1" dirty="0"/>
              <a:t>HTMLCollection</a:t>
            </a:r>
            <a:r>
              <a:rPr lang="fr-FR" sz="1900" dirty="0"/>
              <a:t> pas </a:t>
            </a:r>
            <a:r>
              <a:rPr lang="fr-FR" sz="1900" i="1" dirty="0"/>
              <a:t>Array</a:t>
            </a:r>
            <a:r>
              <a:rPr lang="fr-FR" sz="1900" dirty="0"/>
              <a:t>, </a:t>
            </a:r>
          </a:p>
          <a:p>
            <a:pPr lvl="2"/>
            <a:r>
              <a:rPr lang="fr-FR" sz="1900" dirty="0"/>
              <a:t>Attention pas hérité de </a:t>
            </a:r>
            <a:r>
              <a:rPr lang="fr-FR" sz="1900" i="1" dirty="0"/>
              <a:t>Array</a:t>
            </a:r>
            <a:r>
              <a:rPr lang="fr-FR" sz="1900" dirty="0"/>
              <a:t> donc </a:t>
            </a:r>
            <a:r>
              <a:rPr lang="fr-FR" sz="1900" b="1" dirty="0"/>
              <a:t>pas .</a:t>
            </a:r>
            <a:r>
              <a:rPr lang="fr-FR" sz="1900" b="1" i="1" dirty="0"/>
              <a:t>forEach</a:t>
            </a:r>
            <a:r>
              <a:rPr lang="fr-FR" sz="1900" b="1" dirty="0"/>
              <a:t>(), .</a:t>
            </a:r>
            <a:r>
              <a:rPr lang="fr-FR" sz="1900" b="1" i="1" dirty="0"/>
              <a:t>map</a:t>
            </a:r>
            <a:r>
              <a:rPr lang="fr-FR" sz="1900" b="1" dirty="0"/>
              <a:t>(), .</a:t>
            </a:r>
            <a:r>
              <a:rPr lang="fr-FR" sz="1900" b="1" i="1" dirty="0"/>
              <a:t>find</a:t>
            </a:r>
            <a:r>
              <a:rPr lang="fr-FR" sz="1900" b="1" dirty="0"/>
              <a:t>(),…</a:t>
            </a:r>
          </a:p>
          <a:p>
            <a:pPr lvl="3"/>
            <a:endParaRPr lang="fr-FR" b="1" i="1" dirty="0"/>
          </a:p>
          <a:p>
            <a:pPr lvl="3"/>
            <a:r>
              <a:rPr lang="fr-FR" b="1" i="1" dirty="0"/>
              <a:t>document.getElementsByTagName(‘baliseName’)</a:t>
            </a:r>
          </a:p>
          <a:p>
            <a:pPr lvl="3"/>
            <a:r>
              <a:rPr lang="fr-FR" b="1" i="1" dirty="0"/>
              <a:t>document.getElementsByTagNameNS(‘baliseName’)</a:t>
            </a:r>
          </a:p>
          <a:p>
            <a:pPr lvl="3"/>
            <a:r>
              <a:rPr lang="fr-FR" b="1" i="1" dirty="0"/>
              <a:t>document.getElementsByClassName(‘className’)</a:t>
            </a:r>
          </a:p>
          <a:p>
            <a:pPr lvl="3"/>
            <a:r>
              <a:rPr lang="fr-FR" b="1" i="1" dirty="0"/>
              <a:t>document.getElementsByName(‘attribNameValue’)</a:t>
            </a:r>
          </a:p>
        </p:txBody>
      </p:sp>
    </p:spTree>
    <p:extLst>
      <p:ext uri="{BB962C8B-B14F-4D97-AF65-F5344CB8AC3E}">
        <p14:creationId xmlns:p14="http://schemas.microsoft.com/office/powerpoint/2010/main" val="104947256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4F98CF-B93A-E056-D2DE-AEA34F3FF57E}"/>
              </a:ext>
            </a:extLst>
          </p:cNvPr>
          <p:cNvSpPr>
            <a:spLocks noGrp="1"/>
          </p:cNvSpPr>
          <p:nvPr>
            <p:ph type="title"/>
          </p:nvPr>
        </p:nvSpPr>
        <p:spPr/>
        <p:txBody>
          <a:bodyPr/>
          <a:lstStyle/>
          <a:p>
            <a:r>
              <a:rPr lang="fr-FR" dirty="0"/>
              <a:t>Sélection avancée par Sélecteur CSS</a:t>
            </a:r>
          </a:p>
        </p:txBody>
      </p:sp>
      <p:sp>
        <p:nvSpPr>
          <p:cNvPr id="3" name="Espace réservé du contenu 2">
            <a:extLst>
              <a:ext uri="{FF2B5EF4-FFF2-40B4-BE49-F238E27FC236}">
                <a16:creationId xmlns:a16="http://schemas.microsoft.com/office/drawing/2014/main" id="{8E90A30B-C925-C663-731F-0AAE7B583A29}"/>
              </a:ext>
            </a:extLst>
          </p:cNvPr>
          <p:cNvSpPr>
            <a:spLocks noGrp="1"/>
          </p:cNvSpPr>
          <p:nvPr>
            <p:ph idx="1"/>
          </p:nvPr>
        </p:nvSpPr>
        <p:spPr/>
        <p:txBody>
          <a:bodyPr/>
          <a:lstStyle/>
          <a:p>
            <a:r>
              <a:rPr lang="fr-FR" dirty="0"/>
              <a:t>Pour facilité la sélection, une série de fonction permettent la sélection par sélecteur css :</a:t>
            </a:r>
          </a:p>
          <a:p>
            <a:pPr lvl="1"/>
            <a:r>
              <a:rPr lang="fr-FR" dirty="0"/>
              <a:t>Sélection unique du 1</a:t>
            </a:r>
            <a:r>
              <a:rPr lang="fr-FR" baseline="30000" dirty="0"/>
              <a:t>er</a:t>
            </a:r>
            <a:r>
              <a:rPr lang="fr-FR" dirty="0"/>
              <a:t> élément trouvé</a:t>
            </a:r>
          </a:p>
          <a:p>
            <a:pPr lvl="2"/>
            <a:r>
              <a:rPr lang="fr-FR" sz="1800" dirty="0"/>
              <a:t>Renvoi l’élément unique</a:t>
            </a:r>
          </a:p>
          <a:p>
            <a:pPr lvl="3"/>
            <a:r>
              <a:rPr lang="fr-FR" b="1" i="1" dirty="0"/>
              <a:t>document.querySelector(‘cssSelector’)</a:t>
            </a:r>
          </a:p>
          <a:p>
            <a:pPr lvl="4"/>
            <a:endParaRPr lang="fr-FR" dirty="0"/>
          </a:p>
          <a:p>
            <a:pPr lvl="1"/>
            <a:r>
              <a:rPr lang="fr-FR" dirty="0"/>
              <a:t>Sélection multiple</a:t>
            </a:r>
          </a:p>
          <a:p>
            <a:pPr lvl="2"/>
            <a:r>
              <a:rPr lang="fr-FR" sz="1800" dirty="0"/>
              <a:t>Renvoi </a:t>
            </a:r>
            <a:r>
              <a:rPr lang="fr-FR" sz="1800" i="1" dirty="0"/>
              <a:t>NodeList</a:t>
            </a:r>
            <a:r>
              <a:rPr lang="fr-FR" sz="1800" dirty="0"/>
              <a:t> d’ élément(s) trouvé(s)</a:t>
            </a:r>
          </a:p>
          <a:p>
            <a:pPr lvl="2"/>
            <a:r>
              <a:rPr lang="fr-FR" sz="1800" dirty="0"/>
              <a:t>Hérité de </a:t>
            </a:r>
            <a:r>
              <a:rPr lang="fr-FR" sz="1800" i="1" dirty="0"/>
              <a:t>Array</a:t>
            </a:r>
            <a:r>
              <a:rPr lang="fr-FR" sz="1800" dirty="0"/>
              <a:t> donc </a:t>
            </a:r>
            <a:r>
              <a:rPr lang="fr-FR" sz="1800" b="1" dirty="0"/>
              <a:t>présence de .forEach(), .map(), .find(),…</a:t>
            </a:r>
          </a:p>
          <a:p>
            <a:pPr lvl="3"/>
            <a:r>
              <a:rPr lang="fr-FR" b="1" i="1" dirty="0"/>
              <a:t>Document.querySelectorAll(‘cssSelector’)</a:t>
            </a:r>
          </a:p>
          <a:p>
            <a:pPr lvl="2"/>
            <a:endParaRPr lang="fr-FR" dirty="0"/>
          </a:p>
        </p:txBody>
      </p:sp>
    </p:spTree>
    <p:extLst>
      <p:ext uri="{BB962C8B-B14F-4D97-AF65-F5344CB8AC3E}">
        <p14:creationId xmlns:p14="http://schemas.microsoft.com/office/powerpoint/2010/main" val="393405336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AutoShape 2"/>
          <p:cNvSpPr>
            <a:spLocks noGrp="1" noChangeArrowheads="1"/>
          </p:cNvSpPr>
          <p:nvPr>
            <p:ph type="title"/>
          </p:nvPr>
        </p:nvSpPr>
        <p:spPr/>
        <p:txBody>
          <a:bodyPr>
            <a:normAutofit/>
          </a:bodyPr>
          <a:lstStyle/>
          <a:p>
            <a:pPr eaLnBrk="1" hangingPunct="1"/>
            <a:r>
              <a:rPr lang="fr-FR" dirty="0"/>
              <a:t>Sélecteur Css</a:t>
            </a:r>
          </a:p>
        </p:txBody>
      </p:sp>
      <p:sp>
        <p:nvSpPr>
          <p:cNvPr id="134148" name="Rectangle 3"/>
          <p:cNvSpPr>
            <a:spLocks noGrp="1" noChangeArrowheads="1"/>
          </p:cNvSpPr>
          <p:nvPr>
            <p:ph idx="1"/>
          </p:nvPr>
        </p:nvSpPr>
        <p:spPr>
          <a:xfrm>
            <a:off x="285720" y="1214422"/>
            <a:ext cx="8572560" cy="5286412"/>
          </a:xfrm>
        </p:spPr>
        <p:txBody>
          <a:bodyPr>
            <a:normAutofit/>
          </a:bodyPr>
          <a:lstStyle/>
          <a:p>
            <a:r>
              <a:rPr lang="fr-FR" dirty="0"/>
              <a:t>Eléments</a:t>
            </a:r>
          </a:p>
          <a:p>
            <a:pPr lvl="1"/>
            <a:endParaRPr lang="fr-FR" dirty="0"/>
          </a:p>
          <a:p>
            <a:pPr lvl="1"/>
            <a:endParaRPr lang="fr-FR" dirty="0"/>
          </a:p>
          <a:p>
            <a:r>
              <a:rPr lang="fr-FR" dirty="0"/>
              <a:t>Classe</a:t>
            </a:r>
          </a:p>
          <a:p>
            <a:pPr lvl="1"/>
            <a:endParaRPr lang="fr-FR" dirty="0">
              <a:ea typeface="MS Mincho" pitchFamily="49" charset="-128"/>
            </a:endParaRPr>
          </a:p>
          <a:p>
            <a:pPr lvl="1"/>
            <a:endParaRPr lang="fr-FR" dirty="0">
              <a:ea typeface="MS Mincho" pitchFamily="49" charset="-128"/>
            </a:endParaRPr>
          </a:p>
          <a:p>
            <a:r>
              <a:rPr lang="fr-FR" dirty="0"/>
              <a:t>Identifiant</a:t>
            </a:r>
          </a:p>
          <a:p>
            <a:pPr lvl="1"/>
            <a:endParaRPr lang="fr-FR" dirty="0">
              <a:ea typeface="MS Mincho" pitchFamily="49" charset="-128"/>
            </a:endParaRPr>
          </a:p>
          <a:p>
            <a:pPr lvl="1"/>
            <a:endParaRPr lang="fr-FR" sz="1300" dirty="0">
              <a:ea typeface="MS Mincho" pitchFamily="49" charset="-128"/>
            </a:endParaRPr>
          </a:p>
          <a:p>
            <a:r>
              <a:rPr lang="fr-FR" dirty="0"/>
              <a:t>Pseudo-classe</a:t>
            </a:r>
          </a:p>
        </p:txBody>
      </p:sp>
      <p:sp>
        <p:nvSpPr>
          <p:cNvPr id="6" name="Rectangle 13"/>
          <p:cNvSpPr>
            <a:spLocks noGrp="1" noChangeArrowheads="1"/>
          </p:cNvSpPr>
          <p:nvPr>
            <p:ph type="sldNum" sz="quarter" idx="12"/>
          </p:nvPr>
        </p:nvSpPr>
        <p:spPr>
          <a:noFill/>
        </p:spPr>
        <p:txBody>
          <a:bodyPr>
            <a:normAutofit fontScale="85000" lnSpcReduction="20000"/>
          </a:bodyPr>
          <a:lstStyle/>
          <a:p>
            <a:fld id="{D0E731D8-F5EB-4F9B-86C1-C3C0F6B5B5FB}" type="slidenum">
              <a:rPr lang="fr-FR" smtClean="0"/>
              <a:pPr/>
              <a:t>90</a:t>
            </a:fld>
            <a:endParaRPr lang="fr-FR" dirty="0"/>
          </a:p>
        </p:txBody>
      </p:sp>
      <p:sp>
        <p:nvSpPr>
          <p:cNvPr id="5" name="ZoneTexte 4"/>
          <p:cNvSpPr txBox="1"/>
          <p:nvPr/>
        </p:nvSpPr>
        <p:spPr>
          <a:xfrm>
            <a:off x="2614613" y="1988098"/>
            <a:ext cx="5386411"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pPr marL="0" lvl="1"/>
            <a:r>
              <a:rPr lang="fr-FR" b="1" dirty="0"/>
              <a:t> </a:t>
            </a:r>
            <a:r>
              <a:rPr lang="fr-FR" b="1" dirty="0">
                <a:ea typeface="MS Mincho" pitchFamily="49" charset="-128"/>
              </a:rPr>
              <a:t>p</a:t>
            </a:r>
            <a:r>
              <a:rPr lang="fr-FR" dirty="0">
                <a:ea typeface="MS Mincho" pitchFamily="49" charset="-128"/>
              </a:rPr>
              <a:t> { font-size: </a:t>
            </a:r>
            <a:r>
              <a:rPr lang="fr-FR" i="1" dirty="0">
                <a:ea typeface="MS Mincho" pitchFamily="49" charset="-128"/>
              </a:rPr>
              <a:t>90%</a:t>
            </a:r>
            <a:r>
              <a:rPr lang="fr-FR" dirty="0">
                <a:ea typeface="MS Mincho" pitchFamily="49" charset="-128"/>
              </a:rPr>
              <a:t>; margin: </a:t>
            </a:r>
            <a:r>
              <a:rPr lang="fr-FR" i="1" dirty="0">
                <a:ea typeface="MS Mincho" pitchFamily="49" charset="-128"/>
              </a:rPr>
              <a:t>0.5em</a:t>
            </a:r>
            <a:r>
              <a:rPr lang="fr-FR" dirty="0">
                <a:ea typeface="MS Mincho" pitchFamily="49" charset="-128"/>
              </a:rPr>
              <a:t>; padding: </a:t>
            </a:r>
            <a:r>
              <a:rPr lang="fr-FR" i="1" dirty="0">
                <a:ea typeface="MS Mincho" pitchFamily="49" charset="-128"/>
              </a:rPr>
              <a:t>2px</a:t>
            </a:r>
            <a:r>
              <a:rPr lang="fr-FR" dirty="0">
                <a:ea typeface="MS Mincho" pitchFamily="49" charset="-128"/>
              </a:rPr>
              <a:t>; }</a:t>
            </a:r>
          </a:p>
        </p:txBody>
      </p:sp>
      <p:sp>
        <p:nvSpPr>
          <p:cNvPr id="7" name="ZoneTexte 6"/>
          <p:cNvSpPr txBox="1"/>
          <p:nvPr/>
        </p:nvSpPr>
        <p:spPr>
          <a:xfrm>
            <a:off x="3679429" y="3286124"/>
            <a:ext cx="2964273"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pPr marL="0" lvl="1"/>
            <a:r>
              <a:rPr lang="fr-FR" dirty="0"/>
              <a:t> </a:t>
            </a:r>
            <a:r>
              <a:rPr lang="fr-FR" b="1" dirty="0">
                <a:ea typeface="MS Mincho" pitchFamily="49" charset="-128"/>
              </a:rPr>
              <a:t>.important </a:t>
            </a:r>
            <a:r>
              <a:rPr lang="fr-FR" dirty="0">
                <a:ea typeface="MS Mincho" pitchFamily="49" charset="-128"/>
              </a:rPr>
              <a:t>{ color: </a:t>
            </a:r>
            <a:r>
              <a:rPr lang="fr-FR" i="1" dirty="0">
                <a:ea typeface="MS Mincho" pitchFamily="49" charset="-128"/>
              </a:rPr>
              <a:t>red</a:t>
            </a:r>
            <a:r>
              <a:rPr lang="fr-FR" dirty="0">
                <a:ea typeface="MS Mincho" pitchFamily="49" charset="-128"/>
              </a:rPr>
              <a:t>; }</a:t>
            </a:r>
          </a:p>
        </p:txBody>
      </p:sp>
      <p:sp>
        <p:nvSpPr>
          <p:cNvPr id="8" name="ZoneTexte 7"/>
          <p:cNvSpPr txBox="1"/>
          <p:nvPr/>
        </p:nvSpPr>
        <p:spPr>
          <a:xfrm>
            <a:off x="2704173" y="4500570"/>
            <a:ext cx="5153975" cy="36933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pPr marL="0" lvl="1"/>
            <a:r>
              <a:rPr lang="fr-FR" b="1" dirty="0"/>
              <a:t> </a:t>
            </a:r>
            <a:r>
              <a:rPr lang="fr-FR" b="1" dirty="0">
                <a:ea typeface="MS Mincho" pitchFamily="49" charset="-128"/>
              </a:rPr>
              <a:t>#menuGauche </a:t>
            </a:r>
            <a:r>
              <a:rPr lang="fr-FR" dirty="0">
                <a:ea typeface="MS Mincho" pitchFamily="49" charset="-128"/>
              </a:rPr>
              <a:t>{ margin: </a:t>
            </a:r>
            <a:r>
              <a:rPr lang="fr-FR" i="1" dirty="0">
                <a:ea typeface="MS Mincho" pitchFamily="49" charset="-128"/>
              </a:rPr>
              <a:t>0</a:t>
            </a:r>
            <a:r>
              <a:rPr lang="fr-FR" dirty="0">
                <a:ea typeface="MS Mincho" pitchFamily="49" charset="-128"/>
              </a:rPr>
              <a:t>; padding: </a:t>
            </a:r>
            <a:r>
              <a:rPr lang="fr-FR" i="1" dirty="0">
                <a:ea typeface="MS Mincho" pitchFamily="49" charset="-128"/>
              </a:rPr>
              <a:t>0.5em</a:t>
            </a:r>
            <a:r>
              <a:rPr lang="fr-FR" dirty="0">
                <a:ea typeface="MS Mincho" pitchFamily="49" charset="-128"/>
              </a:rPr>
              <a:t>; }</a:t>
            </a:r>
          </a:p>
        </p:txBody>
      </p:sp>
      <p:sp>
        <p:nvSpPr>
          <p:cNvPr id="9" name="Rectangle 8"/>
          <p:cNvSpPr/>
          <p:nvPr/>
        </p:nvSpPr>
        <p:spPr>
          <a:xfrm>
            <a:off x="3286116" y="5286388"/>
            <a:ext cx="3929058" cy="923330"/>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lvl="1"/>
            <a:r>
              <a:rPr lang="fr-FR" b="1" dirty="0"/>
              <a:t> </a:t>
            </a:r>
            <a:r>
              <a:rPr lang="fr-FR" b="1" dirty="0">
                <a:ea typeface="MS Mincho" pitchFamily="49" charset="-128"/>
              </a:rPr>
              <a:t>a:hover </a:t>
            </a:r>
            <a:r>
              <a:rPr lang="fr-FR" dirty="0">
                <a:ea typeface="MS Mincho" pitchFamily="49" charset="-128"/>
              </a:rPr>
              <a:t>{ </a:t>
            </a:r>
          </a:p>
          <a:p>
            <a:pPr lvl="1"/>
            <a:r>
              <a:rPr lang="fr-FR" dirty="0">
                <a:ea typeface="MS Mincho" pitchFamily="49" charset="-128"/>
              </a:rPr>
              <a:t>border-top : </a:t>
            </a:r>
            <a:r>
              <a:rPr lang="fr-FR" i="1" dirty="0">
                <a:ea typeface="MS Mincho" pitchFamily="49" charset="-128"/>
              </a:rPr>
              <a:t>1px solid black</a:t>
            </a:r>
            <a:r>
              <a:rPr lang="fr-FR" dirty="0">
                <a:ea typeface="MS Mincho" pitchFamily="49" charset="-128"/>
              </a:rPr>
              <a:t>; </a:t>
            </a:r>
          </a:p>
          <a:p>
            <a:pPr lvl="1"/>
            <a:r>
              <a:rPr lang="fr-FR" dirty="0">
                <a:ea typeface="MS Mincho" pitchFamily="49" charset="-128"/>
              </a:rPr>
              <a:t>border-bottom: 1px solid black; }</a:t>
            </a:r>
          </a:p>
        </p:txBody>
      </p:sp>
    </p:spTree>
    <p:extLst>
      <p:ext uri="{BB962C8B-B14F-4D97-AF65-F5344CB8AC3E}">
        <p14:creationId xmlns:p14="http://schemas.microsoft.com/office/powerpoint/2010/main" val="6133231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a:bodyPr>
          <a:lstStyle/>
          <a:p>
            <a:r>
              <a:rPr lang="fr-FR" dirty="0"/>
              <a:t>CSS 3.0 sélecteurs</a:t>
            </a:r>
          </a:p>
        </p:txBody>
      </p:sp>
      <p:sp>
        <p:nvSpPr>
          <p:cNvPr id="3" name="Espace réservé du contenu 2"/>
          <p:cNvSpPr>
            <a:spLocks noGrp="1"/>
          </p:cNvSpPr>
          <p:nvPr>
            <p:ph idx="1"/>
          </p:nvPr>
        </p:nvSpPr>
        <p:spPr/>
        <p:txBody>
          <a:bodyPr>
            <a:normAutofit fontScale="92500" lnSpcReduction="10000"/>
          </a:bodyPr>
          <a:lstStyle/>
          <a:p>
            <a:r>
              <a:rPr lang="fr-FR" dirty="0">
                <a:ea typeface="MS Mincho" pitchFamily="49" charset="-128"/>
              </a:rPr>
              <a:t>Sélecteur nouvelle génération </a:t>
            </a:r>
          </a:p>
          <a:p>
            <a:pPr lvl="1"/>
            <a:r>
              <a:rPr lang="fr-FR" dirty="0"/>
              <a:t>Adjacents</a:t>
            </a:r>
          </a:p>
          <a:p>
            <a:pPr lvl="4"/>
            <a:endParaRPr lang="fr-FR" dirty="0"/>
          </a:p>
          <a:p>
            <a:pPr lvl="5">
              <a:buNone/>
            </a:pPr>
            <a:r>
              <a:rPr lang="fr-FR" dirty="0"/>
              <a:t>		     &lt;p&gt; directement précédé de &lt;ul&gt;</a:t>
            </a:r>
          </a:p>
          <a:p>
            <a:pPr lvl="1"/>
            <a:r>
              <a:rPr lang="fr-FR" dirty="0"/>
              <a:t>Enfants</a:t>
            </a:r>
          </a:p>
          <a:p>
            <a:pPr lvl="1"/>
            <a:endParaRPr lang="fr-FR" dirty="0"/>
          </a:p>
          <a:p>
            <a:pPr marL="1339850" lvl="5" indent="-182563">
              <a:buNone/>
            </a:pPr>
            <a:r>
              <a:rPr lang="fr-FR" dirty="0"/>
              <a:t>Uniquement les enfants&lt;ul&gt; contenu dans div#container</a:t>
            </a:r>
          </a:p>
          <a:p>
            <a:pPr lvl="1"/>
            <a:r>
              <a:rPr lang="fr-FR" dirty="0"/>
              <a:t>Présence d’attribut</a:t>
            </a:r>
          </a:p>
          <a:p>
            <a:pPr lvl="1"/>
            <a:endParaRPr lang="fr-FR" dirty="0"/>
          </a:p>
          <a:p>
            <a:pPr lvl="5">
              <a:buNone/>
            </a:pPr>
            <a:r>
              <a:rPr lang="fr-FR" dirty="0"/>
              <a:t>		         Lien comportant un attribut ‘title’</a:t>
            </a:r>
          </a:p>
          <a:p>
            <a:pPr lvl="1"/>
            <a:r>
              <a:rPr lang="fr-FR" dirty="0"/>
              <a:t>Valeur d’attribut</a:t>
            </a:r>
          </a:p>
          <a:p>
            <a:pPr lvl="5">
              <a:buNone/>
            </a:pPr>
            <a:endParaRPr lang="fr-FR" dirty="0"/>
          </a:p>
          <a:p>
            <a:pPr marL="1166813" lvl="5" indent="-182563">
              <a:buNone/>
            </a:pPr>
            <a:r>
              <a:rPr lang="fr-FR" dirty="0"/>
              <a:t>Lien comprenant l’attribut ‘title’ avec ‘geenLink’ comme valeur </a:t>
            </a:r>
          </a:p>
          <a:p>
            <a:pPr lvl="5">
              <a:buNone/>
            </a:pPr>
            <a:endParaRPr lang="fr-FR" dirty="0"/>
          </a:p>
        </p:txBody>
      </p:sp>
      <p:sp>
        <p:nvSpPr>
          <p:cNvPr id="4" name="Espace réservé du numéro de diapositive 3"/>
          <p:cNvSpPr>
            <a:spLocks noGrp="1"/>
          </p:cNvSpPr>
          <p:nvPr>
            <p:ph type="sldNum" sz="quarter" idx="12"/>
          </p:nvPr>
        </p:nvSpPr>
        <p:spPr/>
        <p:txBody>
          <a:bodyPr/>
          <a:lstStyle/>
          <a:p>
            <a:fld id="{5A33B5BC-E3F1-4ABE-A1A6-D2608D40EC2E}" type="slidenum">
              <a:rPr lang="fr-FR" smtClean="0"/>
              <a:pPr/>
              <a:t>91</a:t>
            </a:fld>
            <a:endParaRPr lang="fr-FR" dirty="0"/>
          </a:p>
        </p:txBody>
      </p:sp>
      <p:sp>
        <p:nvSpPr>
          <p:cNvPr id="35843" name="Rectangle 3"/>
          <p:cNvSpPr>
            <a:spLocks noChangeArrowheads="1"/>
          </p:cNvSpPr>
          <p:nvPr/>
        </p:nvSpPr>
        <p:spPr bwMode="auto">
          <a:xfrm>
            <a:off x="2915816" y="1970308"/>
            <a:ext cx="2952328" cy="276999"/>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b="1" i="0" u="none" strike="noStrike" cap="none" normalizeH="0" baseline="0" dirty="0">
                <a:ln>
                  <a:noFill/>
                </a:ln>
                <a:solidFill>
                  <a:srgbClr val="000000"/>
                </a:solidFill>
                <a:effectLst/>
                <a:latin typeface="Source Code Pro" pitchFamily="49" charset="0"/>
                <a:cs typeface="Arial" pitchFamily="34" charset="0"/>
              </a:rPr>
              <a:t>ul + p </a:t>
            </a:r>
            <a:r>
              <a:rPr kumimoji="0" lang="fr-FR" b="0" i="0" u="none" strike="noStrike" cap="none" normalizeH="0" baseline="0" dirty="0">
                <a:ln>
                  <a:noFill/>
                </a:ln>
                <a:solidFill>
                  <a:srgbClr val="000000"/>
                </a:solidFill>
                <a:effectLst/>
                <a:latin typeface="Source Code Pro" pitchFamily="49" charset="0"/>
                <a:cs typeface="Arial" pitchFamily="34" charset="0"/>
              </a:rPr>
              <a:t>{</a:t>
            </a:r>
            <a:r>
              <a:rPr kumimoji="0" lang="fr-FR" b="0" i="0" u="none" strike="noStrike" cap="none" normalizeH="0" baseline="0" dirty="0">
                <a:ln>
                  <a:noFill/>
                </a:ln>
                <a:solidFill>
                  <a:srgbClr val="3A3A3A"/>
                </a:solidFill>
                <a:effectLst/>
                <a:latin typeface="Source Code Pro" pitchFamily="49" charset="0"/>
                <a:cs typeface="Arial" pitchFamily="34" charset="0"/>
              </a:rPr>
              <a:t> </a:t>
            </a:r>
            <a:r>
              <a:rPr kumimoji="0" lang="fr-FR" b="1" i="0" u="none" strike="noStrike" cap="none" normalizeH="0" baseline="0" dirty="0">
                <a:ln>
                  <a:noFill/>
                </a:ln>
                <a:solidFill>
                  <a:srgbClr val="006699"/>
                </a:solidFill>
                <a:effectLst/>
                <a:latin typeface="Source Code Pro" pitchFamily="49" charset="0"/>
                <a:cs typeface="Arial" pitchFamily="34" charset="0"/>
              </a:rPr>
              <a:t>color</a:t>
            </a:r>
            <a:r>
              <a:rPr kumimoji="0" lang="fr-FR" b="0" i="0" u="none" strike="noStrike" cap="none" normalizeH="0" baseline="0" dirty="0">
                <a:ln>
                  <a:noFill/>
                </a:ln>
                <a:solidFill>
                  <a:srgbClr val="000000"/>
                </a:solidFill>
                <a:effectLst/>
                <a:latin typeface="Source Code Pro" pitchFamily="49" charset="0"/>
                <a:cs typeface="Arial" pitchFamily="34" charset="0"/>
              </a:rPr>
              <a:t>: </a:t>
            </a:r>
            <a:r>
              <a:rPr kumimoji="0" lang="fr-FR" b="0" i="0" u="none" strike="noStrike" cap="none" normalizeH="0" baseline="0" dirty="0">
                <a:ln>
                  <a:noFill/>
                </a:ln>
                <a:solidFill>
                  <a:srgbClr val="009900"/>
                </a:solidFill>
                <a:effectLst/>
                <a:latin typeface="Source Code Pro" pitchFamily="49" charset="0"/>
                <a:cs typeface="Arial" pitchFamily="34" charset="0"/>
              </a:rPr>
              <a:t>red</a:t>
            </a:r>
            <a:r>
              <a:rPr kumimoji="0" lang="fr-FR" b="0" i="0" u="none" strike="noStrike" cap="none" normalizeH="0" baseline="0" dirty="0">
                <a:ln>
                  <a:noFill/>
                </a:ln>
                <a:solidFill>
                  <a:srgbClr val="000000"/>
                </a:solidFill>
                <a:effectLst/>
                <a:latin typeface="Source Code Pro" pitchFamily="49" charset="0"/>
                <a:cs typeface="Arial" pitchFamily="34" charset="0"/>
              </a:rPr>
              <a:t>;}</a:t>
            </a:r>
            <a:endParaRPr kumimoji="0" lang="fr-FR" sz="4000" b="0" i="0" u="none" strike="noStrike" cap="none" normalizeH="0" baseline="0" dirty="0">
              <a:ln>
                <a:noFill/>
              </a:ln>
              <a:solidFill>
                <a:schemeClr val="tx1"/>
              </a:solidFill>
              <a:effectLst/>
              <a:latin typeface="Arial" pitchFamily="34" charset="0"/>
              <a:cs typeface="Arial" pitchFamily="34" charset="0"/>
            </a:endParaRPr>
          </a:p>
        </p:txBody>
      </p:sp>
      <p:sp>
        <p:nvSpPr>
          <p:cNvPr id="35844" name="Rectangle 4"/>
          <p:cNvSpPr>
            <a:spLocks noChangeArrowheads="1"/>
          </p:cNvSpPr>
          <p:nvPr/>
        </p:nvSpPr>
        <p:spPr bwMode="auto">
          <a:xfrm>
            <a:off x="1344750" y="3273524"/>
            <a:ext cx="6454500" cy="276999"/>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b="1" i="0" u="none" strike="noStrike" cap="none" normalizeH="0" baseline="0" dirty="0">
                <a:ln>
                  <a:noFill/>
                </a:ln>
                <a:solidFill>
                  <a:srgbClr val="000000"/>
                </a:solidFill>
                <a:effectLst/>
                <a:latin typeface="Source Code Pro" pitchFamily="49" charset="0"/>
                <a:cs typeface="Arial" pitchFamily="34" charset="0"/>
              </a:rPr>
              <a:t>div#container &gt; ul </a:t>
            </a:r>
            <a:r>
              <a:rPr kumimoji="0" lang="fr-FR" b="0" i="0" u="none" strike="noStrike" cap="none" normalizeH="0" baseline="0" dirty="0">
                <a:ln>
                  <a:noFill/>
                </a:ln>
                <a:solidFill>
                  <a:srgbClr val="000000"/>
                </a:solidFill>
                <a:effectLst/>
                <a:latin typeface="Source Code Pro" pitchFamily="49" charset="0"/>
                <a:cs typeface="Arial" pitchFamily="34" charset="0"/>
              </a:rPr>
              <a:t>{</a:t>
            </a:r>
            <a:r>
              <a:rPr kumimoji="0" lang="fr-FR" b="1" i="0" u="none" strike="noStrike" cap="none" normalizeH="0" baseline="0" dirty="0">
                <a:ln>
                  <a:noFill/>
                </a:ln>
                <a:solidFill>
                  <a:srgbClr val="006699"/>
                </a:solidFill>
                <a:effectLst/>
                <a:latin typeface="Source Code Pro" pitchFamily="49" charset="0"/>
                <a:cs typeface="Arial" pitchFamily="34" charset="0"/>
              </a:rPr>
              <a:t>border</a:t>
            </a:r>
            <a:r>
              <a:rPr kumimoji="0" lang="fr-FR" b="0" i="0" u="none" strike="noStrike" cap="none" normalizeH="0" baseline="0" dirty="0">
                <a:ln>
                  <a:noFill/>
                </a:ln>
                <a:solidFill>
                  <a:srgbClr val="000000"/>
                </a:solidFill>
                <a:effectLst/>
                <a:latin typeface="Source Code Pro" pitchFamily="49" charset="0"/>
                <a:cs typeface="Arial" pitchFamily="34" charset="0"/>
              </a:rPr>
              <a:t>: </a:t>
            </a:r>
            <a:r>
              <a:rPr kumimoji="0" lang="fr-FR" b="0" i="0" u="none" strike="noStrike" cap="none" normalizeH="0" baseline="0" dirty="0">
                <a:ln>
                  <a:noFill/>
                </a:ln>
                <a:solidFill>
                  <a:srgbClr val="009900"/>
                </a:solidFill>
                <a:effectLst/>
                <a:latin typeface="Source Code Pro" pitchFamily="49" charset="0"/>
                <a:cs typeface="Arial" pitchFamily="34" charset="0"/>
              </a:rPr>
              <a:t>1px</a:t>
            </a:r>
            <a:r>
              <a:rPr kumimoji="0" lang="fr-FR" b="0" i="0" u="none" strike="noStrike" cap="none" normalizeH="0" baseline="0" dirty="0">
                <a:ln>
                  <a:noFill/>
                </a:ln>
                <a:solidFill>
                  <a:srgbClr val="3A3A3A"/>
                </a:solidFill>
                <a:effectLst/>
                <a:latin typeface="Source Code Pro" pitchFamily="49" charset="0"/>
                <a:cs typeface="Arial" pitchFamily="34" charset="0"/>
              </a:rPr>
              <a:t> </a:t>
            </a:r>
            <a:r>
              <a:rPr kumimoji="0" lang="fr-FR" b="0" i="0" u="none" strike="noStrike" cap="none" normalizeH="0" baseline="0" dirty="0">
                <a:ln>
                  <a:noFill/>
                </a:ln>
                <a:solidFill>
                  <a:srgbClr val="009900"/>
                </a:solidFill>
                <a:effectLst/>
                <a:latin typeface="Source Code Pro" pitchFamily="49" charset="0"/>
                <a:cs typeface="Arial" pitchFamily="34" charset="0"/>
              </a:rPr>
              <a:t>solid</a:t>
            </a:r>
            <a:r>
              <a:rPr kumimoji="0" lang="fr-FR" b="0" i="0" u="none" strike="noStrike" cap="none" normalizeH="0" baseline="0" dirty="0">
                <a:ln>
                  <a:noFill/>
                </a:ln>
                <a:solidFill>
                  <a:srgbClr val="3A3A3A"/>
                </a:solidFill>
                <a:effectLst/>
                <a:latin typeface="Source Code Pro" pitchFamily="49" charset="0"/>
                <a:cs typeface="Arial" pitchFamily="34" charset="0"/>
              </a:rPr>
              <a:t> b</a:t>
            </a:r>
            <a:r>
              <a:rPr kumimoji="0" lang="fr-FR" b="0" i="0" u="none" strike="noStrike" cap="none" normalizeH="0" baseline="0" dirty="0">
                <a:ln>
                  <a:noFill/>
                </a:ln>
                <a:solidFill>
                  <a:srgbClr val="009900"/>
                </a:solidFill>
                <a:effectLst/>
                <a:latin typeface="Source Code Pro" pitchFamily="49" charset="0"/>
                <a:cs typeface="Arial" pitchFamily="34" charset="0"/>
              </a:rPr>
              <a:t>lack</a:t>
            </a:r>
            <a:r>
              <a:rPr kumimoji="0" lang="fr-FR" b="0" i="0" u="none" strike="noStrike" cap="none" normalizeH="0" baseline="0" dirty="0">
                <a:ln>
                  <a:noFill/>
                </a:ln>
                <a:solidFill>
                  <a:srgbClr val="000000"/>
                </a:solidFill>
                <a:effectLst/>
                <a:latin typeface="Source Code Pro" pitchFamily="49" charset="0"/>
                <a:cs typeface="Arial" pitchFamily="34" charset="0"/>
              </a:rPr>
              <a:t>;}</a:t>
            </a:r>
            <a:endParaRPr kumimoji="0" lang="fr-FR" b="0" i="0" u="none" strike="noStrike" cap="none" normalizeH="0" baseline="0" dirty="0">
              <a:ln>
                <a:noFill/>
              </a:ln>
              <a:solidFill>
                <a:schemeClr val="tx1"/>
              </a:solidFill>
              <a:effectLst/>
              <a:latin typeface="Arial" pitchFamily="34" charset="0"/>
              <a:cs typeface="Arial" pitchFamily="34" charset="0"/>
            </a:endParaRPr>
          </a:p>
        </p:txBody>
      </p:sp>
      <p:sp>
        <p:nvSpPr>
          <p:cNvPr id="35846" name="Rectangle 6"/>
          <p:cNvSpPr>
            <a:spLocks noChangeArrowheads="1"/>
          </p:cNvSpPr>
          <p:nvPr/>
        </p:nvSpPr>
        <p:spPr bwMode="auto">
          <a:xfrm>
            <a:off x="2807804" y="4378937"/>
            <a:ext cx="3528392" cy="288032"/>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fr-FR" b="1" i="0" u="none" strike="noStrike" cap="none" normalizeH="0" baseline="0" dirty="0">
                <a:ln>
                  <a:noFill/>
                </a:ln>
                <a:solidFill>
                  <a:srgbClr val="000000"/>
                </a:solidFill>
                <a:effectLst/>
                <a:latin typeface="Source Code Pro" pitchFamily="49" charset="0"/>
                <a:cs typeface="Arial" pitchFamily="34" charset="0"/>
              </a:rPr>
              <a:t>a[title] </a:t>
            </a:r>
            <a:r>
              <a:rPr kumimoji="0" lang="fr-FR" b="0" i="0" u="none" strike="noStrike" cap="none" normalizeH="0" baseline="0" dirty="0">
                <a:ln>
                  <a:noFill/>
                </a:ln>
                <a:solidFill>
                  <a:srgbClr val="000000"/>
                </a:solidFill>
                <a:effectLst/>
                <a:latin typeface="Source Code Pro" pitchFamily="49" charset="0"/>
                <a:cs typeface="Arial" pitchFamily="34" charset="0"/>
              </a:rPr>
              <a:t>{</a:t>
            </a:r>
            <a:r>
              <a:rPr kumimoji="0" lang="fr-FR" b="0" i="0" u="none" strike="noStrike" cap="none" normalizeH="0" baseline="0" dirty="0">
                <a:ln>
                  <a:noFill/>
                </a:ln>
                <a:solidFill>
                  <a:srgbClr val="3A3A3A"/>
                </a:solidFill>
                <a:effectLst/>
                <a:latin typeface="Source Code Pro" pitchFamily="49" charset="0"/>
                <a:cs typeface="Arial" pitchFamily="34" charset="0"/>
              </a:rPr>
              <a:t> </a:t>
            </a:r>
            <a:r>
              <a:rPr kumimoji="0" lang="fr-FR" b="1" i="0" u="none" strike="noStrike" cap="none" normalizeH="0" baseline="0" dirty="0">
                <a:ln>
                  <a:noFill/>
                </a:ln>
                <a:solidFill>
                  <a:srgbClr val="006699"/>
                </a:solidFill>
                <a:effectLst/>
                <a:latin typeface="Source Code Pro" pitchFamily="49" charset="0"/>
                <a:cs typeface="Arial" pitchFamily="34" charset="0"/>
              </a:rPr>
              <a:t>color</a:t>
            </a:r>
            <a:r>
              <a:rPr kumimoji="0" lang="fr-FR" b="0" i="0" u="none" strike="noStrike" cap="none" normalizeH="0" baseline="0" dirty="0">
                <a:ln>
                  <a:noFill/>
                </a:ln>
                <a:solidFill>
                  <a:srgbClr val="000000"/>
                </a:solidFill>
                <a:effectLst/>
                <a:latin typeface="Source Code Pro" pitchFamily="49" charset="0"/>
                <a:cs typeface="Arial" pitchFamily="34" charset="0"/>
              </a:rPr>
              <a:t>: </a:t>
            </a:r>
            <a:r>
              <a:rPr kumimoji="0" lang="fr-FR" b="0" i="0" u="none" strike="noStrike" cap="none" normalizeH="0" baseline="0" dirty="0">
                <a:ln>
                  <a:noFill/>
                </a:ln>
                <a:solidFill>
                  <a:srgbClr val="009900"/>
                </a:solidFill>
                <a:effectLst/>
                <a:latin typeface="Source Code Pro" pitchFamily="49" charset="0"/>
                <a:cs typeface="Arial" pitchFamily="34" charset="0"/>
              </a:rPr>
              <a:t>green</a:t>
            </a:r>
            <a:r>
              <a:rPr kumimoji="0" lang="fr-FR" b="0" i="0" u="none" strike="noStrike" cap="none" normalizeH="0" baseline="0" dirty="0">
                <a:ln>
                  <a:noFill/>
                </a:ln>
                <a:solidFill>
                  <a:srgbClr val="000000"/>
                </a:solidFill>
                <a:effectLst/>
                <a:latin typeface="Source Code Pro" pitchFamily="49" charset="0"/>
                <a:cs typeface="Arial" pitchFamily="34" charset="0"/>
              </a:rPr>
              <a:t>;}</a:t>
            </a:r>
            <a:endParaRPr kumimoji="0" lang="fr-FR" b="0" i="0" u="none" strike="noStrike" cap="none" normalizeH="0" baseline="0" dirty="0">
              <a:ln>
                <a:noFill/>
              </a:ln>
              <a:solidFill>
                <a:schemeClr val="tx1"/>
              </a:solidFill>
              <a:effectLst/>
              <a:latin typeface="Arial" pitchFamily="34" charset="0"/>
              <a:cs typeface="Arial" pitchFamily="34" charset="0"/>
            </a:endParaRPr>
          </a:p>
        </p:txBody>
      </p:sp>
      <p:sp>
        <p:nvSpPr>
          <p:cNvPr id="12" name="Rectangle 6"/>
          <p:cNvSpPr>
            <a:spLocks noChangeArrowheads="1"/>
          </p:cNvSpPr>
          <p:nvPr/>
        </p:nvSpPr>
        <p:spPr bwMode="auto">
          <a:xfrm>
            <a:off x="1835696" y="5512493"/>
            <a:ext cx="5112568" cy="246221"/>
          </a:xfrm>
          <a:prstGeom prst="rect">
            <a:avLst/>
          </a:prstGeom>
          <a:ln>
            <a:headEnd/>
            <a:tailEnd/>
          </a:ln>
        </p:spPr>
        <p:style>
          <a:lnRef idx="1">
            <a:schemeClr val="dk1"/>
          </a:lnRef>
          <a:fillRef idx="2">
            <a:schemeClr val="dk1"/>
          </a:fillRef>
          <a:effectRef idx="1">
            <a:schemeClr val="dk1"/>
          </a:effectRef>
          <a:fontRef idx="minor">
            <a:schemeClr val="dk1"/>
          </a:fontRef>
        </p:style>
        <p:txBody>
          <a:bodyPr vert="horz" wrap="square" lIns="0" tIns="0" rIns="0" bIns="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fr-FR" sz="1600" b="1" i="0" u="none" strike="noStrike" cap="none" normalizeH="0" baseline="0" dirty="0">
                <a:ln>
                  <a:noFill/>
                </a:ln>
                <a:solidFill>
                  <a:srgbClr val="000000"/>
                </a:solidFill>
                <a:effectLst/>
                <a:latin typeface="Source Code Pro" pitchFamily="49" charset="0"/>
                <a:cs typeface="Arial" pitchFamily="34" charset="0"/>
              </a:rPr>
              <a:t>a[title="greenLink"] </a:t>
            </a:r>
            <a:r>
              <a:rPr kumimoji="0" lang="fr-FR" sz="1600" b="0" i="0" u="none" strike="noStrike" cap="none" normalizeH="0" baseline="0" dirty="0">
                <a:ln>
                  <a:noFill/>
                </a:ln>
                <a:solidFill>
                  <a:srgbClr val="000000"/>
                </a:solidFill>
                <a:effectLst/>
                <a:latin typeface="Source Code Pro" pitchFamily="49" charset="0"/>
                <a:cs typeface="Arial" pitchFamily="34" charset="0"/>
              </a:rPr>
              <a:t>{</a:t>
            </a:r>
            <a:r>
              <a:rPr kumimoji="0" lang="fr-FR" sz="1600" b="0" i="0" u="none" strike="noStrike" cap="none" normalizeH="0" baseline="0" dirty="0">
                <a:ln>
                  <a:noFill/>
                </a:ln>
                <a:solidFill>
                  <a:srgbClr val="3A3A3A"/>
                </a:solidFill>
                <a:effectLst/>
                <a:latin typeface="Source Code Pro" pitchFamily="49" charset="0"/>
                <a:cs typeface="Arial" pitchFamily="34" charset="0"/>
              </a:rPr>
              <a:t> </a:t>
            </a:r>
            <a:r>
              <a:rPr kumimoji="0" lang="fr-FR" sz="1600" b="1" i="0" u="none" strike="noStrike" cap="none" normalizeH="0" baseline="0" dirty="0">
                <a:ln>
                  <a:noFill/>
                </a:ln>
                <a:solidFill>
                  <a:srgbClr val="006699"/>
                </a:solidFill>
                <a:effectLst/>
                <a:latin typeface="Source Code Pro" pitchFamily="49" charset="0"/>
                <a:cs typeface="Arial" pitchFamily="34" charset="0"/>
              </a:rPr>
              <a:t>color</a:t>
            </a:r>
            <a:r>
              <a:rPr kumimoji="0" lang="fr-FR" sz="1600" b="0" i="0" u="none" strike="noStrike" cap="none" normalizeH="0" baseline="0" dirty="0">
                <a:ln>
                  <a:noFill/>
                </a:ln>
                <a:solidFill>
                  <a:srgbClr val="000000"/>
                </a:solidFill>
                <a:effectLst/>
                <a:latin typeface="Source Code Pro" pitchFamily="49" charset="0"/>
                <a:cs typeface="Arial" pitchFamily="34" charset="0"/>
              </a:rPr>
              <a:t>: </a:t>
            </a:r>
            <a:r>
              <a:rPr kumimoji="0" lang="fr-FR" sz="1600" b="0" i="0" u="none" strike="noStrike" cap="none" normalizeH="0" baseline="0" dirty="0">
                <a:ln>
                  <a:noFill/>
                </a:ln>
                <a:solidFill>
                  <a:srgbClr val="009900"/>
                </a:solidFill>
                <a:effectLst/>
                <a:latin typeface="Source Code Pro" pitchFamily="49" charset="0"/>
                <a:cs typeface="Arial" pitchFamily="34" charset="0"/>
              </a:rPr>
              <a:t>green</a:t>
            </a:r>
            <a:r>
              <a:rPr kumimoji="0" lang="fr-FR" sz="1600" b="0" i="0" u="none" strike="noStrike" cap="none" normalizeH="0" baseline="0" dirty="0">
                <a:ln>
                  <a:noFill/>
                </a:ln>
                <a:solidFill>
                  <a:srgbClr val="000000"/>
                </a:solidFill>
                <a:effectLst/>
                <a:latin typeface="Source Code Pro" pitchFamily="49" charset="0"/>
                <a:cs typeface="Arial" pitchFamily="34" charset="0"/>
              </a:rPr>
              <a:t>;}</a:t>
            </a:r>
            <a:endParaRPr kumimoji="0" lang="fr-FR" sz="1600" b="0" i="0" u="none" strike="noStrike" cap="none" normalizeH="0" baseline="0" dirty="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1256453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9" name="AutoShape 2"/>
          <p:cNvSpPr>
            <a:spLocks noGrp="1" noChangeArrowheads="1"/>
          </p:cNvSpPr>
          <p:nvPr>
            <p:ph type="title"/>
          </p:nvPr>
        </p:nvSpPr>
        <p:spPr/>
        <p:txBody>
          <a:bodyPr>
            <a:normAutofit/>
          </a:bodyPr>
          <a:lstStyle/>
          <a:p>
            <a:pPr eaLnBrk="1" hangingPunct="1"/>
            <a:r>
              <a:rPr lang="fr-FR" dirty="0"/>
              <a:t>Rappel Sélecteur css</a:t>
            </a:r>
          </a:p>
        </p:txBody>
      </p:sp>
      <p:sp>
        <p:nvSpPr>
          <p:cNvPr id="132100" name="Rectangle 3"/>
          <p:cNvSpPr>
            <a:spLocks noGrp="1" noChangeArrowheads="1"/>
          </p:cNvSpPr>
          <p:nvPr>
            <p:ph idx="1"/>
          </p:nvPr>
        </p:nvSpPr>
        <p:spPr/>
        <p:txBody>
          <a:bodyPr>
            <a:normAutofit fontScale="77500" lnSpcReduction="20000"/>
          </a:bodyPr>
          <a:lstStyle/>
          <a:p>
            <a:r>
              <a:rPr lang="fr-FR" dirty="0"/>
              <a:t>Syntaxe de Base</a:t>
            </a:r>
          </a:p>
          <a:p>
            <a:pPr lvl="1"/>
            <a:r>
              <a:rPr lang="fr-FR" dirty="0"/>
              <a:t> </a:t>
            </a:r>
            <a:r>
              <a:rPr lang="fr-FR" dirty="0">
                <a:ea typeface="MS Mincho" pitchFamily="49" charset="-128"/>
              </a:rPr>
              <a:t>sélecteur { propriété: valeur; }</a:t>
            </a:r>
          </a:p>
          <a:p>
            <a:pPr lvl="1"/>
            <a:endParaRPr lang="fr-FR" dirty="0">
              <a:ea typeface="MS Mincho" pitchFamily="49" charset="-128"/>
            </a:endParaRPr>
          </a:p>
          <a:p>
            <a:r>
              <a:rPr lang="fr-FR" dirty="0"/>
              <a:t>Sélecteurs multiples</a:t>
            </a:r>
          </a:p>
          <a:p>
            <a:pPr lvl="1"/>
            <a:endParaRPr lang="fr-FR" dirty="0"/>
          </a:p>
          <a:p>
            <a:pPr lvl="1"/>
            <a:endParaRPr lang="fr-FR" dirty="0"/>
          </a:p>
          <a:p>
            <a:pPr lvl="1"/>
            <a:endParaRPr lang="fr-FR" dirty="0"/>
          </a:p>
          <a:p>
            <a:pPr lvl="1"/>
            <a:endParaRPr lang="fr-FR" dirty="0"/>
          </a:p>
          <a:p>
            <a:pPr lvl="1"/>
            <a:endParaRPr lang="fr-FR" dirty="0"/>
          </a:p>
          <a:p>
            <a:r>
              <a:rPr lang="fr-FR" dirty="0"/>
              <a:t>Encapsulation des éléments</a:t>
            </a:r>
          </a:p>
          <a:p>
            <a:endParaRPr lang="fr-FR" dirty="0"/>
          </a:p>
          <a:p>
            <a:endParaRPr lang="fr-FR" dirty="0"/>
          </a:p>
          <a:p>
            <a:endParaRPr lang="fr-FR" dirty="0"/>
          </a:p>
          <a:p>
            <a:pPr>
              <a:buNone/>
            </a:pPr>
            <a:r>
              <a:rPr lang="fr-FR" dirty="0"/>
              <a:t> </a:t>
            </a:r>
          </a:p>
        </p:txBody>
      </p:sp>
      <p:sp>
        <p:nvSpPr>
          <p:cNvPr id="6" name="Rectangle 13"/>
          <p:cNvSpPr>
            <a:spLocks noGrp="1" noChangeArrowheads="1"/>
          </p:cNvSpPr>
          <p:nvPr>
            <p:ph type="sldNum" sz="quarter" idx="12"/>
          </p:nvPr>
        </p:nvSpPr>
        <p:spPr>
          <a:noFill/>
        </p:spPr>
        <p:txBody>
          <a:bodyPr>
            <a:normAutofit fontScale="85000" lnSpcReduction="20000"/>
          </a:bodyPr>
          <a:lstStyle/>
          <a:p>
            <a:fld id="{D0E731D8-F5EB-4F9B-86C1-C3C0F6B5B5FB}" type="slidenum">
              <a:rPr lang="fr-FR" smtClean="0"/>
              <a:pPr/>
              <a:t>92</a:t>
            </a:fld>
            <a:endParaRPr lang="fr-FR" dirty="0"/>
          </a:p>
        </p:txBody>
      </p:sp>
      <p:sp>
        <p:nvSpPr>
          <p:cNvPr id="5" name="ZoneTexte 4"/>
          <p:cNvSpPr txBox="1"/>
          <p:nvPr/>
        </p:nvSpPr>
        <p:spPr>
          <a:xfrm>
            <a:off x="1285852" y="2643182"/>
            <a:ext cx="6851556" cy="1415772"/>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pPr marL="0" lvl="1"/>
            <a:r>
              <a:rPr lang="fr-FR" sz="1200" b="1" u="sng" dirty="0"/>
              <a:t>Code css :</a:t>
            </a:r>
          </a:p>
          <a:p>
            <a:pPr marL="0" lvl="1"/>
            <a:r>
              <a:rPr lang="fr-FR" dirty="0"/>
              <a:t> h1, h2, … h6 {</a:t>
            </a:r>
            <a:br>
              <a:rPr lang="fr-FR" dirty="0"/>
            </a:br>
            <a:r>
              <a:rPr lang="fr-FR" dirty="0"/>
              <a:t>	font-family : "MS Trebuchet", Verdana, Arial, sans-serif;</a:t>
            </a:r>
            <a:br>
              <a:rPr lang="fr-FR" dirty="0"/>
            </a:br>
            <a:r>
              <a:rPr lang="fr-FR" dirty="0"/>
              <a:t>	font-weight : bold;</a:t>
            </a:r>
            <a:br>
              <a:rPr lang="fr-FR" dirty="0"/>
            </a:br>
            <a:r>
              <a:rPr lang="fr-FR" dirty="0"/>
              <a:t>}</a:t>
            </a:r>
          </a:p>
        </p:txBody>
      </p:sp>
      <p:sp>
        <p:nvSpPr>
          <p:cNvPr id="7" name="Rectangle 6"/>
          <p:cNvSpPr/>
          <p:nvPr/>
        </p:nvSpPr>
        <p:spPr>
          <a:xfrm>
            <a:off x="1142976" y="5072074"/>
            <a:ext cx="7056784" cy="1200329"/>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marL="173038" lvl="1"/>
            <a:r>
              <a:rPr lang="fr-FR" dirty="0">
                <a:sym typeface="Wingdings" pitchFamily="2" charset="2"/>
              </a:rPr>
              <a:t>     /*</a:t>
            </a:r>
            <a:r>
              <a:rPr lang="fr-FR" dirty="0">
                <a:ea typeface="MS Mincho" pitchFamily="49" charset="-128"/>
              </a:rPr>
              <a:t> s’applique aux images contenues dans un lien*/</a:t>
            </a:r>
            <a:endParaRPr lang="fr-FR" dirty="0"/>
          </a:p>
          <a:p>
            <a:pPr marL="173038" lvl="1"/>
            <a:r>
              <a:rPr lang="fr-FR" b="1" dirty="0">
                <a:ea typeface="MS Mincho" pitchFamily="49" charset="-128"/>
              </a:rPr>
              <a:t>a img </a:t>
            </a:r>
            <a:r>
              <a:rPr lang="fr-FR" dirty="0">
                <a:ea typeface="MS Mincho" pitchFamily="49" charset="-128"/>
              </a:rPr>
              <a:t>{ border : </a:t>
            </a:r>
            <a:r>
              <a:rPr lang="fr-FR" i="1" dirty="0">
                <a:ea typeface="MS Mincho" pitchFamily="49" charset="-128"/>
              </a:rPr>
              <a:t>none</a:t>
            </a:r>
            <a:r>
              <a:rPr lang="fr-FR" dirty="0">
                <a:ea typeface="MS Mincho" pitchFamily="49" charset="-128"/>
              </a:rPr>
              <a:t>; } </a:t>
            </a:r>
          </a:p>
          <a:p>
            <a:pPr marL="173038" lvl="1"/>
            <a:r>
              <a:rPr lang="fr-FR" dirty="0">
                <a:sym typeface="Wingdings" pitchFamily="2" charset="2"/>
              </a:rPr>
              <a:t>    /*</a:t>
            </a:r>
            <a:r>
              <a:rPr lang="fr-FR" dirty="0">
                <a:ea typeface="MS Mincho" pitchFamily="49" charset="-128"/>
              </a:rPr>
              <a:t> s’applique aux paragraphes dans les balises class maClasse*/</a:t>
            </a:r>
          </a:p>
          <a:p>
            <a:pPr marL="173038" lvl="1"/>
            <a:r>
              <a:rPr lang="fr-FR" b="1" dirty="0">
                <a:ea typeface="MS Mincho" pitchFamily="49" charset="-128"/>
              </a:rPr>
              <a:t>.maClasse p </a:t>
            </a:r>
            <a:r>
              <a:rPr lang="fr-FR" dirty="0">
                <a:ea typeface="MS Mincho" pitchFamily="49" charset="-128"/>
              </a:rPr>
              <a:t>{ margin : </a:t>
            </a:r>
            <a:r>
              <a:rPr lang="fr-FR" i="1" dirty="0">
                <a:ea typeface="MS Mincho" pitchFamily="49" charset="-128"/>
              </a:rPr>
              <a:t>0.5em 0;</a:t>
            </a:r>
            <a:r>
              <a:rPr lang="fr-FR" dirty="0">
                <a:ea typeface="MS Mincho" pitchFamily="49" charset="-128"/>
              </a:rPr>
              <a:t> }</a:t>
            </a:r>
            <a:endParaRPr lang="fr-FR" sz="2800" dirty="0">
              <a:ea typeface="MS Mincho" pitchFamily="49" charset="-128"/>
            </a:endParaRPr>
          </a:p>
        </p:txBody>
      </p:sp>
    </p:spTree>
    <p:extLst>
      <p:ext uri="{BB962C8B-B14F-4D97-AF65-F5344CB8AC3E}">
        <p14:creationId xmlns:p14="http://schemas.microsoft.com/office/powerpoint/2010/main" val="21133971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BB77A1-F38B-2112-FD83-7CE4A275ADC9}"/>
              </a:ext>
            </a:extLst>
          </p:cNvPr>
          <p:cNvSpPr>
            <a:spLocks noGrp="1"/>
          </p:cNvSpPr>
          <p:nvPr>
            <p:ph type="title"/>
          </p:nvPr>
        </p:nvSpPr>
        <p:spPr/>
        <p:txBody>
          <a:bodyPr/>
          <a:lstStyle/>
          <a:p>
            <a:r>
              <a:rPr lang="fr-FR" dirty="0"/>
              <a:t>Création d’un élément DOM</a:t>
            </a:r>
          </a:p>
        </p:txBody>
      </p:sp>
      <p:sp>
        <p:nvSpPr>
          <p:cNvPr id="3" name="Espace réservé du contenu 2">
            <a:extLst>
              <a:ext uri="{FF2B5EF4-FFF2-40B4-BE49-F238E27FC236}">
                <a16:creationId xmlns:a16="http://schemas.microsoft.com/office/drawing/2014/main" id="{D030285A-A530-A618-5DF1-EC18EAF133DF}"/>
              </a:ext>
            </a:extLst>
          </p:cNvPr>
          <p:cNvSpPr>
            <a:spLocks noGrp="1"/>
          </p:cNvSpPr>
          <p:nvPr>
            <p:ph idx="1"/>
          </p:nvPr>
        </p:nvSpPr>
        <p:spPr/>
        <p:txBody>
          <a:bodyPr>
            <a:normAutofit fontScale="70000" lnSpcReduction="20000"/>
          </a:bodyPr>
          <a:lstStyle/>
          <a:p>
            <a:r>
              <a:rPr lang="fr-FR" dirty="0"/>
              <a:t>Le DOM doit créer l’élément, sont contenu de balise et ces attributs pour permettre son ajout dans le dom.</a:t>
            </a:r>
          </a:p>
          <a:p>
            <a:endParaRPr lang="fr-FR" dirty="0"/>
          </a:p>
          <a:p>
            <a:r>
              <a:rPr lang="fr-FR" dirty="0"/>
              <a:t>Contrairement a innerHTML dans un parent, ajouter ce nœud par fonction DOM ne détruira pas le DOM du parent (events…)</a:t>
            </a:r>
          </a:p>
          <a:p>
            <a:endParaRPr lang="fr-FR" dirty="0"/>
          </a:p>
          <a:p>
            <a:r>
              <a:rPr lang="fr-FR" dirty="0"/>
              <a:t>Pour préserver le contexte de mise en œuvre du nœud, le document ciblé doit être l’objet de création du nœud</a:t>
            </a:r>
          </a:p>
          <a:p>
            <a:pPr lvl="2"/>
            <a:r>
              <a:rPr lang="fr-FR" b="1" i="1" dirty="0"/>
              <a:t>const elem=document.CreateElement(‘nomDeBalise’)</a:t>
            </a:r>
          </a:p>
          <a:p>
            <a:pPr lvl="2"/>
            <a:r>
              <a:rPr lang="fr-FR" sz="1600" b="1" i="1" dirty="0"/>
              <a:t>const elem=document.CreateElementNS(‘nomDeBalise’,’http://www.w3c.org…’)</a:t>
            </a:r>
          </a:p>
          <a:p>
            <a:endParaRPr lang="fr-FR" dirty="0"/>
          </a:p>
          <a:p>
            <a:r>
              <a:rPr lang="fr-FR" dirty="0"/>
              <a:t>Il est possible de créer aussi des attributs pour ajouter à cet élément ou autre élément :</a:t>
            </a:r>
          </a:p>
          <a:p>
            <a:pPr lvl="2"/>
            <a:r>
              <a:rPr lang="it-IT" b="1" i="1" dirty="0"/>
              <a:t>const att=document.createAttribute('attrName’)</a:t>
            </a:r>
          </a:p>
          <a:p>
            <a:pPr lvl="2"/>
            <a:r>
              <a:rPr lang="it-IT" sz="1700" b="1" i="1" dirty="0"/>
              <a:t>const att=document.createAttributeNS('attrName’,’NS URI’)</a:t>
            </a:r>
          </a:p>
          <a:p>
            <a:pPr lvl="2"/>
            <a:endParaRPr lang="it-IT" sz="1700" b="1" i="1" dirty="0"/>
          </a:p>
          <a:p>
            <a:pPr lvl="2"/>
            <a:r>
              <a:rPr lang="it-IT" b="1" i="1" dirty="0"/>
              <a:t>att.value='value'</a:t>
            </a:r>
          </a:p>
        </p:txBody>
      </p:sp>
    </p:spTree>
    <p:extLst>
      <p:ext uri="{BB962C8B-B14F-4D97-AF65-F5344CB8AC3E}">
        <p14:creationId xmlns:p14="http://schemas.microsoft.com/office/powerpoint/2010/main" val="235886388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968F91-210E-0ED1-00A7-AACC5DB029D2}"/>
              </a:ext>
            </a:extLst>
          </p:cNvPr>
          <p:cNvSpPr>
            <a:spLocks noGrp="1"/>
          </p:cNvSpPr>
          <p:nvPr>
            <p:ph type="title"/>
          </p:nvPr>
        </p:nvSpPr>
        <p:spPr/>
        <p:txBody>
          <a:bodyPr/>
          <a:lstStyle/>
          <a:p>
            <a:r>
              <a:rPr lang="fr-FR" dirty="0"/>
              <a:t>Manipulation DOM</a:t>
            </a:r>
          </a:p>
        </p:txBody>
      </p:sp>
      <p:sp>
        <p:nvSpPr>
          <p:cNvPr id="3" name="Espace réservé du contenu 2">
            <a:extLst>
              <a:ext uri="{FF2B5EF4-FFF2-40B4-BE49-F238E27FC236}">
                <a16:creationId xmlns:a16="http://schemas.microsoft.com/office/drawing/2014/main" id="{305544FC-DD39-5EBB-10C7-E3CFA644EE6D}"/>
              </a:ext>
            </a:extLst>
          </p:cNvPr>
          <p:cNvSpPr>
            <a:spLocks noGrp="1"/>
          </p:cNvSpPr>
          <p:nvPr>
            <p:ph idx="1"/>
          </p:nvPr>
        </p:nvSpPr>
        <p:spPr/>
        <p:txBody>
          <a:bodyPr>
            <a:normAutofit fontScale="77500" lnSpcReduction="20000"/>
          </a:bodyPr>
          <a:lstStyle/>
          <a:p>
            <a:r>
              <a:rPr lang="fr-FR" dirty="0"/>
              <a:t>Manipuler le contenu de balise</a:t>
            </a:r>
          </a:p>
          <a:p>
            <a:pPr lvl="2"/>
            <a:r>
              <a:rPr lang="fr-FR" dirty="0"/>
              <a:t>Les fonction inner (getter / setter)</a:t>
            </a:r>
          </a:p>
          <a:p>
            <a:pPr lvl="3"/>
            <a:endParaRPr lang="fr-FR" b="1" i="1" dirty="0"/>
          </a:p>
          <a:p>
            <a:pPr lvl="3"/>
            <a:r>
              <a:rPr lang="fr-FR" b="1" i="1" dirty="0"/>
              <a:t>element.innerHTML=‘nouveau contenu’</a:t>
            </a:r>
          </a:p>
          <a:p>
            <a:pPr lvl="4"/>
            <a:r>
              <a:rPr lang="fr-FR" dirty="0"/>
              <a:t>Il est possible de donner a cette chaine un  contenu textuel contenant aussi des balises</a:t>
            </a:r>
          </a:p>
          <a:p>
            <a:pPr lvl="4"/>
            <a:r>
              <a:rPr lang="fr-FR" dirty="0"/>
              <a:t>La fonction innerHTML détruit le DOM complet de l’objet rempli pour le reconstruire a partir de la chaine. Même si le contenu de la chaine reprend les mêmes contenus plus autre chose</a:t>
            </a:r>
          </a:p>
          <a:p>
            <a:pPr lvl="3"/>
            <a:r>
              <a:rPr lang="fr-FR" b="1" i="1" dirty="0"/>
              <a:t>element.innerText=‘nouveau contenu text’, element.</a:t>
            </a:r>
            <a:r>
              <a:rPr lang="fr-FR" b="1" dirty="0"/>
              <a:t>textContent</a:t>
            </a:r>
            <a:r>
              <a:rPr lang="fr-FR" dirty="0"/>
              <a:t> =‘content’</a:t>
            </a:r>
            <a:endParaRPr lang="fr-FR" b="1" i="1" dirty="0"/>
          </a:p>
          <a:p>
            <a:pPr lvl="4"/>
            <a:r>
              <a:rPr lang="fr-FR" dirty="0"/>
              <a:t>Aucune balise ne sera recréée par le dom, tout sera remplacé par des entités html</a:t>
            </a:r>
          </a:p>
          <a:p>
            <a:pPr lvl="3"/>
            <a:endParaRPr lang="fr-FR" dirty="0"/>
          </a:p>
          <a:p>
            <a:r>
              <a:rPr lang="fr-FR" dirty="0"/>
              <a:t>Manipuler le DOM</a:t>
            </a:r>
          </a:p>
          <a:p>
            <a:pPr lvl="2"/>
            <a:endParaRPr lang="fr-FR" dirty="0"/>
          </a:p>
          <a:p>
            <a:pPr lvl="2"/>
            <a:r>
              <a:rPr lang="fr-FR" dirty="0"/>
              <a:t>Supprimer un élément de l’arborescence DOM</a:t>
            </a:r>
          </a:p>
          <a:p>
            <a:pPr lvl="3"/>
            <a:r>
              <a:rPr lang="fr-FR" b="1" i="1" dirty="0"/>
              <a:t>element.remove()</a:t>
            </a:r>
          </a:p>
          <a:p>
            <a:pPr lvl="4"/>
            <a:r>
              <a:rPr lang="fr-FR" dirty="0"/>
              <a:t>L’élément supprimé existera toujours dans la variable élément avec tout sa constitution DOM. Juste il ne sera plus présent dans l’arborescence. Il pourra être remis dans le DOM au besoin</a:t>
            </a:r>
          </a:p>
          <a:p>
            <a:pPr lvl="2"/>
            <a:endParaRPr lang="fr-FR" b="1" i="1" dirty="0"/>
          </a:p>
        </p:txBody>
      </p:sp>
    </p:spTree>
    <p:extLst>
      <p:ext uri="{BB962C8B-B14F-4D97-AF65-F5344CB8AC3E}">
        <p14:creationId xmlns:p14="http://schemas.microsoft.com/office/powerpoint/2010/main" val="354552495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7A9DA9-B349-745E-742E-7DF97A0ECE9C}"/>
              </a:ext>
            </a:extLst>
          </p:cNvPr>
          <p:cNvSpPr>
            <a:spLocks noGrp="1"/>
          </p:cNvSpPr>
          <p:nvPr>
            <p:ph type="title"/>
          </p:nvPr>
        </p:nvSpPr>
        <p:spPr/>
        <p:txBody>
          <a:bodyPr/>
          <a:lstStyle/>
          <a:p>
            <a:r>
              <a:rPr lang="fr-FR" dirty="0"/>
              <a:t>Manipulation DOM</a:t>
            </a:r>
          </a:p>
        </p:txBody>
      </p:sp>
      <p:sp>
        <p:nvSpPr>
          <p:cNvPr id="3" name="Espace réservé du contenu 2">
            <a:extLst>
              <a:ext uri="{FF2B5EF4-FFF2-40B4-BE49-F238E27FC236}">
                <a16:creationId xmlns:a16="http://schemas.microsoft.com/office/drawing/2014/main" id="{E1D4DA89-D325-0BB3-03F6-F2AB0C291CEE}"/>
              </a:ext>
            </a:extLst>
          </p:cNvPr>
          <p:cNvSpPr>
            <a:spLocks noGrp="1"/>
          </p:cNvSpPr>
          <p:nvPr>
            <p:ph idx="1"/>
          </p:nvPr>
        </p:nvSpPr>
        <p:spPr/>
        <p:txBody>
          <a:bodyPr/>
          <a:lstStyle/>
          <a:p>
            <a:r>
              <a:rPr lang="fr-FR" dirty="0"/>
              <a:t>Manipuler le DOM</a:t>
            </a:r>
          </a:p>
          <a:p>
            <a:pPr lvl="2"/>
            <a:r>
              <a:rPr lang="fr-FR" dirty="0"/>
              <a:t>Ajouter un élément dans l’arborescence DOM</a:t>
            </a:r>
          </a:p>
          <a:p>
            <a:pPr lvl="3"/>
            <a:endParaRPr lang="fr-FR" b="1" i="1" dirty="0"/>
          </a:p>
          <a:p>
            <a:pPr lvl="3"/>
            <a:r>
              <a:rPr lang="fr-FR" b="1" i="1" dirty="0"/>
              <a:t>element.append(…nodes)</a:t>
            </a:r>
          </a:p>
          <a:p>
            <a:pPr lvl="4"/>
            <a:r>
              <a:rPr lang="fr-FR" dirty="0"/>
              <a:t>Ajout dans l’élément </a:t>
            </a:r>
            <a:r>
              <a:rPr lang="fr-FR" i="1" dirty="0"/>
              <a:t>element </a:t>
            </a:r>
            <a:r>
              <a:rPr lang="fr-FR" dirty="0"/>
              <a:t>a la fin de celui-ci le ou les nœuds fournis en paramètres</a:t>
            </a:r>
          </a:p>
          <a:p>
            <a:pPr lvl="3"/>
            <a:endParaRPr lang="fr-FR" b="1" i="1" dirty="0"/>
          </a:p>
          <a:p>
            <a:pPr lvl="3"/>
            <a:r>
              <a:rPr lang="fr-FR" b="1" i="1" dirty="0"/>
              <a:t>element.insertBefore(node,child)</a:t>
            </a:r>
          </a:p>
          <a:p>
            <a:pPr lvl="3"/>
            <a:r>
              <a:rPr lang="fr-FR" b="1" i="1" dirty="0"/>
              <a:t>element.insertAfter(node,child)</a:t>
            </a:r>
          </a:p>
          <a:p>
            <a:pPr lvl="4"/>
            <a:r>
              <a:rPr lang="fr-FR" dirty="0"/>
              <a:t>Place un élément dans le parent </a:t>
            </a:r>
            <a:r>
              <a:rPr lang="fr-FR" b="1" i="1" dirty="0"/>
              <a:t>element</a:t>
            </a:r>
            <a:r>
              <a:rPr lang="fr-FR" dirty="0"/>
              <a:t> avant ou après le nœud </a:t>
            </a:r>
            <a:r>
              <a:rPr lang="fr-FR" i="1" dirty="0"/>
              <a:t>child</a:t>
            </a:r>
            <a:r>
              <a:rPr lang="fr-FR" dirty="0"/>
              <a:t> en paramètre</a:t>
            </a:r>
          </a:p>
          <a:p>
            <a:pPr lvl="3"/>
            <a:r>
              <a:rPr lang="fr-FR" b="1" i="1" dirty="0"/>
              <a:t>element.replaceChild(node,child)</a:t>
            </a:r>
          </a:p>
          <a:p>
            <a:pPr lvl="4"/>
            <a:r>
              <a:rPr lang="fr-FR" dirty="0"/>
              <a:t>Remplace un élément child par l’élément node</a:t>
            </a:r>
          </a:p>
        </p:txBody>
      </p:sp>
    </p:spTree>
    <p:extLst>
      <p:ext uri="{BB962C8B-B14F-4D97-AF65-F5344CB8AC3E}">
        <p14:creationId xmlns:p14="http://schemas.microsoft.com/office/powerpoint/2010/main" val="184126066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E02927-D156-58ED-360A-678839B3E1C0}"/>
              </a:ext>
            </a:extLst>
          </p:cNvPr>
          <p:cNvSpPr>
            <a:spLocks noGrp="1"/>
          </p:cNvSpPr>
          <p:nvPr>
            <p:ph type="title"/>
          </p:nvPr>
        </p:nvSpPr>
        <p:spPr/>
        <p:txBody>
          <a:bodyPr/>
          <a:lstStyle/>
          <a:p>
            <a:r>
              <a:rPr lang="fr-FR" dirty="0"/>
              <a:t>Manipulation DOM &amp; attributs</a:t>
            </a:r>
            <a:br>
              <a:rPr lang="fr-FR" dirty="0"/>
            </a:br>
            <a:r>
              <a:rPr lang="fr-FR" dirty="0"/>
              <a:t>class &amp; id</a:t>
            </a:r>
          </a:p>
        </p:txBody>
      </p:sp>
      <p:sp>
        <p:nvSpPr>
          <p:cNvPr id="3" name="Espace réservé du contenu 2">
            <a:extLst>
              <a:ext uri="{FF2B5EF4-FFF2-40B4-BE49-F238E27FC236}">
                <a16:creationId xmlns:a16="http://schemas.microsoft.com/office/drawing/2014/main" id="{85BB9851-217C-2FDB-E762-6517D20DCF50}"/>
              </a:ext>
            </a:extLst>
          </p:cNvPr>
          <p:cNvSpPr>
            <a:spLocks noGrp="1"/>
          </p:cNvSpPr>
          <p:nvPr>
            <p:ph idx="1"/>
          </p:nvPr>
        </p:nvSpPr>
        <p:spPr/>
        <p:txBody>
          <a:bodyPr>
            <a:normAutofit/>
          </a:bodyPr>
          <a:lstStyle/>
          <a:p>
            <a:r>
              <a:rPr lang="fr-FR" dirty="0"/>
              <a:t>Les classes</a:t>
            </a:r>
          </a:p>
          <a:p>
            <a:pPr lvl="1"/>
            <a:r>
              <a:rPr lang="fr-FR" dirty="0"/>
              <a:t>Manipulation de chaine avec </a:t>
            </a:r>
            <a:r>
              <a:rPr lang="fr-FR" b="1" i="1" dirty="0"/>
              <a:t>className</a:t>
            </a:r>
            <a:r>
              <a:rPr lang="fr-FR" dirty="0"/>
              <a:t> </a:t>
            </a:r>
            <a:r>
              <a:rPr lang="fr-FR" sz="1800" dirty="0"/>
              <a:t>(getter/setter)</a:t>
            </a:r>
            <a:endParaRPr lang="fr-FR" sz="1800" b="1" i="1" dirty="0"/>
          </a:p>
          <a:p>
            <a:pPr lvl="2"/>
            <a:r>
              <a:rPr lang="fr-FR" b="1" i="1" dirty="0"/>
              <a:t>element.className="classA classB"</a:t>
            </a:r>
          </a:p>
          <a:p>
            <a:pPr lvl="1"/>
            <a:r>
              <a:rPr lang="fr-FR" dirty="0"/>
              <a:t>Manipulation par gestion de liste avec </a:t>
            </a:r>
            <a:r>
              <a:rPr lang="fr-FR" b="1" i="1" dirty="0"/>
              <a:t>classList</a:t>
            </a:r>
          </a:p>
          <a:p>
            <a:pPr lvl="2"/>
            <a:r>
              <a:rPr lang="fr-FR" b="1" i="1" dirty="0"/>
              <a:t>element.classList.add(‘newClassToAdd’)</a:t>
            </a:r>
          </a:p>
          <a:p>
            <a:pPr lvl="3"/>
            <a:r>
              <a:rPr lang="fr-FR" dirty="0"/>
              <a:t>Ajout d’une class</a:t>
            </a:r>
          </a:p>
          <a:p>
            <a:pPr lvl="2"/>
            <a:r>
              <a:rPr lang="fr-FR" b="1" i="1" dirty="0"/>
              <a:t>element.classList.remove(‘classToRemove’)</a:t>
            </a:r>
          </a:p>
          <a:p>
            <a:pPr lvl="3"/>
            <a:r>
              <a:rPr lang="fr-FR" dirty="0"/>
              <a:t>Suppression d’une class</a:t>
            </a:r>
          </a:p>
          <a:p>
            <a:r>
              <a:rPr lang="fr-FR" dirty="0"/>
              <a:t>Les id</a:t>
            </a:r>
          </a:p>
          <a:p>
            <a:pPr lvl="1"/>
            <a:r>
              <a:rPr lang="fr-FR" dirty="0"/>
              <a:t>Manipulation de valeur d’id </a:t>
            </a:r>
            <a:r>
              <a:rPr lang="fr-FR" sz="1800" dirty="0"/>
              <a:t>(getter/setter)</a:t>
            </a:r>
          </a:p>
          <a:p>
            <a:pPr lvl="2"/>
            <a:r>
              <a:rPr lang="fr-FR" b="1" i="1" dirty="0"/>
              <a:t>element.id="newId"</a:t>
            </a:r>
          </a:p>
        </p:txBody>
      </p:sp>
    </p:spTree>
    <p:extLst>
      <p:ext uri="{BB962C8B-B14F-4D97-AF65-F5344CB8AC3E}">
        <p14:creationId xmlns:p14="http://schemas.microsoft.com/office/powerpoint/2010/main" val="146911263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89E017-657B-7309-7137-214C84433ECD}"/>
              </a:ext>
            </a:extLst>
          </p:cNvPr>
          <p:cNvSpPr>
            <a:spLocks noGrp="1"/>
          </p:cNvSpPr>
          <p:nvPr>
            <p:ph type="title"/>
          </p:nvPr>
        </p:nvSpPr>
        <p:spPr/>
        <p:txBody>
          <a:bodyPr/>
          <a:lstStyle/>
          <a:p>
            <a:r>
              <a:rPr lang="fr-FR" dirty="0"/>
              <a:t>Manipulation DOM &amp; attributs</a:t>
            </a:r>
          </a:p>
        </p:txBody>
      </p:sp>
      <p:sp>
        <p:nvSpPr>
          <p:cNvPr id="3" name="Espace réservé du contenu 2">
            <a:extLst>
              <a:ext uri="{FF2B5EF4-FFF2-40B4-BE49-F238E27FC236}">
                <a16:creationId xmlns:a16="http://schemas.microsoft.com/office/drawing/2014/main" id="{B552C33C-B68C-484A-3EA0-39BE076716E2}"/>
              </a:ext>
            </a:extLst>
          </p:cNvPr>
          <p:cNvSpPr>
            <a:spLocks noGrp="1"/>
          </p:cNvSpPr>
          <p:nvPr>
            <p:ph idx="1"/>
          </p:nvPr>
        </p:nvSpPr>
        <p:spPr/>
        <p:txBody>
          <a:bodyPr>
            <a:normAutofit fontScale="92500" lnSpcReduction="10000"/>
          </a:bodyPr>
          <a:lstStyle/>
          <a:p>
            <a:r>
              <a:rPr lang="fr-FR" dirty="0"/>
              <a:t>Le champ d’élément </a:t>
            </a:r>
            <a:r>
              <a:rPr lang="fr-FR" b="1" i="1" dirty="0"/>
              <a:t>attributes</a:t>
            </a:r>
            <a:endParaRPr lang="fr-FR" dirty="0"/>
          </a:p>
          <a:p>
            <a:pPr lvl="2"/>
            <a:r>
              <a:rPr lang="fr-FR" b="1" i="1" dirty="0"/>
              <a:t>element.attributes.getNamedItem(‘attName’)</a:t>
            </a:r>
          </a:p>
          <a:p>
            <a:pPr lvl="2"/>
            <a:r>
              <a:rPr lang="fr-FR" b="1" i="1" dirty="0"/>
              <a:t>element.getAttribute(‘attName’)</a:t>
            </a:r>
          </a:p>
          <a:p>
            <a:pPr lvl="2"/>
            <a:r>
              <a:rPr lang="fr-FR" b="1" i="1" dirty="0"/>
              <a:t>element.getAttributeNode('id')</a:t>
            </a:r>
          </a:p>
          <a:p>
            <a:pPr lvl="2"/>
            <a:r>
              <a:rPr lang="fr-FR" sz="1600" b="1" i="1" dirty="0"/>
              <a:t>element.attributes.getNamedItemNS(‘</a:t>
            </a:r>
            <a:r>
              <a:rPr lang="fr-FR" sz="1600" b="1" i="1" dirty="0" err="1"/>
              <a:t>attName’,’NSUri</a:t>
            </a:r>
            <a:r>
              <a:rPr lang="fr-FR" sz="1600" b="1" i="1" dirty="0"/>
              <a:t>’)</a:t>
            </a:r>
          </a:p>
          <a:p>
            <a:pPr lvl="2"/>
            <a:r>
              <a:rPr lang="fr-FR" sz="1600" b="1" i="1" dirty="0"/>
              <a:t>element.getAttributeNS(‘attName’,’NSUri’)</a:t>
            </a:r>
            <a:endParaRPr lang="fr-FR" dirty="0"/>
          </a:p>
          <a:p>
            <a:pPr lvl="3"/>
            <a:r>
              <a:rPr lang="fr-FR" dirty="0"/>
              <a:t>Récupère un attribut par son nom</a:t>
            </a:r>
          </a:p>
          <a:p>
            <a:pPr lvl="3"/>
            <a:endParaRPr lang="fr-FR" dirty="0"/>
          </a:p>
          <a:p>
            <a:pPr lvl="2"/>
            <a:r>
              <a:rPr lang="fr-FR" b="1" i="1" dirty="0"/>
              <a:t>element.attributes.setNamedItem(‘attName’,’value’)</a:t>
            </a:r>
          </a:p>
          <a:p>
            <a:pPr lvl="2"/>
            <a:r>
              <a:rPr lang="fr-FR" b="1" i="1" dirty="0"/>
              <a:t>element.setAttribute(‘attName’,’value’)</a:t>
            </a:r>
          </a:p>
          <a:p>
            <a:pPr lvl="2"/>
            <a:r>
              <a:rPr lang="fr-FR" sz="1600" b="1" i="1" dirty="0"/>
              <a:t>element.attributes.setNamedItem(‘attName’,’value’,’NSUri’)</a:t>
            </a:r>
          </a:p>
          <a:p>
            <a:pPr lvl="2"/>
            <a:r>
              <a:rPr lang="fr-FR" sz="1600" b="1" i="1" dirty="0"/>
              <a:t>element.setAttributeNs(‘attName’,’value’,’NSUri’)</a:t>
            </a:r>
          </a:p>
          <a:p>
            <a:pPr lvl="3"/>
            <a:r>
              <a:rPr lang="fr-FR" dirty="0"/>
              <a:t>Met un attribut et sa valeur dans l’élément</a:t>
            </a:r>
          </a:p>
          <a:p>
            <a:r>
              <a:rPr lang="fr-FR" dirty="0"/>
              <a:t>Manipuler les attributs par un Objet </a:t>
            </a:r>
            <a:r>
              <a:rPr lang="fr-FR" b="1" i="1" dirty="0"/>
              <a:t>DOM attribute</a:t>
            </a:r>
          </a:p>
          <a:p>
            <a:pPr lvl="2"/>
            <a:r>
              <a:rPr lang="fr-FR" b="1" i="1" dirty="0"/>
              <a:t>element.setAttributeNode(attNode)</a:t>
            </a:r>
          </a:p>
          <a:p>
            <a:pPr lvl="2"/>
            <a:endParaRPr lang="fr-FR" dirty="0"/>
          </a:p>
        </p:txBody>
      </p:sp>
    </p:spTree>
    <p:extLst>
      <p:ext uri="{BB962C8B-B14F-4D97-AF65-F5344CB8AC3E}">
        <p14:creationId xmlns:p14="http://schemas.microsoft.com/office/powerpoint/2010/main" val="334965873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818C1C-75DC-DE2A-92C8-003CC4C8180C}"/>
              </a:ext>
            </a:extLst>
          </p:cNvPr>
          <p:cNvSpPr>
            <a:spLocks noGrp="1"/>
          </p:cNvSpPr>
          <p:nvPr>
            <p:ph type="title"/>
          </p:nvPr>
        </p:nvSpPr>
        <p:spPr/>
        <p:txBody>
          <a:bodyPr/>
          <a:lstStyle/>
          <a:p>
            <a:r>
              <a:rPr lang="fr-FR" dirty="0"/>
              <a:t>Manipulation DOM &amp; attributs</a:t>
            </a:r>
            <a:br>
              <a:rPr lang="fr-FR" dirty="0"/>
            </a:br>
            <a:r>
              <a:rPr lang="fr-FR" dirty="0"/>
              <a:t>styles</a:t>
            </a:r>
          </a:p>
        </p:txBody>
      </p:sp>
      <p:sp>
        <p:nvSpPr>
          <p:cNvPr id="3" name="Espace réservé du contenu 2">
            <a:extLst>
              <a:ext uri="{FF2B5EF4-FFF2-40B4-BE49-F238E27FC236}">
                <a16:creationId xmlns:a16="http://schemas.microsoft.com/office/drawing/2014/main" id="{B1AEA812-172E-A8B0-0E71-939AD5818601}"/>
              </a:ext>
            </a:extLst>
          </p:cNvPr>
          <p:cNvSpPr>
            <a:spLocks noGrp="1"/>
          </p:cNvSpPr>
          <p:nvPr>
            <p:ph idx="1"/>
          </p:nvPr>
        </p:nvSpPr>
        <p:spPr/>
        <p:txBody>
          <a:bodyPr/>
          <a:lstStyle/>
          <a:p>
            <a:r>
              <a:rPr lang="fr-FR" dirty="0"/>
              <a:t>Les éléments possèdent un champs styles de type </a:t>
            </a:r>
            <a:r>
              <a:rPr lang="fr-FR" b="1" i="1" dirty="0"/>
              <a:t>CSSStyleDeclaration. </a:t>
            </a:r>
            <a:r>
              <a:rPr lang="fr-FR" dirty="0"/>
              <a:t> Toutes les propriétés y sont présentes et peuvent être manipulées</a:t>
            </a:r>
          </a:p>
          <a:p>
            <a:pPr lvl="1"/>
            <a:endParaRPr lang="fr-FR" dirty="0"/>
          </a:p>
          <a:p>
            <a:pPr lvl="1"/>
            <a:r>
              <a:rPr lang="fr-FR" dirty="0"/>
              <a:t>Le nom des propriétés a été convertis en camel case</a:t>
            </a:r>
          </a:p>
          <a:p>
            <a:pPr lvl="2"/>
            <a:r>
              <a:rPr lang="fr-FR" b="1" i="1" dirty="0"/>
              <a:t>text-align</a:t>
            </a:r>
            <a:r>
              <a:rPr lang="fr-FR" dirty="0"/>
              <a:t> deviens </a:t>
            </a:r>
            <a:r>
              <a:rPr lang="fr-FR" b="1" i="1" dirty="0"/>
              <a:t>element.styles.textAlign</a:t>
            </a:r>
          </a:p>
          <a:p>
            <a:pPr lvl="1"/>
            <a:endParaRPr lang="fr-FR" dirty="0"/>
          </a:p>
          <a:p>
            <a:pPr lvl="1"/>
            <a:r>
              <a:rPr lang="fr-FR" dirty="0"/>
              <a:t>Pour manipuler cette valeur il suffit de l’affecter</a:t>
            </a:r>
          </a:p>
          <a:p>
            <a:pPr lvl="2"/>
            <a:r>
              <a:rPr lang="fr-FR" dirty="0"/>
              <a:t>element.styles.textAlign=‘center’</a:t>
            </a:r>
          </a:p>
        </p:txBody>
      </p:sp>
    </p:spTree>
    <p:extLst>
      <p:ext uri="{BB962C8B-B14F-4D97-AF65-F5344CB8AC3E}">
        <p14:creationId xmlns:p14="http://schemas.microsoft.com/office/powerpoint/2010/main" val="390612875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BBCD7F7-D374-2944-C899-E33E8D1BE03C}"/>
              </a:ext>
            </a:extLst>
          </p:cNvPr>
          <p:cNvSpPr>
            <a:spLocks noGrp="1"/>
          </p:cNvSpPr>
          <p:nvPr>
            <p:ph type="title"/>
          </p:nvPr>
        </p:nvSpPr>
        <p:spPr/>
        <p:txBody>
          <a:bodyPr/>
          <a:lstStyle/>
          <a:p>
            <a:r>
              <a:rPr lang="fr-FR" dirty="0"/>
              <a:t>Navigation dans le DOM</a:t>
            </a:r>
          </a:p>
        </p:txBody>
      </p:sp>
      <p:sp>
        <p:nvSpPr>
          <p:cNvPr id="3" name="Espace réservé du contenu 2">
            <a:extLst>
              <a:ext uri="{FF2B5EF4-FFF2-40B4-BE49-F238E27FC236}">
                <a16:creationId xmlns:a16="http://schemas.microsoft.com/office/drawing/2014/main" id="{9EF36CA7-0BB5-A943-08AC-A49C3CF5CD55}"/>
              </a:ext>
            </a:extLst>
          </p:cNvPr>
          <p:cNvSpPr>
            <a:spLocks noGrp="1"/>
          </p:cNvSpPr>
          <p:nvPr>
            <p:ph idx="1"/>
          </p:nvPr>
        </p:nvSpPr>
        <p:spPr/>
        <p:txBody>
          <a:bodyPr>
            <a:normAutofit fontScale="92500" lnSpcReduction="10000"/>
          </a:bodyPr>
          <a:lstStyle/>
          <a:p>
            <a:r>
              <a:rPr lang="fr-FR" dirty="0"/>
              <a:t>Depuis un nœud, il est possible de naviguer dans son arborescence</a:t>
            </a:r>
          </a:p>
          <a:p>
            <a:pPr lvl="2"/>
            <a:r>
              <a:rPr lang="fr-FR" dirty="0"/>
              <a:t>Accéder au parent(getter)</a:t>
            </a:r>
          </a:p>
          <a:p>
            <a:pPr lvl="3"/>
            <a:r>
              <a:rPr lang="fr-FR" b="1" i="1" dirty="0"/>
              <a:t>element.parentElement</a:t>
            </a:r>
          </a:p>
          <a:p>
            <a:pPr lvl="3"/>
            <a:r>
              <a:rPr lang="fr-FR" b="1" i="1" dirty="0"/>
              <a:t>element.parentNode</a:t>
            </a:r>
          </a:p>
          <a:p>
            <a:pPr lvl="4"/>
            <a:r>
              <a:rPr lang="fr-FR" dirty="0"/>
              <a:t>Donne l’élément/nœud parent du nœud élément</a:t>
            </a:r>
          </a:p>
          <a:p>
            <a:pPr lvl="2"/>
            <a:r>
              <a:rPr lang="fr-FR" dirty="0"/>
              <a:t>Accéder aux enfants</a:t>
            </a:r>
          </a:p>
          <a:p>
            <a:pPr lvl="3"/>
            <a:r>
              <a:rPr lang="fr-FR" b="1" i="1" dirty="0"/>
              <a:t>element.childNodes</a:t>
            </a:r>
          </a:p>
          <a:p>
            <a:pPr lvl="4"/>
            <a:r>
              <a:rPr lang="fr-FR" dirty="0"/>
              <a:t>nodeList des éléments (avec .forEach …)</a:t>
            </a:r>
          </a:p>
          <a:p>
            <a:pPr lvl="3"/>
            <a:r>
              <a:rPr lang="fr-FR" b="1" i="1" dirty="0"/>
              <a:t>element.children</a:t>
            </a:r>
          </a:p>
          <a:p>
            <a:pPr lvl="4"/>
            <a:r>
              <a:rPr lang="fr-FR" dirty="0"/>
              <a:t>HTMLCollection des nœuds (sans .forEach,…)</a:t>
            </a:r>
          </a:p>
          <a:p>
            <a:pPr lvl="2"/>
            <a:r>
              <a:rPr lang="fr-FR" dirty="0"/>
              <a:t>Accéder aux adjacents</a:t>
            </a:r>
          </a:p>
          <a:p>
            <a:pPr lvl="3"/>
            <a:r>
              <a:rPr lang="fr-FR" b="1" i="1" dirty="0"/>
              <a:t>element.nextSibling</a:t>
            </a:r>
          </a:p>
          <a:p>
            <a:pPr lvl="3"/>
            <a:r>
              <a:rPr lang="fr-FR" b="1" i="1" dirty="0"/>
              <a:t>element.previousSibling</a:t>
            </a:r>
          </a:p>
          <a:p>
            <a:pPr lvl="4"/>
            <a:r>
              <a:rPr lang="fr-FR" dirty="0"/>
              <a:t>Donne l’élément/nœud adjacent du nœud élément</a:t>
            </a:r>
          </a:p>
          <a:p>
            <a:pPr lvl="4"/>
            <a:endParaRPr lang="fr-FR" dirty="0"/>
          </a:p>
          <a:p>
            <a:pPr lvl="2"/>
            <a:endParaRPr lang="fr-FR" dirty="0"/>
          </a:p>
        </p:txBody>
      </p:sp>
    </p:spTree>
    <p:extLst>
      <p:ext uri="{BB962C8B-B14F-4D97-AF65-F5344CB8AC3E}">
        <p14:creationId xmlns:p14="http://schemas.microsoft.com/office/powerpoint/2010/main" val="95412180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20AC27C-7F6C-EC74-C10F-E58C1BC7CE1B}"/>
              </a:ext>
            </a:extLst>
          </p:cNvPr>
          <p:cNvSpPr>
            <a:spLocks noGrp="1"/>
          </p:cNvSpPr>
          <p:nvPr>
            <p:ph type="title"/>
          </p:nvPr>
        </p:nvSpPr>
        <p:spPr/>
        <p:txBody>
          <a:bodyPr/>
          <a:lstStyle/>
          <a:p>
            <a:r>
              <a:rPr lang="fr-FR" dirty="0"/>
              <a:t>8.Formulaire &amp; Validation</a:t>
            </a:r>
          </a:p>
        </p:txBody>
      </p:sp>
      <p:sp>
        <p:nvSpPr>
          <p:cNvPr id="3" name="Espace réservé du texte 2">
            <a:extLst>
              <a:ext uri="{FF2B5EF4-FFF2-40B4-BE49-F238E27FC236}">
                <a16:creationId xmlns:a16="http://schemas.microsoft.com/office/drawing/2014/main" id="{8D4DC78C-93A0-8216-9488-35C34637763E}"/>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08241491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4401F5F-8EB9-4C52-9FE0-DA1573B9F70F}"/>
              </a:ext>
            </a:extLst>
          </p:cNvPr>
          <p:cNvSpPr>
            <a:spLocks noGrp="1"/>
          </p:cNvSpPr>
          <p:nvPr>
            <p:ph type="title"/>
          </p:nvPr>
        </p:nvSpPr>
        <p:spPr/>
        <p:txBody>
          <a:bodyPr/>
          <a:lstStyle/>
          <a:p>
            <a:r>
              <a:rPr lang="fr-FR" dirty="0"/>
              <a:t>Les formulaires</a:t>
            </a:r>
          </a:p>
        </p:txBody>
      </p:sp>
      <p:sp>
        <p:nvSpPr>
          <p:cNvPr id="6" name="Espace réservé du texte 5">
            <a:extLst>
              <a:ext uri="{FF2B5EF4-FFF2-40B4-BE49-F238E27FC236}">
                <a16:creationId xmlns:a16="http://schemas.microsoft.com/office/drawing/2014/main" id="{6F43232D-FD5E-4D20-A909-0EDC08B66AA7}"/>
              </a:ext>
            </a:extLst>
          </p:cNvPr>
          <p:cNvSpPr>
            <a:spLocks noGrp="1"/>
          </p:cNvSpPr>
          <p:nvPr>
            <p:ph type="body" idx="1"/>
          </p:nvPr>
        </p:nvSpPr>
        <p:spPr/>
        <p:txBody>
          <a:bodyPr/>
          <a:lstStyle/>
          <a:p>
            <a:r>
              <a:rPr lang="fr-FR" dirty="0"/>
              <a:t>Structure des formulaires</a:t>
            </a:r>
          </a:p>
        </p:txBody>
      </p:sp>
      <p:sp>
        <p:nvSpPr>
          <p:cNvPr id="7" name="Espace réservé du contenu 6">
            <a:extLst>
              <a:ext uri="{FF2B5EF4-FFF2-40B4-BE49-F238E27FC236}">
                <a16:creationId xmlns:a16="http://schemas.microsoft.com/office/drawing/2014/main" id="{34D54925-EE8B-49C0-AFF8-AE6869256B45}"/>
              </a:ext>
            </a:extLst>
          </p:cNvPr>
          <p:cNvSpPr>
            <a:spLocks noGrp="1"/>
          </p:cNvSpPr>
          <p:nvPr>
            <p:ph sz="half" idx="2"/>
          </p:nvPr>
        </p:nvSpPr>
        <p:spPr>
          <a:xfrm>
            <a:off x="214282" y="1785926"/>
            <a:ext cx="5365830" cy="4643470"/>
          </a:xfrm>
        </p:spPr>
        <p:txBody>
          <a:bodyPr>
            <a:normAutofit fontScale="92500" lnSpcReduction="20000"/>
          </a:bodyPr>
          <a:lstStyle/>
          <a:p>
            <a:r>
              <a:rPr lang="fr-FR" dirty="0">
                <a:latin typeface="Consolas" panose="020B0609020204030204" pitchFamily="49" charset="0"/>
                <a:cs typeface="Consolas" panose="020B0609020204030204" pitchFamily="49" charset="0"/>
              </a:rPr>
              <a:t>La balise </a:t>
            </a:r>
            <a:r>
              <a:rPr lang="fr-FR" dirty="0">
                <a:solidFill>
                  <a:schemeClr val="bg1">
                    <a:lumMod val="50000"/>
                  </a:schemeClr>
                </a:solidFill>
                <a:latin typeface="Consolas" panose="020B0609020204030204" pitchFamily="49" charset="0"/>
                <a:cs typeface="Consolas" panose="020B0609020204030204" pitchFamily="49" charset="0"/>
              </a:rPr>
              <a:t>&lt;</a:t>
            </a:r>
            <a:r>
              <a:rPr lang="fr-FR" dirty="0">
                <a:solidFill>
                  <a:srgbClr val="F2777A"/>
                </a:solidFill>
                <a:latin typeface="Consolas" panose="020B0609020204030204" pitchFamily="49" charset="0"/>
                <a:cs typeface="Consolas" panose="020B0609020204030204" pitchFamily="49" charset="0"/>
              </a:rPr>
              <a:t>form</a:t>
            </a:r>
            <a:r>
              <a:rPr lang="fr-FR" dirty="0">
                <a:solidFill>
                  <a:schemeClr val="bg1">
                    <a:lumMod val="50000"/>
                  </a:schemeClr>
                </a:solidFill>
                <a:latin typeface="Consolas" panose="020B0609020204030204" pitchFamily="49" charset="0"/>
                <a:cs typeface="Consolas" panose="020B0609020204030204" pitchFamily="49" charset="0"/>
              </a:rPr>
              <a:t>&gt;</a:t>
            </a:r>
            <a:r>
              <a:rPr lang="fr-FR" dirty="0">
                <a:latin typeface="Consolas" panose="020B0609020204030204" pitchFamily="49" charset="0"/>
                <a:cs typeface="Consolas" panose="020B0609020204030204" pitchFamily="49" charset="0"/>
              </a:rPr>
              <a:t> englobe tous les champs du formulaire</a:t>
            </a:r>
          </a:p>
          <a:p>
            <a:endParaRPr lang="fr-FR" dirty="0">
              <a:latin typeface="Consolas" panose="020B0609020204030204" pitchFamily="49" charset="0"/>
              <a:cs typeface="Consolas" panose="020B0609020204030204" pitchFamily="49" charset="0"/>
            </a:endParaRPr>
          </a:p>
          <a:p>
            <a:r>
              <a:rPr lang="fr-FR" dirty="0">
                <a:latin typeface="Consolas" panose="020B0609020204030204" pitchFamily="49" charset="0"/>
                <a:cs typeface="Consolas" panose="020B0609020204030204" pitchFamily="49" charset="0"/>
              </a:rPr>
              <a:t>L'attribut </a:t>
            </a:r>
            <a:r>
              <a:rPr lang="fr-FR" i="1" dirty="0">
                <a:latin typeface="Consolas" panose="020B0609020204030204" pitchFamily="49" charset="0"/>
                <a:cs typeface="Consolas" panose="020B0609020204030204" pitchFamily="49" charset="0"/>
              </a:rPr>
              <a:t>action</a:t>
            </a:r>
            <a:r>
              <a:rPr lang="fr-FR" dirty="0">
                <a:latin typeface="Consolas" panose="020B0609020204030204" pitchFamily="49" charset="0"/>
                <a:cs typeface="Consolas" panose="020B0609020204030204" pitchFamily="49" charset="0"/>
              </a:rPr>
              <a:t> </a:t>
            </a:r>
          </a:p>
          <a:p>
            <a:pPr lvl="2"/>
            <a:r>
              <a:rPr lang="fr-FR" dirty="0">
                <a:latin typeface="Consolas" panose="020B0609020204030204" pitchFamily="49" charset="0"/>
                <a:cs typeface="Consolas" panose="020B0609020204030204" pitchFamily="49" charset="0"/>
              </a:rPr>
              <a:t>url de la page serveur qui réceptionne le formulaire</a:t>
            </a:r>
          </a:p>
          <a:p>
            <a:pPr lvl="2"/>
            <a:endParaRPr lang="fr-FR" dirty="0">
              <a:latin typeface="Consolas" panose="020B0609020204030204" pitchFamily="49" charset="0"/>
              <a:cs typeface="Consolas" panose="020B0609020204030204" pitchFamily="49" charset="0"/>
            </a:endParaRPr>
          </a:p>
          <a:p>
            <a:r>
              <a:rPr lang="fr-FR" dirty="0">
                <a:latin typeface="Consolas" panose="020B0609020204030204" pitchFamily="49" charset="0"/>
                <a:cs typeface="Consolas" panose="020B0609020204030204" pitchFamily="49" charset="0"/>
              </a:rPr>
              <a:t>L'attribut </a:t>
            </a:r>
            <a:r>
              <a:rPr lang="fr-FR" i="1" dirty="0">
                <a:latin typeface="Consolas" panose="020B0609020204030204" pitchFamily="49" charset="0"/>
                <a:cs typeface="Consolas" panose="020B0609020204030204" pitchFamily="49" charset="0"/>
              </a:rPr>
              <a:t>method</a:t>
            </a:r>
            <a:r>
              <a:rPr lang="fr-FR" dirty="0">
                <a:latin typeface="Consolas" panose="020B0609020204030204" pitchFamily="49" charset="0"/>
                <a:cs typeface="Consolas" panose="020B0609020204030204" pitchFamily="49" charset="0"/>
              </a:rPr>
              <a:t> </a:t>
            </a:r>
          </a:p>
          <a:p>
            <a:pPr lvl="2"/>
            <a:endParaRPr lang="fr-FR" b="1" i="1" u="sng" dirty="0">
              <a:latin typeface="Consolas" panose="020B0609020204030204" pitchFamily="49" charset="0"/>
              <a:cs typeface="Consolas" panose="020B0609020204030204" pitchFamily="49" charset="0"/>
            </a:endParaRPr>
          </a:p>
          <a:p>
            <a:pPr lvl="2"/>
            <a:r>
              <a:rPr lang="fr-FR" b="1" i="1" u="sng" dirty="0">
                <a:latin typeface="Consolas" panose="020B0609020204030204" pitchFamily="49" charset="0"/>
                <a:cs typeface="Consolas" panose="020B0609020204030204" pitchFamily="49" charset="0"/>
              </a:rPr>
              <a:t>GET</a:t>
            </a:r>
            <a:r>
              <a:rPr lang="fr-FR" dirty="0">
                <a:latin typeface="Consolas" panose="020B0609020204030204" pitchFamily="49" charset="0"/>
                <a:cs typeface="Consolas" panose="020B0609020204030204" pitchFamily="49" charset="0"/>
              </a:rPr>
              <a:t> : envoie le contenu du formulaire condensé dans l'adresse url précédé par </a:t>
            </a:r>
            <a:r>
              <a:rPr lang="fr-FR" sz="2000" b="1" dirty="0">
                <a:latin typeface="Consolas" panose="020B0609020204030204" pitchFamily="49" charset="0"/>
                <a:cs typeface="Consolas" panose="020B0609020204030204" pitchFamily="49" charset="0"/>
              </a:rPr>
              <a:t>?</a:t>
            </a:r>
            <a:r>
              <a:rPr lang="fr-FR" dirty="0">
                <a:latin typeface="Consolas" panose="020B0609020204030204" pitchFamily="49" charset="0"/>
                <a:cs typeface="Consolas" panose="020B0609020204030204" pitchFamily="49" charset="0"/>
              </a:rPr>
              <a:t> et séparés par </a:t>
            </a:r>
            <a:r>
              <a:rPr lang="fr-FR" sz="2000" b="1" dirty="0">
                <a:latin typeface="Consolas" panose="020B0609020204030204" pitchFamily="49" charset="0"/>
                <a:cs typeface="Consolas" panose="020B0609020204030204" pitchFamily="49" charset="0"/>
              </a:rPr>
              <a:t>&amp;</a:t>
            </a:r>
            <a:endParaRPr lang="fr-FR" b="1" dirty="0">
              <a:latin typeface="Consolas" panose="020B0609020204030204" pitchFamily="49" charset="0"/>
              <a:cs typeface="Consolas" panose="020B0609020204030204" pitchFamily="49" charset="0"/>
            </a:endParaRPr>
          </a:p>
          <a:p>
            <a:pPr lvl="3"/>
            <a:r>
              <a:rPr lang="fr-FR" dirty="0">
                <a:latin typeface="Consolas" panose="020B0609020204030204" pitchFamily="49" charset="0"/>
                <a:cs typeface="Consolas" panose="020B0609020204030204" pitchFamily="49" charset="0"/>
              </a:rPr>
              <a:t>a.php</a:t>
            </a:r>
            <a:r>
              <a:rPr lang="fr-FR" sz="1800" b="1" dirty="0">
                <a:latin typeface="Consolas" panose="020B0609020204030204" pitchFamily="49" charset="0"/>
                <a:cs typeface="Consolas" panose="020B0609020204030204" pitchFamily="49" charset="0"/>
              </a:rPr>
              <a:t>?</a:t>
            </a:r>
            <a:r>
              <a:rPr lang="fr-FR" dirty="0">
                <a:latin typeface="Consolas" panose="020B0609020204030204" pitchFamily="49" charset="0"/>
                <a:cs typeface="Consolas" panose="020B0609020204030204" pitchFamily="49" charset="0"/>
              </a:rPr>
              <a:t>champ1=value&amp;champ2=val</a:t>
            </a:r>
          </a:p>
          <a:p>
            <a:pPr lvl="3"/>
            <a:endParaRPr lang="fr-FR" dirty="0">
              <a:latin typeface="Consolas" panose="020B0609020204030204" pitchFamily="49" charset="0"/>
              <a:cs typeface="Consolas" panose="020B0609020204030204" pitchFamily="49" charset="0"/>
            </a:endParaRPr>
          </a:p>
          <a:p>
            <a:pPr lvl="2"/>
            <a:r>
              <a:rPr lang="fr-FR" b="1" i="1" u="sng" dirty="0">
                <a:latin typeface="Consolas" panose="020B0609020204030204" pitchFamily="49" charset="0"/>
                <a:cs typeface="Consolas" panose="020B0609020204030204" pitchFamily="49" charset="0"/>
              </a:rPr>
              <a:t>POST</a:t>
            </a:r>
            <a:r>
              <a:rPr lang="fr-FR" dirty="0">
                <a:latin typeface="Consolas" panose="020B0609020204030204" pitchFamily="49" charset="0"/>
                <a:cs typeface="Consolas" panose="020B0609020204030204" pitchFamily="49" charset="0"/>
              </a:rPr>
              <a:t> : envoie dans le contenu du paquet http</a:t>
            </a:r>
          </a:p>
        </p:txBody>
      </p:sp>
      <p:sp>
        <p:nvSpPr>
          <p:cNvPr id="5" name="Rectangle : coins arrondis 4">
            <a:extLst>
              <a:ext uri="{FF2B5EF4-FFF2-40B4-BE49-F238E27FC236}">
                <a16:creationId xmlns:a16="http://schemas.microsoft.com/office/drawing/2014/main" id="{4C37F0F2-C162-4B2E-9D50-7859F4258D49}"/>
              </a:ext>
            </a:extLst>
          </p:cNvPr>
          <p:cNvSpPr/>
          <p:nvPr/>
        </p:nvSpPr>
        <p:spPr>
          <a:xfrm>
            <a:off x="5796136" y="1844824"/>
            <a:ext cx="3024336" cy="424847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r>
              <a:rPr lang="fr-FR" b="1" dirty="0"/>
              <a:t>&lt;form</a:t>
            </a:r>
            <a:r>
              <a:rPr lang="fr-FR" dirty="0"/>
              <a:t> action="a.php" method="GET|POST"&gt;</a:t>
            </a:r>
          </a:p>
        </p:txBody>
      </p:sp>
      <p:sp>
        <p:nvSpPr>
          <p:cNvPr id="8" name="Rectangle : coins arrondis 7">
            <a:extLst>
              <a:ext uri="{FF2B5EF4-FFF2-40B4-BE49-F238E27FC236}">
                <a16:creationId xmlns:a16="http://schemas.microsoft.com/office/drawing/2014/main" id="{A99FC2D7-69D6-4B39-93F0-7C3F64BAF8BD}"/>
              </a:ext>
            </a:extLst>
          </p:cNvPr>
          <p:cNvSpPr/>
          <p:nvPr/>
        </p:nvSpPr>
        <p:spPr>
          <a:xfrm>
            <a:off x="5945421" y="2708920"/>
            <a:ext cx="2803043" cy="432048"/>
          </a:xfrm>
          <a:prstGeom prst="roundRect">
            <a:avLst/>
          </a:prstGeom>
        </p:spPr>
        <p:style>
          <a:lnRef idx="3">
            <a:schemeClr val="lt1"/>
          </a:lnRef>
          <a:fillRef idx="1">
            <a:schemeClr val="accent6"/>
          </a:fillRef>
          <a:effectRef idx="1">
            <a:schemeClr val="accent6"/>
          </a:effectRef>
          <a:fontRef idx="minor">
            <a:schemeClr val="lt1"/>
          </a:fontRef>
        </p:style>
        <p:txBody>
          <a:bodyPr lIns="0" rIns="0" rtlCol="0" anchor="ctr"/>
          <a:lstStyle/>
          <a:p>
            <a:pPr algn="ctr"/>
            <a:r>
              <a:rPr lang="fr-FR" dirty="0"/>
              <a:t>&lt;Input name='' type=''/&gt;</a:t>
            </a:r>
          </a:p>
        </p:txBody>
      </p:sp>
      <p:sp>
        <p:nvSpPr>
          <p:cNvPr id="10" name="Rectangle : coins arrondis 9">
            <a:extLst>
              <a:ext uri="{FF2B5EF4-FFF2-40B4-BE49-F238E27FC236}">
                <a16:creationId xmlns:a16="http://schemas.microsoft.com/office/drawing/2014/main" id="{91BF2975-98FD-4A78-B1CC-A4E03F86A9CF}"/>
              </a:ext>
            </a:extLst>
          </p:cNvPr>
          <p:cNvSpPr/>
          <p:nvPr/>
        </p:nvSpPr>
        <p:spPr>
          <a:xfrm>
            <a:off x="5945421" y="3284984"/>
            <a:ext cx="2803043" cy="720080"/>
          </a:xfrm>
          <a:prstGeom prst="roundRect">
            <a:avLst/>
          </a:prstGeom>
        </p:spPr>
        <p:style>
          <a:lnRef idx="3">
            <a:schemeClr val="lt1"/>
          </a:lnRef>
          <a:fillRef idx="1">
            <a:schemeClr val="accent6"/>
          </a:fillRef>
          <a:effectRef idx="1">
            <a:schemeClr val="accent6"/>
          </a:effectRef>
          <a:fontRef idx="minor">
            <a:schemeClr val="lt1"/>
          </a:fontRef>
        </p:style>
        <p:txBody>
          <a:bodyPr lIns="0" rIns="0" rtlCol="0" anchor="ctr"/>
          <a:lstStyle/>
          <a:p>
            <a:pPr algn="ctr"/>
            <a:r>
              <a:rPr lang="fr-FR" dirty="0"/>
              <a:t>&lt;textarea name=''&gt;</a:t>
            </a:r>
          </a:p>
          <a:p>
            <a:pPr algn="ctr"/>
            <a:r>
              <a:rPr lang="fr-FR" dirty="0"/>
              <a:t>&lt;/textarea&gt;</a:t>
            </a:r>
          </a:p>
        </p:txBody>
      </p:sp>
      <p:sp>
        <p:nvSpPr>
          <p:cNvPr id="11" name="Rectangle : coins arrondis 10">
            <a:extLst>
              <a:ext uri="{FF2B5EF4-FFF2-40B4-BE49-F238E27FC236}">
                <a16:creationId xmlns:a16="http://schemas.microsoft.com/office/drawing/2014/main" id="{DD93F763-D682-4247-8A59-E44F697538EF}"/>
              </a:ext>
            </a:extLst>
          </p:cNvPr>
          <p:cNvSpPr/>
          <p:nvPr/>
        </p:nvSpPr>
        <p:spPr>
          <a:xfrm>
            <a:off x="5945421" y="5013176"/>
            <a:ext cx="2803043" cy="432048"/>
          </a:xfrm>
          <a:prstGeom prst="roundRect">
            <a:avLst/>
          </a:prstGeom>
        </p:spPr>
        <p:style>
          <a:lnRef idx="3">
            <a:schemeClr val="lt1"/>
          </a:lnRef>
          <a:fillRef idx="1">
            <a:schemeClr val="accent5"/>
          </a:fillRef>
          <a:effectRef idx="1">
            <a:schemeClr val="accent5"/>
          </a:effectRef>
          <a:fontRef idx="minor">
            <a:schemeClr val="lt1"/>
          </a:fontRef>
        </p:style>
        <p:txBody>
          <a:bodyPr lIns="0" rIns="0" rtlCol="0" anchor="ctr"/>
          <a:lstStyle/>
          <a:p>
            <a:pPr algn="ctr"/>
            <a:r>
              <a:rPr lang="fr-FR" dirty="0"/>
              <a:t>&lt;Input type='submit'/&gt;</a:t>
            </a:r>
          </a:p>
        </p:txBody>
      </p:sp>
      <p:sp>
        <p:nvSpPr>
          <p:cNvPr id="12" name="Rectangle : coins arrondis 11">
            <a:extLst>
              <a:ext uri="{FF2B5EF4-FFF2-40B4-BE49-F238E27FC236}">
                <a16:creationId xmlns:a16="http://schemas.microsoft.com/office/drawing/2014/main" id="{2E845AE0-F676-4151-B4E1-BC2CB89A7B76}"/>
              </a:ext>
            </a:extLst>
          </p:cNvPr>
          <p:cNvSpPr/>
          <p:nvPr/>
        </p:nvSpPr>
        <p:spPr>
          <a:xfrm>
            <a:off x="5945421" y="4437112"/>
            <a:ext cx="2803043" cy="432048"/>
          </a:xfrm>
          <a:prstGeom prst="roundRect">
            <a:avLst/>
          </a:prstGeom>
        </p:spPr>
        <p:style>
          <a:lnRef idx="3">
            <a:schemeClr val="lt1"/>
          </a:lnRef>
          <a:fillRef idx="1">
            <a:schemeClr val="accent2"/>
          </a:fillRef>
          <a:effectRef idx="1">
            <a:schemeClr val="accent2"/>
          </a:effectRef>
          <a:fontRef idx="minor">
            <a:schemeClr val="lt1"/>
          </a:fontRef>
        </p:style>
        <p:txBody>
          <a:bodyPr lIns="0" rIns="0" rtlCol="0" anchor="ctr"/>
          <a:lstStyle/>
          <a:p>
            <a:pPr algn="ctr"/>
            <a:r>
              <a:rPr lang="fr-FR" dirty="0"/>
              <a:t>&lt;Input  type='reset'/&gt;</a:t>
            </a:r>
          </a:p>
        </p:txBody>
      </p:sp>
      <p:sp>
        <p:nvSpPr>
          <p:cNvPr id="13" name="Rectangle : coins arrondis 12">
            <a:extLst>
              <a:ext uri="{FF2B5EF4-FFF2-40B4-BE49-F238E27FC236}">
                <a16:creationId xmlns:a16="http://schemas.microsoft.com/office/drawing/2014/main" id="{ED2849E3-1E91-40CB-B8EF-A6C283C28024}"/>
              </a:ext>
            </a:extLst>
          </p:cNvPr>
          <p:cNvSpPr/>
          <p:nvPr/>
        </p:nvSpPr>
        <p:spPr>
          <a:xfrm>
            <a:off x="6084168" y="5661248"/>
            <a:ext cx="2448272" cy="288032"/>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fr-FR" b="1" dirty="0">
                <a:solidFill>
                  <a:schemeClr val="bg1"/>
                </a:solidFill>
              </a:rPr>
              <a:t>&lt;/form&gt;</a:t>
            </a:r>
          </a:p>
        </p:txBody>
      </p:sp>
    </p:spTree>
    <p:extLst>
      <p:ext uri="{BB962C8B-B14F-4D97-AF65-F5344CB8AC3E}">
        <p14:creationId xmlns:p14="http://schemas.microsoft.com/office/powerpoint/2010/main" val="370141820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A57F696-CE20-6F4C-4507-7CB61084D43C}"/>
              </a:ext>
            </a:extLst>
          </p:cNvPr>
          <p:cNvSpPr>
            <a:spLocks noGrp="1"/>
          </p:cNvSpPr>
          <p:nvPr>
            <p:ph type="title"/>
          </p:nvPr>
        </p:nvSpPr>
        <p:spPr/>
        <p:txBody>
          <a:bodyPr/>
          <a:lstStyle/>
          <a:p>
            <a:r>
              <a:rPr lang="fr-FR" dirty="0"/>
              <a:t>Structure de Formulaire</a:t>
            </a:r>
          </a:p>
        </p:txBody>
      </p:sp>
      <p:sp>
        <p:nvSpPr>
          <p:cNvPr id="5" name="Espace réservé du contenu 4">
            <a:extLst>
              <a:ext uri="{FF2B5EF4-FFF2-40B4-BE49-F238E27FC236}">
                <a16:creationId xmlns:a16="http://schemas.microsoft.com/office/drawing/2014/main" id="{1359A9CD-B571-6257-D530-5A7B7C5560FE}"/>
              </a:ext>
            </a:extLst>
          </p:cNvPr>
          <p:cNvSpPr>
            <a:spLocks noGrp="1"/>
          </p:cNvSpPr>
          <p:nvPr>
            <p:ph idx="1"/>
          </p:nvPr>
        </p:nvSpPr>
        <p:spPr/>
        <p:txBody>
          <a:bodyPr>
            <a:normAutofit fontScale="85000" lnSpcReduction="20000"/>
          </a:bodyPr>
          <a:lstStyle/>
          <a:p>
            <a:r>
              <a:rPr lang="fr-FR" dirty="0"/>
              <a:t>Les formulaires sont contenus dans une balise </a:t>
            </a:r>
            <a:r>
              <a:rPr lang="fr-FR" b="1" i="1" dirty="0"/>
              <a:t>form</a:t>
            </a:r>
          </a:p>
          <a:p>
            <a:pPr marL="0" indent="0" algn="ctr">
              <a:buNone/>
            </a:pPr>
            <a:endParaRPr lang="fr-FR" sz="2600" b="1" i="1" dirty="0">
              <a:solidFill>
                <a:schemeClr val="tx2"/>
              </a:solidFill>
            </a:endParaRPr>
          </a:p>
          <a:p>
            <a:pPr marL="0" indent="0" algn="ctr">
              <a:buNone/>
            </a:pPr>
            <a:r>
              <a:rPr lang="fr-FR" sz="2600" b="1" i="1" dirty="0">
                <a:solidFill>
                  <a:schemeClr val="tx2"/>
                </a:solidFill>
              </a:rPr>
              <a:t>&lt;form name=‘’monForm’’&gt;&lt;input name=‘’c1’’/&gt;&lt;/form&gt;</a:t>
            </a:r>
            <a:endParaRPr lang="fr-FR" sz="2600" dirty="0">
              <a:solidFill>
                <a:schemeClr val="tx2"/>
              </a:solidFill>
            </a:endParaRPr>
          </a:p>
          <a:p>
            <a:pPr lvl="2"/>
            <a:endParaRPr lang="fr-FR" dirty="0"/>
          </a:p>
          <a:p>
            <a:pPr lvl="2"/>
            <a:r>
              <a:rPr lang="fr-FR" dirty="0"/>
              <a:t>Un tableau de tous les </a:t>
            </a:r>
            <a:r>
              <a:rPr lang="fr-FR" b="1" i="1" dirty="0"/>
              <a:t>form</a:t>
            </a:r>
            <a:r>
              <a:rPr lang="fr-FR" dirty="0"/>
              <a:t> du document est présente dans le champ </a:t>
            </a:r>
            <a:r>
              <a:rPr lang="fr-FR" b="1" i="1" dirty="0"/>
              <a:t>document.forms</a:t>
            </a:r>
          </a:p>
          <a:p>
            <a:pPr lvl="3"/>
            <a:r>
              <a:rPr lang="fr-FR" dirty="0"/>
              <a:t>Il index par position DOM </a:t>
            </a:r>
          </a:p>
          <a:p>
            <a:pPr lvl="4"/>
            <a:r>
              <a:rPr lang="fr-FR" b="1" i="1" dirty="0">
                <a:solidFill>
                  <a:schemeClr val="accent2"/>
                </a:solidFill>
              </a:rPr>
              <a:t>document.forms[0]</a:t>
            </a:r>
          </a:p>
          <a:p>
            <a:pPr lvl="3"/>
            <a:r>
              <a:rPr lang="fr-FR" dirty="0"/>
              <a:t>Il index par name de la balise form</a:t>
            </a:r>
          </a:p>
          <a:p>
            <a:pPr lvl="4"/>
            <a:r>
              <a:rPr lang="fr-FR" b="1" i="1" dirty="0">
                <a:solidFill>
                  <a:schemeClr val="accent3"/>
                </a:solidFill>
              </a:rPr>
              <a:t>document.forms[‘monForm’]</a:t>
            </a:r>
          </a:p>
          <a:p>
            <a:pPr lvl="2"/>
            <a:endParaRPr lang="fr-FR" dirty="0"/>
          </a:p>
          <a:p>
            <a:pPr lvl="2"/>
            <a:r>
              <a:rPr lang="fr-FR" dirty="0"/>
              <a:t>L’objet DOM pour la balise </a:t>
            </a:r>
            <a:r>
              <a:rPr lang="fr-FR" b="1" i="1" dirty="0"/>
              <a:t>form</a:t>
            </a:r>
            <a:r>
              <a:rPr lang="fr-FR" dirty="0"/>
              <a:t> est aussi un tableau indexant tous les champs input/select la contenant</a:t>
            </a:r>
          </a:p>
          <a:p>
            <a:pPr lvl="3"/>
            <a:r>
              <a:rPr lang="fr-FR" dirty="0"/>
              <a:t>Il index par position DOM </a:t>
            </a:r>
          </a:p>
          <a:p>
            <a:pPr lvl="4"/>
            <a:r>
              <a:rPr lang="fr-FR" b="1" i="1" dirty="0">
                <a:solidFill>
                  <a:schemeClr val="accent2"/>
                </a:solidFill>
              </a:rPr>
              <a:t>document.forms[0][0]</a:t>
            </a:r>
          </a:p>
          <a:p>
            <a:pPr lvl="3"/>
            <a:r>
              <a:rPr lang="fr-FR" dirty="0"/>
              <a:t>Il index par name de la balise form</a:t>
            </a:r>
          </a:p>
          <a:p>
            <a:pPr lvl="4"/>
            <a:r>
              <a:rPr lang="fr-FR" b="1" i="1" dirty="0">
                <a:solidFill>
                  <a:schemeClr val="accent3"/>
                </a:solidFill>
              </a:rPr>
              <a:t>document.forms[‘monForm’][‘c1’]</a:t>
            </a:r>
          </a:p>
          <a:p>
            <a:pPr lvl="2"/>
            <a:endParaRPr lang="fr-FR" dirty="0"/>
          </a:p>
          <a:p>
            <a:pPr lvl="2"/>
            <a:endParaRPr lang="fr-FR" dirty="0"/>
          </a:p>
        </p:txBody>
      </p:sp>
    </p:spTree>
    <p:extLst>
      <p:ext uri="{BB962C8B-B14F-4D97-AF65-F5344CB8AC3E}">
        <p14:creationId xmlns:p14="http://schemas.microsoft.com/office/powerpoint/2010/main" val="758540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Input &amp; js</a:t>
            </a:r>
          </a:p>
        </p:txBody>
      </p:sp>
      <p:sp>
        <p:nvSpPr>
          <p:cNvPr id="3" name="Espace réservé du contenu 2"/>
          <p:cNvSpPr>
            <a:spLocks noGrp="1"/>
          </p:cNvSpPr>
          <p:nvPr>
            <p:ph idx="1"/>
          </p:nvPr>
        </p:nvSpPr>
        <p:spPr/>
        <p:txBody>
          <a:bodyPr/>
          <a:lstStyle/>
          <a:p>
            <a:r>
              <a:rPr lang="fr-FR" dirty="0"/>
              <a:t>Modifié la valeur d'une entrée </a:t>
            </a:r>
          </a:p>
          <a:p>
            <a:pPr lvl="2"/>
            <a:r>
              <a:rPr lang="fr-FR" dirty="0"/>
              <a:t>input</a:t>
            </a:r>
          </a:p>
          <a:p>
            <a:pPr lvl="2"/>
            <a:endParaRPr lang="fr-FR" dirty="0"/>
          </a:p>
          <a:p>
            <a:pPr lvl="2"/>
            <a:endParaRPr lang="fr-FR" dirty="0"/>
          </a:p>
          <a:p>
            <a:pPr lvl="2"/>
            <a:r>
              <a:rPr lang="fr-FR" dirty="0"/>
              <a:t>select</a:t>
            </a:r>
          </a:p>
          <a:p>
            <a:pPr lvl="2"/>
            <a:endParaRPr lang="fr-FR" dirty="0"/>
          </a:p>
          <a:p>
            <a:pPr lvl="2"/>
            <a:endParaRPr lang="fr-FR" dirty="0"/>
          </a:p>
          <a:p>
            <a:pPr lvl="2"/>
            <a:r>
              <a:rPr lang="fr-FR" dirty="0"/>
              <a:t>checkbox / radio</a:t>
            </a:r>
          </a:p>
          <a:p>
            <a:pPr lvl="2"/>
            <a:endParaRPr lang="fr-FR" dirty="0"/>
          </a:p>
        </p:txBody>
      </p:sp>
      <p:sp>
        <p:nvSpPr>
          <p:cNvPr id="5" name="Rectangle 4"/>
          <p:cNvSpPr/>
          <p:nvPr/>
        </p:nvSpPr>
        <p:spPr>
          <a:xfrm>
            <a:off x="571472" y="3631172"/>
            <a:ext cx="8072494" cy="369332"/>
          </a:xfrm>
          <a:prstGeom prst="rect">
            <a:avLst/>
          </a:prstGeom>
        </p:spPr>
        <p:txBody>
          <a:bodyPr wrap="square">
            <a:spAutoFit/>
          </a:bodyPr>
          <a:lstStyle/>
          <a:p>
            <a:pPr algn="ctr"/>
            <a:r>
              <a:rPr lang="fr-FR" b="0" dirty="0">
                <a:latin typeface="Consolas"/>
              </a:rPr>
              <a:t>document</a:t>
            </a:r>
            <a:r>
              <a:rPr lang="fr-FR" b="0" dirty="0">
                <a:solidFill>
                  <a:srgbClr val="7EA2B4"/>
                </a:solidFill>
                <a:latin typeface="Consolas"/>
              </a:rPr>
              <a:t>.</a:t>
            </a:r>
            <a:r>
              <a:rPr lang="fr-FR" b="0" dirty="0">
                <a:solidFill>
                  <a:srgbClr val="2D8F6F"/>
                </a:solidFill>
                <a:latin typeface="Consolas"/>
              </a:rPr>
              <a:t>getElementById</a:t>
            </a:r>
            <a:r>
              <a:rPr lang="fr-FR" b="0" dirty="0">
                <a:latin typeface="Consolas"/>
              </a:rPr>
              <a:t>('</a:t>
            </a:r>
            <a:r>
              <a:rPr lang="fr-FR" b="0" dirty="0">
                <a:solidFill>
                  <a:srgbClr val="568C3B"/>
                </a:solidFill>
                <a:latin typeface="Consolas"/>
              </a:rPr>
              <a:t>combo</a:t>
            </a:r>
            <a:r>
              <a:rPr lang="fr-FR" b="0" dirty="0">
                <a:latin typeface="Consolas"/>
              </a:rPr>
              <a:t>').selectedIndex=</a:t>
            </a:r>
            <a:r>
              <a:rPr lang="fr-FR" b="0" dirty="0">
                <a:solidFill>
                  <a:srgbClr val="D22D72"/>
                </a:solidFill>
                <a:latin typeface="Consolas"/>
              </a:rPr>
              <a:t>position</a:t>
            </a:r>
            <a:r>
              <a:rPr lang="fr-FR" b="0" dirty="0">
                <a:latin typeface="Consolas"/>
              </a:rPr>
              <a:t>;</a:t>
            </a:r>
          </a:p>
        </p:txBody>
      </p:sp>
      <p:sp>
        <p:nvSpPr>
          <p:cNvPr id="6" name="Rectangle 5"/>
          <p:cNvSpPr/>
          <p:nvPr/>
        </p:nvSpPr>
        <p:spPr>
          <a:xfrm>
            <a:off x="428596" y="2428868"/>
            <a:ext cx="8358246" cy="369332"/>
          </a:xfrm>
          <a:prstGeom prst="rect">
            <a:avLst/>
          </a:prstGeom>
        </p:spPr>
        <p:txBody>
          <a:bodyPr wrap="square">
            <a:spAutoFit/>
          </a:bodyPr>
          <a:lstStyle/>
          <a:p>
            <a:pPr algn="ctr"/>
            <a:r>
              <a:rPr lang="fr-FR" b="0" dirty="0">
                <a:latin typeface="Consolas"/>
              </a:rPr>
              <a:t>document.</a:t>
            </a:r>
            <a:r>
              <a:rPr lang="fr-FR" b="0" dirty="0">
                <a:solidFill>
                  <a:srgbClr val="2D8F6F"/>
                </a:solidFill>
                <a:latin typeface="Consolas"/>
              </a:rPr>
              <a:t>getElementById</a:t>
            </a:r>
            <a:r>
              <a:rPr lang="fr-FR" b="0" dirty="0">
                <a:latin typeface="Consolas"/>
              </a:rPr>
              <a:t>('</a:t>
            </a:r>
            <a:r>
              <a:rPr lang="fr-FR" b="0" dirty="0">
                <a:solidFill>
                  <a:srgbClr val="568C3B"/>
                </a:solidFill>
                <a:latin typeface="Consolas"/>
              </a:rPr>
              <a:t>input</a:t>
            </a:r>
            <a:r>
              <a:rPr lang="fr-FR" b="0" dirty="0">
                <a:latin typeface="Consolas"/>
              </a:rPr>
              <a:t>').value='</a:t>
            </a:r>
            <a:r>
              <a:rPr lang="fr-FR" b="0" dirty="0">
                <a:solidFill>
                  <a:srgbClr val="568C3B"/>
                </a:solidFill>
                <a:latin typeface="Consolas"/>
              </a:rPr>
              <a:t>nouveau content</a:t>
            </a:r>
            <a:r>
              <a:rPr lang="fr-FR" b="0" dirty="0">
                <a:latin typeface="Consolas"/>
              </a:rPr>
              <a:t>';</a:t>
            </a:r>
          </a:p>
        </p:txBody>
      </p:sp>
      <p:sp>
        <p:nvSpPr>
          <p:cNvPr id="7" name="Rectangle 6"/>
          <p:cNvSpPr/>
          <p:nvPr/>
        </p:nvSpPr>
        <p:spPr>
          <a:xfrm>
            <a:off x="1928794" y="5286388"/>
            <a:ext cx="5630067" cy="369332"/>
          </a:xfrm>
          <a:prstGeom prst="rect">
            <a:avLst/>
          </a:prstGeom>
        </p:spPr>
        <p:txBody>
          <a:bodyPr wrap="none">
            <a:spAutoFit/>
          </a:bodyPr>
          <a:lstStyle/>
          <a:p>
            <a:r>
              <a:rPr lang="fr-FR" b="0" dirty="0">
                <a:latin typeface="Consolas"/>
              </a:rPr>
              <a:t>document.</a:t>
            </a:r>
            <a:r>
              <a:rPr lang="fr-FR" b="0" dirty="0">
                <a:solidFill>
                  <a:srgbClr val="2D8F6F"/>
                </a:solidFill>
                <a:latin typeface="Consolas"/>
              </a:rPr>
              <a:t>getElementById</a:t>
            </a:r>
            <a:r>
              <a:rPr lang="fr-FR" b="0" dirty="0">
                <a:latin typeface="Consolas"/>
              </a:rPr>
              <a:t>('</a:t>
            </a:r>
            <a:r>
              <a:rPr lang="fr-FR" b="0" dirty="0">
                <a:solidFill>
                  <a:srgbClr val="568C3B"/>
                </a:solidFill>
                <a:latin typeface="Consolas"/>
              </a:rPr>
              <a:t>radio</a:t>
            </a:r>
            <a:r>
              <a:rPr lang="fr-FR" b="0" dirty="0">
                <a:latin typeface="Consolas"/>
              </a:rPr>
              <a:t>').checked=</a:t>
            </a:r>
            <a:r>
              <a:rPr lang="fr-FR" b="0" dirty="0">
                <a:solidFill>
                  <a:srgbClr val="935C25"/>
                </a:solidFill>
                <a:latin typeface="Consolas"/>
              </a:rPr>
              <a:t>1</a:t>
            </a:r>
            <a:r>
              <a:rPr lang="fr-FR" b="0" dirty="0">
                <a:solidFill>
                  <a:srgbClr val="7EA2B4"/>
                </a:solidFill>
                <a:latin typeface="Consolas"/>
              </a:rPr>
              <a:t>;</a:t>
            </a:r>
          </a:p>
        </p:txBody>
      </p:sp>
    </p:spTree>
    <p:extLst>
      <p:ext uri="{BB962C8B-B14F-4D97-AF65-F5344CB8AC3E}">
        <p14:creationId xmlns:p14="http://schemas.microsoft.com/office/powerpoint/2010/main" val="194832764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Contrôle des valeurs avant submit</a:t>
            </a:r>
          </a:p>
        </p:txBody>
      </p:sp>
      <p:sp>
        <p:nvSpPr>
          <p:cNvPr id="3" name="Espace réservé du contenu 2"/>
          <p:cNvSpPr>
            <a:spLocks noGrp="1"/>
          </p:cNvSpPr>
          <p:nvPr>
            <p:ph idx="1"/>
          </p:nvPr>
        </p:nvSpPr>
        <p:spPr/>
        <p:txBody>
          <a:bodyPr>
            <a:normAutofit lnSpcReduction="10000"/>
          </a:bodyPr>
          <a:lstStyle/>
          <a:p>
            <a:r>
              <a:rPr lang="fr-FR" dirty="0"/>
              <a:t>Vérification des champs obligatoires*</a:t>
            </a:r>
          </a:p>
          <a:p>
            <a:endParaRPr lang="fr-FR" dirty="0"/>
          </a:p>
          <a:p>
            <a:endParaRPr lang="fr-FR" dirty="0"/>
          </a:p>
          <a:p>
            <a:pPr lvl="2"/>
            <a:endParaRPr lang="fr-FR" dirty="0"/>
          </a:p>
          <a:p>
            <a:r>
              <a:rPr lang="fr-FR" dirty="0"/>
              <a:t>vérification des formats des values **</a:t>
            </a:r>
          </a:p>
          <a:p>
            <a:endParaRPr lang="fr-FR" dirty="0"/>
          </a:p>
          <a:p>
            <a:endParaRPr lang="fr-FR" dirty="0"/>
          </a:p>
          <a:p>
            <a:endParaRPr lang="fr-FR" dirty="0"/>
          </a:p>
          <a:p>
            <a:r>
              <a:rPr lang="fr-FR" dirty="0"/>
              <a:t>Vérification des interactions</a:t>
            </a:r>
          </a:p>
          <a:p>
            <a:pPr lvl="2"/>
            <a:r>
              <a:rPr lang="fr-FR" dirty="0"/>
              <a:t>exemple date de naissance et checkbox +18ans</a:t>
            </a:r>
          </a:p>
          <a:p>
            <a:endParaRPr lang="fr-FR" dirty="0"/>
          </a:p>
        </p:txBody>
      </p:sp>
      <p:sp>
        <p:nvSpPr>
          <p:cNvPr id="4" name="Rectangle 3"/>
          <p:cNvSpPr/>
          <p:nvPr/>
        </p:nvSpPr>
        <p:spPr>
          <a:xfrm>
            <a:off x="214282" y="1714488"/>
            <a:ext cx="8572560" cy="1477328"/>
          </a:xfrm>
          <a:prstGeom prst="rect">
            <a:avLst/>
          </a:prstGeom>
        </p:spPr>
        <p:txBody>
          <a:bodyPr wrap="square">
            <a:spAutoFit/>
          </a:bodyPr>
          <a:lstStyle/>
          <a:p>
            <a:r>
              <a:rPr lang="fr-FR" b="0" dirty="0">
                <a:solidFill>
                  <a:srgbClr val="5D5DB1"/>
                </a:solidFill>
                <a:latin typeface="Consolas"/>
              </a:rPr>
              <a:t>if</a:t>
            </a:r>
            <a:r>
              <a:rPr lang="fr-FR" b="0" dirty="0">
                <a:latin typeface="Consolas"/>
              </a:rPr>
              <a:t>( '' == document.</a:t>
            </a:r>
            <a:r>
              <a:rPr lang="fr-FR" b="0" dirty="0">
                <a:solidFill>
                  <a:srgbClr val="2D8F6F"/>
                </a:solidFill>
                <a:latin typeface="Consolas"/>
              </a:rPr>
              <a:t>getElementById</a:t>
            </a:r>
            <a:r>
              <a:rPr lang="fr-FR" b="0" dirty="0">
                <a:latin typeface="Consolas"/>
              </a:rPr>
              <a:t>('</a:t>
            </a:r>
            <a:r>
              <a:rPr lang="fr-FR" b="0" dirty="0">
                <a:solidFill>
                  <a:srgbClr val="568C3B"/>
                </a:solidFill>
                <a:latin typeface="Consolas"/>
              </a:rPr>
              <a:t>input-nom</a:t>
            </a:r>
            <a:r>
              <a:rPr lang="fr-FR" b="0" dirty="0">
                <a:latin typeface="Consolas"/>
              </a:rPr>
              <a:t>').value) </a:t>
            </a:r>
          </a:p>
          <a:p>
            <a:r>
              <a:rPr lang="fr-FR" b="0" dirty="0">
                <a:latin typeface="Consolas"/>
              </a:rPr>
              <a:t>{</a:t>
            </a:r>
          </a:p>
          <a:p>
            <a:r>
              <a:rPr lang="fr-FR" b="0" dirty="0">
                <a:solidFill>
                  <a:srgbClr val="257FAD"/>
                </a:solidFill>
                <a:latin typeface="Consolas"/>
              </a:rPr>
              <a:t>    alert</a:t>
            </a:r>
            <a:r>
              <a:rPr lang="fr-FR" b="0" dirty="0">
                <a:latin typeface="Consolas"/>
              </a:rPr>
              <a:t>('</a:t>
            </a:r>
            <a:r>
              <a:rPr lang="fr-FR" b="0" dirty="0">
                <a:solidFill>
                  <a:srgbClr val="568C3B"/>
                </a:solidFill>
                <a:latin typeface="Consolas"/>
              </a:rPr>
              <a:t>Saisir votre nom !</a:t>
            </a:r>
            <a:r>
              <a:rPr lang="fr-FR" b="0" dirty="0">
                <a:latin typeface="Consolas"/>
              </a:rPr>
              <a:t>');</a:t>
            </a:r>
          </a:p>
          <a:p>
            <a:r>
              <a:rPr lang="fr-FR" dirty="0">
                <a:latin typeface="Consolas"/>
              </a:rPr>
              <a:t>    </a:t>
            </a:r>
            <a:r>
              <a:rPr lang="fr-FR" b="0" dirty="0">
                <a:latin typeface="Consolas"/>
              </a:rPr>
              <a:t>document.</a:t>
            </a:r>
            <a:r>
              <a:rPr lang="fr-FR" b="0" dirty="0">
                <a:solidFill>
                  <a:srgbClr val="2D8F6F"/>
                </a:solidFill>
                <a:latin typeface="Consolas"/>
              </a:rPr>
              <a:t>getElementById</a:t>
            </a:r>
            <a:r>
              <a:rPr lang="fr-FR" b="0" dirty="0">
                <a:latin typeface="Consolas"/>
              </a:rPr>
              <a:t>('</a:t>
            </a:r>
            <a:r>
              <a:rPr lang="fr-FR" b="0" dirty="0">
                <a:solidFill>
                  <a:srgbClr val="568C3B"/>
                </a:solidFill>
                <a:latin typeface="Consolas"/>
              </a:rPr>
              <a:t>nom</a:t>
            </a:r>
            <a:r>
              <a:rPr lang="fr-FR" b="0" dirty="0">
                <a:latin typeface="Consolas"/>
              </a:rPr>
              <a:t>').</a:t>
            </a:r>
            <a:r>
              <a:rPr lang="fr-FR" b="0" dirty="0">
                <a:solidFill>
                  <a:srgbClr val="2D8F6F"/>
                </a:solidFill>
                <a:latin typeface="Consolas"/>
              </a:rPr>
              <a:t>focus</a:t>
            </a:r>
            <a:r>
              <a:rPr lang="fr-FR" b="0" dirty="0">
                <a:latin typeface="Consolas"/>
              </a:rPr>
              <a:t>();</a:t>
            </a:r>
          </a:p>
          <a:p>
            <a:r>
              <a:rPr lang="fr-FR" b="0" dirty="0">
                <a:latin typeface="Consolas"/>
              </a:rPr>
              <a:t>}</a:t>
            </a:r>
          </a:p>
        </p:txBody>
      </p:sp>
      <p:sp>
        <p:nvSpPr>
          <p:cNvPr id="5" name="Rectangle 4"/>
          <p:cNvSpPr/>
          <p:nvPr/>
        </p:nvSpPr>
        <p:spPr>
          <a:xfrm>
            <a:off x="285720" y="3674938"/>
            <a:ext cx="8572560" cy="1754326"/>
          </a:xfrm>
          <a:prstGeom prst="rect">
            <a:avLst/>
          </a:prstGeom>
        </p:spPr>
        <p:txBody>
          <a:bodyPr wrap="square">
            <a:spAutoFit/>
          </a:bodyPr>
          <a:lstStyle/>
          <a:p>
            <a:r>
              <a:rPr lang="fr-FR" b="0" dirty="0">
                <a:solidFill>
                  <a:srgbClr val="5D5DB1"/>
                </a:solidFill>
                <a:latin typeface="Consolas"/>
              </a:rPr>
              <a:t>var</a:t>
            </a:r>
            <a:r>
              <a:rPr lang="fr-FR" b="0" dirty="0">
                <a:solidFill>
                  <a:srgbClr val="7EA2B4"/>
                </a:solidFill>
                <a:latin typeface="Consolas"/>
              </a:rPr>
              <a:t> </a:t>
            </a:r>
            <a:r>
              <a:rPr lang="fr-FR" b="0" dirty="0">
                <a:solidFill>
                  <a:srgbClr val="D22D72"/>
                </a:solidFill>
                <a:latin typeface="Consolas"/>
              </a:rPr>
              <a:t>regex</a:t>
            </a:r>
            <a:r>
              <a:rPr lang="fr-FR" b="0" dirty="0">
                <a:solidFill>
                  <a:srgbClr val="7EA2B4"/>
                </a:solidFill>
                <a:latin typeface="Consolas"/>
              </a:rPr>
              <a:t> </a:t>
            </a:r>
            <a:r>
              <a:rPr lang="fr-FR" b="0" dirty="0">
                <a:latin typeface="Consolas"/>
              </a:rPr>
              <a:t>= /</a:t>
            </a:r>
            <a:r>
              <a:rPr lang="fr-FR" b="0" dirty="0">
                <a:solidFill>
                  <a:srgbClr val="935C25"/>
                </a:solidFill>
                <a:latin typeface="Consolas"/>
              </a:rPr>
              <a:t>[\w]</a:t>
            </a:r>
            <a:r>
              <a:rPr lang="fr-FR" b="0" dirty="0">
                <a:latin typeface="Consolas"/>
              </a:rPr>
              <a:t>+</a:t>
            </a:r>
            <a:r>
              <a:rPr lang="fr-FR" b="0" dirty="0">
                <a:solidFill>
                  <a:srgbClr val="2D8F6F"/>
                </a:solidFill>
                <a:latin typeface="Consolas"/>
              </a:rPr>
              <a:t>@</a:t>
            </a:r>
            <a:r>
              <a:rPr lang="fr-FR" b="0" dirty="0">
                <a:solidFill>
                  <a:srgbClr val="935C25"/>
                </a:solidFill>
                <a:latin typeface="Consolas"/>
              </a:rPr>
              <a:t>[\w]</a:t>
            </a:r>
            <a:r>
              <a:rPr lang="fr-FR" b="0" dirty="0">
                <a:latin typeface="Consolas"/>
              </a:rPr>
              <a:t>*</a:t>
            </a:r>
            <a:r>
              <a:rPr lang="fr-FR" b="0" dirty="0">
                <a:solidFill>
                  <a:srgbClr val="935C25"/>
                </a:solidFill>
                <a:latin typeface="Consolas"/>
              </a:rPr>
              <a:t>.[\w]</a:t>
            </a:r>
            <a:r>
              <a:rPr lang="fr-FR" b="0" dirty="0">
                <a:latin typeface="Consolas"/>
              </a:rPr>
              <a:t>{2,7}/;</a:t>
            </a:r>
          </a:p>
          <a:p>
            <a:r>
              <a:rPr lang="fr-FR" b="0" dirty="0">
                <a:solidFill>
                  <a:srgbClr val="5D5DB1"/>
                </a:solidFill>
                <a:latin typeface="Consolas"/>
              </a:rPr>
              <a:t>if</a:t>
            </a:r>
            <a:r>
              <a:rPr lang="fr-FR" b="0" dirty="0">
                <a:solidFill>
                  <a:srgbClr val="7EA2B4"/>
                </a:solidFill>
                <a:latin typeface="Consolas"/>
              </a:rPr>
              <a:t> </a:t>
            </a:r>
            <a:r>
              <a:rPr lang="fr-FR" b="0" dirty="0">
                <a:latin typeface="Consolas"/>
              </a:rPr>
              <a:t>(</a:t>
            </a:r>
            <a:r>
              <a:rPr lang="fr-FR" b="0" dirty="0">
                <a:solidFill>
                  <a:srgbClr val="7EA2B4"/>
                </a:solidFill>
                <a:latin typeface="Consolas"/>
              </a:rPr>
              <a:t> </a:t>
            </a:r>
            <a:r>
              <a:rPr lang="fr-FR" b="0" dirty="0">
                <a:solidFill>
                  <a:srgbClr val="D22D72"/>
                </a:solidFill>
                <a:latin typeface="Consolas"/>
              </a:rPr>
              <a:t>regex</a:t>
            </a:r>
            <a:r>
              <a:rPr lang="fr-FR" b="0" dirty="0">
                <a:latin typeface="Consolas"/>
              </a:rPr>
              <a:t>.</a:t>
            </a:r>
            <a:r>
              <a:rPr lang="fr-FR" b="0" dirty="0">
                <a:solidFill>
                  <a:srgbClr val="2D8F6F"/>
                </a:solidFill>
                <a:latin typeface="Consolas"/>
              </a:rPr>
              <a:t>exec</a:t>
            </a:r>
            <a:r>
              <a:rPr lang="fr-FR" b="0" dirty="0">
                <a:latin typeface="Consolas"/>
              </a:rPr>
              <a:t>(document.</a:t>
            </a:r>
            <a:r>
              <a:rPr lang="fr-FR" b="0" dirty="0">
                <a:solidFill>
                  <a:srgbClr val="2D8F6F"/>
                </a:solidFill>
                <a:latin typeface="Consolas"/>
              </a:rPr>
              <a:t>getElementById</a:t>
            </a:r>
            <a:r>
              <a:rPr lang="fr-FR" b="0" dirty="0">
                <a:latin typeface="Consolas"/>
              </a:rPr>
              <a:t>('</a:t>
            </a:r>
            <a:r>
              <a:rPr lang="fr-FR" b="0" dirty="0">
                <a:solidFill>
                  <a:srgbClr val="568C3B"/>
                </a:solidFill>
                <a:latin typeface="Consolas"/>
              </a:rPr>
              <a:t>mail</a:t>
            </a:r>
            <a:r>
              <a:rPr lang="fr-FR" b="0" dirty="0">
                <a:latin typeface="Consolas"/>
              </a:rPr>
              <a:t>').value)=== </a:t>
            </a:r>
            <a:r>
              <a:rPr lang="fr-FR" b="0" dirty="0">
                <a:solidFill>
                  <a:srgbClr val="935C25"/>
                </a:solidFill>
                <a:latin typeface="Consolas"/>
              </a:rPr>
              <a:t>null</a:t>
            </a:r>
            <a:r>
              <a:rPr lang="fr-FR" b="0" dirty="0">
                <a:latin typeface="Consolas"/>
              </a:rPr>
              <a:t>)</a:t>
            </a:r>
            <a:r>
              <a:rPr lang="fr-FR" b="0" dirty="0">
                <a:solidFill>
                  <a:srgbClr val="7EA2B4"/>
                </a:solidFill>
                <a:latin typeface="Consolas"/>
              </a:rPr>
              <a:t> </a:t>
            </a:r>
          </a:p>
          <a:p>
            <a:r>
              <a:rPr lang="fr-FR" b="0" dirty="0">
                <a:latin typeface="Consolas"/>
              </a:rPr>
              <a:t>{</a:t>
            </a:r>
          </a:p>
          <a:p>
            <a:r>
              <a:rPr lang="fr-FR" b="0" dirty="0">
                <a:solidFill>
                  <a:srgbClr val="257FAD"/>
                </a:solidFill>
                <a:latin typeface="Consolas"/>
              </a:rPr>
              <a:t>	alert</a:t>
            </a:r>
            <a:r>
              <a:rPr lang="fr-FR" b="0" dirty="0">
                <a:latin typeface="Consolas"/>
              </a:rPr>
              <a:t>("</a:t>
            </a:r>
            <a:r>
              <a:rPr lang="fr-FR" b="0" dirty="0">
                <a:solidFill>
                  <a:srgbClr val="568C3B"/>
                </a:solidFill>
                <a:latin typeface="Consolas"/>
              </a:rPr>
              <a:t>saisir le mail</a:t>
            </a:r>
            <a:r>
              <a:rPr lang="fr-FR" b="0" dirty="0">
                <a:latin typeface="Consolas"/>
              </a:rPr>
              <a:t>");</a:t>
            </a:r>
          </a:p>
          <a:p>
            <a:r>
              <a:rPr lang="fr-FR" b="0" dirty="0">
                <a:solidFill>
                  <a:srgbClr val="7EA2B4"/>
                </a:solidFill>
                <a:latin typeface="Consolas"/>
              </a:rPr>
              <a:t>	</a:t>
            </a:r>
            <a:r>
              <a:rPr lang="fr-FR" b="0" dirty="0">
                <a:latin typeface="Consolas"/>
              </a:rPr>
              <a:t>document.</a:t>
            </a:r>
            <a:r>
              <a:rPr lang="fr-FR" b="0" dirty="0">
                <a:solidFill>
                  <a:srgbClr val="2D8F6F"/>
                </a:solidFill>
                <a:latin typeface="Consolas"/>
              </a:rPr>
              <a:t>getElementById</a:t>
            </a:r>
            <a:r>
              <a:rPr lang="fr-FR" b="0" dirty="0">
                <a:latin typeface="Consolas"/>
              </a:rPr>
              <a:t>('</a:t>
            </a:r>
            <a:r>
              <a:rPr lang="fr-FR" b="0" dirty="0">
                <a:solidFill>
                  <a:srgbClr val="568C3B"/>
                </a:solidFill>
                <a:latin typeface="Consolas"/>
              </a:rPr>
              <a:t>date</a:t>
            </a:r>
            <a:r>
              <a:rPr lang="fr-FR" b="0" dirty="0">
                <a:latin typeface="Consolas"/>
              </a:rPr>
              <a:t>').</a:t>
            </a:r>
            <a:r>
              <a:rPr lang="fr-FR" b="0" dirty="0">
                <a:solidFill>
                  <a:srgbClr val="2D8F6F"/>
                </a:solidFill>
                <a:latin typeface="Consolas"/>
              </a:rPr>
              <a:t>focus</a:t>
            </a:r>
            <a:r>
              <a:rPr lang="fr-FR" b="0" dirty="0">
                <a:latin typeface="Consolas"/>
              </a:rPr>
              <a:t>();</a:t>
            </a:r>
          </a:p>
          <a:p>
            <a:r>
              <a:rPr lang="fr-FR" b="0" dirty="0">
                <a:latin typeface="Consolas"/>
              </a:rPr>
              <a:t>}</a:t>
            </a:r>
          </a:p>
        </p:txBody>
      </p:sp>
      <p:sp>
        <p:nvSpPr>
          <p:cNvPr id="6" name="Étoile : 12 branches 5">
            <a:extLst>
              <a:ext uri="{FF2B5EF4-FFF2-40B4-BE49-F238E27FC236}">
                <a16:creationId xmlns:a16="http://schemas.microsoft.com/office/drawing/2014/main" id="{205F9DD0-8186-8D03-D9E3-E225C2A47BAC}"/>
              </a:ext>
            </a:extLst>
          </p:cNvPr>
          <p:cNvSpPr/>
          <p:nvPr/>
        </p:nvSpPr>
        <p:spPr>
          <a:xfrm rot="20650799">
            <a:off x="6077429" y="1714488"/>
            <a:ext cx="3384376" cy="1477328"/>
          </a:xfrm>
          <a:prstGeom prst="star1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dirty="0"/>
              <a:t>Privilégié checkValidate()</a:t>
            </a:r>
          </a:p>
        </p:txBody>
      </p:sp>
    </p:spTree>
    <p:extLst>
      <p:ext uri="{BB962C8B-B14F-4D97-AF65-F5344CB8AC3E}">
        <p14:creationId xmlns:p14="http://schemas.microsoft.com/office/powerpoint/2010/main" val="1264151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85F0E6-271F-C7A9-FCFE-E9FF98B53FDB}"/>
              </a:ext>
            </a:extLst>
          </p:cNvPr>
          <p:cNvSpPr>
            <a:spLocks noGrp="1"/>
          </p:cNvSpPr>
          <p:nvPr>
            <p:ph type="title"/>
          </p:nvPr>
        </p:nvSpPr>
        <p:spPr/>
        <p:txBody>
          <a:bodyPr/>
          <a:lstStyle/>
          <a:p>
            <a:r>
              <a:rPr lang="fr-FR" dirty="0"/>
              <a:t>Formulaire et validation</a:t>
            </a:r>
          </a:p>
        </p:txBody>
      </p:sp>
      <p:sp>
        <p:nvSpPr>
          <p:cNvPr id="3" name="Espace réservé du contenu 2">
            <a:extLst>
              <a:ext uri="{FF2B5EF4-FFF2-40B4-BE49-F238E27FC236}">
                <a16:creationId xmlns:a16="http://schemas.microsoft.com/office/drawing/2014/main" id="{0528F342-187B-F4AD-B782-D5841F8EF428}"/>
              </a:ext>
            </a:extLst>
          </p:cNvPr>
          <p:cNvSpPr>
            <a:spLocks noGrp="1"/>
          </p:cNvSpPr>
          <p:nvPr>
            <p:ph idx="1"/>
          </p:nvPr>
        </p:nvSpPr>
        <p:spPr/>
        <p:txBody>
          <a:bodyPr>
            <a:normAutofit fontScale="47500" lnSpcReduction="20000"/>
          </a:bodyPr>
          <a:lstStyle/>
          <a:p>
            <a:r>
              <a:rPr lang="fr-FR" dirty="0"/>
              <a:t>Les formulaires peuvent être soumis et reset par js :</a:t>
            </a:r>
          </a:p>
          <a:p>
            <a:pPr lvl="2"/>
            <a:r>
              <a:rPr lang="fr-FR" b="1" i="1" dirty="0"/>
              <a:t>elemForm.submit()</a:t>
            </a:r>
          </a:p>
          <a:p>
            <a:pPr lvl="2"/>
            <a:r>
              <a:rPr lang="fr-FR" b="1" i="1" dirty="0"/>
              <a:t>elemForm.reset()</a:t>
            </a:r>
          </a:p>
          <a:p>
            <a:endParaRPr lang="fr-FR" dirty="0"/>
          </a:p>
          <a:p>
            <a:r>
              <a:rPr lang="fr-FR" dirty="0"/>
              <a:t>Des évènements liés à ces actions sont disponibles</a:t>
            </a:r>
          </a:p>
          <a:p>
            <a:pPr lvl="2"/>
            <a:r>
              <a:rPr lang="fr-FR" b="1" i="1" dirty="0"/>
              <a:t>elemForm.addEventListener(‘submit’,(evt)=&gt;{…})</a:t>
            </a:r>
          </a:p>
          <a:p>
            <a:pPr lvl="2"/>
            <a:r>
              <a:rPr lang="fr-FR" b="1" i="1" dirty="0"/>
              <a:t>elemForm.addEventListener(‘reset’,(evt)=&gt;{…})</a:t>
            </a:r>
          </a:p>
          <a:p>
            <a:endParaRPr lang="fr-FR" dirty="0"/>
          </a:p>
          <a:p>
            <a:r>
              <a:rPr lang="fr-FR" dirty="0"/>
              <a:t>Lors de la soumission un </a:t>
            </a:r>
            <a:r>
              <a:rPr lang="fr-FR" b="1" i="1" dirty="0"/>
              <a:t>checkValidate() </a:t>
            </a:r>
            <a:r>
              <a:rPr lang="fr-FR" dirty="0"/>
              <a:t>est déclenché et empêche la soumission en cas de non respect des valeurs il remplace les validations manuelles comme précédemment</a:t>
            </a:r>
          </a:p>
          <a:p>
            <a:pPr lvl="2"/>
            <a:r>
              <a:rPr lang="fr-FR" dirty="0"/>
              <a:t>Cette validation se base sur plusieurs choses :</a:t>
            </a:r>
          </a:p>
          <a:p>
            <a:pPr lvl="3"/>
            <a:r>
              <a:rPr lang="fr-FR" dirty="0"/>
              <a:t>Type d’input</a:t>
            </a:r>
          </a:p>
          <a:p>
            <a:pPr lvl="3"/>
            <a:r>
              <a:rPr lang="fr-FR" dirty="0"/>
              <a:t>Pattern</a:t>
            </a:r>
          </a:p>
          <a:p>
            <a:pPr lvl="3"/>
            <a:r>
              <a:rPr lang="fr-FR" dirty="0"/>
              <a:t>Length, …</a:t>
            </a:r>
          </a:p>
          <a:p>
            <a:pPr lvl="3"/>
            <a:endParaRPr lang="fr-FR" dirty="0"/>
          </a:p>
          <a:p>
            <a:pPr lvl="2"/>
            <a:r>
              <a:rPr lang="fr-FR" dirty="0"/>
              <a:t>Au besoin cette vérification peut être déclencher sur les inputs lors de la saisie</a:t>
            </a:r>
          </a:p>
          <a:p>
            <a:pPr lvl="2">
              <a:lnSpc>
                <a:spcPts val="1425"/>
              </a:lnSpc>
              <a:buNone/>
            </a:pPr>
            <a:endParaRPr lang="fr-FR" sz="3400" b="0" dirty="0">
              <a:solidFill>
                <a:srgbClr val="C9D1D9"/>
              </a:solidFill>
              <a:effectLst/>
              <a:latin typeface="Consolas" panose="020B0609020204030204" pitchFamily="49" charset="0"/>
            </a:endParaRPr>
          </a:p>
          <a:p>
            <a:pPr lvl="2">
              <a:lnSpc>
                <a:spcPts val="1425"/>
              </a:lnSpc>
              <a:buNone/>
            </a:pPr>
            <a:r>
              <a:rPr lang="fr-FR" sz="3400" b="0" dirty="0">
                <a:effectLst/>
                <a:latin typeface="Consolas" panose="020B0609020204030204" pitchFamily="49" charset="0"/>
              </a:rPr>
              <a:t>elemInput.</a:t>
            </a:r>
            <a:r>
              <a:rPr lang="fr-FR" sz="3400" b="0" dirty="0">
                <a:solidFill>
                  <a:srgbClr val="D2A8FF"/>
                </a:solidFill>
                <a:effectLst/>
                <a:latin typeface="Consolas" panose="020B0609020204030204" pitchFamily="49" charset="0"/>
              </a:rPr>
              <a:t>addEventListener</a:t>
            </a:r>
            <a:r>
              <a:rPr lang="fr-FR" sz="3400" b="0" dirty="0">
                <a:effectLst/>
                <a:latin typeface="Consolas" panose="020B0609020204030204" pitchFamily="49" charset="0"/>
              </a:rPr>
              <a:t>(</a:t>
            </a:r>
            <a:r>
              <a:rPr lang="fr-FR" sz="3400" b="0" dirty="0">
                <a:solidFill>
                  <a:srgbClr val="A5D6FF"/>
                </a:solidFill>
                <a:effectLst/>
                <a:latin typeface="Consolas" panose="020B0609020204030204" pitchFamily="49" charset="0"/>
              </a:rPr>
              <a:t>"input"</a:t>
            </a:r>
            <a:r>
              <a:rPr lang="fr-FR" sz="3400" b="0" dirty="0">
                <a:effectLst/>
                <a:latin typeface="Consolas" panose="020B0609020204030204" pitchFamily="49" charset="0"/>
              </a:rPr>
              <a:t>, (</a:t>
            </a:r>
            <a:r>
              <a:rPr lang="fr-FR" sz="3400" b="0" dirty="0">
                <a:solidFill>
                  <a:srgbClr val="FFA657"/>
                </a:solidFill>
                <a:effectLst/>
                <a:latin typeface="Consolas" panose="020B0609020204030204" pitchFamily="49" charset="0"/>
              </a:rPr>
              <a:t>evt</a:t>
            </a:r>
            <a:r>
              <a:rPr lang="fr-FR" sz="3400" b="0" dirty="0">
                <a:effectLst/>
                <a:latin typeface="Consolas" panose="020B0609020204030204" pitchFamily="49" charset="0"/>
              </a:rPr>
              <a:t>)</a:t>
            </a:r>
            <a:r>
              <a:rPr lang="fr-FR" sz="3400" b="0" dirty="0">
                <a:solidFill>
                  <a:srgbClr val="BBBEBF"/>
                </a:solidFill>
                <a:effectLst/>
                <a:latin typeface="Consolas" panose="020B0609020204030204" pitchFamily="49" charset="0"/>
              </a:rPr>
              <a:t> </a:t>
            </a:r>
            <a:r>
              <a:rPr lang="fr-FR" sz="3400" b="0" dirty="0">
                <a:solidFill>
                  <a:srgbClr val="FF7B72"/>
                </a:solidFill>
                <a:effectLst/>
                <a:latin typeface="Consolas" panose="020B0609020204030204" pitchFamily="49" charset="0"/>
              </a:rPr>
              <a:t>=&gt;</a:t>
            </a:r>
            <a:r>
              <a:rPr lang="fr-FR" sz="3400" b="0" dirty="0">
                <a:solidFill>
                  <a:srgbClr val="BBBEBF"/>
                </a:solidFill>
                <a:effectLst/>
                <a:latin typeface="Consolas" panose="020B0609020204030204" pitchFamily="49" charset="0"/>
              </a:rPr>
              <a:t> </a:t>
            </a:r>
            <a:r>
              <a:rPr lang="fr-FR" sz="3400" b="0" dirty="0">
                <a:effectLst/>
                <a:latin typeface="Consolas" panose="020B0609020204030204" pitchFamily="49" charset="0"/>
              </a:rPr>
              <a:t>{</a:t>
            </a:r>
          </a:p>
          <a:p>
            <a:pPr lvl="2">
              <a:lnSpc>
                <a:spcPts val="1425"/>
              </a:lnSpc>
              <a:buNone/>
            </a:pPr>
            <a:r>
              <a:rPr lang="fr-FR" sz="3400" b="0" dirty="0">
                <a:solidFill>
                  <a:srgbClr val="C9D1D9"/>
                </a:solidFill>
                <a:effectLst/>
                <a:latin typeface="Consolas" panose="020B0609020204030204" pitchFamily="49" charset="0"/>
              </a:rPr>
              <a:t>  </a:t>
            </a:r>
            <a:r>
              <a:rPr lang="fr-FR" sz="3400" b="0" dirty="0">
                <a:solidFill>
                  <a:srgbClr val="C586C0"/>
                </a:solidFill>
                <a:effectLst/>
                <a:latin typeface="Consolas" panose="020B0609020204030204" pitchFamily="49" charset="0"/>
              </a:rPr>
              <a:t>if</a:t>
            </a:r>
            <a:r>
              <a:rPr lang="fr-FR" sz="3400" b="0" dirty="0">
                <a:solidFill>
                  <a:srgbClr val="C9D1D9"/>
                </a:solidFill>
                <a:effectLst/>
                <a:latin typeface="Consolas" panose="020B0609020204030204" pitchFamily="49" charset="0"/>
              </a:rPr>
              <a:t> </a:t>
            </a:r>
            <a:r>
              <a:rPr lang="fr-FR" sz="3400" b="0" dirty="0">
                <a:effectLst/>
                <a:latin typeface="Consolas" panose="020B0609020204030204" pitchFamily="49" charset="0"/>
              </a:rPr>
              <a:t>(</a:t>
            </a:r>
            <a:r>
              <a:rPr lang="fr-FR" sz="3400" b="0" dirty="0">
                <a:solidFill>
                  <a:srgbClr val="FFA657"/>
                </a:solidFill>
                <a:effectLst/>
                <a:latin typeface="Consolas" panose="020B0609020204030204" pitchFamily="49" charset="0"/>
              </a:rPr>
              <a:t>evt</a:t>
            </a:r>
            <a:r>
              <a:rPr lang="fr-FR" sz="3400" b="0" dirty="0">
                <a:effectLst/>
                <a:latin typeface="Consolas" panose="020B0609020204030204" pitchFamily="49" charset="0"/>
              </a:rPr>
              <a:t>.target.</a:t>
            </a:r>
            <a:r>
              <a:rPr lang="fr-FR" sz="3400" b="0" dirty="0">
                <a:solidFill>
                  <a:srgbClr val="D2A8FF"/>
                </a:solidFill>
                <a:effectLst/>
                <a:latin typeface="Consolas" panose="020B0609020204030204" pitchFamily="49" charset="0"/>
              </a:rPr>
              <a:t>checkValidity</a:t>
            </a:r>
            <a:r>
              <a:rPr lang="fr-FR" sz="3400" b="0" dirty="0">
                <a:effectLst/>
                <a:latin typeface="Consolas" panose="020B0609020204030204" pitchFamily="49" charset="0"/>
              </a:rPr>
              <a:t>()) {</a:t>
            </a:r>
          </a:p>
          <a:p>
            <a:pPr lvl="2">
              <a:lnSpc>
                <a:spcPts val="1425"/>
              </a:lnSpc>
              <a:buNone/>
            </a:pPr>
            <a:r>
              <a:rPr lang="fr-FR" sz="3400" b="0" dirty="0">
                <a:solidFill>
                  <a:srgbClr val="C9D1D9"/>
                </a:solidFill>
                <a:effectLst/>
                <a:latin typeface="Consolas" panose="020B0609020204030204" pitchFamily="49" charset="0"/>
              </a:rPr>
              <a:t>    </a:t>
            </a:r>
            <a:r>
              <a:rPr lang="fr-FR" sz="3400" b="0" dirty="0">
                <a:solidFill>
                  <a:srgbClr val="FFA657"/>
                </a:solidFill>
                <a:effectLst/>
                <a:latin typeface="Consolas" panose="020B0609020204030204" pitchFamily="49" charset="0"/>
              </a:rPr>
              <a:t>evt</a:t>
            </a:r>
            <a:r>
              <a:rPr lang="fr-FR" sz="3400" b="0" dirty="0">
                <a:effectLst/>
                <a:latin typeface="Consolas" panose="020B0609020204030204" pitchFamily="49" charset="0"/>
              </a:rPr>
              <a:t>.target.classList.</a:t>
            </a:r>
            <a:r>
              <a:rPr lang="fr-FR" sz="3400" b="0" dirty="0">
                <a:solidFill>
                  <a:srgbClr val="D2A8FF"/>
                </a:solidFill>
                <a:effectLst/>
                <a:latin typeface="Consolas" panose="020B0609020204030204" pitchFamily="49" charset="0"/>
              </a:rPr>
              <a:t>remove</a:t>
            </a:r>
            <a:r>
              <a:rPr lang="fr-FR" sz="3400" b="0" dirty="0">
                <a:effectLst/>
                <a:latin typeface="Consolas" panose="020B0609020204030204" pitchFamily="49" charset="0"/>
              </a:rPr>
              <a:t>(</a:t>
            </a:r>
            <a:r>
              <a:rPr lang="fr-FR" sz="3400" b="0" dirty="0">
                <a:solidFill>
                  <a:srgbClr val="A5D6FF"/>
                </a:solidFill>
                <a:effectLst/>
                <a:latin typeface="Consolas" panose="020B0609020204030204" pitchFamily="49" charset="0"/>
              </a:rPr>
              <a:t>"error"</a:t>
            </a:r>
            <a:r>
              <a:rPr lang="fr-FR" sz="3400" b="0" dirty="0">
                <a:effectLst/>
                <a:latin typeface="Consolas" panose="020B0609020204030204" pitchFamily="49" charset="0"/>
              </a:rPr>
              <a:t>);</a:t>
            </a:r>
            <a:r>
              <a:rPr lang="fr-FR" sz="3400" b="0" dirty="0">
                <a:solidFill>
                  <a:srgbClr val="C9D1D9"/>
                </a:solidFill>
                <a:effectLst/>
                <a:latin typeface="Consolas" panose="020B0609020204030204" pitchFamily="49" charset="0"/>
              </a:rPr>
              <a:t> </a:t>
            </a:r>
            <a:r>
              <a:rPr lang="fr-FR" sz="3400" b="0" dirty="0">
                <a:solidFill>
                  <a:srgbClr val="8B949E"/>
                </a:solidFill>
                <a:effectLst/>
                <a:latin typeface="Consolas" panose="020B0609020204030204" pitchFamily="49" charset="0"/>
              </a:rPr>
              <a:t>// Vert</a:t>
            </a:r>
            <a:endParaRPr lang="fr-FR" sz="3400" b="0" dirty="0">
              <a:solidFill>
                <a:srgbClr val="BBBEBF"/>
              </a:solidFill>
              <a:effectLst/>
              <a:latin typeface="Consolas" panose="020B0609020204030204" pitchFamily="49" charset="0"/>
            </a:endParaRPr>
          </a:p>
          <a:p>
            <a:pPr lvl="2">
              <a:lnSpc>
                <a:spcPts val="1425"/>
              </a:lnSpc>
              <a:buNone/>
            </a:pPr>
            <a:r>
              <a:rPr lang="fr-FR" sz="3400" b="0" dirty="0">
                <a:effectLst/>
                <a:latin typeface="Consolas" panose="020B0609020204030204" pitchFamily="49" charset="0"/>
              </a:rPr>
              <a:t>  }</a:t>
            </a:r>
            <a:r>
              <a:rPr lang="fr-FR" sz="3400" b="0" dirty="0">
                <a:solidFill>
                  <a:srgbClr val="C9D1D9"/>
                </a:solidFill>
                <a:effectLst/>
                <a:latin typeface="Consolas" panose="020B0609020204030204" pitchFamily="49" charset="0"/>
              </a:rPr>
              <a:t> </a:t>
            </a:r>
            <a:r>
              <a:rPr lang="fr-FR" sz="3400" b="0" dirty="0">
                <a:solidFill>
                  <a:srgbClr val="C586C0"/>
                </a:solidFill>
                <a:effectLst/>
                <a:latin typeface="Consolas" panose="020B0609020204030204" pitchFamily="49" charset="0"/>
              </a:rPr>
              <a:t>else</a:t>
            </a:r>
            <a:r>
              <a:rPr lang="fr-FR" sz="3400" b="0" dirty="0">
                <a:solidFill>
                  <a:srgbClr val="C9D1D9"/>
                </a:solidFill>
                <a:effectLst/>
                <a:latin typeface="Consolas" panose="020B0609020204030204" pitchFamily="49" charset="0"/>
              </a:rPr>
              <a:t> </a:t>
            </a:r>
            <a:r>
              <a:rPr lang="fr-FR" sz="3400" b="0" dirty="0">
                <a:effectLst/>
                <a:latin typeface="Consolas" panose="020B0609020204030204" pitchFamily="49" charset="0"/>
              </a:rPr>
              <a:t>{</a:t>
            </a:r>
          </a:p>
          <a:p>
            <a:pPr lvl="2">
              <a:lnSpc>
                <a:spcPts val="1425"/>
              </a:lnSpc>
              <a:buNone/>
            </a:pPr>
            <a:r>
              <a:rPr lang="fr-FR" sz="3400" b="0" dirty="0">
                <a:solidFill>
                  <a:srgbClr val="C9D1D9"/>
                </a:solidFill>
                <a:effectLst/>
                <a:latin typeface="Consolas" panose="020B0609020204030204" pitchFamily="49" charset="0"/>
              </a:rPr>
              <a:t>    </a:t>
            </a:r>
            <a:r>
              <a:rPr lang="fr-FR" sz="3400" b="0" dirty="0">
                <a:solidFill>
                  <a:srgbClr val="FFA657"/>
                </a:solidFill>
                <a:effectLst/>
                <a:latin typeface="Consolas" panose="020B0609020204030204" pitchFamily="49" charset="0"/>
              </a:rPr>
              <a:t>evt</a:t>
            </a:r>
            <a:r>
              <a:rPr lang="fr-FR" sz="3400" b="0" dirty="0">
                <a:effectLst/>
                <a:latin typeface="Consolas" panose="020B0609020204030204" pitchFamily="49" charset="0"/>
              </a:rPr>
              <a:t>.target.classList.</a:t>
            </a:r>
            <a:r>
              <a:rPr lang="fr-FR" sz="3400" b="0" dirty="0">
                <a:solidFill>
                  <a:srgbClr val="D2A8FF"/>
                </a:solidFill>
                <a:effectLst/>
                <a:latin typeface="Consolas" panose="020B0609020204030204" pitchFamily="49" charset="0"/>
              </a:rPr>
              <a:t>add</a:t>
            </a:r>
            <a:r>
              <a:rPr lang="fr-FR" sz="3400" b="0" dirty="0">
                <a:effectLst/>
                <a:latin typeface="Consolas" panose="020B0609020204030204" pitchFamily="49" charset="0"/>
              </a:rPr>
              <a:t>(</a:t>
            </a:r>
            <a:r>
              <a:rPr lang="fr-FR" sz="3400" b="0" dirty="0">
                <a:solidFill>
                  <a:srgbClr val="A5D6FF"/>
                </a:solidFill>
                <a:effectLst/>
                <a:latin typeface="Consolas" panose="020B0609020204030204" pitchFamily="49" charset="0"/>
              </a:rPr>
              <a:t>"error"</a:t>
            </a:r>
            <a:r>
              <a:rPr lang="fr-FR" sz="3400" b="0" dirty="0">
                <a:effectLst/>
                <a:latin typeface="Consolas" panose="020B0609020204030204" pitchFamily="49" charset="0"/>
              </a:rPr>
              <a:t>);</a:t>
            </a:r>
            <a:r>
              <a:rPr lang="fr-FR" sz="3400" b="0" dirty="0">
                <a:solidFill>
                  <a:srgbClr val="C9D1D9"/>
                </a:solidFill>
                <a:effectLst/>
                <a:latin typeface="Consolas" panose="020B0609020204030204" pitchFamily="49" charset="0"/>
              </a:rPr>
              <a:t> </a:t>
            </a:r>
            <a:r>
              <a:rPr lang="fr-FR" sz="3400" b="0" dirty="0">
                <a:solidFill>
                  <a:srgbClr val="8B949E"/>
                </a:solidFill>
                <a:effectLst/>
                <a:latin typeface="Consolas" panose="020B0609020204030204" pitchFamily="49" charset="0"/>
              </a:rPr>
              <a:t>// Rouge</a:t>
            </a:r>
            <a:endParaRPr lang="fr-FR" sz="3400" b="0" dirty="0">
              <a:solidFill>
                <a:srgbClr val="BBBEBF"/>
              </a:solidFill>
              <a:effectLst/>
              <a:latin typeface="Consolas" panose="020B0609020204030204" pitchFamily="49" charset="0"/>
            </a:endParaRPr>
          </a:p>
          <a:p>
            <a:pPr lvl="2">
              <a:lnSpc>
                <a:spcPts val="1425"/>
              </a:lnSpc>
              <a:buNone/>
            </a:pPr>
            <a:r>
              <a:rPr lang="fr-FR" sz="3400" b="0" dirty="0">
                <a:solidFill>
                  <a:srgbClr val="C9D1D9"/>
                </a:solidFill>
                <a:effectLst/>
                <a:latin typeface="Consolas" panose="020B0609020204030204" pitchFamily="49" charset="0"/>
              </a:rPr>
              <a:t>  </a:t>
            </a:r>
            <a:r>
              <a:rPr lang="fr-FR" sz="3400" b="0" dirty="0">
                <a:effectLst/>
                <a:latin typeface="Consolas" panose="020B0609020204030204" pitchFamily="49" charset="0"/>
              </a:rPr>
              <a:t>}</a:t>
            </a:r>
          </a:p>
          <a:p>
            <a:pPr lvl="2">
              <a:lnSpc>
                <a:spcPts val="1425"/>
              </a:lnSpc>
              <a:buNone/>
            </a:pPr>
            <a:r>
              <a:rPr lang="fr-FR" sz="3400" b="0" dirty="0">
                <a:effectLst/>
                <a:latin typeface="Consolas" panose="020B0609020204030204" pitchFamily="49" charset="0"/>
              </a:rPr>
              <a:t>});</a:t>
            </a:r>
          </a:p>
          <a:p>
            <a:pPr>
              <a:lnSpc>
                <a:spcPts val="1425"/>
              </a:lnSpc>
              <a:buNone/>
            </a:pPr>
            <a:br>
              <a:rPr lang="fr-FR" b="0" dirty="0">
                <a:solidFill>
                  <a:srgbClr val="BBBEBF"/>
                </a:solidFill>
                <a:effectLst/>
                <a:latin typeface="Consolas" panose="020B0609020204030204" pitchFamily="49" charset="0"/>
              </a:rPr>
            </a:br>
            <a:endParaRPr lang="fr-FR" b="0" dirty="0">
              <a:solidFill>
                <a:srgbClr val="BBBEBF"/>
              </a:solidFill>
              <a:effectLst/>
              <a:latin typeface="Consolas" panose="020B0609020204030204" pitchFamily="49" charset="0"/>
            </a:endParaRPr>
          </a:p>
          <a:p>
            <a:pPr lvl="2"/>
            <a:endParaRPr lang="fr-FR" dirty="0"/>
          </a:p>
        </p:txBody>
      </p:sp>
    </p:spTree>
    <p:extLst>
      <p:ext uri="{BB962C8B-B14F-4D97-AF65-F5344CB8AC3E}">
        <p14:creationId xmlns:p14="http://schemas.microsoft.com/office/powerpoint/2010/main" val="377898659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8CBAF68-DDE0-6EA6-1F4D-DEB8C9AB500A}"/>
              </a:ext>
            </a:extLst>
          </p:cNvPr>
          <p:cNvSpPr>
            <a:spLocks noGrp="1"/>
          </p:cNvSpPr>
          <p:nvPr>
            <p:ph type="title"/>
          </p:nvPr>
        </p:nvSpPr>
        <p:spPr/>
        <p:txBody>
          <a:bodyPr/>
          <a:lstStyle/>
          <a:p>
            <a:r>
              <a:rPr lang="fr-FR" dirty="0"/>
              <a:t>Validation et Messages</a:t>
            </a:r>
          </a:p>
        </p:txBody>
      </p:sp>
      <p:sp>
        <p:nvSpPr>
          <p:cNvPr id="3" name="Espace réservé du contenu 2">
            <a:extLst>
              <a:ext uri="{FF2B5EF4-FFF2-40B4-BE49-F238E27FC236}">
                <a16:creationId xmlns:a16="http://schemas.microsoft.com/office/drawing/2014/main" id="{FB3D6171-6890-686C-9E0B-2294E3CC684E}"/>
              </a:ext>
            </a:extLst>
          </p:cNvPr>
          <p:cNvSpPr>
            <a:spLocks noGrp="1"/>
          </p:cNvSpPr>
          <p:nvPr>
            <p:ph idx="1"/>
          </p:nvPr>
        </p:nvSpPr>
        <p:spPr/>
        <p:txBody>
          <a:bodyPr>
            <a:normAutofit fontScale="85000" lnSpcReduction="20000"/>
          </a:bodyPr>
          <a:lstStyle/>
          <a:p>
            <a:r>
              <a:rPr lang="fr-FR" dirty="0"/>
              <a:t>La validation peut être vérifier par :</a:t>
            </a:r>
          </a:p>
          <a:p>
            <a:pPr marL="0" indent="0" algn="ctr">
              <a:buNone/>
            </a:pPr>
            <a:r>
              <a:rPr lang="fr-FR" b="1" i="1" dirty="0"/>
              <a:t>elemInput.validity</a:t>
            </a:r>
          </a:p>
          <a:p>
            <a:pPr marL="0" indent="0" algn="ctr">
              <a:buNone/>
            </a:pPr>
            <a:endParaRPr lang="fr-FR" b="1" i="1" dirty="0"/>
          </a:p>
          <a:p>
            <a:r>
              <a:rPr lang="fr-FR" dirty="0"/>
              <a:t>Cet objet de type </a:t>
            </a:r>
            <a:r>
              <a:rPr lang="fr-FR" b="1" i="1" dirty="0"/>
              <a:t>ValidityState, </a:t>
            </a:r>
            <a:r>
              <a:rPr lang="fr-FR" dirty="0"/>
              <a:t>possède autant de champs que de règles de validation possible :</a:t>
            </a:r>
          </a:p>
          <a:p>
            <a:pPr lvl="2"/>
            <a:r>
              <a:rPr lang="fr-FR" dirty="0"/>
              <a:t>badInput, customError, patternMismatch, rangeOverflow, rangeUnderflow, stepMismatch, tooLong, tooShort, typeMismatch, valid, valueMissing</a:t>
            </a:r>
          </a:p>
          <a:p>
            <a:pPr lvl="1"/>
            <a:r>
              <a:rPr lang="fr-FR" dirty="0"/>
              <a:t>Ce champ est mis a jour a chaque caractère saisi</a:t>
            </a:r>
          </a:p>
          <a:p>
            <a:endParaRPr lang="fr-FR" dirty="0"/>
          </a:p>
          <a:p>
            <a:r>
              <a:rPr lang="fr-FR" dirty="0"/>
              <a:t>Le message d’erreur peut être récupérer</a:t>
            </a:r>
          </a:p>
          <a:p>
            <a:pPr lvl="1"/>
            <a:r>
              <a:rPr lang="fr-FR" dirty="0"/>
              <a:t>Ne nécessite pas de </a:t>
            </a:r>
            <a:r>
              <a:rPr lang="fr-FR" b="1" i="1" dirty="0"/>
              <a:t>checkValidity</a:t>
            </a:r>
            <a:r>
              <a:rPr lang="fr-FR" dirty="0"/>
              <a:t> pour avoir le message d’erreur</a:t>
            </a:r>
          </a:p>
          <a:p>
            <a:pPr lvl="2"/>
            <a:r>
              <a:rPr lang="fr-FR" b="1" i="1" dirty="0"/>
              <a:t>elemInput.validationMessage</a:t>
            </a:r>
          </a:p>
          <a:p>
            <a:endParaRPr lang="fr-FR" dirty="0"/>
          </a:p>
        </p:txBody>
      </p:sp>
    </p:spTree>
    <p:extLst>
      <p:ext uri="{BB962C8B-B14F-4D97-AF65-F5344CB8AC3E}">
        <p14:creationId xmlns:p14="http://schemas.microsoft.com/office/powerpoint/2010/main" val="51982566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FA0D673-4DD2-E4D2-B424-FD691B5BB742}"/>
              </a:ext>
            </a:extLst>
          </p:cNvPr>
          <p:cNvSpPr>
            <a:spLocks noGrp="1"/>
          </p:cNvSpPr>
          <p:nvPr>
            <p:ph type="title"/>
          </p:nvPr>
        </p:nvSpPr>
        <p:spPr/>
        <p:txBody>
          <a:bodyPr/>
          <a:lstStyle/>
          <a:p>
            <a:r>
              <a:rPr lang="fr-FR" dirty="0"/>
              <a:t>Input et validation</a:t>
            </a:r>
          </a:p>
        </p:txBody>
      </p:sp>
      <p:sp>
        <p:nvSpPr>
          <p:cNvPr id="3" name="Espace réservé du contenu 2">
            <a:extLst>
              <a:ext uri="{FF2B5EF4-FFF2-40B4-BE49-F238E27FC236}">
                <a16:creationId xmlns:a16="http://schemas.microsoft.com/office/drawing/2014/main" id="{649AE66D-AE12-EBAC-7F34-7BDAE5EF5BDC}"/>
              </a:ext>
            </a:extLst>
          </p:cNvPr>
          <p:cNvSpPr>
            <a:spLocks noGrp="1"/>
          </p:cNvSpPr>
          <p:nvPr>
            <p:ph idx="1"/>
          </p:nvPr>
        </p:nvSpPr>
        <p:spPr/>
        <p:txBody>
          <a:bodyPr/>
          <a:lstStyle/>
          <a:p>
            <a:r>
              <a:rPr lang="fr-FR" dirty="0"/>
              <a:t>Les inputs possèdent des méthodes de validation interne</a:t>
            </a:r>
          </a:p>
          <a:p>
            <a:pPr lvl="2"/>
            <a:endParaRPr lang="fr-FR" dirty="0"/>
          </a:p>
          <a:p>
            <a:pPr lvl="2"/>
            <a:r>
              <a:rPr lang="fr-FR" dirty="0"/>
              <a:t>Types : number, email, tel, color, date, dateTime, …</a:t>
            </a:r>
          </a:p>
          <a:p>
            <a:pPr lvl="2"/>
            <a:endParaRPr lang="fr-FR" dirty="0"/>
          </a:p>
          <a:p>
            <a:pPr lvl="2"/>
            <a:r>
              <a:rPr lang="fr-FR" dirty="0"/>
              <a:t>Attributs : </a:t>
            </a:r>
          </a:p>
          <a:p>
            <a:pPr lvl="3"/>
            <a:r>
              <a:rPr lang="fr-FR" dirty="0"/>
              <a:t>All : minLength, length, maxLength, required</a:t>
            </a:r>
          </a:p>
          <a:p>
            <a:pPr lvl="3"/>
            <a:r>
              <a:rPr lang="fr-FR" dirty="0"/>
              <a:t>Number : min, max</a:t>
            </a:r>
          </a:p>
          <a:p>
            <a:pPr lvl="3"/>
            <a:r>
              <a:rPr lang="fr-FR" dirty="0"/>
              <a:t>Texte :Pattern</a:t>
            </a:r>
          </a:p>
          <a:p>
            <a:pPr lvl="4"/>
            <a:r>
              <a:rPr lang="fr-FR" dirty="0"/>
              <a:t>Permet la validation par regex</a:t>
            </a:r>
          </a:p>
        </p:txBody>
      </p:sp>
    </p:spTree>
    <p:extLst>
      <p:ext uri="{BB962C8B-B14F-4D97-AF65-F5344CB8AC3E}">
        <p14:creationId xmlns:p14="http://schemas.microsoft.com/office/powerpoint/2010/main" val="230964797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CE796E-709A-3112-EB26-325D707F23F6}"/>
              </a:ext>
            </a:extLst>
          </p:cNvPr>
          <p:cNvSpPr>
            <a:spLocks noGrp="1"/>
          </p:cNvSpPr>
          <p:nvPr>
            <p:ph type="title"/>
          </p:nvPr>
        </p:nvSpPr>
        <p:spPr/>
        <p:txBody>
          <a:bodyPr/>
          <a:lstStyle/>
          <a:p>
            <a:r>
              <a:rPr lang="fr-FR" dirty="0"/>
              <a:t>9.Données coté client</a:t>
            </a:r>
          </a:p>
        </p:txBody>
      </p:sp>
      <p:sp>
        <p:nvSpPr>
          <p:cNvPr id="3" name="Espace réservé du texte 2">
            <a:extLst>
              <a:ext uri="{FF2B5EF4-FFF2-40B4-BE49-F238E27FC236}">
                <a16:creationId xmlns:a16="http://schemas.microsoft.com/office/drawing/2014/main" id="{7832BC7C-9104-EA65-E8AA-69FA6950A81A}"/>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57079106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D6F5A5BC-55DD-551D-CA1B-51E11FEF7A01}"/>
              </a:ext>
            </a:extLst>
          </p:cNvPr>
          <p:cNvSpPr>
            <a:spLocks noGrp="1"/>
          </p:cNvSpPr>
          <p:nvPr>
            <p:ph type="title"/>
          </p:nvPr>
        </p:nvSpPr>
        <p:spPr/>
        <p:txBody>
          <a:bodyPr/>
          <a:lstStyle/>
          <a:p>
            <a:r>
              <a:rPr lang="fr-FR" dirty="0"/>
              <a:t>WEBAPI storage</a:t>
            </a:r>
          </a:p>
        </p:txBody>
      </p:sp>
      <p:sp>
        <p:nvSpPr>
          <p:cNvPr id="5" name="Espace réservé du contenu 4">
            <a:extLst>
              <a:ext uri="{FF2B5EF4-FFF2-40B4-BE49-F238E27FC236}">
                <a16:creationId xmlns:a16="http://schemas.microsoft.com/office/drawing/2014/main" id="{3EADC71B-269E-5CE1-9E7A-51EC8D865CDD}"/>
              </a:ext>
            </a:extLst>
          </p:cNvPr>
          <p:cNvSpPr>
            <a:spLocks noGrp="1"/>
          </p:cNvSpPr>
          <p:nvPr>
            <p:ph idx="1"/>
          </p:nvPr>
        </p:nvSpPr>
        <p:spPr/>
        <p:txBody>
          <a:bodyPr/>
          <a:lstStyle/>
          <a:p>
            <a:r>
              <a:rPr lang="fr-FR" dirty="0"/>
              <a:t>Le navigateur vous propose plusieurs possibilités de stockage de données dans le navigateur</a:t>
            </a:r>
          </a:p>
          <a:p>
            <a:pPr lvl="2"/>
            <a:endParaRPr lang="fr-FR" dirty="0"/>
          </a:p>
          <a:p>
            <a:pPr lvl="2"/>
            <a:r>
              <a:rPr lang="fr-FR" dirty="0"/>
              <a:t>SessionStorage</a:t>
            </a:r>
          </a:p>
          <a:p>
            <a:pPr lvl="2"/>
            <a:r>
              <a:rPr lang="fr-FR" dirty="0"/>
              <a:t>Localstorage</a:t>
            </a:r>
          </a:p>
          <a:p>
            <a:pPr lvl="2"/>
            <a:r>
              <a:rPr lang="fr-FR" dirty="0"/>
              <a:t>Cookies</a:t>
            </a:r>
          </a:p>
          <a:p>
            <a:pPr lvl="2"/>
            <a:r>
              <a:rPr lang="fr-FR" dirty="0"/>
              <a:t>Base indexedDB</a:t>
            </a:r>
          </a:p>
          <a:p>
            <a:pPr lvl="2"/>
            <a:r>
              <a:rPr lang="fr-FR" dirty="0"/>
              <a:t>Websql (déprécié et disparu des navigateurs)</a:t>
            </a:r>
          </a:p>
          <a:p>
            <a:pPr lvl="1"/>
            <a:endParaRPr lang="fr-FR" dirty="0"/>
          </a:p>
          <a:p>
            <a:pPr lvl="1"/>
            <a:r>
              <a:rPr lang="fr-FR" dirty="0"/>
              <a:t>Chacun est dédié un usage spécifique</a:t>
            </a:r>
          </a:p>
        </p:txBody>
      </p:sp>
    </p:spTree>
    <p:extLst>
      <p:ext uri="{BB962C8B-B14F-4D97-AF65-F5344CB8AC3E}">
        <p14:creationId xmlns:p14="http://schemas.microsoft.com/office/powerpoint/2010/main" val="256420017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8F878B6-D0E9-759E-E1A2-60509E3FD0C4}"/>
              </a:ext>
            </a:extLst>
          </p:cNvPr>
          <p:cNvSpPr>
            <a:spLocks noGrp="1"/>
          </p:cNvSpPr>
          <p:nvPr>
            <p:ph type="title"/>
          </p:nvPr>
        </p:nvSpPr>
        <p:spPr/>
        <p:txBody>
          <a:bodyPr/>
          <a:lstStyle/>
          <a:p>
            <a:r>
              <a:rPr lang="fr-FR" dirty="0"/>
              <a:t>Usage des API de persistances</a:t>
            </a:r>
          </a:p>
        </p:txBody>
      </p:sp>
      <p:sp>
        <p:nvSpPr>
          <p:cNvPr id="3" name="Espace réservé du contenu 2">
            <a:extLst>
              <a:ext uri="{FF2B5EF4-FFF2-40B4-BE49-F238E27FC236}">
                <a16:creationId xmlns:a16="http://schemas.microsoft.com/office/drawing/2014/main" id="{02CCE032-B7E1-1A34-B700-A0DDB149111E}"/>
              </a:ext>
            </a:extLst>
          </p:cNvPr>
          <p:cNvSpPr>
            <a:spLocks noGrp="1"/>
          </p:cNvSpPr>
          <p:nvPr>
            <p:ph idx="1"/>
          </p:nvPr>
        </p:nvSpPr>
        <p:spPr/>
        <p:txBody>
          <a:bodyPr>
            <a:normAutofit fontScale="92500" lnSpcReduction="10000"/>
          </a:bodyPr>
          <a:lstStyle/>
          <a:p>
            <a:r>
              <a:rPr lang="fr-FR" sz="2400" dirty="0"/>
              <a:t>Cookies</a:t>
            </a:r>
          </a:p>
          <a:p>
            <a:pPr lvl="1"/>
            <a:r>
              <a:rPr lang="fr-FR" sz="2000" dirty="0"/>
              <a:t>Stocke des clefs ou des token de session</a:t>
            </a:r>
          </a:p>
          <a:p>
            <a:pPr lvl="2"/>
            <a:r>
              <a:rPr lang="fr-FR" sz="1600" dirty="0"/>
              <a:t>Sécurité : </a:t>
            </a:r>
          </a:p>
          <a:p>
            <a:pPr lvl="3"/>
            <a:r>
              <a:rPr lang="fr-FR" sz="1400" dirty="0"/>
              <a:t>Accès commun</a:t>
            </a:r>
          </a:p>
          <a:p>
            <a:pPr lvl="3"/>
            <a:r>
              <a:rPr lang="fr-FR" sz="1400" dirty="0"/>
              <a:t>Accessible a tous</a:t>
            </a:r>
            <a:endParaRPr lang="fr-FR" sz="1600" dirty="0"/>
          </a:p>
          <a:p>
            <a:pPr lvl="1"/>
            <a:endParaRPr lang="fr-FR" sz="2000" dirty="0"/>
          </a:p>
          <a:p>
            <a:r>
              <a:rPr lang="fr-FR" sz="2400" dirty="0"/>
              <a:t>Localstorage</a:t>
            </a:r>
          </a:p>
          <a:p>
            <a:pPr lvl="1"/>
            <a:r>
              <a:rPr lang="fr-FR" sz="2000" dirty="0"/>
              <a:t>Stocke des contenues pour assuré la persistance des datas d’une application et ou la mise en cache de données pour une présence a la réouverture</a:t>
            </a:r>
          </a:p>
          <a:p>
            <a:pPr lvl="2"/>
            <a:r>
              <a:rPr lang="fr-FR" sz="1600" dirty="0"/>
              <a:t>Sécurité : </a:t>
            </a:r>
          </a:p>
          <a:p>
            <a:pPr lvl="3"/>
            <a:r>
              <a:rPr lang="fr-FR" sz="1400" dirty="0"/>
              <a:t>Accès limité</a:t>
            </a:r>
          </a:p>
          <a:p>
            <a:pPr lvl="3"/>
            <a:r>
              <a:rPr lang="fr-FR" sz="1400" dirty="0"/>
              <a:t>Accessible uniquement dans l’app</a:t>
            </a:r>
          </a:p>
          <a:p>
            <a:pPr lvl="3"/>
            <a:endParaRPr lang="fr-FR" sz="1400" dirty="0"/>
          </a:p>
          <a:p>
            <a:r>
              <a:rPr lang="fr-FR" sz="2400" dirty="0"/>
              <a:t>SessionStorage</a:t>
            </a:r>
          </a:p>
          <a:p>
            <a:pPr lvl="1"/>
            <a:r>
              <a:rPr lang="fr-FR" sz="2000" dirty="0"/>
              <a:t>Comme le localStorage mais sans persistance, pour la mise en cache ou le stockage de données le temps de la durée de vie de l’app dans le navigateur</a:t>
            </a:r>
          </a:p>
          <a:p>
            <a:pPr lvl="2"/>
            <a:r>
              <a:rPr lang="fr-FR" sz="1600" dirty="0"/>
              <a:t>Sécurité : </a:t>
            </a:r>
          </a:p>
          <a:p>
            <a:pPr lvl="3"/>
            <a:r>
              <a:rPr lang="fr-FR" sz="1400" dirty="0"/>
              <a:t>Accès limité</a:t>
            </a:r>
          </a:p>
          <a:p>
            <a:pPr lvl="3"/>
            <a:r>
              <a:rPr lang="fr-FR" sz="1400" dirty="0"/>
              <a:t>Accessible uniquement dans l’app</a:t>
            </a:r>
          </a:p>
        </p:txBody>
      </p:sp>
    </p:spTree>
    <p:extLst>
      <p:ext uri="{BB962C8B-B14F-4D97-AF65-F5344CB8AC3E}">
        <p14:creationId xmlns:p14="http://schemas.microsoft.com/office/powerpoint/2010/main" val="66672844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7F9CD7-ECFF-4806-97DB-82F3E5578704}"/>
              </a:ext>
            </a:extLst>
          </p:cNvPr>
          <p:cNvSpPr>
            <a:spLocks noGrp="1"/>
          </p:cNvSpPr>
          <p:nvPr>
            <p:ph type="title"/>
          </p:nvPr>
        </p:nvSpPr>
        <p:spPr/>
        <p:txBody>
          <a:bodyPr/>
          <a:lstStyle/>
          <a:p>
            <a:r>
              <a:rPr lang="fr-FR" dirty="0"/>
              <a:t>localstorage</a:t>
            </a:r>
          </a:p>
        </p:txBody>
      </p:sp>
      <p:sp>
        <p:nvSpPr>
          <p:cNvPr id="3" name="Espace réservé du contenu 2">
            <a:extLst>
              <a:ext uri="{FF2B5EF4-FFF2-40B4-BE49-F238E27FC236}">
                <a16:creationId xmlns:a16="http://schemas.microsoft.com/office/drawing/2014/main" id="{A61FEAFD-F031-4302-ACFF-6F58D743AFF1}"/>
              </a:ext>
            </a:extLst>
          </p:cNvPr>
          <p:cNvSpPr>
            <a:spLocks noGrp="1"/>
          </p:cNvSpPr>
          <p:nvPr>
            <p:ph idx="1"/>
          </p:nvPr>
        </p:nvSpPr>
        <p:spPr/>
        <p:txBody>
          <a:bodyPr>
            <a:normAutofit fontScale="92500" lnSpcReduction="10000"/>
          </a:bodyPr>
          <a:lstStyle/>
          <a:p>
            <a:r>
              <a:rPr lang="fr-FR" dirty="0"/>
              <a:t>Un stockage persistant dans le navigateur</a:t>
            </a:r>
          </a:p>
          <a:p>
            <a:r>
              <a:rPr lang="fr-FR" dirty="0"/>
              <a:t>Accès limité a l’application </a:t>
            </a:r>
          </a:p>
          <a:p>
            <a:pPr marL="0" indent="0">
              <a:buNone/>
            </a:pPr>
            <a:r>
              <a:rPr lang="fr-FR" dirty="0"/>
              <a:t>web l’ayant créé</a:t>
            </a:r>
          </a:p>
          <a:p>
            <a:r>
              <a:rPr lang="fr-FR" dirty="0"/>
              <a:t>Un couple propriété / valeurs</a:t>
            </a:r>
          </a:p>
          <a:p>
            <a:pPr lvl="1"/>
            <a:r>
              <a:rPr lang="fr-FR" dirty="0"/>
              <a:t>setItem</a:t>
            </a:r>
          </a:p>
          <a:p>
            <a:pPr marL="457200" lvl="1" indent="0" algn="ctr">
              <a:buNone/>
            </a:pPr>
            <a:r>
              <a:rPr lang="fr-FR" sz="2400" b="0" dirty="0">
                <a:solidFill>
                  <a:srgbClr val="E06C75"/>
                </a:solidFill>
                <a:effectLst/>
                <a:latin typeface="Consolas" panose="020B0609020204030204" pitchFamily="49" charset="0"/>
              </a:rPr>
              <a:t>localStorage</a:t>
            </a:r>
            <a:r>
              <a:rPr lang="fr-FR" sz="2400" b="0" dirty="0">
                <a:solidFill>
                  <a:srgbClr val="ABB2BF"/>
                </a:solidFill>
                <a:effectLst/>
                <a:latin typeface="Consolas" panose="020B0609020204030204" pitchFamily="49" charset="0"/>
              </a:rPr>
              <a:t>.</a:t>
            </a:r>
            <a:r>
              <a:rPr lang="fr-FR" sz="2400" b="0" dirty="0">
                <a:solidFill>
                  <a:srgbClr val="61AFEF"/>
                </a:solidFill>
                <a:effectLst/>
                <a:latin typeface="Consolas" panose="020B0609020204030204" pitchFamily="49" charset="0"/>
              </a:rPr>
              <a:t>setItem</a:t>
            </a:r>
            <a:r>
              <a:rPr lang="fr-FR" sz="2400" b="0" dirty="0">
                <a:solidFill>
                  <a:srgbClr val="ABB2BF"/>
                </a:solidFill>
                <a:effectLst/>
                <a:latin typeface="Consolas" panose="020B0609020204030204" pitchFamily="49" charset="0"/>
              </a:rPr>
              <a:t>(</a:t>
            </a:r>
            <a:r>
              <a:rPr lang="fr-FR" sz="2400" b="0" dirty="0">
                <a:solidFill>
                  <a:srgbClr val="98C379"/>
                </a:solidFill>
                <a:effectLst/>
                <a:latin typeface="Consolas" panose="020B0609020204030204" pitchFamily="49" charset="0"/>
              </a:rPr>
              <a:t>'monChat'</a:t>
            </a:r>
            <a:r>
              <a:rPr lang="fr-FR" sz="2400" b="0" dirty="0">
                <a:solidFill>
                  <a:srgbClr val="ABB2BF"/>
                </a:solidFill>
                <a:effectLst/>
                <a:latin typeface="Consolas" panose="020B0609020204030204" pitchFamily="49" charset="0"/>
              </a:rPr>
              <a:t>, </a:t>
            </a:r>
            <a:r>
              <a:rPr lang="fr-FR" sz="2400" b="0" dirty="0">
                <a:solidFill>
                  <a:srgbClr val="98C379"/>
                </a:solidFill>
                <a:effectLst/>
                <a:latin typeface="Consolas" panose="020B0609020204030204" pitchFamily="49" charset="0"/>
              </a:rPr>
              <a:t>'Tom'</a:t>
            </a:r>
            <a:r>
              <a:rPr lang="fr-FR" sz="2400" b="0" dirty="0">
                <a:solidFill>
                  <a:srgbClr val="ABB2BF"/>
                </a:solidFill>
                <a:effectLst/>
                <a:latin typeface="Consolas" panose="020B0609020204030204" pitchFamily="49" charset="0"/>
              </a:rPr>
              <a:t>);</a:t>
            </a:r>
            <a:endParaRPr lang="fr-FR" sz="2400" dirty="0"/>
          </a:p>
          <a:p>
            <a:pPr lvl="1"/>
            <a:r>
              <a:rPr lang="fr-FR" dirty="0"/>
              <a:t>getItem</a:t>
            </a:r>
          </a:p>
          <a:p>
            <a:pPr marL="457200" lvl="1" indent="0" algn="ctr">
              <a:buNone/>
            </a:pPr>
            <a:r>
              <a:rPr lang="fr-FR" sz="2400" b="0" dirty="0">
                <a:solidFill>
                  <a:srgbClr val="C678DD"/>
                </a:solidFill>
                <a:effectLst/>
                <a:latin typeface="Consolas" panose="020B0609020204030204" pitchFamily="49" charset="0"/>
              </a:rPr>
              <a:t>var</a:t>
            </a:r>
            <a:r>
              <a:rPr lang="fr-FR" sz="2400" b="0" dirty="0">
                <a:solidFill>
                  <a:srgbClr val="ABB2BF"/>
                </a:solidFill>
                <a:effectLst/>
                <a:latin typeface="Consolas" panose="020B0609020204030204" pitchFamily="49" charset="0"/>
              </a:rPr>
              <a:t> </a:t>
            </a:r>
            <a:r>
              <a:rPr lang="fr-FR" sz="2400" b="0" dirty="0">
                <a:solidFill>
                  <a:srgbClr val="E06C75"/>
                </a:solidFill>
                <a:effectLst/>
                <a:latin typeface="Consolas" panose="020B0609020204030204" pitchFamily="49" charset="0"/>
              </a:rPr>
              <a:t>cat</a:t>
            </a:r>
            <a:r>
              <a:rPr lang="fr-FR" sz="2400" b="0" dirty="0">
                <a:solidFill>
                  <a:srgbClr val="ABB2BF"/>
                </a:solidFill>
                <a:effectLst/>
                <a:latin typeface="Consolas" panose="020B0609020204030204" pitchFamily="49" charset="0"/>
              </a:rPr>
              <a:t> </a:t>
            </a:r>
            <a:r>
              <a:rPr lang="fr-FR" sz="2400" b="0" dirty="0">
                <a:solidFill>
                  <a:srgbClr val="56B6C2"/>
                </a:solidFill>
                <a:effectLst/>
                <a:latin typeface="Consolas" panose="020B0609020204030204" pitchFamily="49" charset="0"/>
              </a:rPr>
              <a:t>=</a:t>
            </a:r>
            <a:r>
              <a:rPr lang="fr-FR" sz="2400" b="0" dirty="0">
                <a:solidFill>
                  <a:srgbClr val="E06C75"/>
                </a:solidFill>
                <a:effectLst/>
                <a:latin typeface="Consolas" panose="020B0609020204030204" pitchFamily="49" charset="0"/>
              </a:rPr>
              <a:t> localStorage</a:t>
            </a:r>
            <a:r>
              <a:rPr lang="fr-FR" sz="2400" b="0" dirty="0">
                <a:solidFill>
                  <a:srgbClr val="ABB2BF"/>
                </a:solidFill>
                <a:effectLst/>
                <a:latin typeface="Consolas" panose="020B0609020204030204" pitchFamily="49" charset="0"/>
              </a:rPr>
              <a:t>.</a:t>
            </a:r>
            <a:r>
              <a:rPr lang="fr-FR" sz="2400" b="0" dirty="0">
                <a:solidFill>
                  <a:srgbClr val="61AFEF"/>
                </a:solidFill>
                <a:effectLst/>
                <a:latin typeface="Consolas" panose="020B0609020204030204" pitchFamily="49" charset="0"/>
              </a:rPr>
              <a:t>getItem</a:t>
            </a:r>
            <a:r>
              <a:rPr lang="fr-FR" sz="2400" b="0" dirty="0">
                <a:solidFill>
                  <a:srgbClr val="ABB2BF"/>
                </a:solidFill>
                <a:effectLst/>
                <a:latin typeface="Consolas" panose="020B0609020204030204" pitchFamily="49" charset="0"/>
              </a:rPr>
              <a:t>(</a:t>
            </a:r>
            <a:r>
              <a:rPr lang="fr-FR" sz="2400" b="0" dirty="0">
                <a:solidFill>
                  <a:srgbClr val="98C379"/>
                </a:solidFill>
                <a:effectLst/>
                <a:latin typeface="Consolas" panose="020B0609020204030204" pitchFamily="49" charset="0"/>
              </a:rPr>
              <a:t>'monChat'</a:t>
            </a:r>
            <a:r>
              <a:rPr lang="fr-FR" sz="2400" b="0" dirty="0">
                <a:solidFill>
                  <a:srgbClr val="ABB2BF"/>
                </a:solidFill>
                <a:effectLst/>
                <a:latin typeface="Consolas" panose="020B0609020204030204" pitchFamily="49" charset="0"/>
              </a:rPr>
              <a:t>);</a:t>
            </a:r>
            <a:endParaRPr lang="fr-FR" dirty="0"/>
          </a:p>
          <a:p>
            <a:pPr lvl="1"/>
            <a:r>
              <a:rPr lang="fr-FR" dirty="0"/>
              <a:t>removeItem</a:t>
            </a:r>
          </a:p>
          <a:p>
            <a:pPr marL="457200" lvl="1" indent="0" algn="ctr">
              <a:buNone/>
            </a:pPr>
            <a:r>
              <a:rPr lang="fr-FR" sz="2400" b="0" dirty="0">
                <a:solidFill>
                  <a:srgbClr val="E06C75"/>
                </a:solidFill>
                <a:effectLst/>
                <a:latin typeface="Consolas" panose="020B0609020204030204" pitchFamily="49" charset="0"/>
              </a:rPr>
              <a:t>localStorage</a:t>
            </a:r>
            <a:r>
              <a:rPr lang="fr-FR" sz="2400" b="0" dirty="0">
                <a:solidFill>
                  <a:srgbClr val="ABB2BF"/>
                </a:solidFill>
                <a:effectLst/>
                <a:latin typeface="Consolas" panose="020B0609020204030204" pitchFamily="49" charset="0"/>
              </a:rPr>
              <a:t>.</a:t>
            </a:r>
            <a:r>
              <a:rPr lang="fr-FR" sz="2400" b="0" dirty="0">
                <a:solidFill>
                  <a:srgbClr val="61AFEF"/>
                </a:solidFill>
                <a:effectLst/>
                <a:latin typeface="Consolas" panose="020B0609020204030204" pitchFamily="49" charset="0"/>
              </a:rPr>
              <a:t>removeItem</a:t>
            </a:r>
            <a:r>
              <a:rPr lang="fr-FR" sz="2400" b="0" dirty="0">
                <a:solidFill>
                  <a:srgbClr val="ABB2BF"/>
                </a:solidFill>
                <a:effectLst/>
                <a:latin typeface="Consolas" panose="020B0609020204030204" pitchFamily="49" charset="0"/>
              </a:rPr>
              <a:t>(</a:t>
            </a:r>
            <a:r>
              <a:rPr lang="fr-FR" sz="2400" b="0" dirty="0">
                <a:solidFill>
                  <a:srgbClr val="98C379"/>
                </a:solidFill>
                <a:effectLst/>
                <a:latin typeface="Consolas" panose="020B0609020204030204" pitchFamily="49" charset="0"/>
              </a:rPr>
              <a:t>'monChat'</a:t>
            </a:r>
            <a:r>
              <a:rPr lang="fr-FR" sz="2400" b="0" dirty="0">
                <a:solidFill>
                  <a:srgbClr val="ABB2BF"/>
                </a:solidFill>
                <a:effectLst/>
                <a:latin typeface="Consolas" panose="020B0609020204030204" pitchFamily="49" charset="0"/>
              </a:rPr>
              <a:t>);</a:t>
            </a:r>
            <a:endParaRPr lang="fr-FR" sz="2400" dirty="0"/>
          </a:p>
          <a:p>
            <a:pPr lvl="1"/>
            <a:r>
              <a:rPr lang="fr-FR" dirty="0"/>
              <a:t>Clear</a:t>
            </a:r>
          </a:p>
          <a:p>
            <a:pPr marL="457200" lvl="1" indent="0" algn="ctr">
              <a:buNone/>
            </a:pPr>
            <a:r>
              <a:rPr lang="fr-FR" sz="2400" b="0" dirty="0">
                <a:solidFill>
                  <a:srgbClr val="E06C75"/>
                </a:solidFill>
                <a:effectLst/>
                <a:latin typeface="Consolas" panose="020B0609020204030204" pitchFamily="49" charset="0"/>
              </a:rPr>
              <a:t>localStorage</a:t>
            </a:r>
            <a:r>
              <a:rPr lang="fr-FR" sz="2400" b="0" dirty="0">
                <a:solidFill>
                  <a:srgbClr val="ABB2BF"/>
                </a:solidFill>
                <a:effectLst/>
                <a:latin typeface="Consolas" panose="020B0609020204030204" pitchFamily="49" charset="0"/>
              </a:rPr>
              <a:t>.</a:t>
            </a:r>
            <a:r>
              <a:rPr lang="fr-FR" sz="2400" b="0" dirty="0">
                <a:solidFill>
                  <a:srgbClr val="61AFEF"/>
                </a:solidFill>
                <a:effectLst/>
                <a:latin typeface="Consolas" panose="020B0609020204030204" pitchFamily="49" charset="0"/>
              </a:rPr>
              <a:t>clear</a:t>
            </a:r>
            <a:r>
              <a:rPr lang="fr-FR" sz="2400" b="0" dirty="0">
                <a:solidFill>
                  <a:srgbClr val="ABB2BF"/>
                </a:solidFill>
                <a:effectLst/>
                <a:latin typeface="Consolas" panose="020B0609020204030204" pitchFamily="49" charset="0"/>
              </a:rPr>
              <a:t>();</a:t>
            </a:r>
          </a:p>
          <a:p>
            <a:pPr lvl="1"/>
            <a:endParaRPr lang="fr-FR" dirty="0"/>
          </a:p>
        </p:txBody>
      </p:sp>
      <p:pic>
        <p:nvPicPr>
          <p:cNvPr id="5" name="Image 4">
            <a:extLst>
              <a:ext uri="{FF2B5EF4-FFF2-40B4-BE49-F238E27FC236}">
                <a16:creationId xmlns:a16="http://schemas.microsoft.com/office/drawing/2014/main" id="{065D8DF2-8645-42D2-80EC-850E2BCB514B}"/>
              </a:ext>
            </a:extLst>
          </p:cNvPr>
          <p:cNvPicPr>
            <a:picLocks noChangeAspect="1"/>
          </p:cNvPicPr>
          <p:nvPr/>
        </p:nvPicPr>
        <p:blipFill>
          <a:blip r:embed="rId3" cstate="print"/>
          <a:stretch>
            <a:fillRect/>
          </a:stretch>
        </p:blipFill>
        <p:spPr>
          <a:xfrm>
            <a:off x="5364088" y="1700808"/>
            <a:ext cx="3087072" cy="978680"/>
          </a:xfrm>
          <a:prstGeom prst="rect">
            <a:avLst/>
          </a:prstGeom>
        </p:spPr>
      </p:pic>
    </p:spTree>
    <p:extLst>
      <p:ext uri="{BB962C8B-B14F-4D97-AF65-F5344CB8AC3E}">
        <p14:creationId xmlns:p14="http://schemas.microsoft.com/office/powerpoint/2010/main" val="191220757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A4116DA-799A-5692-131C-3AEDB4FF9E35}"/>
              </a:ext>
            </a:extLst>
          </p:cNvPr>
          <p:cNvSpPr>
            <a:spLocks noGrp="1"/>
          </p:cNvSpPr>
          <p:nvPr>
            <p:ph type="title"/>
          </p:nvPr>
        </p:nvSpPr>
        <p:spPr/>
        <p:txBody>
          <a:bodyPr/>
          <a:lstStyle/>
          <a:p>
            <a:r>
              <a:rPr lang="fr-FR" dirty="0"/>
              <a:t>Session storage</a:t>
            </a:r>
          </a:p>
        </p:txBody>
      </p:sp>
      <p:sp>
        <p:nvSpPr>
          <p:cNvPr id="3" name="Espace réservé du contenu 2">
            <a:extLst>
              <a:ext uri="{FF2B5EF4-FFF2-40B4-BE49-F238E27FC236}">
                <a16:creationId xmlns:a16="http://schemas.microsoft.com/office/drawing/2014/main" id="{859E3698-7260-BB72-37B2-93DDF7411C2B}"/>
              </a:ext>
            </a:extLst>
          </p:cNvPr>
          <p:cNvSpPr>
            <a:spLocks noGrp="1"/>
          </p:cNvSpPr>
          <p:nvPr>
            <p:ph idx="1"/>
          </p:nvPr>
        </p:nvSpPr>
        <p:spPr/>
        <p:txBody>
          <a:bodyPr/>
          <a:lstStyle/>
          <a:p>
            <a:r>
              <a:rPr lang="fr-FR" dirty="0"/>
              <a:t>LocalStorage et sessionStorage fonctionnent exactement pareil</a:t>
            </a:r>
          </a:p>
          <a:p>
            <a:r>
              <a:rPr lang="fr-FR" dirty="0"/>
              <a:t>La seul différence réside dans la persistance de la data</a:t>
            </a:r>
          </a:p>
          <a:p>
            <a:pPr lvl="2"/>
            <a:r>
              <a:rPr lang="fr-FR" dirty="0"/>
              <a:t>localStorage</a:t>
            </a:r>
          </a:p>
          <a:p>
            <a:pPr lvl="4"/>
            <a:r>
              <a:rPr lang="fr-FR" dirty="0"/>
              <a:t>Persistance complète même après fermeture du navigateur</a:t>
            </a:r>
          </a:p>
          <a:p>
            <a:pPr lvl="4"/>
            <a:r>
              <a:rPr lang="fr-FR" dirty="0"/>
              <a:t>Destruction à assurer dans le code</a:t>
            </a:r>
          </a:p>
          <a:p>
            <a:pPr lvl="2"/>
            <a:r>
              <a:rPr lang="fr-FR" dirty="0"/>
              <a:t>sessionStorage</a:t>
            </a:r>
          </a:p>
          <a:p>
            <a:pPr lvl="4"/>
            <a:r>
              <a:rPr lang="fr-FR" dirty="0"/>
              <a:t>Persistance limitée a la session</a:t>
            </a:r>
          </a:p>
          <a:p>
            <a:pPr lvl="4"/>
            <a:r>
              <a:rPr lang="fr-FR" dirty="0"/>
              <a:t>Destruction automatique des données lors de la fermeture du dernière onglet de l’application web</a:t>
            </a:r>
          </a:p>
        </p:txBody>
      </p:sp>
    </p:spTree>
    <p:extLst>
      <p:ext uri="{BB962C8B-B14F-4D97-AF65-F5344CB8AC3E}">
        <p14:creationId xmlns:p14="http://schemas.microsoft.com/office/powerpoint/2010/main" val="278244594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Cookies</a:t>
            </a:r>
          </a:p>
        </p:txBody>
      </p:sp>
      <p:sp>
        <p:nvSpPr>
          <p:cNvPr id="3" name="Espace réservé du contenu 2"/>
          <p:cNvSpPr>
            <a:spLocks noGrp="1"/>
          </p:cNvSpPr>
          <p:nvPr>
            <p:ph idx="1"/>
          </p:nvPr>
        </p:nvSpPr>
        <p:spPr>
          <a:xfrm>
            <a:off x="285720" y="1124744"/>
            <a:ext cx="8572560" cy="5286412"/>
          </a:xfrm>
        </p:spPr>
        <p:txBody>
          <a:bodyPr>
            <a:normAutofit fontScale="85000" lnSpcReduction="20000"/>
          </a:bodyPr>
          <a:lstStyle/>
          <a:p>
            <a:r>
              <a:rPr lang="fr-FR" dirty="0"/>
              <a:t>Propriété de </a:t>
            </a:r>
            <a:r>
              <a:rPr lang="fr-FR" i="1" dirty="0"/>
              <a:t>document</a:t>
            </a:r>
            <a:endParaRPr lang="fr-FR" dirty="0"/>
          </a:p>
          <a:p>
            <a:pPr lvl="2"/>
            <a:r>
              <a:rPr lang="fr-FR" dirty="0"/>
              <a:t>document.cookie</a:t>
            </a:r>
          </a:p>
          <a:p>
            <a:pPr lvl="2"/>
            <a:r>
              <a:rPr lang="fr-FR" dirty="0"/>
              <a:t>Accès possible par d’autre sites</a:t>
            </a:r>
          </a:p>
          <a:p>
            <a:pPr lvl="2"/>
            <a:r>
              <a:rPr lang="fr-FR" dirty="0"/>
              <a:t>Utilisé par PHP pour relier la session client a des variables de session serveur</a:t>
            </a:r>
          </a:p>
          <a:p>
            <a:pPr lvl="2"/>
            <a:r>
              <a:rPr lang="fr-FR" dirty="0"/>
              <a:t>path par def. = page courante</a:t>
            </a:r>
          </a:p>
          <a:p>
            <a:pPr lvl="2"/>
            <a:r>
              <a:rPr lang="fr-FR" dirty="0"/>
              <a:t>une chaine de caractères</a:t>
            </a:r>
          </a:p>
          <a:p>
            <a:pPr lvl="2"/>
            <a:r>
              <a:rPr lang="fr-FR" b="1" dirty="0"/>
              <a:t>Pensez a détruire vos cookies et ne stocker de des choses non critique</a:t>
            </a:r>
          </a:p>
          <a:p>
            <a:endParaRPr lang="fr-FR" dirty="0"/>
          </a:p>
          <a:p>
            <a:r>
              <a:rPr lang="fr-FR" dirty="0"/>
              <a:t>Ecriture</a:t>
            </a:r>
          </a:p>
          <a:p>
            <a:pPr lvl="2">
              <a:buNone/>
            </a:pPr>
            <a:endParaRPr lang="fr-FR" dirty="0"/>
          </a:p>
          <a:p>
            <a:endParaRPr lang="fr-FR" dirty="0"/>
          </a:p>
          <a:p>
            <a:pPr marL="0" indent="0">
              <a:buNone/>
            </a:pPr>
            <a:endParaRPr lang="fr-FR" dirty="0"/>
          </a:p>
          <a:p>
            <a:r>
              <a:rPr lang="fr-FR" dirty="0"/>
              <a:t>Lecture</a:t>
            </a:r>
          </a:p>
        </p:txBody>
      </p:sp>
      <p:sp>
        <p:nvSpPr>
          <p:cNvPr id="4" name="Rectangle 3"/>
          <p:cNvSpPr/>
          <p:nvPr/>
        </p:nvSpPr>
        <p:spPr>
          <a:xfrm>
            <a:off x="1928794" y="4571836"/>
            <a:ext cx="4996881" cy="369332"/>
          </a:xfrm>
          <a:prstGeom prst="rect">
            <a:avLst/>
          </a:prstGeom>
        </p:spPr>
        <p:txBody>
          <a:bodyPr wrap="none">
            <a:spAutoFit/>
          </a:bodyPr>
          <a:lstStyle/>
          <a:p>
            <a:r>
              <a:rPr lang="fr-FR" b="0" dirty="0">
                <a:solidFill>
                  <a:srgbClr val="7EA2B4"/>
                </a:solidFill>
                <a:latin typeface="Consolas"/>
              </a:rPr>
              <a:t>document.cookie = "</a:t>
            </a:r>
            <a:r>
              <a:rPr lang="fr-FR" b="0" dirty="0">
                <a:solidFill>
                  <a:srgbClr val="568C3B"/>
                </a:solidFill>
                <a:latin typeface="Consolas"/>
              </a:rPr>
              <a:t>username=John Doe</a:t>
            </a:r>
            <a:r>
              <a:rPr lang="fr-FR" b="0" dirty="0">
                <a:solidFill>
                  <a:srgbClr val="7EA2B4"/>
                </a:solidFill>
                <a:latin typeface="Consolas"/>
              </a:rPr>
              <a:t>";</a:t>
            </a:r>
          </a:p>
        </p:txBody>
      </p:sp>
      <p:sp>
        <p:nvSpPr>
          <p:cNvPr id="5" name="Rectangle 4"/>
          <p:cNvSpPr/>
          <p:nvPr/>
        </p:nvSpPr>
        <p:spPr>
          <a:xfrm>
            <a:off x="642910" y="5085184"/>
            <a:ext cx="8072494" cy="646331"/>
          </a:xfrm>
          <a:prstGeom prst="rect">
            <a:avLst/>
          </a:prstGeom>
        </p:spPr>
        <p:txBody>
          <a:bodyPr wrap="square">
            <a:spAutoFit/>
          </a:bodyPr>
          <a:lstStyle/>
          <a:p>
            <a:r>
              <a:rPr lang="fr-FR" b="0" dirty="0">
                <a:solidFill>
                  <a:srgbClr val="7EA2B4"/>
                </a:solidFill>
                <a:latin typeface="Consolas"/>
              </a:rPr>
              <a:t>document.cookie = "</a:t>
            </a:r>
            <a:r>
              <a:rPr lang="fr-FR" b="0" dirty="0">
                <a:solidFill>
                  <a:srgbClr val="568C3B"/>
                </a:solidFill>
                <a:latin typeface="Consolas"/>
              </a:rPr>
              <a:t>username=Nikola_TESLA; expires=Thu, 18 Dec 2050 12:00:00 UTC; path=/</a:t>
            </a:r>
            <a:r>
              <a:rPr lang="fr-FR" b="0" dirty="0">
                <a:solidFill>
                  <a:srgbClr val="7EA2B4"/>
                </a:solidFill>
                <a:latin typeface="Consolas"/>
              </a:rPr>
              <a:t>";</a:t>
            </a:r>
          </a:p>
        </p:txBody>
      </p:sp>
      <p:sp>
        <p:nvSpPr>
          <p:cNvPr id="6" name="Rectangle 5"/>
          <p:cNvSpPr/>
          <p:nvPr/>
        </p:nvSpPr>
        <p:spPr>
          <a:xfrm>
            <a:off x="2500298" y="5988626"/>
            <a:ext cx="3603872" cy="369332"/>
          </a:xfrm>
          <a:prstGeom prst="rect">
            <a:avLst/>
          </a:prstGeom>
        </p:spPr>
        <p:txBody>
          <a:bodyPr wrap="none">
            <a:spAutoFit/>
          </a:bodyPr>
          <a:lstStyle/>
          <a:p>
            <a:r>
              <a:rPr lang="fr-FR" b="0" dirty="0">
                <a:solidFill>
                  <a:srgbClr val="5D5DB1"/>
                </a:solidFill>
                <a:latin typeface="Consolas"/>
              </a:rPr>
              <a:t>var</a:t>
            </a:r>
            <a:r>
              <a:rPr lang="fr-FR" b="0" dirty="0">
                <a:solidFill>
                  <a:srgbClr val="7EA2B4"/>
                </a:solidFill>
                <a:latin typeface="Consolas"/>
              </a:rPr>
              <a:t> </a:t>
            </a:r>
            <a:r>
              <a:rPr lang="fr-FR" b="0" dirty="0">
                <a:solidFill>
                  <a:srgbClr val="D22D72"/>
                </a:solidFill>
                <a:latin typeface="Consolas"/>
              </a:rPr>
              <a:t>cookie</a:t>
            </a:r>
            <a:r>
              <a:rPr lang="fr-FR" b="0" dirty="0">
                <a:solidFill>
                  <a:srgbClr val="7EA2B4"/>
                </a:solidFill>
                <a:latin typeface="Consolas"/>
              </a:rPr>
              <a:t>=document.cookie;</a:t>
            </a:r>
          </a:p>
        </p:txBody>
      </p:sp>
    </p:spTree>
    <p:extLst>
      <p:ext uri="{BB962C8B-B14F-4D97-AF65-F5344CB8AC3E}">
        <p14:creationId xmlns:p14="http://schemas.microsoft.com/office/powerpoint/2010/main" val="15643631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cookies</a:t>
            </a:r>
          </a:p>
        </p:txBody>
      </p:sp>
      <p:sp>
        <p:nvSpPr>
          <p:cNvPr id="3" name="Espace réservé du contenu 2"/>
          <p:cNvSpPr>
            <a:spLocks noGrp="1"/>
          </p:cNvSpPr>
          <p:nvPr>
            <p:ph idx="1"/>
          </p:nvPr>
        </p:nvSpPr>
        <p:spPr/>
        <p:txBody>
          <a:bodyPr/>
          <a:lstStyle/>
          <a:p>
            <a:r>
              <a:rPr lang="fr-FR" dirty="0"/>
              <a:t>Lecture directe</a:t>
            </a:r>
          </a:p>
          <a:p>
            <a:endParaRPr lang="fr-FR" dirty="0"/>
          </a:p>
          <a:p>
            <a:r>
              <a:rPr lang="fr-FR" dirty="0"/>
              <a:t>fonctions de lecture</a:t>
            </a:r>
          </a:p>
          <a:p>
            <a:endParaRPr lang="fr-FR" dirty="0"/>
          </a:p>
          <a:p>
            <a:endParaRPr lang="fr-FR" dirty="0"/>
          </a:p>
          <a:p>
            <a:r>
              <a:rPr lang="fr-FR" dirty="0"/>
              <a:t>fonction d'écriture</a:t>
            </a:r>
          </a:p>
        </p:txBody>
      </p:sp>
      <p:sp>
        <p:nvSpPr>
          <p:cNvPr id="4" name="Rectangle 3"/>
          <p:cNvSpPr/>
          <p:nvPr/>
        </p:nvSpPr>
        <p:spPr>
          <a:xfrm>
            <a:off x="642910" y="1785926"/>
            <a:ext cx="7929618" cy="369332"/>
          </a:xfrm>
          <a:prstGeom prst="rect">
            <a:avLst/>
          </a:prstGeom>
        </p:spPr>
        <p:txBody>
          <a:bodyPr wrap="square">
            <a:spAutoFit/>
          </a:bodyPr>
          <a:lstStyle/>
          <a:p>
            <a:r>
              <a:rPr lang="en-US" b="0" dirty="0">
                <a:solidFill>
                  <a:srgbClr val="5D5DB1"/>
                </a:solidFill>
                <a:latin typeface="Consolas"/>
              </a:rPr>
              <a:t>var</a:t>
            </a:r>
            <a:r>
              <a:rPr lang="en-US" b="0" dirty="0">
                <a:solidFill>
                  <a:srgbClr val="7EA2B4"/>
                </a:solidFill>
                <a:latin typeface="Consolas"/>
              </a:rPr>
              <a:t> </a:t>
            </a:r>
            <a:r>
              <a:rPr lang="en-US" b="0" dirty="0">
                <a:solidFill>
                  <a:srgbClr val="D22D72"/>
                </a:solidFill>
                <a:latin typeface="Consolas"/>
              </a:rPr>
              <a:t>cookie</a:t>
            </a:r>
            <a:r>
              <a:rPr lang="en-US" b="0" dirty="0">
                <a:solidFill>
                  <a:srgbClr val="7EA2B4"/>
                </a:solidFill>
                <a:latin typeface="Consolas"/>
              </a:rPr>
              <a:t> = new RegExp('</a:t>
            </a:r>
            <a:r>
              <a:rPr lang="en-US" b="0" dirty="0">
                <a:solidFill>
                  <a:srgbClr val="568C3B"/>
                </a:solidFill>
                <a:latin typeface="Consolas"/>
              </a:rPr>
              <a:t>[; ]</a:t>
            </a:r>
            <a:r>
              <a:rPr lang="en-US" b="0" dirty="0">
                <a:solidFill>
                  <a:srgbClr val="7EA2B4"/>
                </a:solidFill>
                <a:latin typeface="Consolas"/>
              </a:rPr>
              <a:t>'+</a:t>
            </a:r>
            <a:r>
              <a:rPr lang="en-US" b="0" dirty="0">
                <a:solidFill>
                  <a:srgbClr val="D22D72"/>
                </a:solidFill>
                <a:latin typeface="Consolas"/>
              </a:rPr>
              <a:t>cookieName</a:t>
            </a:r>
            <a:r>
              <a:rPr lang="en-US" b="0" dirty="0">
                <a:solidFill>
                  <a:srgbClr val="7EA2B4"/>
                </a:solidFill>
                <a:latin typeface="Consolas"/>
              </a:rPr>
              <a:t>+'</a:t>
            </a:r>
            <a:r>
              <a:rPr lang="en-US" b="0" dirty="0">
                <a:solidFill>
                  <a:srgbClr val="568C3B"/>
                </a:solidFill>
                <a:latin typeface="Consolas"/>
              </a:rPr>
              <a:t>=([^</a:t>
            </a:r>
            <a:r>
              <a:rPr lang="en-US" b="0" dirty="0">
                <a:solidFill>
                  <a:srgbClr val="2D8F6F"/>
                </a:solidFill>
                <a:latin typeface="Consolas"/>
              </a:rPr>
              <a:t>\\</a:t>
            </a:r>
            <a:r>
              <a:rPr lang="en-US" b="0" dirty="0">
                <a:solidFill>
                  <a:srgbClr val="568C3B"/>
                </a:solidFill>
                <a:latin typeface="Consolas"/>
              </a:rPr>
              <a:t>s;]*)</a:t>
            </a:r>
            <a:r>
              <a:rPr lang="en-US" b="0" dirty="0">
                <a:solidFill>
                  <a:srgbClr val="7EA2B4"/>
                </a:solidFill>
                <a:latin typeface="Consolas"/>
              </a:rPr>
              <a:t>');</a:t>
            </a:r>
          </a:p>
        </p:txBody>
      </p:sp>
      <p:sp>
        <p:nvSpPr>
          <p:cNvPr id="5" name="Rectangle 4"/>
          <p:cNvSpPr/>
          <p:nvPr/>
        </p:nvSpPr>
        <p:spPr>
          <a:xfrm>
            <a:off x="642910" y="2817682"/>
            <a:ext cx="8215370" cy="1384995"/>
          </a:xfrm>
          <a:prstGeom prst="rect">
            <a:avLst/>
          </a:prstGeom>
        </p:spPr>
        <p:txBody>
          <a:bodyPr wrap="square">
            <a:spAutoFit/>
          </a:bodyPr>
          <a:lstStyle/>
          <a:p>
            <a:r>
              <a:rPr lang="fr-FR" sz="1400" b="0" dirty="0">
                <a:solidFill>
                  <a:srgbClr val="5D5DB1"/>
                </a:solidFill>
                <a:latin typeface="Consolas"/>
              </a:rPr>
              <a:t>function</a:t>
            </a:r>
            <a:r>
              <a:rPr lang="fr-FR" sz="1400" b="0" dirty="0">
                <a:solidFill>
                  <a:srgbClr val="7EA2B4"/>
                </a:solidFill>
                <a:latin typeface="Consolas"/>
              </a:rPr>
              <a:t> </a:t>
            </a:r>
            <a:r>
              <a:rPr lang="fr-FR" sz="1400" b="0" dirty="0">
                <a:solidFill>
                  <a:srgbClr val="257FAD"/>
                </a:solidFill>
                <a:latin typeface="Consolas"/>
              </a:rPr>
              <a:t>readCookie</a:t>
            </a:r>
            <a:r>
              <a:rPr lang="fr-FR" sz="1400" b="0" dirty="0">
                <a:solidFill>
                  <a:srgbClr val="7EA2B4"/>
                </a:solidFill>
                <a:latin typeface="Consolas"/>
              </a:rPr>
              <a:t>(</a:t>
            </a:r>
            <a:r>
              <a:rPr lang="fr-FR" sz="1400" b="0" dirty="0">
                <a:solidFill>
                  <a:srgbClr val="D22D72"/>
                </a:solidFill>
                <a:latin typeface="Consolas"/>
              </a:rPr>
              <a:t>cookieName</a:t>
            </a:r>
            <a:r>
              <a:rPr lang="fr-FR" sz="1400" b="0" dirty="0">
                <a:solidFill>
                  <a:srgbClr val="7EA2B4"/>
                </a:solidFill>
                <a:latin typeface="Consolas"/>
              </a:rPr>
              <a:t>) {</a:t>
            </a:r>
          </a:p>
          <a:p>
            <a:r>
              <a:rPr lang="fr-FR" sz="1400" b="0" dirty="0">
                <a:solidFill>
                  <a:srgbClr val="5D5DB1"/>
                </a:solidFill>
                <a:latin typeface="Consolas"/>
              </a:rPr>
              <a:t>	var</a:t>
            </a:r>
            <a:r>
              <a:rPr lang="fr-FR" sz="1400" b="0" dirty="0">
                <a:solidFill>
                  <a:srgbClr val="7EA2B4"/>
                </a:solidFill>
                <a:latin typeface="Consolas"/>
              </a:rPr>
              <a:t> </a:t>
            </a:r>
            <a:r>
              <a:rPr lang="fr-FR" sz="1400" b="0" dirty="0">
                <a:solidFill>
                  <a:srgbClr val="D22D72"/>
                </a:solidFill>
                <a:latin typeface="Consolas"/>
              </a:rPr>
              <a:t>re</a:t>
            </a:r>
            <a:r>
              <a:rPr lang="fr-FR" sz="1400" b="0" dirty="0">
                <a:solidFill>
                  <a:srgbClr val="7EA2B4"/>
                </a:solidFill>
                <a:latin typeface="Consolas"/>
              </a:rPr>
              <a:t> = new RegExp('</a:t>
            </a:r>
            <a:r>
              <a:rPr lang="fr-FR" sz="1400" b="0" dirty="0">
                <a:solidFill>
                  <a:srgbClr val="568C3B"/>
                </a:solidFill>
                <a:latin typeface="Consolas"/>
              </a:rPr>
              <a:t>[; ]</a:t>
            </a:r>
            <a:r>
              <a:rPr lang="fr-FR" sz="1400" b="0" dirty="0">
                <a:solidFill>
                  <a:srgbClr val="7EA2B4"/>
                </a:solidFill>
                <a:latin typeface="Consolas"/>
              </a:rPr>
              <a:t>'+</a:t>
            </a:r>
            <a:r>
              <a:rPr lang="fr-FR" sz="1400" b="0" dirty="0">
                <a:solidFill>
                  <a:srgbClr val="D22D72"/>
                </a:solidFill>
                <a:latin typeface="Consolas"/>
              </a:rPr>
              <a:t>cookieName</a:t>
            </a:r>
            <a:r>
              <a:rPr lang="fr-FR" sz="1400" b="0" dirty="0">
                <a:solidFill>
                  <a:srgbClr val="7EA2B4"/>
                </a:solidFill>
                <a:latin typeface="Consolas"/>
              </a:rPr>
              <a:t>+'</a:t>
            </a:r>
            <a:r>
              <a:rPr lang="fr-FR" sz="1400" b="0" dirty="0">
                <a:solidFill>
                  <a:srgbClr val="568C3B"/>
                </a:solidFill>
                <a:latin typeface="Consolas"/>
              </a:rPr>
              <a:t>=([^</a:t>
            </a:r>
            <a:r>
              <a:rPr lang="fr-FR" sz="1400" b="0" dirty="0">
                <a:solidFill>
                  <a:srgbClr val="2D8F6F"/>
                </a:solidFill>
                <a:latin typeface="Consolas"/>
              </a:rPr>
              <a:t>\\</a:t>
            </a:r>
            <a:r>
              <a:rPr lang="fr-FR" sz="1400" b="0" dirty="0">
                <a:solidFill>
                  <a:srgbClr val="568C3B"/>
                </a:solidFill>
                <a:latin typeface="Consolas"/>
              </a:rPr>
              <a:t>s;]*)</a:t>
            </a:r>
            <a:r>
              <a:rPr lang="fr-FR" sz="1400" b="0" dirty="0">
                <a:solidFill>
                  <a:srgbClr val="7EA2B4"/>
                </a:solidFill>
                <a:latin typeface="Consolas"/>
              </a:rPr>
              <a:t>');</a:t>
            </a:r>
          </a:p>
          <a:p>
            <a:r>
              <a:rPr lang="fr-FR" sz="1400" b="0" dirty="0">
                <a:solidFill>
                  <a:srgbClr val="5D5DB1"/>
                </a:solidFill>
                <a:latin typeface="Consolas"/>
              </a:rPr>
              <a:t>	var</a:t>
            </a:r>
            <a:r>
              <a:rPr lang="fr-FR" sz="1400" b="0" dirty="0">
                <a:solidFill>
                  <a:srgbClr val="7EA2B4"/>
                </a:solidFill>
                <a:latin typeface="Consolas"/>
              </a:rPr>
              <a:t> </a:t>
            </a:r>
            <a:r>
              <a:rPr lang="fr-FR" sz="1400" b="0" dirty="0">
                <a:solidFill>
                  <a:srgbClr val="D22D72"/>
                </a:solidFill>
                <a:latin typeface="Consolas"/>
              </a:rPr>
              <a:t>sMatch</a:t>
            </a:r>
            <a:r>
              <a:rPr lang="fr-FR" sz="1400" b="0" dirty="0">
                <a:solidFill>
                  <a:srgbClr val="7EA2B4"/>
                </a:solidFill>
                <a:latin typeface="Consolas"/>
              </a:rPr>
              <a:t> = ('</a:t>
            </a:r>
            <a:r>
              <a:rPr lang="fr-FR" sz="1400" b="0" dirty="0">
                <a:solidFill>
                  <a:srgbClr val="568C3B"/>
                </a:solidFill>
                <a:latin typeface="Consolas"/>
              </a:rPr>
              <a:t> </a:t>
            </a:r>
            <a:r>
              <a:rPr lang="fr-FR" sz="1400" b="0" dirty="0">
                <a:solidFill>
                  <a:srgbClr val="7EA2B4"/>
                </a:solidFill>
                <a:latin typeface="Consolas"/>
              </a:rPr>
              <a:t>'+document.cookie).</a:t>
            </a:r>
            <a:r>
              <a:rPr lang="fr-FR" sz="1400" b="0" dirty="0">
                <a:solidFill>
                  <a:srgbClr val="2D8F6F"/>
                </a:solidFill>
                <a:latin typeface="Consolas"/>
              </a:rPr>
              <a:t>match</a:t>
            </a:r>
            <a:r>
              <a:rPr lang="fr-FR" sz="1400" b="0" dirty="0">
                <a:solidFill>
                  <a:srgbClr val="7EA2B4"/>
                </a:solidFill>
                <a:latin typeface="Consolas"/>
              </a:rPr>
              <a:t>(</a:t>
            </a:r>
            <a:r>
              <a:rPr lang="fr-FR" sz="1400" b="0" dirty="0">
                <a:solidFill>
                  <a:srgbClr val="D22D72"/>
                </a:solidFill>
                <a:latin typeface="Consolas"/>
              </a:rPr>
              <a:t>re</a:t>
            </a:r>
            <a:r>
              <a:rPr lang="fr-FR" sz="1400" b="0" dirty="0">
                <a:solidFill>
                  <a:srgbClr val="7EA2B4"/>
                </a:solidFill>
                <a:latin typeface="Consolas"/>
              </a:rPr>
              <a:t>);</a:t>
            </a:r>
          </a:p>
          <a:p>
            <a:r>
              <a:rPr lang="fr-FR" sz="1400" b="0" dirty="0">
                <a:solidFill>
                  <a:srgbClr val="5D5DB1"/>
                </a:solidFill>
                <a:latin typeface="Consolas"/>
              </a:rPr>
              <a:t>	if</a:t>
            </a:r>
            <a:r>
              <a:rPr lang="fr-FR" sz="1400" b="0" dirty="0">
                <a:solidFill>
                  <a:srgbClr val="7EA2B4"/>
                </a:solidFill>
                <a:latin typeface="Consolas"/>
              </a:rPr>
              <a:t> (</a:t>
            </a:r>
            <a:r>
              <a:rPr lang="fr-FR" sz="1400" b="0" dirty="0">
                <a:solidFill>
                  <a:srgbClr val="D22D72"/>
                </a:solidFill>
                <a:latin typeface="Consolas"/>
              </a:rPr>
              <a:t>cookieName</a:t>
            </a:r>
            <a:r>
              <a:rPr lang="fr-FR" sz="1400" b="0" dirty="0">
                <a:solidFill>
                  <a:srgbClr val="7EA2B4"/>
                </a:solidFill>
                <a:latin typeface="Consolas"/>
              </a:rPr>
              <a:t> &amp;&amp; </a:t>
            </a:r>
            <a:r>
              <a:rPr lang="fr-FR" sz="1400" b="0" dirty="0">
                <a:solidFill>
                  <a:srgbClr val="D22D72"/>
                </a:solidFill>
                <a:latin typeface="Consolas"/>
              </a:rPr>
              <a:t>sMatch</a:t>
            </a:r>
            <a:r>
              <a:rPr lang="fr-FR" sz="1400" b="0" dirty="0">
                <a:solidFill>
                  <a:srgbClr val="7EA2B4"/>
                </a:solidFill>
                <a:latin typeface="Consolas"/>
              </a:rPr>
              <a:t>) </a:t>
            </a:r>
            <a:r>
              <a:rPr lang="fr-FR" sz="1400" b="0" dirty="0">
                <a:solidFill>
                  <a:srgbClr val="5D5DB1"/>
                </a:solidFill>
                <a:latin typeface="Consolas"/>
              </a:rPr>
              <a:t>return</a:t>
            </a:r>
            <a:r>
              <a:rPr lang="fr-FR" sz="1400" b="0" dirty="0">
                <a:solidFill>
                  <a:srgbClr val="7EA2B4"/>
                </a:solidFill>
                <a:latin typeface="Consolas"/>
              </a:rPr>
              <a:t> </a:t>
            </a:r>
            <a:r>
              <a:rPr lang="fr-FR" sz="1400" b="0" dirty="0">
                <a:solidFill>
                  <a:srgbClr val="2D8F6F"/>
                </a:solidFill>
                <a:latin typeface="Consolas"/>
              </a:rPr>
              <a:t>unescape</a:t>
            </a:r>
            <a:r>
              <a:rPr lang="fr-FR" sz="1400" b="0" dirty="0">
                <a:solidFill>
                  <a:srgbClr val="7EA2B4"/>
                </a:solidFill>
                <a:latin typeface="Consolas"/>
              </a:rPr>
              <a:t>(</a:t>
            </a:r>
            <a:r>
              <a:rPr lang="fr-FR" sz="1400" b="0" dirty="0">
                <a:solidFill>
                  <a:srgbClr val="D22D72"/>
                </a:solidFill>
                <a:latin typeface="Consolas"/>
              </a:rPr>
              <a:t>sMatch</a:t>
            </a:r>
            <a:r>
              <a:rPr lang="fr-FR" sz="1400" b="0" dirty="0">
                <a:solidFill>
                  <a:srgbClr val="7EA2B4"/>
                </a:solidFill>
                <a:latin typeface="Consolas"/>
              </a:rPr>
              <a:t>[</a:t>
            </a:r>
            <a:r>
              <a:rPr lang="fr-FR" sz="1400" b="0" dirty="0">
                <a:solidFill>
                  <a:srgbClr val="935C25"/>
                </a:solidFill>
                <a:latin typeface="Consolas"/>
              </a:rPr>
              <a:t>1</a:t>
            </a:r>
            <a:r>
              <a:rPr lang="fr-FR" sz="1400" b="0" dirty="0">
                <a:solidFill>
                  <a:srgbClr val="7EA2B4"/>
                </a:solidFill>
                <a:latin typeface="Consolas"/>
              </a:rPr>
              <a:t>]);</a:t>
            </a:r>
          </a:p>
          <a:p>
            <a:r>
              <a:rPr lang="fr-FR" sz="1400" b="0" dirty="0">
                <a:solidFill>
                  <a:srgbClr val="5D5DB1"/>
                </a:solidFill>
                <a:latin typeface="Consolas"/>
              </a:rPr>
              <a:t>	return</a:t>
            </a:r>
            <a:r>
              <a:rPr lang="fr-FR" sz="1400" b="0" dirty="0">
                <a:solidFill>
                  <a:srgbClr val="7EA2B4"/>
                </a:solidFill>
                <a:latin typeface="Consolas"/>
              </a:rPr>
              <a:t> '';</a:t>
            </a:r>
          </a:p>
          <a:p>
            <a:r>
              <a:rPr lang="fr-FR" sz="1400" b="0" dirty="0">
                <a:solidFill>
                  <a:srgbClr val="7EA2B4"/>
                </a:solidFill>
                <a:latin typeface="Consolas"/>
              </a:rPr>
              <a:t>}</a:t>
            </a:r>
          </a:p>
        </p:txBody>
      </p:sp>
      <p:sp>
        <p:nvSpPr>
          <p:cNvPr id="6" name="Rectangle 5"/>
          <p:cNvSpPr/>
          <p:nvPr/>
        </p:nvSpPr>
        <p:spPr>
          <a:xfrm>
            <a:off x="642910" y="4643446"/>
            <a:ext cx="8286808" cy="1815882"/>
          </a:xfrm>
          <a:prstGeom prst="rect">
            <a:avLst/>
          </a:prstGeom>
        </p:spPr>
        <p:txBody>
          <a:bodyPr wrap="square">
            <a:spAutoFit/>
          </a:bodyPr>
          <a:lstStyle/>
          <a:p>
            <a:r>
              <a:rPr lang="fr-FR" sz="1400" b="0" dirty="0">
                <a:solidFill>
                  <a:srgbClr val="5D5DB1"/>
                </a:solidFill>
                <a:latin typeface="Consolas"/>
              </a:rPr>
              <a:t>function</a:t>
            </a:r>
            <a:r>
              <a:rPr lang="fr-FR" sz="1400" b="0" dirty="0">
                <a:solidFill>
                  <a:srgbClr val="7EA2B4"/>
                </a:solidFill>
                <a:latin typeface="Consolas"/>
              </a:rPr>
              <a:t> </a:t>
            </a:r>
            <a:r>
              <a:rPr lang="fr-FR" sz="1400" b="0" dirty="0">
                <a:solidFill>
                  <a:srgbClr val="257FAD"/>
                </a:solidFill>
                <a:latin typeface="Consolas"/>
              </a:rPr>
              <a:t>setCookie</a:t>
            </a:r>
            <a:r>
              <a:rPr lang="fr-FR" sz="1400" b="0" dirty="0">
                <a:solidFill>
                  <a:srgbClr val="7EA2B4"/>
                </a:solidFill>
                <a:latin typeface="Consolas"/>
              </a:rPr>
              <a:t>(</a:t>
            </a:r>
            <a:r>
              <a:rPr lang="fr-FR" sz="1400" b="0" dirty="0">
                <a:solidFill>
                  <a:srgbClr val="D22D72"/>
                </a:solidFill>
                <a:latin typeface="Consolas"/>
              </a:rPr>
              <a:t>cookieName</a:t>
            </a:r>
            <a:r>
              <a:rPr lang="fr-FR" sz="1400" b="0" dirty="0">
                <a:solidFill>
                  <a:srgbClr val="7EA2B4"/>
                </a:solidFill>
                <a:latin typeface="Consolas"/>
              </a:rPr>
              <a:t>,</a:t>
            </a:r>
            <a:r>
              <a:rPr lang="fr-FR" sz="1400" b="0" dirty="0">
                <a:solidFill>
                  <a:srgbClr val="D22D72"/>
                </a:solidFill>
                <a:latin typeface="Consolas"/>
              </a:rPr>
              <a:t>cookieValue</a:t>
            </a:r>
            <a:r>
              <a:rPr lang="fr-FR" sz="1400" b="0" dirty="0">
                <a:solidFill>
                  <a:srgbClr val="7EA2B4"/>
                </a:solidFill>
                <a:latin typeface="Consolas"/>
              </a:rPr>
              <a:t>,</a:t>
            </a:r>
            <a:r>
              <a:rPr lang="fr-FR" sz="1400" b="0" dirty="0">
                <a:solidFill>
                  <a:srgbClr val="D22D72"/>
                </a:solidFill>
                <a:latin typeface="Consolas"/>
              </a:rPr>
              <a:t>nDays</a:t>
            </a:r>
            <a:r>
              <a:rPr lang="fr-FR" sz="1400" b="0" dirty="0">
                <a:solidFill>
                  <a:srgbClr val="7EA2B4"/>
                </a:solidFill>
                <a:latin typeface="Consolas"/>
              </a:rPr>
              <a:t>) {</a:t>
            </a:r>
          </a:p>
          <a:p>
            <a:r>
              <a:rPr lang="fr-FR" sz="1400" b="0" dirty="0">
                <a:solidFill>
                  <a:srgbClr val="5D5DB1"/>
                </a:solidFill>
                <a:latin typeface="Consolas"/>
              </a:rPr>
              <a:t>	var</a:t>
            </a:r>
            <a:r>
              <a:rPr lang="fr-FR" sz="1400" b="0" dirty="0">
                <a:solidFill>
                  <a:srgbClr val="7EA2B4"/>
                </a:solidFill>
                <a:latin typeface="Consolas"/>
              </a:rPr>
              <a:t> </a:t>
            </a:r>
            <a:r>
              <a:rPr lang="fr-FR" sz="1400" b="0" dirty="0">
                <a:solidFill>
                  <a:srgbClr val="D22D72"/>
                </a:solidFill>
                <a:latin typeface="Consolas"/>
              </a:rPr>
              <a:t>today</a:t>
            </a:r>
            <a:r>
              <a:rPr lang="fr-FR" sz="1400" b="0" dirty="0">
                <a:solidFill>
                  <a:srgbClr val="7EA2B4"/>
                </a:solidFill>
                <a:latin typeface="Consolas"/>
              </a:rPr>
              <a:t> = new Date();</a:t>
            </a:r>
          </a:p>
          <a:p>
            <a:r>
              <a:rPr lang="fr-FR" sz="1400" b="0" dirty="0">
                <a:solidFill>
                  <a:srgbClr val="5D5DB1"/>
                </a:solidFill>
                <a:latin typeface="Consolas"/>
              </a:rPr>
              <a:t>	var</a:t>
            </a:r>
            <a:r>
              <a:rPr lang="fr-FR" sz="1400" b="0" dirty="0">
                <a:solidFill>
                  <a:srgbClr val="7EA2B4"/>
                </a:solidFill>
                <a:latin typeface="Consolas"/>
              </a:rPr>
              <a:t> </a:t>
            </a:r>
            <a:r>
              <a:rPr lang="fr-FR" sz="1400" b="0" dirty="0">
                <a:solidFill>
                  <a:srgbClr val="D22D72"/>
                </a:solidFill>
                <a:latin typeface="Consolas"/>
              </a:rPr>
              <a:t>expire</a:t>
            </a:r>
            <a:r>
              <a:rPr lang="fr-FR" sz="1400" b="0" dirty="0">
                <a:solidFill>
                  <a:srgbClr val="7EA2B4"/>
                </a:solidFill>
                <a:latin typeface="Consolas"/>
              </a:rPr>
              <a:t> = new Date();</a:t>
            </a:r>
          </a:p>
          <a:p>
            <a:r>
              <a:rPr lang="fr-FR" sz="1400" b="0" dirty="0">
                <a:solidFill>
                  <a:srgbClr val="5D5DB1"/>
                </a:solidFill>
                <a:latin typeface="Consolas"/>
              </a:rPr>
              <a:t>	if</a:t>
            </a:r>
            <a:r>
              <a:rPr lang="fr-FR" sz="1400" b="0" dirty="0">
                <a:solidFill>
                  <a:srgbClr val="7EA2B4"/>
                </a:solidFill>
                <a:latin typeface="Consolas"/>
              </a:rPr>
              <a:t> (</a:t>
            </a:r>
            <a:r>
              <a:rPr lang="fr-FR" sz="1400" b="0" dirty="0">
                <a:solidFill>
                  <a:srgbClr val="D22D72"/>
                </a:solidFill>
                <a:latin typeface="Consolas"/>
              </a:rPr>
              <a:t>nDays</a:t>
            </a:r>
            <a:r>
              <a:rPr lang="fr-FR" sz="1400" b="0" dirty="0">
                <a:solidFill>
                  <a:srgbClr val="7EA2B4"/>
                </a:solidFill>
                <a:latin typeface="Consolas"/>
              </a:rPr>
              <a:t>==</a:t>
            </a:r>
            <a:r>
              <a:rPr lang="fr-FR" sz="1400" b="0" dirty="0">
                <a:solidFill>
                  <a:srgbClr val="935C25"/>
                </a:solidFill>
                <a:latin typeface="Consolas"/>
              </a:rPr>
              <a:t>null</a:t>
            </a:r>
            <a:r>
              <a:rPr lang="fr-FR" sz="1400" b="0" dirty="0">
                <a:solidFill>
                  <a:srgbClr val="7EA2B4"/>
                </a:solidFill>
                <a:latin typeface="Consolas"/>
              </a:rPr>
              <a:t> || </a:t>
            </a:r>
            <a:r>
              <a:rPr lang="fr-FR" sz="1400" b="0" dirty="0">
                <a:solidFill>
                  <a:srgbClr val="D22D72"/>
                </a:solidFill>
                <a:latin typeface="Consolas"/>
              </a:rPr>
              <a:t>nDays</a:t>
            </a:r>
            <a:r>
              <a:rPr lang="fr-FR" sz="1400" b="0" dirty="0">
                <a:solidFill>
                  <a:srgbClr val="7EA2B4"/>
                </a:solidFill>
                <a:latin typeface="Consolas"/>
              </a:rPr>
              <a:t>==</a:t>
            </a:r>
            <a:r>
              <a:rPr lang="fr-FR" sz="1400" b="0" dirty="0">
                <a:solidFill>
                  <a:srgbClr val="935C25"/>
                </a:solidFill>
                <a:latin typeface="Consolas"/>
              </a:rPr>
              <a:t>0</a:t>
            </a:r>
            <a:r>
              <a:rPr lang="fr-FR" sz="1400" b="0" dirty="0">
                <a:solidFill>
                  <a:srgbClr val="7EA2B4"/>
                </a:solidFill>
                <a:latin typeface="Consolas"/>
              </a:rPr>
              <a:t>) </a:t>
            </a:r>
            <a:r>
              <a:rPr lang="fr-FR" sz="1400" b="0" dirty="0">
                <a:solidFill>
                  <a:srgbClr val="D22D72"/>
                </a:solidFill>
                <a:latin typeface="Consolas"/>
              </a:rPr>
              <a:t>nDays</a:t>
            </a:r>
            <a:r>
              <a:rPr lang="fr-FR" sz="1400" b="0" dirty="0">
                <a:solidFill>
                  <a:srgbClr val="7EA2B4"/>
                </a:solidFill>
                <a:latin typeface="Consolas"/>
              </a:rPr>
              <a:t>=</a:t>
            </a:r>
            <a:r>
              <a:rPr lang="fr-FR" sz="1400" b="0" dirty="0">
                <a:solidFill>
                  <a:srgbClr val="935C25"/>
                </a:solidFill>
                <a:latin typeface="Consolas"/>
              </a:rPr>
              <a:t>1</a:t>
            </a:r>
            <a:r>
              <a:rPr lang="fr-FR" sz="1400" b="0" dirty="0">
                <a:solidFill>
                  <a:srgbClr val="7EA2B4"/>
                </a:solidFill>
                <a:latin typeface="Consolas"/>
              </a:rPr>
              <a:t>;</a:t>
            </a:r>
          </a:p>
          <a:p>
            <a:r>
              <a:rPr lang="fr-FR" sz="1400" b="0" dirty="0">
                <a:solidFill>
                  <a:srgbClr val="D22D72"/>
                </a:solidFill>
                <a:latin typeface="Consolas"/>
              </a:rPr>
              <a:t>	expire</a:t>
            </a:r>
            <a:r>
              <a:rPr lang="fr-FR" sz="1400" b="0" dirty="0">
                <a:solidFill>
                  <a:srgbClr val="7EA2B4"/>
                </a:solidFill>
                <a:latin typeface="Consolas"/>
              </a:rPr>
              <a:t>.</a:t>
            </a:r>
            <a:r>
              <a:rPr lang="fr-FR" sz="1400" b="0" dirty="0">
                <a:solidFill>
                  <a:srgbClr val="2D8F6F"/>
                </a:solidFill>
                <a:latin typeface="Consolas"/>
              </a:rPr>
              <a:t>setTime</a:t>
            </a:r>
            <a:r>
              <a:rPr lang="fr-FR" sz="1400" b="0" dirty="0">
                <a:solidFill>
                  <a:srgbClr val="7EA2B4"/>
                </a:solidFill>
                <a:latin typeface="Consolas"/>
              </a:rPr>
              <a:t>(</a:t>
            </a:r>
            <a:r>
              <a:rPr lang="fr-FR" sz="1400" b="0" dirty="0">
                <a:solidFill>
                  <a:srgbClr val="D22D72"/>
                </a:solidFill>
                <a:latin typeface="Consolas"/>
              </a:rPr>
              <a:t>today</a:t>
            </a:r>
            <a:r>
              <a:rPr lang="fr-FR" sz="1400" b="0" dirty="0">
                <a:solidFill>
                  <a:srgbClr val="7EA2B4"/>
                </a:solidFill>
                <a:latin typeface="Consolas"/>
              </a:rPr>
              <a:t>.</a:t>
            </a:r>
            <a:r>
              <a:rPr lang="fr-FR" sz="1400" b="0" dirty="0">
                <a:solidFill>
                  <a:srgbClr val="2D8F6F"/>
                </a:solidFill>
                <a:latin typeface="Consolas"/>
              </a:rPr>
              <a:t>getTime</a:t>
            </a:r>
            <a:r>
              <a:rPr lang="fr-FR" sz="1400" b="0" dirty="0">
                <a:solidFill>
                  <a:srgbClr val="7EA2B4"/>
                </a:solidFill>
                <a:latin typeface="Consolas"/>
              </a:rPr>
              <a:t>() + </a:t>
            </a:r>
            <a:r>
              <a:rPr lang="fr-FR" sz="1400" b="0" dirty="0">
                <a:solidFill>
                  <a:srgbClr val="935C25"/>
                </a:solidFill>
                <a:latin typeface="Consolas"/>
              </a:rPr>
              <a:t>3600000</a:t>
            </a:r>
            <a:r>
              <a:rPr lang="fr-FR" sz="1400" b="0" dirty="0">
                <a:solidFill>
                  <a:srgbClr val="7EA2B4"/>
                </a:solidFill>
                <a:latin typeface="Consolas"/>
              </a:rPr>
              <a:t>*</a:t>
            </a:r>
            <a:r>
              <a:rPr lang="fr-FR" sz="1400" b="0" dirty="0">
                <a:solidFill>
                  <a:srgbClr val="935C25"/>
                </a:solidFill>
                <a:latin typeface="Consolas"/>
              </a:rPr>
              <a:t>24</a:t>
            </a:r>
            <a:r>
              <a:rPr lang="fr-FR" sz="1400" b="0" dirty="0">
                <a:solidFill>
                  <a:srgbClr val="7EA2B4"/>
                </a:solidFill>
                <a:latin typeface="Consolas"/>
              </a:rPr>
              <a:t>*</a:t>
            </a:r>
            <a:r>
              <a:rPr lang="fr-FR" sz="1400" b="0" dirty="0">
                <a:solidFill>
                  <a:srgbClr val="D22D72"/>
                </a:solidFill>
                <a:latin typeface="Consolas"/>
              </a:rPr>
              <a:t>nDays</a:t>
            </a:r>
            <a:r>
              <a:rPr lang="fr-FR" sz="1400" b="0" dirty="0">
                <a:solidFill>
                  <a:srgbClr val="7EA2B4"/>
                </a:solidFill>
                <a:latin typeface="Consolas"/>
              </a:rPr>
              <a:t>);</a:t>
            </a:r>
          </a:p>
          <a:p>
            <a:r>
              <a:rPr lang="fr-FR" sz="1400" b="0" dirty="0">
                <a:solidFill>
                  <a:srgbClr val="7EA2B4"/>
                </a:solidFill>
                <a:latin typeface="Consolas"/>
              </a:rPr>
              <a:t>	</a:t>
            </a:r>
            <a:r>
              <a:rPr lang="fr-FR" sz="1400" b="1" dirty="0">
                <a:solidFill>
                  <a:srgbClr val="7EA2B4"/>
                </a:solidFill>
                <a:latin typeface="Consolas"/>
              </a:rPr>
              <a:t>document.cookie</a:t>
            </a:r>
            <a:r>
              <a:rPr lang="fr-FR" sz="1400" b="0" dirty="0">
                <a:solidFill>
                  <a:srgbClr val="7EA2B4"/>
                </a:solidFill>
                <a:latin typeface="Consolas"/>
              </a:rPr>
              <a:t> = </a:t>
            </a:r>
            <a:r>
              <a:rPr lang="fr-FR" sz="1400" b="0" dirty="0">
                <a:solidFill>
                  <a:srgbClr val="D22D72"/>
                </a:solidFill>
                <a:latin typeface="Consolas"/>
              </a:rPr>
              <a:t>cookieName</a:t>
            </a:r>
            <a:r>
              <a:rPr lang="fr-FR" sz="1400" b="0" dirty="0">
                <a:solidFill>
                  <a:srgbClr val="7EA2B4"/>
                </a:solidFill>
                <a:latin typeface="Consolas"/>
              </a:rPr>
              <a:t>+"</a:t>
            </a:r>
            <a:r>
              <a:rPr lang="fr-FR" sz="1400" b="0" dirty="0">
                <a:solidFill>
                  <a:srgbClr val="568C3B"/>
                </a:solidFill>
                <a:latin typeface="Consolas"/>
              </a:rPr>
              <a:t>=</a:t>
            </a:r>
            <a:r>
              <a:rPr lang="fr-FR" sz="1400" b="0" dirty="0">
                <a:solidFill>
                  <a:srgbClr val="7EA2B4"/>
                </a:solidFill>
                <a:latin typeface="Consolas"/>
              </a:rPr>
              <a:t>"+</a:t>
            </a:r>
            <a:r>
              <a:rPr lang="fr-FR" sz="1400" b="0" dirty="0">
                <a:solidFill>
                  <a:srgbClr val="2D8F6F"/>
                </a:solidFill>
                <a:latin typeface="Consolas"/>
              </a:rPr>
              <a:t>escape</a:t>
            </a:r>
            <a:r>
              <a:rPr lang="fr-FR" sz="1400" b="0" dirty="0">
                <a:solidFill>
                  <a:srgbClr val="7EA2B4"/>
                </a:solidFill>
                <a:latin typeface="Consolas"/>
              </a:rPr>
              <a:t>(</a:t>
            </a:r>
            <a:r>
              <a:rPr lang="fr-FR" sz="1400" b="0" dirty="0">
                <a:solidFill>
                  <a:srgbClr val="D22D72"/>
                </a:solidFill>
                <a:latin typeface="Consolas"/>
              </a:rPr>
              <a:t>cookieValue</a:t>
            </a:r>
            <a:r>
              <a:rPr lang="fr-FR" sz="1400" b="0" dirty="0">
                <a:solidFill>
                  <a:srgbClr val="7EA2B4"/>
                </a:solidFill>
                <a:latin typeface="Consolas"/>
              </a:rPr>
              <a:t>)+"</a:t>
            </a:r>
            <a:r>
              <a:rPr lang="fr-FR" sz="1400" b="0" dirty="0">
                <a:solidFill>
                  <a:srgbClr val="568C3B"/>
                </a:solidFill>
                <a:latin typeface="Consolas"/>
              </a:rPr>
              <a:t>;expires=</a:t>
            </a:r>
            <a:r>
              <a:rPr lang="fr-FR" sz="1400" b="0" dirty="0">
                <a:solidFill>
                  <a:srgbClr val="7EA2B4"/>
                </a:solidFill>
                <a:latin typeface="Consolas"/>
              </a:rPr>
              <a:t>"+</a:t>
            </a:r>
            <a:r>
              <a:rPr lang="fr-FR" sz="1400" b="0" dirty="0">
                <a:solidFill>
                  <a:srgbClr val="D22D72"/>
                </a:solidFill>
                <a:latin typeface="Consolas"/>
              </a:rPr>
              <a:t>expire</a:t>
            </a:r>
            <a:r>
              <a:rPr lang="fr-FR" sz="1400" b="0" dirty="0">
                <a:solidFill>
                  <a:srgbClr val="7EA2B4"/>
                </a:solidFill>
                <a:latin typeface="Consolas"/>
              </a:rPr>
              <a:t>.</a:t>
            </a:r>
            <a:r>
              <a:rPr lang="fr-FR" sz="1400" b="0" dirty="0">
                <a:solidFill>
                  <a:srgbClr val="2D8F6F"/>
                </a:solidFill>
                <a:latin typeface="Consolas"/>
              </a:rPr>
              <a:t>toGMTString</a:t>
            </a:r>
            <a:r>
              <a:rPr lang="fr-FR" sz="1400" b="0" dirty="0">
                <a:solidFill>
                  <a:srgbClr val="7EA2B4"/>
                </a:solidFill>
                <a:latin typeface="Consolas"/>
              </a:rPr>
              <a:t>();</a:t>
            </a:r>
          </a:p>
          <a:p>
            <a:r>
              <a:rPr lang="fr-FR" sz="1400" b="0" dirty="0">
                <a:solidFill>
                  <a:srgbClr val="7EA2B4"/>
                </a:solidFill>
                <a:latin typeface="Consolas"/>
              </a:rPr>
              <a:t>}</a:t>
            </a:r>
          </a:p>
        </p:txBody>
      </p:sp>
    </p:spTree>
    <p:extLst>
      <p:ext uri="{BB962C8B-B14F-4D97-AF65-F5344CB8AC3E}">
        <p14:creationId xmlns:p14="http://schemas.microsoft.com/office/powerpoint/2010/main" val="261941626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FD25A3-6E06-A79A-34FB-07BAEF4BE1CF}"/>
              </a:ext>
            </a:extLst>
          </p:cNvPr>
          <p:cNvSpPr>
            <a:spLocks noGrp="1"/>
          </p:cNvSpPr>
          <p:nvPr>
            <p:ph type="title"/>
          </p:nvPr>
        </p:nvSpPr>
        <p:spPr/>
        <p:txBody>
          <a:bodyPr/>
          <a:lstStyle/>
          <a:p>
            <a:r>
              <a:rPr lang="fr-FR" dirty="0"/>
              <a:t>10. JS moderne et responsive</a:t>
            </a:r>
          </a:p>
        </p:txBody>
      </p:sp>
      <p:sp>
        <p:nvSpPr>
          <p:cNvPr id="3" name="Espace réservé du texte 2">
            <a:extLst>
              <a:ext uri="{FF2B5EF4-FFF2-40B4-BE49-F238E27FC236}">
                <a16:creationId xmlns:a16="http://schemas.microsoft.com/office/drawing/2014/main" id="{C5C616AC-0401-FC8D-EB09-CADC14D1BE27}"/>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66022014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C4DD907-DC61-4F56-802E-28D60567B3F4}"/>
              </a:ext>
            </a:extLst>
          </p:cNvPr>
          <p:cNvSpPr>
            <a:spLocks noGrp="1"/>
          </p:cNvSpPr>
          <p:nvPr>
            <p:ph type="title"/>
          </p:nvPr>
        </p:nvSpPr>
        <p:spPr/>
        <p:txBody>
          <a:bodyPr/>
          <a:lstStyle/>
          <a:p>
            <a:r>
              <a:rPr lang="fr-FR" dirty="0"/>
              <a:t>Class</a:t>
            </a:r>
          </a:p>
        </p:txBody>
      </p:sp>
      <p:sp>
        <p:nvSpPr>
          <p:cNvPr id="3" name="Espace réservé du contenu 2">
            <a:extLst>
              <a:ext uri="{FF2B5EF4-FFF2-40B4-BE49-F238E27FC236}">
                <a16:creationId xmlns:a16="http://schemas.microsoft.com/office/drawing/2014/main" id="{D0EA1F38-6F11-4E5B-A109-DDF236D35425}"/>
              </a:ext>
            </a:extLst>
          </p:cNvPr>
          <p:cNvSpPr>
            <a:spLocks noGrp="1"/>
          </p:cNvSpPr>
          <p:nvPr>
            <p:ph idx="1"/>
          </p:nvPr>
        </p:nvSpPr>
        <p:spPr/>
        <p:txBody>
          <a:bodyPr>
            <a:normAutofit fontScale="92500" lnSpcReduction="20000"/>
          </a:bodyPr>
          <a:lstStyle/>
          <a:p>
            <a:r>
              <a:rPr lang="fr-FR" dirty="0"/>
              <a:t>Les classes </a:t>
            </a:r>
          </a:p>
          <a:p>
            <a:pPr lvl="1"/>
            <a:r>
              <a:rPr lang="fr-FR" dirty="0"/>
              <a:t>permettent la définition d’un objet </a:t>
            </a:r>
          </a:p>
          <a:p>
            <a:pPr lvl="2"/>
            <a:r>
              <a:rPr lang="fr-FR" dirty="0"/>
              <a:t>Des champs ou propriétés</a:t>
            </a:r>
          </a:p>
          <a:p>
            <a:pPr lvl="2"/>
            <a:endParaRPr lang="fr-FR" dirty="0"/>
          </a:p>
          <a:p>
            <a:pPr lvl="2"/>
            <a:r>
              <a:rPr lang="fr-FR" dirty="0"/>
              <a:t>Des méthodes du cycle de vie de l’objet</a:t>
            </a:r>
          </a:p>
          <a:p>
            <a:pPr lvl="3"/>
            <a:r>
              <a:rPr lang="fr-FR" b="1" dirty="0"/>
              <a:t>constructor</a:t>
            </a:r>
            <a:r>
              <a:rPr lang="fr-FR" dirty="0"/>
              <a:t>,…</a:t>
            </a:r>
          </a:p>
          <a:p>
            <a:pPr lvl="2"/>
            <a:endParaRPr lang="fr-FR" dirty="0"/>
          </a:p>
          <a:p>
            <a:pPr lvl="2"/>
            <a:r>
              <a:rPr lang="fr-FR" dirty="0"/>
              <a:t>Des méthodes et des fonctions</a:t>
            </a:r>
          </a:p>
          <a:p>
            <a:pPr lvl="2"/>
            <a:endParaRPr lang="fr-FR" dirty="0"/>
          </a:p>
          <a:p>
            <a:pPr lvl="2"/>
            <a:r>
              <a:rPr lang="fr-FR" dirty="0"/>
              <a:t>Il peut avoir des champs qui lui appartienne qu’a lui</a:t>
            </a:r>
          </a:p>
          <a:p>
            <a:pPr lvl="3"/>
            <a:r>
              <a:rPr lang="fr-FR" dirty="0"/>
              <a:t>Notion de </a:t>
            </a:r>
            <a:r>
              <a:rPr lang="fr-FR" b="1" dirty="0"/>
              <a:t>private</a:t>
            </a:r>
            <a:r>
              <a:rPr lang="fr-FR" dirty="0"/>
              <a:t>, </a:t>
            </a:r>
            <a:r>
              <a:rPr lang="fr-FR" b="1" dirty="0"/>
              <a:t>protected (#)</a:t>
            </a:r>
          </a:p>
          <a:p>
            <a:pPr lvl="2"/>
            <a:endParaRPr lang="fr-FR" dirty="0"/>
          </a:p>
          <a:p>
            <a:pPr lvl="2"/>
            <a:r>
              <a:rPr lang="fr-FR" dirty="0"/>
              <a:t>Il peut avoir des champs/fonctions disponibles pour interagir avec lui</a:t>
            </a:r>
          </a:p>
          <a:p>
            <a:pPr lvl="3"/>
            <a:r>
              <a:rPr lang="fr-FR" dirty="0"/>
              <a:t>Notion de </a:t>
            </a:r>
            <a:r>
              <a:rPr lang="fr-FR" b="1" dirty="0"/>
              <a:t>public / private</a:t>
            </a:r>
          </a:p>
          <a:p>
            <a:pPr lvl="1"/>
            <a:endParaRPr lang="fr-FR" dirty="0"/>
          </a:p>
          <a:p>
            <a:pPr marL="342900" lvl="1" indent="0">
              <a:buNone/>
            </a:pPr>
            <a:endParaRPr lang="fr-FR" dirty="0"/>
          </a:p>
          <a:p>
            <a:endParaRPr lang="fr-FR" dirty="0"/>
          </a:p>
        </p:txBody>
      </p:sp>
    </p:spTree>
    <p:extLst>
      <p:ext uri="{BB962C8B-B14F-4D97-AF65-F5344CB8AC3E}">
        <p14:creationId xmlns:p14="http://schemas.microsoft.com/office/powerpoint/2010/main" val="113598243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8DD942-4E89-46F7-A9AE-780317F27B0E}"/>
              </a:ext>
            </a:extLst>
          </p:cNvPr>
          <p:cNvSpPr>
            <a:spLocks noGrp="1"/>
          </p:cNvSpPr>
          <p:nvPr>
            <p:ph type="title"/>
          </p:nvPr>
        </p:nvSpPr>
        <p:spPr>
          <a:xfrm>
            <a:off x="0" y="260648"/>
            <a:ext cx="9144000" cy="589364"/>
          </a:xfrm>
        </p:spPr>
        <p:txBody>
          <a:bodyPr/>
          <a:lstStyle/>
          <a:p>
            <a:r>
              <a:rPr lang="fr-FR" dirty="0"/>
              <a:t>C’est l’histoire d’un mec…</a:t>
            </a:r>
          </a:p>
        </p:txBody>
      </p:sp>
      <p:sp>
        <p:nvSpPr>
          <p:cNvPr id="3" name="Espace réservé du contenu 2">
            <a:extLst>
              <a:ext uri="{FF2B5EF4-FFF2-40B4-BE49-F238E27FC236}">
                <a16:creationId xmlns:a16="http://schemas.microsoft.com/office/drawing/2014/main" id="{EF173981-9473-4B7B-A4E4-7637D6982912}"/>
              </a:ext>
            </a:extLst>
          </p:cNvPr>
          <p:cNvSpPr>
            <a:spLocks noGrp="1"/>
          </p:cNvSpPr>
          <p:nvPr>
            <p:ph idx="1"/>
          </p:nvPr>
        </p:nvSpPr>
        <p:spPr/>
        <p:txBody>
          <a:bodyPr>
            <a:normAutofit fontScale="92500" lnSpcReduction="20000"/>
          </a:bodyPr>
          <a:lstStyle/>
          <a:p>
            <a:r>
              <a:rPr lang="fr-FR" dirty="0"/>
              <a:t>C’est l’histoire d’un mec, de 56 ans habitant à Mulhouse prénommé Jean-Pierre</a:t>
            </a:r>
          </a:p>
          <a:p>
            <a:endParaRPr lang="fr-FR" dirty="0"/>
          </a:p>
          <a:p>
            <a:pPr marL="2761060"/>
            <a:r>
              <a:rPr lang="fr-FR" dirty="0"/>
              <a:t>Il acheté une machine à café, le type …</a:t>
            </a:r>
          </a:p>
          <a:p>
            <a:pPr marL="3299222" lvl="2"/>
            <a:r>
              <a:rPr lang="fr-FR" dirty="0"/>
              <a:t>Elle à un bouton marche / arrêt </a:t>
            </a:r>
          </a:p>
          <a:p>
            <a:pPr marL="3299222" lvl="2"/>
            <a:r>
              <a:rPr lang="fr-FR" dirty="0"/>
              <a:t>Un bac d’eau à remplir d’un litre</a:t>
            </a:r>
          </a:p>
          <a:p>
            <a:pPr marL="3299222" lvl="2"/>
            <a:r>
              <a:rPr lang="fr-FR" dirty="0"/>
              <a:t>Et du café en poudre à mettre dans le filtre à café</a:t>
            </a:r>
          </a:p>
          <a:p>
            <a:pPr marL="3299222" lvl="2"/>
            <a:endParaRPr lang="fr-FR" dirty="0"/>
          </a:p>
          <a:p>
            <a:pPr marL="3898106"/>
            <a:r>
              <a:rPr lang="fr-FR" dirty="0"/>
              <a:t>Analysons la conception </a:t>
            </a:r>
          </a:p>
          <a:p>
            <a:pPr marL="3640931" indent="0" algn="ctr">
              <a:buNone/>
            </a:pPr>
            <a:r>
              <a:rPr lang="fr-FR" dirty="0"/>
              <a:t>de l’objet</a:t>
            </a:r>
          </a:p>
          <a:p>
            <a:pPr marL="3640931" indent="0" algn="ctr">
              <a:buNone/>
            </a:pPr>
            <a:r>
              <a:rPr lang="fr-FR" dirty="0"/>
              <a:t> </a:t>
            </a:r>
          </a:p>
        </p:txBody>
      </p:sp>
      <p:pic>
        <p:nvPicPr>
          <p:cNvPr id="4100" name="Picture 4" descr="KLARSTEIN Minibarista - Machine à café 550W avec Carafe 0,6 L pour ...">
            <a:extLst>
              <a:ext uri="{FF2B5EF4-FFF2-40B4-BE49-F238E27FC236}">
                <a16:creationId xmlns:a16="http://schemas.microsoft.com/office/drawing/2014/main" id="{B6ECA912-F1F0-4FFE-BF91-A0710BC2B9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704" y="2671273"/>
            <a:ext cx="2387592" cy="2927565"/>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6D8E1CB3-FED5-4954-A3F4-0E3C216D0AE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30703" y="5521302"/>
            <a:ext cx="1042385" cy="8877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720563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8DD942-4E89-46F7-A9AE-780317F27B0E}"/>
              </a:ext>
            </a:extLst>
          </p:cNvPr>
          <p:cNvSpPr>
            <a:spLocks noGrp="1"/>
          </p:cNvSpPr>
          <p:nvPr>
            <p:ph type="title"/>
          </p:nvPr>
        </p:nvSpPr>
        <p:spPr>
          <a:xfrm>
            <a:off x="0" y="332656"/>
            <a:ext cx="9144000" cy="589364"/>
          </a:xfrm>
        </p:spPr>
        <p:txBody>
          <a:bodyPr/>
          <a:lstStyle/>
          <a:p>
            <a:r>
              <a:rPr lang="fr-FR" dirty="0"/>
              <a:t>C’est l’histoire d’un mec…</a:t>
            </a:r>
          </a:p>
        </p:txBody>
      </p:sp>
      <p:sp>
        <p:nvSpPr>
          <p:cNvPr id="3" name="Espace réservé du contenu 2">
            <a:extLst>
              <a:ext uri="{FF2B5EF4-FFF2-40B4-BE49-F238E27FC236}">
                <a16:creationId xmlns:a16="http://schemas.microsoft.com/office/drawing/2014/main" id="{EF173981-9473-4B7B-A4E4-7637D6982912}"/>
              </a:ext>
            </a:extLst>
          </p:cNvPr>
          <p:cNvSpPr>
            <a:spLocks noGrp="1"/>
          </p:cNvSpPr>
          <p:nvPr>
            <p:ph idx="1"/>
          </p:nvPr>
        </p:nvSpPr>
        <p:spPr/>
        <p:txBody>
          <a:bodyPr>
            <a:normAutofit fontScale="70000" lnSpcReduction="20000"/>
          </a:bodyPr>
          <a:lstStyle/>
          <a:p>
            <a:r>
              <a:rPr lang="fr-FR" dirty="0"/>
              <a:t>Sans intérêt pour nous </a:t>
            </a:r>
          </a:p>
          <a:p>
            <a:pPr marL="0" indent="0" algn="ctr">
              <a:buNone/>
            </a:pPr>
            <a:r>
              <a:rPr lang="fr-FR" sz="1200" dirty="0"/>
              <a:t>C’est l’histoire d’un mec, de 56 ans habitant à Mulhouse prénommé Jean-Pierre</a:t>
            </a:r>
            <a:endParaRPr lang="fr-FR" dirty="0"/>
          </a:p>
          <a:p>
            <a:pPr marL="2761060"/>
            <a:r>
              <a:rPr lang="fr-FR" dirty="0"/>
              <a:t>Identifions une class machine à café</a:t>
            </a:r>
          </a:p>
          <a:p>
            <a:pPr marL="3361135" lvl="2"/>
            <a:r>
              <a:rPr lang="fr-FR" dirty="0"/>
              <a:t>Des fonctions d’ interaction </a:t>
            </a:r>
            <a:r>
              <a:rPr lang="fr-FR" b="1" dirty="0"/>
              <a:t>public</a:t>
            </a:r>
          </a:p>
          <a:p>
            <a:pPr marL="3642122" lvl="3"/>
            <a:r>
              <a:rPr lang="fr-FR" dirty="0"/>
              <a:t>Elle à une fonction marche / arrêt </a:t>
            </a:r>
          </a:p>
          <a:p>
            <a:pPr marL="3642122" lvl="3"/>
            <a:r>
              <a:rPr lang="fr-FR" dirty="0"/>
              <a:t>Un champ définissant le volume d’eau du bac</a:t>
            </a:r>
          </a:p>
          <a:p>
            <a:pPr marL="3642122" lvl="3"/>
            <a:r>
              <a:rPr lang="fr-FR" dirty="0"/>
              <a:t>Elle possède un champ de type café</a:t>
            </a:r>
          </a:p>
          <a:p>
            <a:pPr marL="3299222" lvl="2"/>
            <a:endParaRPr lang="fr-FR" dirty="0"/>
          </a:p>
          <a:p>
            <a:pPr marL="3299222" lvl="2"/>
            <a:r>
              <a:rPr lang="fr-FR" dirty="0"/>
              <a:t>Des fonctions et champs qui lui sont propre </a:t>
            </a:r>
          </a:p>
          <a:p>
            <a:pPr marL="3642122" lvl="3"/>
            <a:r>
              <a:rPr lang="fr-FR" dirty="0"/>
              <a:t>Température de l’eau</a:t>
            </a:r>
          </a:p>
          <a:p>
            <a:pPr marL="3642122" lvl="3"/>
            <a:r>
              <a:rPr lang="fr-FR" dirty="0"/>
              <a:t>Activation de la résistance chauffante</a:t>
            </a:r>
          </a:p>
          <a:p>
            <a:pPr marL="3642122" lvl="3"/>
            <a:r>
              <a:rPr lang="fr-FR" dirty="0"/>
              <a:t>Activation de la pompe </a:t>
            </a:r>
          </a:p>
          <a:p>
            <a:pPr marL="3642122" lvl="3"/>
            <a:r>
              <a:rPr lang="fr-FR" dirty="0"/>
              <a:t>Eclairage du bouton lors du branchement</a:t>
            </a:r>
          </a:p>
          <a:p>
            <a:pPr marL="3090863"/>
            <a:endParaRPr lang="fr-FR" dirty="0"/>
          </a:p>
          <a:p>
            <a:pPr marL="3090863"/>
            <a:r>
              <a:rPr lang="fr-FR" dirty="0"/>
              <a:t>Une cafetière c’est donc un objet!!!</a:t>
            </a:r>
          </a:p>
          <a:p>
            <a:pPr marL="2833688" indent="0">
              <a:buNone/>
            </a:pPr>
            <a:r>
              <a:rPr lang="fr-FR" dirty="0"/>
              <a:t>				Et Jean-Pierre aussi</a:t>
            </a:r>
          </a:p>
          <a:p>
            <a:pPr marL="3640931" indent="0" algn="r">
              <a:buNone/>
            </a:pPr>
            <a:r>
              <a:rPr lang="fr-FR" dirty="0"/>
              <a:t>   Heu l’autre!! 		</a:t>
            </a:r>
          </a:p>
        </p:txBody>
      </p:sp>
      <p:pic>
        <p:nvPicPr>
          <p:cNvPr id="4100" name="Picture 4" descr="KLARSTEIN Minibarista - Machine à café 550W avec Carafe 0,6 L pour ...">
            <a:extLst>
              <a:ext uri="{FF2B5EF4-FFF2-40B4-BE49-F238E27FC236}">
                <a16:creationId xmlns:a16="http://schemas.microsoft.com/office/drawing/2014/main" id="{B6ECA912-F1F0-4FFE-BF91-A0710BC2B9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704" y="2671273"/>
            <a:ext cx="2387592" cy="2927565"/>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a:extLst>
              <a:ext uri="{FF2B5EF4-FFF2-40B4-BE49-F238E27FC236}">
                <a16:creationId xmlns:a16="http://schemas.microsoft.com/office/drawing/2014/main" id="{6D8E1CB3-FED5-4954-A3F4-0E3C216D0AE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15895" y="4780494"/>
            <a:ext cx="1042385" cy="887794"/>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Govan's Coffee - Menu">
            <a:extLst>
              <a:ext uri="{FF2B5EF4-FFF2-40B4-BE49-F238E27FC236}">
                <a16:creationId xmlns:a16="http://schemas.microsoft.com/office/drawing/2014/main" id="{4F463401-7518-45A2-9CF7-9DB85AA252A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00809" y="1714489"/>
            <a:ext cx="1614488" cy="1087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76581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0C2D239-6AF8-4F45-B409-3FAC50D6176F}"/>
              </a:ext>
            </a:extLst>
          </p:cNvPr>
          <p:cNvSpPr>
            <a:spLocks noGrp="1"/>
          </p:cNvSpPr>
          <p:nvPr>
            <p:ph type="title"/>
          </p:nvPr>
        </p:nvSpPr>
        <p:spPr/>
        <p:txBody>
          <a:bodyPr/>
          <a:lstStyle/>
          <a:p>
            <a:r>
              <a:rPr lang="fr-FR" dirty="0"/>
              <a:t>Class machine à café</a:t>
            </a:r>
          </a:p>
        </p:txBody>
      </p:sp>
      <p:sp>
        <p:nvSpPr>
          <p:cNvPr id="5" name="Espace réservé du contenu 4">
            <a:extLst>
              <a:ext uri="{FF2B5EF4-FFF2-40B4-BE49-F238E27FC236}">
                <a16:creationId xmlns:a16="http://schemas.microsoft.com/office/drawing/2014/main" id="{9DC7315F-AA3B-4EA6-80D2-55941E13C254}"/>
              </a:ext>
            </a:extLst>
          </p:cNvPr>
          <p:cNvSpPr>
            <a:spLocks noGrp="1"/>
          </p:cNvSpPr>
          <p:nvPr>
            <p:ph idx="1"/>
          </p:nvPr>
        </p:nvSpPr>
        <p:spPr/>
        <p:txBody>
          <a:bodyPr>
            <a:normAutofit fontScale="92500" lnSpcReduction="20000"/>
          </a:bodyPr>
          <a:lstStyle/>
          <a:p>
            <a:r>
              <a:rPr lang="fr-FR" dirty="0"/>
              <a:t>Machine à café</a:t>
            </a:r>
          </a:p>
          <a:p>
            <a:endParaRPr lang="fr-FR" dirty="0"/>
          </a:p>
          <a:p>
            <a:pPr lvl="2"/>
            <a:r>
              <a:rPr lang="fr-FR" dirty="0"/>
              <a:t>Des champs privés</a:t>
            </a:r>
          </a:p>
          <a:p>
            <a:endParaRPr lang="fr-FR" dirty="0"/>
          </a:p>
          <a:p>
            <a:pPr lvl="2"/>
            <a:r>
              <a:rPr lang="fr-FR" dirty="0"/>
              <a:t>Des champs publics </a:t>
            </a:r>
          </a:p>
          <a:p>
            <a:pPr lvl="2"/>
            <a:endParaRPr lang="fr-FR" dirty="0"/>
          </a:p>
          <a:p>
            <a:pPr lvl="2"/>
            <a:r>
              <a:rPr lang="fr-FR" dirty="0"/>
              <a:t>Un constructeur</a:t>
            </a:r>
          </a:p>
          <a:p>
            <a:endParaRPr lang="fr-FR" dirty="0"/>
          </a:p>
          <a:p>
            <a:pPr lvl="2"/>
            <a:r>
              <a:rPr lang="fr-FR" dirty="0"/>
              <a:t>Des fonctions interne privée</a:t>
            </a:r>
          </a:p>
          <a:p>
            <a:endParaRPr lang="fr-FR" dirty="0"/>
          </a:p>
          <a:p>
            <a:pPr lvl="2"/>
            <a:r>
              <a:rPr lang="fr-FR" dirty="0"/>
              <a:t>Des interactions extérieures, public</a:t>
            </a:r>
          </a:p>
          <a:p>
            <a:pPr lvl="3"/>
            <a:r>
              <a:rPr lang="fr-FR" dirty="0"/>
              <a:t>This, context de l’objet dans l’objet</a:t>
            </a:r>
          </a:p>
        </p:txBody>
      </p:sp>
      <p:sp>
        <p:nvSpPr>
          <p:cNvPr id="6" name="Espace réservé du contenu 5">
            <a:extLst>
              <a:ext uri="{FF2B5EF4-FFF2-40B4-BE49-F238E27FC236}">
                <a16:creationId xmlns:a16="http://schemas.microsoft.com/office/drawing/2014/main" id="{2F66DCA6-DE46-4887-837E-F799B8A164C0}"/>
              </a:ext>
            </a:extLst>
          </p:cNvPr>
          <p:cNvSpPr>
            <a:spLocks noGrp="1"/>
          </p:cNvSpPr>
          <p:nvPr>
            <p:ph sz="quarter" idx="14"/>
          </p:nvPr>
        </p:nvSpPr>
        <p:spPr>
          <a:xfrm>
            <a:off x="5442996" y="1642683"/>
            <a:ext cx="3394276" cy="3858909"/>
          </a:xfrm>
        </p:spPr>
        <p:txBody>
          <a:bodyPr>
            <a:normAutofit fontScale="77500" lnSpcReduction="20000"/>
          </a:bodyPr>
          <a:lstStyle/>
          <a:p>
            <a:pPr marL="0" indent="0">
              <a:buNone/>
            </a:pPr>
            <a:endParaRPr lang="fr-FR" dirty="0">
              <a:solidFill>
                <a:srgbClr val="0000FF"/>
              </a:solidFill>
              <a:latin typeface="Consolas" panose="020B0609020204030204" pitchFamily="49" charset="0"/>
            </a:endParaRPr>
          </a:p>
          <a:p>
            <a:pPr marL="0" indent="0">
              <a:buNone/>
            </a:pPr>
            <a:r>
              <a:rPr lang="fr-FR" dirty="0">
                <a:solidFill>
                  <a:srgbClr val="0000FF"/>
                </a:solidFill>
                <a:latin typeface="Consolas" panose="020B0609020204030204" pitchFamily="49" charset="0"/>
              </a:rPr>
              <a:t>class</a:t>
            </a:r>
            <a:r>
              <a:rPr lang="fr-FR" dirty="0">
                <a:solidFill>
                  <a:srgbClr val="000000"/>
                </a:solidFill>
                <a:latin typeface="Consolas" panose="020B0609020204030204" pitchFamily="49" charset="0"/>
              </a:rPr>
              <a:t> MachineCafe{</a:t>
            </a:r>
          </a:p>
          <a:p>
            <a:pPr marL="0" indent="0">
              <a:buNone/>
            </a:pP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a:t>
            </a:r>
            <a:r>
              <a:rPr lang="fr-FR" dirty="0">
                <a:solidFill>
                  <a:srgbClr val="000000"/>
                </a:solidFill>
                <a:latin typeface="Consolas" panose="020B0609020204030204" pitchFamily="49" charset="0"/>
              </a:rPr>
              <a:t>temperature: number;</a:t>
            </a:r>
          </a:p>
          <a:p>
            <a:pPr marL="0" indent="0">
              <a:buNone/>
            </a:pP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a:t>
            </a:r>
            <a:r>
              <a:rPr lang="fr-FR" dirty="0">
                <a:solidFill>
                  <a:srgbClr val="000000"/>
                </a:solidFill>
                <a:latin typeface="Consolas" panose="020B0609020204030204" pitchFamily="49" charset="0"/>
              </a:rPr>
              <a:t>temperatureMax=</a:t>
            </a:r>
            <a:r>
              <a:rPr lang="fr-FR" dirty="0">
                <a:solidFill>
                  <a:srgbClr val="098658"/>
                </a:solidFill>
                <a:latin typeface="Consolas" panose="020B0609020204030204" pitchFamily="49" charset="0"/>
              </a:rPr>
              <a:t>95</a:t>
            </a:r>
            <a:r>
              <a:rPr lang="fr-FR" dirty="0">
                <a:solidFill>
                  <a:srgbClr val="000000"/>
                </a:solidFill>
                <a:latin typeface="Consolas" panose="020B0609020204030204" pitchFamily="49" charset="0"/>
              </a:rPr>
              <a:t>;</a:t>
            </a:r>
          </a:p>
          <a:p>
            <a:pPr marL="0" indent="0">
              <a:buNone/>
            </a:pP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a:t>
            </a:r>
            <a:r>
              <a:rPr lang="fr-FR" dirty="0">
                <a:solidFill>
                  <a:srgbClr val="000000"/>
                </a:solidFill>
                <a:latin typeface="Consolas" panose="020B0609020204030204" pitchFamily="49" charset="0"/>
              </a:rPr>
              <a:t>isPumpStarted: boolean;</a:t>
            </a:r>
          </a:p>
          <a:p>
            <a:pPr marL="0" indent="0">
              <a:buNone/>
            </a:pP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a:t>
            </a:r>
            <a:r>
              <a:rPr lang="fr-FR" dirty="0">
                <a:solidFill>
                  <a:srgbClr val="000000"/>
                </a:solidFill>
                <a:latin typeface="Consolas" panose="020B0609020204030204" pitchFamily="49" charset="0"/>
              </a:rPr>
              <a:t>isHeaterStarted: boolean;</a:t>
            </a:r>
          </a:p>
          <a:p>
            <a:pPr marL="0" indent="0">
              <a:buNone/>
            </a:pPr>
            <a:r>
              <a:rPr lang="fr-FR" dirty="0">
                <a:solidFill>
                  <a:srgbClr val="000000"/>
                </a:solidFill>
                <a:latin typeface="Consolas" panose="020B0609020204030204" pitchFamily="49" charset="0"/>
              </a:rPr>
              <a:t>    </a:t>
            </a:r>
          </a:p>
          <a:p>
            <a:pPr marL="0" indent="0">
              <a:buNone/>
            </a:pPr>
            <a:r>
              <a:rPr lang="fr-FR" dirty="0">
                <a:solidFill>
                  <a:srgbClr val="000000"/>
                </a:solidFill>
                <a:latin typeface="Consolas" panose="020B0609020204030204" pitchFamily="49" charset="0"/>
              </a:rPr>
              <a:t>   isOnButton: boolean;</a:t>
            </a:r>
          </a:p>
          <a:p>
            <a:pPr marL="0" indent="0">
              <a:buNone/>
            </a:pPr>
            <a:r>
              <a:rPr lang="fr-FR" dirty="0">
                <a:solidFill>
                  <a:srgbClr val="000000"/>
                </a:solidFill>
                <a:latin typeface="Consolas" panose="020B0609020204030204" pitchFamily="49" charset="0"/>
              </a:rPr>
              <a:t>   cafe?: Cafe;</a:t>
            </a:r>
          </a:p>
          <a:p>
            <a:pPr marL="0" indent="0">
              <a:buNone/>
            </a:pPr>
            <a:r>
              <a:rPr lang="fr-FR" dirty="0">
                <a:solidFill>
                  <a:srgbClr val="000000"/>
                </a:solidFill>
                <a:latin typeface="Consolas" panose="020B0609020204030204" pitchFamily="49" charset="0"/>
              </a:rPr>
              <a:t>   niveauEau: number;</a:t>
            </a:r>
          </a:p>
          <a:p>
            <a:pPr marL="0" indent="0">
              <a:buNone/>
            </a:pPr>
            <a:r>
              <a:rPr lang="fr-FR" dirty="0">
                <a:solidFill>
                  <a:srgbClr val="000000"/>
                </a:solidFill>
                <a:latin typeface="Consolas" panose="020B0609020204030204" pitchFamily="49" charset="0"/>
              </a:rPr>
              <a:t>    </a:t>
            </a:r>
          </a:p>
          <a:p>
            <a:pPr marL="0" indent="0">
              <a:buNone/>
            </a:pPr>
            <a:r>
              <a:rPr lang="fr-FR" dirty="0">
                <a:solidFill>
                  <a:srgbClr val="0000FF"/>
                </a:solidFill>
                <a:latin typeface="Consolas" panose="020B0609020204030204" pitchFamily="49" charset="0"/>
              </a:rPr>
              <a:t>  constructor</a:t>
            </a:r>
            <a:r>
              <a:rPr lang="fr-FR" dirty="0">
                <a:solidFill>
                  <a:srgbClr val="000000"/>
                </a:solidFill>
                <a:latin typeface="Consolas" panose="020B0609020204030204" pitchFamily="49" charset="0"/>
              </a:rPr>
              <a:t>()</a:t>
            </a:r>
          </a:p>
          <a:p>
            <a:pPr marL="0" indent="0">
              <a:buNone/>
            </a:pPr>
            <a:r>
              <a:rPr lang="fr-FR" dirty="0">
                <a:solidFill>
                  <a:srgbClr val="0000FF"/>
                </a:solidFill>
                <a:latin typeface="Consolas" panose="020B0609020204030204" pitchFamily="49" charset="0"/>
              </a:rPr>
              <a:t>  {</a:t>
            </a:r>
          </a:p>
          <a:p>
            <a:pPr marL="0" indent="0">
              <a:buNone/>
            </a:pPr>
            <a:r>
              <a:rPr lang="fr-FR" dirty="0">
                <a:solidFill>
                  <a:srgbClr val="0000FF"/>
                </a:solidFill>
                <a:latin typeface="Consolas" panose="020B0609020204030204" pitchFamily="49" charset="0"/>
              </a:rPr>
              <a:t>     </a:t>
            </a:r>
            <a:r>
              <a:rPr lang="fr-FR" dirty="0" err="1">
                <a:solidFill>
                  <a:srgbClr val="0000FF"/>
                </a:solidFill>
                <a:latin typeface="Consolas" panose="020B0609020204030204" pitchFamily="49" charset="0"/>
              </a:rPr>
              <a:t>this</a:t>
            </a:r>
            <a:r>
              <a:rPr lang="fr-FR" dirty="0" err="1">
                <a:solidFill>
                  <a:srgbClr val="000000"/>
                </a:solidFill>
                <a:latin typeface="Consolas" panose="020B0609020204030204" pitchFamily="49" charset="0"/>
              </a:rPr>
              <a:t>.#temperature</a:t>
            </a:r>
            <a:r>
              <a:rPr lang="fr-FR" dirty="0">
                <a:solidFill>
                  <a:srgbClr val="000000"/>
                </a:solidFill>
                <a:latin typeface="Consolas" panose="020B0609020204030204" pitchFamily="49" charset="0"/>
              </a:rPr>
              <a:t>=</a:t>
            </a:r>
            <a:r>
              <a:rPr lang="fr-FR" dirty="0">
                <a:solidFill>
                  <a:srgbClr val="098658"/>
                </a:solidFill>
                <a:latin typeface="Consolas" panose="020B0609020204030204" pitchFamily="49" charset="0"/>
              </a:rPr>
              <a:t>0</a:t>
            </a:r>
            <a:r>
              <a:rPr lang="fr-FR" dirty="0">
                <a:solidFill>
                  <a:srgbClr val="000000"/>
                </a:solidFill>
                <a:latin typeface="Consolas" panose="020B0609020204030204" pitchFamily="49" charset="0"/>
              </a:rPr>
              <a:t>;</a:t>
            </a:r>
            <a:r>
              <a:rPr lang="fr-FR" dirty="0">
                <a:solidFill>
                  <a:srgbClr val="0000FF"/>
                </a:solidFill>
                <a:latin typeface="Consolas" panose="020B0609020204030204" pitchFamily="49" charset="0"/>
              </a:rPr>
              <a:t>...  */</a:t>
            </a:r>
            <a:endParaRPr lang="fr-FR" dirty="0">
              <a:solidFill>
                <a:srgbClr val="000000"/>
              </a:solidFill>
              <a:latin typeface="Consolas" panose="020B0609020204030204" pitchFamily="49" charset="0"/>
            </a:endParaRPr>
          </a:p>
          <a:p>
            <a:pPr marL="0" indent="0">
              <a:buNone/>
            </a:pP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this</a:t>
            </a:r>
            <a:r>
              <a:rPr lang="fr-FR" dirty="0">
                <a:solidFill>
                  <a:srgbClr val="000000"/>
                </a:solidFill>
                <a:latin typeface="Consolas" panose="020B0609020204030204" pitchFamily="49" charset="0"/>
              </a:rPr>
              <a:t>.niveauEau=</a:t>
            </a:r>
            <a:r>
              <a:rPr lang="fr-FR" dirty="0" err="1">
                <a:solidFill>
                  <a:srgbClr val="0000FF"/>
                </a:solidFill>
                <a:latin typeface="Consolas" panose="020B0609020204030204" pitchFamily="49" charset="0"/>
              </a:rPr>
              <a:t>this</a:t>
            </a:r>
            <a:r>
              <a:rPr lang="fr-FR" dirty="0" err="1">
                <a:solidFill>
                  <a:srgbClr val="000000"/>
                </a:solidFill>
                <a:latin typeface="Consolas" panose="020B0609020204030204" pitchFamily="49" charset="0"/>
              </a:rPr>
              <a:t>.#senseWaterLevel</a:t>
            </a:r>
            <a:r>
              <a:rPr lang="fr-FR" dirty="0">
                <a:solidFill>
                  <a:srgbClr val="000000"/>
                </a:solidFill>
                <a:latin typeface="Consolas" panose="020B0609020204030204" pitchFamily="49" charset="0"/>
              </a:rPr>
              <a:t>();</a:t>
            </a:r>
          </a:p>
          <a:p>
            <a:pPr marL="0" indent="0">
              <a:buNone/>
            </a:pPr>
            <a:r>
              <a:rPr lang="fr-FR" dirty="0">
                <a:solidFill>
                  <a:srgbClr val="000000"/>
                </a:solidFill>
                <a:latin typeface="Consolas" panose="020B0609020204030204" pitchFamily="49" charset="0"/>
              </a:rPr>
              <a:t>  }</a:t>
            </a:r>
          </a:p>
          <a:p>
            <a:pPr marL="0" indent="0">
              <a:buNone/>
            </a:pPr>
            <a:endParaRPr lang="fr-FR" dirty="0">
              <a:solidFill>
                <a:srgbClr val="000000"/>
              </a:solidFill>
              <a:latin typeface="Consolas" panose="020B0609020204030204" pitchFamily="49" charset="0"/>
            </a:endParaRPr>
          </a:p>
          <a:p>
            <a:pPr marL="0" indent="0">
              <a:buNone/>
            </a:pPr>
            <a:r>
              <a:rPr lang="fr-FR" dirty="0">
                <a:solidFill>
                  <a:srgbClr val="0000FF"/>
                </a:solidFill>
                <a:latin typeface="Consolas" panose="020B0609020204030204" pitchFamily="49" charset="0"/>
              </a:rPr>
              <a:t>  #</a:t>
            </a:r>
            <a:r>
              <a:rPr lang="fr-FR" dirty="0">
                <a:solidFill>
                  <a:srgbClr val="000000"/>
                </a:solidFill>
                <a:latin typeface="Consolas" panose="020B0609020204030204" pitchFamily="49" charset="0"/>
              </a:rPr>
              <a:t>senseWaterLevel(){}</a:t>
            </a:r>
          </a:p>
          <a:p>
            <a:pPr marL="0" indent="0">
              <a:buNone/>
            </a:pPr>
            <a:r>
              <a:rPr lang="fr-FR" dirty="0">
                <a:solidFill>
                  <a:srgbClr val="0000FF"/>
                </a:solidFill>
                <a:latin typeface="Consolas" panose="020B0609020204030204" pitchFamily="49" charset="0"/>
              </a:rPr>
              <a:t>  #</a:t>
            </a:r>
            <a:r>
              <a:rPr lang="fr-FR" dirty="0">
                <a:solidFill>
                  <a:srgbClr val="000000"/>
                </a:solidFill>
                <a:latin typeface="Consolas" panose="020B0609020204030204" pitchFamily="49" charset="0"/>
              </a:rPr>
              <a:t>startPump(){}</a:t>
            </a:r>
          </a:p>
          <a:p>
            <a:pPr marL="0" indent="0">
              <a:buNone/>
            </a:pPr>
            <a:r>
              <a:rPr lang="fr-FR" dirty="0">
                <a:solidFill>
                  <a:srgbClr val="0000FF"/>
                </a:solidFill>
                <a:latin typeface="Consolas" panose="020B0609020204030204" pitchFamily="49" charset="0"/>
              </a:rPr>
              <a:t>  #</a:t>
            </a:r>
            <a:r>
              <a:rPr lang="fr-FR" dirty="0">
                <a:solidFill>
                  <a:srgbClr val="000000"/>
                </a:solidFill>
                <a:latin typeface="Consolas" panose="020B0609020204030204" pitchFamily="49" charset="0"/>
              </a:rPr>
              <a:t>startHeater(){}</a:t>
            </a:r>
          </a:p>
          <a:p>
            <a:pPr marL="0" indent="0">
              <a:buNone/>
            </a:pPr>
            <a:endParaRPr lang="fr-FR" dirty="0">
              <a:solidFill>
                <a:srgbClr val="000000"/>
              </a:solidFill>
              <a:latin typeface="Consolas" panose="020B0609020204030204" pitchFamily="49" charset="0"/>
            </a:endParaRPr>
          </a:p>
          <a:p>
            <a:pPr marL="0" indent="0">
              <a:buNone/>
            </a:pPr>
            <a:r>
              <a:rPr lang="fr-FR" dirty="0">
                <a:solidFill>
                  <a:srgbClr val="0000FF"/>
                </a:solidFill>
                <a:latin typeface="Consolas" panose="020B0609020204030204" pitchFamily="49" charset="0"/>
              </a:rPr>
              <a:t>  public</a:t>
            </a:r>
            <a:r>
              <a:rPr lang="fr-FR" dirty="0">
                <a:solidFill>
                  <a:srgbClr val="000000"/>
                </a:solidFill>
                <a:latin typeface="Consolas" panose="020B0609020204030204" pitchFamily="49" charset="0"/>
              </a:rPr>
              <a:t> makeCofe(){</a:t>
            </a:r>
          </a:p>
          <a:p>
            <a:pPr marL="0" indent="0">
              <a:buNone/>
            </a:pPr>
            <a:r>
              <a:rPr lang="fr-FR" dirty="0">
                <a:solidFill>
                  <a:srgbClr val="000000"/>
                </a:solidFill>
                <a:latin typeface="Consolas" panose="020B0609020204030204" pitchFamily="49" charset="0"/>
              </a:rPr>
              <a:t>        </a:t>
            </a:r>
            <a:r>
              <a:rPr lang="fr-FR" dirty="0" err="1">
                <a:solidFill>
                  <a:srgbClr val="0000FF"/>
                </a:solidFill>
                <a:latin typeface="Consolas" panose="020B0609020204030204" pitchFamily="49" charset="0"/>
              </a:rPr>
              <a:t>this</a:t>
            </a:r>
            <a:r>
              <a:rPr lang="fr-FR" dirty="0" err="1">
                <a:solidFill>
                  <a:srgbClr val="000000"/>
                </a:solidFill>
                <a:latin typeface="Consolas" panose="020B0609020204030204" pitchFamily="49" charset="0"/>
              </a:rPr>
              <a:t>.#startHeater</a:t>
            </a:r>
            <a:r>
              <a:rPr lang="fr-FR" dirty="0">
                <a:solidFill>
                  <a:srgbClr val="000000"/>
                </a:solidFill>
                <a:latin typeface="Consolas" panose="020B0609020204030204" pitchFamily="49" charset="0"/>
              </a:rPr>
              <a:t>();</a:t>
            </a:r>
          </a:p>
          <a:p>
            <a:pPr marL="0" indent="0">
              <a:buNone/>
            </a:pPr>
            <a:r>
              <a:rPr lang="fr-FR" dirty="0">
                <a:solidFill>
                  <a:srgbClr val="000000"/>
                </a:solidFill>
                <a:latin typeface="Consolas" panose="020B0609020204030204" pitchFamily="49" charset="0"/>
              </a:rPr>
              <a:t>        </a:t>
            </a:r>
            <a:r>
              <a:rPr lang="fr-FR" dirty="0" err="1">
                <a:solidFill>
                  <a:srgbClr val="0000FF"/>
                </a:solidFill>
                <a:latin typeface="Consolas" panose="020B0609020204030204" pitchFamily="49" charset="0"/>
              </a:rPr>
              <a:t>this</a:t>
            </a:r>
            <a:r>
              <a:rPr lang="fr-FR" dirty="0" err="1">
                <a:solidFill>
                  <a:srgbClr val="000000"/>
                </a:solidFill>
                <a:latin typeface="Consolas" panose="020B0609020204030204" pitchFamily="49" charset="0"/>
              </a:rPr>
              <a:t>.#startPump</a:t>
            </a:r>
            <a:r>
              <a:rPr lang="fr-FR" dirty="0">
                <a:solidFill>
                  <a:srgbClr val="000000"/>
                </a:solidFill>
                <a:latin typeface="Consolas" panose="020B0609020204030204" pitchFamily="49" charset="0"/>
              </a:rPr>
              <a:t>();</a:t>
            </a:r>
          </a:p>
          <a:p>
            <a:pPr marL="0" indent="0">
              <a:buNone/>
            </a:pPr>
            <a:r>
              <a:rPr lang="fr-FR" dirty="0">
                <a:solidFill>
                  <a:srgbClr val="000000"/>
                </a:solidFill>
                <a:latin typeface="Consolas" panose="020B0609020204030204" pitchFamily="49" charset="0"/>
              </a:rPr>
              <a:t>  }</a:t>
            </a:r>
          </a:p>
          <a:p>
            <a:pPr marL="0" indent="0">
              <a:buNone/>
            </a:pPr>
            <a:r>
              <a:rPr lang="fr-FR" dirty="0">
                <a:solidFill>
                  <a:srgbClr val="000000"/>
                </a:solidFill>
                <a:latin typeface="Consolas" panose="020B0609020204030204" pitchFamily="49" charset="0"/>
              </a:rPr>
              <a:t>};</a:t>
            </a:r>
          </a:p>
        </p:txBody>
      </p:sp>
      <p:cxnSp>
        <p:nvCxnSpPr>
          <p:cNvPr id="8" name="Connecteur droit avec flèche 7">
            <a:extLst>
              <a:ext uri="{FF2B5EF4-FFF2-40B4-BE49-F238E27FC236}">
                <a16:creationId xmlns:a16="http://schemas.microsoft.com/office/drawing/2014/main" id="{AA26248D-6DA6-4C6A-B7A6-8C4914AA9882}"/>
              </a:ext>
            </a:extLst>
          </p:cNvPr>
          <p:cNvCxnSpPr>
            <a:cxnSpLocks/>
          </p:cNvCxnSpPr>
          <p:nvPr/>
        </p:nvCxnSpPr>
        <p:spPr>
          <a:xfrm flipV="1">
            <a:off x="2500132" y="1714489"/>
            <a:ext cx="2852982" cy="192175"/>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sp>
        <p:nvSpPr>
          <p:cNvPr id="11" name="Rectangle 10">
            <a:extLst>
              <a:ext uri="{FF2B5EF4-FFF2-40B4-BE49-F238E27FC236}">
                <a16:creationId xmlns:a16="http://schemas.microsoft.com/office/drawing/2014/main" id="{40B82F23-ECBD-4FD1-B5A1-9552D7C82BA4}"/>
              </a:ext>
            </a:extLst>
          </p:cNvPr>
          <p:cNvSpPr/>
          <p:nvPr/>
        </p:nvSpPr>
        <p:spPr>
          <a:xfrm rot="218273">
            <a:off x="5639107" y="1899136"/>
            <a:ext cx="2734520" cy="602131"/>
          </a:xfrm>
          <a:prstGeom prst="rect">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2" name="Rectangle 11">
            <a:extLst>
              <a:ext uri="{FF2B5EF4-FFF2-40B4-BE49-F238E27FC236}">
                <a16:creationId xmlns:a16="http://schemas.microsoft.com/office/drawing/2014/main" id="{F93159D5-4AC8-4635-AF7A-3570AD1FC7A2}"/>
              </a:ext>
            </a:extLst>
          </p:cNvPr>
          <p:cNvSpPr/>
          <p:nvPr/>
        </p:nvSpPr>
        <p:spPr>
          <a:xfrm rot="218273">
            <a:off x="5640924" y="2577759"/>
            <a:ext cx="2734520" cy="544852"/>
          </a:xfrm>
          <a:prstGeom prst="rect">
            <a:avLst/>
          </a:prstGeom>
          <a:solidFill>
            <a:srgbClr val="9BBB59">
              <a:alpha val="27843"/>
            </a:srgb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350" dirty="0"/>
          </a:p>
        </p:txBody>
      </p:sp>
      <p:sp>
        <p:nvSpPr>
          <p:cNvPr id="13" name="Rectangle 12">
            <a:extLst>
              <a:ext uri="{FF2B5EF4-FFF2-40B4-BE49-F238E27FC236}">
                <a16:creationId xmlns:a16="http://schemas.microsoft.com/office/drawing/2014/main" id="{98DD45AA-6625-400B-BEDA-2BD6D4C43DB1}"/>
              </a:ext>
            </a:extLst>
          </p:cNvPr>
          <p:cNvSpPr/>
          <p:nvPr/>
        </p:nvSpPr>
        <p:spPr>
          <a:xfrm rot="218273">
            <a:off x="5622031" y="3195348"/>
            <a:ext cx="2734520" cy="752185"/>
          </a:xfrm>
          <a:prstGeom prst="rect">
            <a:avLst/>
          </a:prstGeom>
          <a:solidFill>
            <a:srgbClr val="FCD5B5">
              <a:alpha val="30196"/>
            </a:srgb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fr-FR" sz="1350" dirty="0"/>
          </a:p>
        </p:txBody>
      </p:sp>
      <p:sp>
        <p:nvSpPr>
          <p:cNvPr id="14" name="Rectangle 13">
            <a:extLst>
              <a:ext uri="{FF2B5EF4-FFF2-40B4-BE49-F238E27FC236}">
                <a16:creationId xmlns:a16="http://schemas.microsoft.com/office/drawing/2014/main" id="{0C973087-ED8C-49EE-B01A-A7DD281A7781}"/>
              </a:ext>
            </a:extLst>
          </p:cNvPr>
          <p:cNvSpPr/>
          <p:nvPr/>
        </p:nvSpPr>
        <p:spPr>
          <a:xfrm rot="218273">
            <a:off x="5571716" y="4019981"/>
            <a:ext cx="3118582" cy="570733"/>
          </a:xfrm>
          <a:prstGeom prst="rect">
            <a:avLst/>
          </a:prstGeom>
          <a:solidFill>
            <a:srgbClr val="4F81BD">
              <a:alpha val="27059"/>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15" name="Rectangle 14">
            <a:extLst>
              <a:ext uri="{FF2B5EF4-FFF2-40B4-BE49-F238E27FC236}">
                <a16:creationId xmlns:a16="http://schemas.microsoft.com/office/drawing/2014/main" id="{E43D662C-FD4D-4042-99C9-8A9124536AAB}"/>
              </a:ext>
            </a:extLst>
          </p:cNvPr>
          <p:cNvSpPr/>
          <p:nvPr/>
        </p:nvSpPr>
        <p:spPr>
          <a:xfrm rot="218273">
            <a:off x="5567596" y="4646716"/>
            <a:ext cx="2734520" cy="570152"/>
          </a:xfrm>
          <a:prstGeom prst="rect">
            <a:avLst/>
          </a:prstGeom>
          <a:solidFill>
            <a:srgbClr val="9BBB59">
              <a:alpha val="27843"/>
            </a:srgbClr>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fr-FR" sz="1350" dirty="0"/>
          </a:p>
        </p:txBody>
      </p:sp>
      <p:cxnSp>
        <p:nvCxnSpPr>
          <p:cNvPr id="17" name="Connecteur droit avec flèche 16">
            <a:extLst>
              <a:ext uri="{FF2B5EF4-FFF2-40B4-BE49-F238E27FC236}">
                <a16:creationId xmlns:a16="http://schemas.microsoft.com/office/drawing/2014/main" id="{ED1DD3E3-6635-4436-B871-C0740F27F468}"/>
              </a:ext>
            </a:extLst>
          </p:cNvPr>
          <p:cNvCxnSpPr>
            <a:cxnSpLocks/>
          </p:cNvCxnSpPr>
          <p:nvPr/>
        </p:nvCxnSpPr>
        <p:spPr>
          <a:xfrm flipV="1">
            <a:off x="3264061" y="2052328"/>
            <a:ext cx="2313758" cy="568127"/>
          </a:xfrm>
          <a:prstGeom prst="straightConnector1">
            <a:avLst/>
          </a:prstGeom>
          <a:ln w="76200">
            <a:solidFill>
              <a:srgbClr val="00B0F0"/>
            </a:solidFill>
            <a:tailEnd type="triangle"/>
          </a:ln>
        </p:spPr>
        <p:style>
          <a:lnRef idx="1">
            <a:schemeClr val="accent4"/>
          </a:lnRef>
          <a:fillRef idx="0">
            <a:schemeClr val="accent4"/>
          </a:fillRef>
          <a:effectRef idx="0">
            <a:schemeClr val="accent4"/>
          </a:effectRef>
          <a:fontRef idx="minor">
            <a:schemeClr val="tx1"/>
          </a:fontRef>
        </p:style>
      </p:cxnSp>
      <p:cxnSp>
        <p:nvCxnSpPr>
          <p:cNvPr id="20" name="Connecteur droit avec flèche 19">
            <a:extLst>
              <a:ext uri="{FF2B5EF4-FFF2-40B4-BE49-F238E27FC236}">
                <a16:creationId xmlns:a16="http://schemas.microsoft.com/office/drawing/2014/main" id="{C19A42DF-A09B-470E-8C2C-ADBDDC953FD6}"/>
              </a:ext>
            </a:extLst>
          </p:cNvPr>
          <p:cNvCxnSpPr>
            <a:cxnSpLocks/>
          </p:cNvCxnSpPr>
          <p:nvPr/>
        </p:nvCxnSpPr>
        <p:spPr>
          <a:xfrm flipV="1">
            <a:off x="3084297" y="2799110"/>
            <a:ext cx="2313758" cy="568127"/>
          </a:xfrm>
          <a:prstGeom prst="straightConnector1">
            <a:avLst/>
          </a:prstGeom>
          <a:ln w="76200">
            <a:solidFill>
              <a:srgbClr val="92D050"/>
            </a:solidFill>
            <a:tailEnd type="triangle"/>
          </a:ln>
        </p:spPr>
        <p:style>
          <a:lnRef idx="1">
            <a:schemeClr val="accent4"/>
          </a:lnRef>
          <a:fillRef idx="0">
            <a:schemeClr val="accent4"/>
          </a:fillRef>
          <a:effectRef idx="0">
            <a:schemeClr val="accent4"/>
          </a:effectRef>
          <a:fontRef idx="minor">
            <a:schemeClr val="tx1"/>
          </a:fontRef>
        </p:style>
      </p:cxnSp>
      <p:cxnSp>
        <p:nvCxnSpPr>
          <p:cNvPr id="21" name="Connecteur droit avec flèche 20">
            <a:extLst>
              <a:ext uri="{FF2B5EF4-FFF2-40B4-BE49-F238E27FC236}">
                <a16:creationId xmlns:a16="http://schemas.microsoft.com/office/drawing/2014/main" id="{73FC37E8-A1FF-4118-BB15-BE2C32BFCFF2}"/>
              </a:ext>
            </a:extLst>
          </p:cNvPr>
          <p:cNvCxnSpPr>
            <a:cxnSpLocks/>
          </p:cNvCxnSpPr>
          <p:nvPr/>
        </p:nvCxnSpPr>
        <p:spPr>
          <a:xfrm flipV="1">
            <a:off x="2908140" y="3465401"/>
            <a:ext cx="2489915" cy="456216"/>
          </a:xfrm>
          <a:prstGeom prst="straightConnector1">
            <a:avLst/>
          </a:prstGeom>
          <a:ln w="76200">
            <a:solidFill>
              <a:srgbClr val="FFC000"/>
            </a:solidFill>
            <a:tailEnd type="triangle"/>
          </a:ln>
        </p:spPr>
        <p:style>
          <a:lnRef idx="1">
            <a:schemeClr val="accent4"/>
          </a:lnRef>
          <a:fillRef idx="0">
            <a:schemeClr val="accent4"/>
          </a:fillRef>
          <a:effectRef idx="0">
            <a:schemeClr val="accent4"/>
          </a:effectRef>
          <a:fontRef idx="minor">
            <a:schemeClr val="tx1"/>
          </a:fontRef>
        </p:style>
      </p:cxnSp>
      <p:cxnSp>
        <p:nvCxnSpPr>
          <p:cNvPr id="23" name="Connecteur droit avec flèche 22">
            <a:extLst>
              <a:ext uri="{FF2B5EF4-FFF2-40B4-BE49-F238E27FC236}">
                <a16:creationId xmlns:a16="http://schemas.microsoft.com/office/drawing/2014/main" id="{5A99B6B3-3FA5-4221-8601-B690B9479FF9}"/>
              </a:ext>
            </a:extLst>
          </p:cNvPr>
          <p:cNvCxnSpPr>
            <a:cxnSpLocks/>
            <a:endCxn id="14" idx="1"/>
          </p:cNvCxnSpPr>
          <p:nvPr/>
        </p:nvCxnSpPr>
        <p:spPr>
          <a:xfrm flipV="1">
            <a:off x="3819646" y="4206410"/>
            <a:ext cx="1755212" cy="236932"/>
          </a:xfrm>
          <a:prstGeom prst="straightConnector1">
            <a:avLst/>
          </a:prstGeom>
          <a:ln w="76200">
            <a:solidFill>
              <a:srgbClr val="00B0F0"/>
            </a:solidFill>
            <a:tailEnd type="triangle"/>
          </a:ln>
        </p:spPr>
        <p:style>
          <a:lnRef idx="1">
            <a:schemeClr val="accent4"/>
          </a:lnRef>
          <a:fillRef idx="0">
            <a:schemeClr val="accent4"/>
          </a:fillRef>
          <a:effectRef idx="0">
            <a:schemeClr val="accent4"/>
          </a:effectRef>
          <a:fontRef idx="minor">
            <a:schemeClr val="tx1"/>
          </a:fontRef>
        </p:style>
      </p:cxnSp>
      <p:cxnSp>
        <p:nvCxnSpPr>
          <p:cNvPr id="25" name="Connecteur droit avec flèche 24">
            <a:extLst>
              <a:ext uri="{FF2B5EF4-FFF2-40B4-BE49-F238E27FC236}">
                <a16:creationId xmlns:a16="http://schemas.microsoft.com/office/drawing/2014/main" id="{64A8E3F2-2D3E-4942-9213-07AB7A0BE71E}"/>
              </a:ext>
            </a:extLst>
          </p:cNvPr>
          <p:cNvCxnSpPr>
            <a:cxnSpLocks/>
          </p:cNvCxnSpPr>
          <p:nvPr/>
        </p:nvCxnSpPr>
        <p:spPr>
          <a:xfrm flipV="1">
            <a:off x="3942628" y="4826784"/>
            <a:ext cx="1564694" cy="291367"/>
          </a:xfrm>
          <a:prstGeom prst="straightConnector1">
            <a:avLst/>
          </a:prstGeom>
          <a:ln w="76200">
            <a:solidFill>
              <a:srgbClr val="92D050"/>
            </a:solidFill>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52365939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8DD942-4E89-46F7-A9AE-780317F27B0E}"/>
              </a:ext>
            </a:extLst>
          </p:cNvPr>
          <p:cNvSpPr>
            <a:spLocks noGrp="1"/>
          </p:cNvSpPr>
          <p:nvPr>
            <p:ph type="title"/>
          </p:nvPr>
        </p:nvSpPr>
        <p:spPr>
          <a:xfrm>
            <a:off x="0" y="260648"/>
            <a:ext cx="9144000" cy="589364"/>
          </a:xfrm>
        </p:spPr>
        <p:txBody>
          <a:bodyPr/>
          <a:lstStyle/>
          <a:p>
            <a:r>
              <a:rPr lang="fr-FR" dirty="0"/>
              <a:t>C’est l’histoire d’un mec…</a:t>
            </a:r>
          </a:p>
        </p:txBody>
      </p:sp>
      <p:sp>
        <p:nvSpPr>
          <p:cNvPr id="3" name="Espace réservé du contenu 2">
            <a:extLst>
              <a:ext uri="{FF2B5EF4-FFF2-40B4-BE49-F238E27FC236}">
                <a16:creationId xmlns:a16="http://schemas.microsoft.com/office/drawing/2014/main" id="{EF173981-9473-4B7B-A4E4-7637D6982912}"/>
              </a:ext>
            </a:extLst>
          </p:cNvPr>
          <p:cNvSpPr>
            <a:spLocks noGrp="1"/>
          </p:cNvSpPr>
          <p:nvPr>
            <p:ph idx="1"/>
          </p:nvPr>
        </p:nvSpPr>
        <p:spPr/>
        <p:txBody>
          <a:bodyPr>
            <a:normAutofit fontScale="70000" lnSpcReduction="20000"/>
          </a:bodyPr>
          <a:lstStyle/>
          <a:p>
            <a:r>
              <a:rPr lang="fr-FR" dirty="0"/>
              <a:t>Jean-Pierre n'est pas adroit il met du café en poudre partout tous les matins</a:t>
            </a:r>
          </a:p>
          <a:p>
            <a:endParaRPr lang="fr-FR" dirty="0"/>
          </a:p>
          <a:p>
            <a:pPr marL="2761060"/>
            <a:r>
              <a:rPr lang="fr-FR" dirty="0"/>
              <a:t>Il acheté une machine à café,</a:t>
            </a:r>
          </a:p>
          <a:p>
            <a:pPr marL="3061097" lvl="1"/>
            <a:r>
              <a:rPr lang="fr-FR" b="1" dirty="0"/>
              <a:t>oui encore</a:t>
            </a:r>
            <a:r>
              <a:rPr lang="fr-FR" dirty="0"/>
              <a:t>, système </a:t>
            </a:r>
            <a:r>
              <a:rPr lang="fr-FR" b="1" dirty="0"/>
              <a:t>café à dosettes </a:t>
            </a:r>
            <a:r>
              <a:rPr lang="fr-FR" dirty="0"/>
              <a:t>cette fois</a:t>
            </a:r>
          </a:p>
          <a:p>
            <a:pPr marL="3061097" lvl="1"/>
            <a:r>
              <a:rPr lang="fr-FR" dirty="0"/>
              <a:t>elle </a:t>
            </a:r>
            <a:r>
              <a:rPr lang="fr-FR" b="1" dirty="0"/>
              <a:t>fait tout pareil </a:t>
            </a:r>
            <a:r>
              <a:rPr lang="fr-FR" dirty="0"/>
              <a:t>,mais plus pratique</a:t>
            </a:r>
          </a:p>
          <a:p>
            <a:pPr marL="2846785" lvl="1" indent="0">
              <a:buNone/>
            </a:pPr>
            <a:r>
              <a:rPr lang="fr-FR" dirty="0"/>
              <a:t> </a:t>
            </a:r>
          </a:p>
          <a:p>
            <a:pPr marL="3299222" lvl="2"/>
            <a:r>
              <a:rPr lang="fr-FR" dirty="0"/>
              <a:t>Elle à un bouton marche / arrêt </a:t>
            </a:r>
          </a:p>
          <a:p>
            <a:pPr marL="3299222" lvl="2"/>
            <a:r>
              <a:rPr lang="fr-FR" dirty="0"/>
              <a:t>Un bac d’eau à remplir d’un litre</a:t>
            </a:r>
          </a:p>
          <a:p>
            <a:pPr marL="3299222" lvl="2"/>
            <a:r>
              <a:rPr lang="fr-FR" dirty="0"/>
              <a:t>Et un objet </a:t>
            </a:r>
            <a:r>
              <a:rPr lang="fr-FR" b="1" i="1" dirty="0"/>
              <a:t>filtre </a:t>
            </a:r>
            <a:r>
              <a:rPr lang="fr-FR" dirty="0"/>
              <a:t>qui contient </a:t>
            </a:r>
            <a:r>
              <a:rPr lang="fr-FR" b="1" i="1" dirty="0"/>
              <a:t>café </a:t>
            </a:r>
            <a:r>
              <a:rPr lang="fr-FR" dirty="0"/>
              <a:t>est </a:t>
            </a:r>
            <a:r>
              <a:rPr lang="fr-FR" b="1" dirty="0"/>
              <a:t>redéfini</a:t>
            </a:r>
            <a:r>
              <a:rPr lang="fr-FR" dirty="0"/>
              <a:t> différemment </a:t>
            </a:r>
          </a:p>
          <a:p>
            <a:pPr marL="3642122" lvl="3"/>
            <a:r>
              <a:rPr lang="fr-FR" dirty="0"/>
              <a:t>Il accepte désormais du </a:t>
            </a:r>
            <a:r>
              <a:rPr lang="fr-FR" b="1" dirty="0"/>
              <a:t>café en dosette</a:t>
            </a:r>
          </a:p>
          <a:p>
            <a:pPr marL="3640931" indent="0">
              <a:buNone/>
            </a:pPr>
            <a:endParaRPr lang="fr-FR" dirty="0"/>
          </a:p>
          <a:p>
            <a:pPr marL="2821781">
              <a:tabLst>
                <a:tab pos="3299222" algn="l"/>
              </a:tabLst>
            </a:pPr>
            <a:r>
              <a:rPr lang="fr-FR" dirty="0"/>
              <a:t>Alors une machine à dosette c’est une </a:t>
            </a:r>
          </a:p>
          <a:p>
            <a:pPr marL="2564606" indent="0">
              <a:buNone/>
              <a:tabLst>
                <a:tab pos="3299222" algn="l"/>
              </a:tabLst>
            </a:pPr>
            <a:r>
              <a:rPr lang="fr-FR" dirty="0"/>
              <a:t>machine qui fait aussi du café. </a:t>
            </a:r>
          </a:p>
          <a:p>
            <a:pPr marL="2564606" indent="0" algn="r">
              <a:buNone/>
              <a:tabLst>
                <a:tab pos="3299222" algn="l"/>
              </a:tabLst>
            </a:pPr>
            <a:r>
              <a:rPr lang="fr-FR" dirty="0"/>
              <a:t>Comme l’autre!!!		</a:t>
            </a:r>
          </a:p>
        </p:txBody>
      </p:sp>
      <p:pic>
        <p:nvPicPr>
          <p:cNvPr id="4098" name="Picture 2">
            <a:extLst>
              <a:ext uri="{FF2B5EF4-FFF2-40B4-BE49-F238E27FC236}">
                <a16:creationId xmlns:a16="http://schemas.microsoft.com/office/drawing/2014/main" id="{6D8E1CB3-FED5-4954-A3F4-0E3C216D0A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5895" y="4780494"/>
            <a:ext cx="1042385" cy="88779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achines Senseo - FasocafeFasocafe">
            <a:extLst>
              <a:ext uri="{FF2B5EF4-FFF2-40B4-BE49-F238E27FC236}">
                <a16:creationId xmlns:a16="http://schemas.microsoft.com/office/drawing/2014/main" id="{4E281458-5607-4C03-82C3-73E05CDEA73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832" y="2271090"/>
            <a:ext cx="2342952" cy="29533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4773148"/>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0C2D239-6AF8-4F45-B409-3FAC50D6176F}"/>
              </a:ext>
            </a:extLst>
          </p:cNvPr>
          <p:cNvSpPr>
            <a:spLocks noGrp="1"/>
          </p:cNvSpPr>
          <p:nvPr>
            <p:ph type="title"/>
          </p:nvPr>
        </p:nvSpPr>
        <p:spPr/>
        <p:txBody>
          <a:bodyPr/>
          <a:lstStyle/>
          <a:p>
            <a:r>
              <a:rPr lang="fr-FR" dirty="0"/>
              <a:t>Class machine à café</a:t>
            </a:r>
          </a:p>
        </p:txBody>
      </p:sp>
      <p:sp>
        <p:nvSpPr>
          <p:cNvPr id="5" name="Espace réservé du contenu 4">
            <a:extLst>
              <a:ext uri="{FF2B5EF4-FFF2-40B4-BE49-F238E27FC236}">
                <a16:creationId xmlns:a16="http://schemas.microsoft.com/office/drawing/2014/main" id="{9DC7315F-AA3B-4EA6-80D2-55941E13C254}"/>
              </a:ext>
            </a:extLst>
          </p:cNvPr>
          <p:cNvSpPr>
            <a:spLocks noGrp="1"/>
          </p:cNvSpPr>
          <p:nvPr>
            <p:ph idx="1"/>
          </p:nvPr>
        </p:nvSpPr>
        <p:spPr/>
        <p:txBody>
          <a:bodyPr>
            <a:normAutofit fontScale="70000" lnSpcReduction="20000"/>
          </a:bodyPr>
          <a:lstStyle/>
          <a:p>
            <a:r>
              <a:rPr lang="fr-FR" dirty="0"/>
              <a:t>Machine à café à dosettes</a:t>
            </a:r>
          </a:p>
          <a:p>
            <a:pPr lvl="2"/>
            <a:r>
              <a:rPr lang="fr-FR" dirty="0"/>
              <a:t>Ses champs privés</a:t>
            </a:r>
          </a:p>
          <a:p>
            <a:pPr lvl="3"/>
            <a:r>
              <a:rPr lang="fr-FR" dirty="0"/>
              <a:t>Ceux du </a:t>
            </a:r>
            <a:r>
              <a:rPr lang="fr-FR" b="1" dirty="0"/>
              <a:t>parent </a:t>
            </a:r>
            <a:r>
              <a:rPr lang="fr-FR" dirty="0"/>
              <a:t>étant eux aussi </a:t>
            </a:r>
            <a:r>
              <a:rPr lang="fr-FR" b="1" i="1" dirty="0"/>
              <a:t>private </a:t>
            </a:r>
            <a:r>
              <a:rPr lang="fr-FR" dirty="0"/>
              <a:t>il sont </a:t>
            </a:r>
            <a:r>
              <a:rPr lang="fr-FR" b="1" dirty="0"/>
              <a:t>inaccessibles</a:t>
            </a:r>
          </a:p>
          <a:p>
            <a:pPr lvl="4"/>
            <a:r>
              <a:rPr lang="fr-FR" dirty="0"/>
              <a:t>Notion d’heritage</a:t>
            </a:r>
          </a:p>
          <a:p>
            <a:pPr lvl="4"/>
            <a:r>
              <a:rPr lang="fr-FR" dirty="0"/>
              <a:t>Notion de </a:t>
            </a:r>
            <a:r>
              <a:rPr lang="fr-FR" b="1" dirty="0"/>
              <a:t>protected</a:t>
            </a:r>
          </a:p>
          <a:p>
            <a:pPr lvl="4"/>
            <a:endParaRPr lang="fr-FR" b="1" dirty="0"/>
          </a:p>
          <a:p>
            <a:pPr lvl="2"/>
            <a:r>
              <a:rPr lang="fr-FR" dirty="0"/>
              <a:t>Des champs / fonctions public, protected </a:t>
            </a:r>
          </a:p>
          <a:p>
            <a:pPr lvl="3"/>
            <a:r>
              <a:rPr lang="fr-FR" dirty="0"/>
              <a:t>Permettant l’héritage aux futures extensions</a:t>
            </a:r>
          </a:p>
          <a:p>
            <a:pPr lvl="3"/>
            <a:r>
              <a:rPr lang="fr-FR" b="1" dirty="0"/>
              <a:t>Redéfinition</a:t>
            </a:r>
            <a:r>
              <a:rPr lang="fr-FR" dirty="0"/>
              <a:t> de la manière de faire le café</a:t>
            </a:r>
          </a:p>
          <a:p>
            <a:pPr lvl="4"/>
            <a:r>
              <a:rPr lang="fr-FR" dirty="0"/>
              <a:t>Notions d</a:t>
            </a:r>
            <a:r>
              <a:rPr lang="fr-FR" b="1" dirty="0"/>
              <a:t>’override</a:t>
            </a:r>
          </a:p>
          <a:p>
            <a:pPr lvl="2"/>
            <a:endParaRPr lang="fr-FR" dirty="0"/>
          </a:p>
          <a:p>
            <a:pPr lvl="2"/>
            <a:r>
              <a:rPr lang="fr-FR" dirty="0"/>
              <a:t>Des champs / fonction privés qui lui sont totalement personnel</a:t>
            </a:r>
          </a:p>
          <a:p>
            <a:pPr lvl="2"/>
            <a:endParaRPr lang="fr-FR" dirty="0"/>
          </a:p>
          <a:p>
            <a:pPr lvl="2"/>
            <a:r>
              <a:rPr lang="fr-FR" dirty="0"/>
              <a:t>Un constructeur</a:t>
            </a:r>
          </a:p>
          <a:p>
            <a:pPr lvl="3"/>
            <a:r>
              <a:rPr lang="fr-FR" dirty="0"/>
              <a:t>Appel du constructeur parent</a:t>
            </a:r>
          </a:p>
          <a:p>
            <a:pPr lvl="4"/>
            <a:r>
              <a:rPr lang="fr-FR" dirty="0"/>
              <a:t>Notion de </a:t>
            </a:r>
            <a:r>
              <a:rPr lang="fr-FR" b="1" dirty="0"/>
              <a:t>super()</a:t>
            </a:r>
          </a:p>
          <a:p>
            <a:pPr lvl="4"/>
            <a:endParaRPr lang="fr-FR" dirty="0"/>
          </a:p>
          <a:p>
            <a:pPr lvl="2"/>
            <a:r>
              <a:rPr lang="fr-FR" dirty="0"/>
              <a:t>Des fonctions interne protégé pour permettre aux futures générations de pleinement hérité de leurs ainés</a:t>
            </a:r>
          </a:p>
          <a:p>
            <a:endParaRPr lang="fr-FR" dirty="0"/>
          </a:p>
        </p:txBody>
      </p:sp>
      <p:sp>
        <p:nvSpPr>
          <p:cNvPr id="6" name="Espace réservé du contenu 5">
            <a:extLst>
              <a:ext uri="{FF2B5EF4-FFF2-40B4-BE49-F238E27FC236}">
                <a16:creationId xmlns:a16="http://schemas.microsoft.com/office/drawing/2014/main" id="{2F66DCA6-DE46-4887-837E-F799B8A164C0}"/>
              </a:ext>
            </a:extLst>
          </p:cNvPr>
          <p:cNvSpPr>
            <a:spLocks noGrp="1"/>
          </p:cNvSpPr>
          <p:nvPr>
            <p:ph sz="quarter" idx="14"/>
          </p:nvPr>
        </p:nvSpPr>
        <p:spPr>
          <a:xfrm>
            <a:off x="5442996" y="1642683"/>
            <a:ext cx="3415284" cy="3858909"/>
          </a:xfrm>
        </p:spPr>
        <p:txBody>
          <a:bodyPr>
            <a:normAutofit lnSpcReduction="10000"/>
          </a:bodyPr>
          <a:lstStyle/>
          <a:p>
            <a:pPr marL="0" indent="0">
              <a:buNone/>
            </a:pPr>
            <a:endParaRPr lang="fr-FR" dirty="0">
              <a:solidFill>
                <a:srgbClr val="0000FF"/>
              </a:solidFill>
              <a:latin typeface="Consolas" panose="020B0609020204030204" pitchFamily="49" charset="0"/>
            </a:endParaRPr>
          </a:p>
          <a:p>
            <a:pPr marL="0" indent="0">
              <a:buNone/>
            </a:pPr>
            <a:r>
              <a:rPr lang="fr-FR" dirty="0">
                <a:solidFill>
                  <a:srgbClr val="0000FF"/>
                </a:solidFill>
                <a:latin typeface="Consolas" panose="020B0609020204030204" pitchFamily="49" charset="0"/>
              </a:rPr>
              <a:t>class</a:t>
            </a:r>
            <a:r>
              <a:rPr lang="fr-FR" dirty="0">
                <a:solidFill>
                  <a:srgbClr val="000000"/>
                </a:solidFill>
                <a:latin typeface="Consolas" panose="020B0609020204030204" pitchFamily="49" charset="0"/>
              </a:rPr>
              <a:t> </a:t>
            </a:r>
            <a:r>
              <a:rPr lang="fr-FR" sz="1500" dirty="0">
                <a:solidFill>
                  <a:srgbClr val="000000"/>
                </a:solidFill>
                <a:latin typeface="Consolas" panose="020B0609020204030204" pitchFamily="49" charset="0"/>
              </a:rPr>
              <a:t>CoffeMachinPad</a:t>
            </a:r>
            <a:r>
              <a:rPr lang="fr-FR" dirty="0">
                <a:solidFill>
                  <a:srgbClr val="000000"/>
                </a:solidFill>
                <a:latin typeface="Consolas" panose="020B0609020204030204" pitchFamily="49" charset="0"/>
              </a:rPr>
              <a:t> </a:t>
            </a:r>
            <a:r>
              <a:rPr lang="fr-FR" b="1" dirty="0">
                <a:solidFill>
                  <a:srgbClr val="000000"/>
                </a:solidFill>
                <a:latin typeface="Consolas" panose="020B0609020204030204" pitchFamily="49" charset="0"/>
              </a:rPr>
              <a:t>extends</a:t>
            </a:r>
            <a:r>
              <a:rPr lang="fr-FR" dirty="0">
                <a:solidFill>
                  <a:srgbClr val="000000"/>
                </a:solidFill>
                <a:latin typeface="Consolas" panose="020B0609020204030204" pitchFamily="49" charset="0"/>
              </a:rPr>
              <a:t> </a:t>
            </a:r>
            <a:r>
              <a:rPr lang="fr-FR" sz="1500" dirty="0">
                <a:solidFill>
                  <a:srgbClr val="000000"/>
                </a:solidFill>
                <a:latin typeface="Consolas" panose="020B0609020204030204" pitchFamily="49" charset="0"/>
              </a:rPr>
              <a:t>CoffeMachin</a:t>
            </a:r>
            <a:r>
              <a:rPr lang="fr-FR" dirty="0">
                <a:solidFill>
                  <a:srgbClr val="000000"/>
                </a:solidFill>
                <a:latin typeface="Consolas" panose="020B0609020204030204" pitchFamily="49" charset="0"/>
              </a:rPr>
              <a:t>{</a:t>
            </a:r>
          </a:p>
          <a:p>
            <a:pPr marL="0" indent="0">
              <a:buNone/>
            </a:pP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public</a:t>
            </a:r>
            <a:r>
              <a:rPr lang="fr-FR" dirty="0">
                <a:solidFill>
                  <a:srgbClr val="000000"/>
                </a:solidFill>
                <a:latin typeface="Consolas" panose="020B0609020204030204" pitchFamily="49" charset="0"/>
              </a:rPr>
              <a:t> padHolder: PadHolder;</a:t>
            </a:r>
          </a:p>
          <a:p>
            <a:pPr marL="0" indent="0">
              <a:buNone/>
            </a:pPr>
            <a:r>
              <a:rPr lang="fr-FR" dirty="0">
                <a:solidFill>
                  <a:srgbClr val="000000"/>
                </a:solidFill>
                <a:latin typeface="Consolas" panose="020B0609020204030204" pitchFamily="49" charset="0"/>
              </a:rPr>
              <a:t>  </a:t>
            </a:r>
          </a:p>
          <a:p>
            <a:pPr marL="0" indent="0">
              <a:buNone/>
            </a:pPr>
            <a:r>
              <a:rPr lang="fr-FR" dirty="0">
                <a:solidFill>
                  <a:srgbClr val="0000FF"/>
                </a:solidFill>
                <a:latin typeface="Consolas" panose="020B0609020204030204" pitchFamily="49" charset="0"/>
              </a:rPr>
              <a:t>  constructor</a:t>
            </a:r>
            <a:r>
              <a:rPr lang="fr-FR" dirty="0">
                <a:solidFill>
                  <a:srgbClr val="000000"/>
                </a:solidFill>
                <a:latin typeface="Consolas" panose="020B0609020204030204" pitchFamily="49" charset="0"/>
              </a:rPr>
              <a:t>()</a:t>
            </a:r>
          </a:p>
          <a:p>
            <a:pPr marL="0" indent="0">
              <a:buNone/>
            </a:pPr>
            <a:r>
              <a:rPr lang="fr-FR" dirty="0">
                <a:solidFill>
                  <a:srgbClr val="0000FF"/>
                </a:solidFill>
                <a:latin typeface="Consolas" panose="020B0609020204030204" pitchFamily="49" charset="0"/>
              </a:rPr>
              <a:t>  {</a:t>
            </a:r>
          </a:p>
          <a:p>
            <a:pPr marL="0" indent="0">
              <a:buNone/>
            </a:pPr>
            <a:r>
              <a:rPr lang="fr-FR" dirty="0">
                <a:solidFill>
                  <a:srgbClr val="000000"/>
                </a:solidFill>
                <a:latin typeface="Consolas" panose="020B0609020204030204" pitchFamily="49" charset="0"/>
              </a:rPr>
              <a:t>     </a:t>
            </a:r>
            <a:r>
              <a:rPr lang="fr-FR" b="1" dirty="0">
                <a:solidFill>
                  <a:srgbClr val="000000"/>
                </a:solidFill>
                <a:latin typeface="Consolas" panose="020B0609020204030204" pitchFamily="49" charset="0"/>
              </a:rPr>
              <a:t>super();</a:t>
            </a:r>
          </a:p>
          <a:p>
            <a:pPr marL="0" indent="0">
              <a:buNone/>
            </a:pPr>
            <a:r>
              <a:rPr lang="fr-FR" dirty="0">
                <a:solidFill>
                  <a:srgbClr val="000000"/>
                </a:solidFill>
                <a:latin typeface="Consolas" panose="020B0609020204030204" pitchFamily="49" charset="0"/>
              </a:rPr>
              <a:t>  }</a:t>
            </a:r>
          </a:p>
          <a:p>
            <a:pPr marL="0" indent="0">
              <a:buNone/>
            </a:pPr>
            <a:endParaRPr lang="fr-FR" dirty="0">
              <a:solidFill>
                <a:srgbClr val="0000FF"/>
              </a:solidFill>
              <a:latin typeface="Consolas" panose="020B0609020204030204" pitchFamily="49" charset="0"/>
            </a:endParaRPr>
          </a:p>
          <a:p>
            <a:pPr marL="0" indent="0">
              <a:buNone/>
            </a:pPr>
            <a:r>
              <a:rPr lang="fr-FR" dirty="0">
                <a:solidFill>
                  <a:srgbClr val="0000FF"/>
                </a:solidFill>
                <a:latin typeface="Consolas" panose="020B0609020204030204" pitchFamily="49" charset="0"/>
              </a:rPr>
              <a:t>  public</a:t>
            </a:r>
            <a:r>
              <a:rPr lang="fr-FR" dirty="0">
                <a:solidFill>
                  <a:srgbClr val="000000"/>
                </a:solidFill>
                <a:latin typeface="Consolas" panose="020B0609020204030204" pitchFamily="49" charset="0"/>
              </a:rPr>
              <a:t> insertDoset(pad:CoffePad){ … }</a:t>
            </a:r>
          </a:p>
          <a:p>
            <a:pPr marL="0" indent="0">
              <a:buNone/>
            </a:pPr>
            <a:r>
              <a:rPr lang="fr-FR" dirty="0">
                <a:solidFill>
                  <a:srgbClr val="0000FF"/>
                </a:solidFill>
                <a:latin typeface="Consolas" panose="020B0609020204030204" pitchFamily="49" charset="0"/>
              </a:rPr>
              <a:t>  </a:t>
            </a:r>
          </a:p>
          <a:p>
            <a:pPr marL="0" indent="0">
              <a:buNone/>
            </a:pPr>
            <a:r>
              <a:rPr lang="fr-FR" dirty="0">
                <a:solidFill>
                  <a:srgbClr val="0000FF"/>
                </a:solidFill>
                <a:latin typeface="Consolas" panose="020B0609020204030204" pitchFamily="49" charset="0"/>
              </a:rPr>
              <a:t>  public</a:t>
            </a:r>
            <a:r>
              <a:rPr lang="fr-FR" dirty="0">
                <a:solidFill>
                  <a:srgbClr val="000000"/>
                </a:solidFill>
                <a:latin typeface="Consolas" panose="020B0609020204030204" pitchFamily="49" charset="0"/>
              </a:rPr>
              <a:t> makeCofe(){</a:t>
            </a:r>
          </a:p>
          <a:p>
            <a:pPr marL="0" indent="0">
              <a:buNone/>
            </a:pP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this</a:t>
            </a:r>
            <a:r>
              <a:rPr lang="fr-FR" dirty="0">
                <a:solidFill>
                  <a:srgbClr val="000000"/>
                </a:solidFill>
                <a:latin typeface="Consolas" panose="020B0609020204030204" pitchFamily="49" charset="0"/>
              </a:rPr>
              <a:t>.cofee=</a:t>
            </a:r>
            <a:r>
              <a:rPr lang="fr-FR" dirty="0">
                <a:solidFill>
                  <a:srgbClr val="0000FF"/>
                </a:solidFill>
                <a:latin typeface="Consolas" panose="020B0609020204030204" pitchFamily="49" charset="0"/>
              </a:rPr>
              <a:t> this</a:t>
            </a:r>
            <a:r>
              <a:rPr lang="fr-FR" dirty="0">
                <a:solidFill>
                  <a:srgbClr val="000000"/>
                </a:solidFill>
                <a:latin typeface="Consolas" panose="020B0609020204030204" pitchFamily="49" charset="0"/>
              </a:rPr>
              <a:t>.padHolder.coffe;</a:t>
            </a:r>
          </a:p>
          <a:p>
            <a:pPr marL="0" indent="0">
              <a:buNone/>
            </a:pP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this</a:t>
            </a:r>
            <a:r>
              <a:rPr lang="fr-FR" dirty="0">
                <a:solidFill>
                  <a:srgbClr val="000000"/>
                </a:solidFill>
                <a:latin typeface="Consolas" panose="020B0609020204030204" pitchFamily="49" charset="0"/>
              </a:rPr>
              <a:t>.startHeater(97);</a:t>
            </a:r>
          </a:p>
          <a:p>
            <a:pPr marL="0" indent="0">
              <a:buNone/>
            </a:pP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this</a:t>
            </a:r>
            <a:r>
              <a:rPr lang="fr-FR" dirty="0">
                <a:solidFill>
                  <a:srgbClr val="000000"/>
                </a:solidFill>
                <a:latin typeface="Consolas" panose="020B0609020204030204" pitchFamily="49" charset="0"/>
              </a:rPr>
              <a:t>.startPump(255);</a:t>
            </a:r>
          </a:p>
          <a:p>
            <a:pPr marL="0" indent="0">
              <a:buNone/>
            </a:pPr>
            <a:r>
              <a:rPr lang="fr-FR" dirty="0">
                <a:solidFill>
                  <a:srgbClr val="000000"/>
                </a:solidFill>
                <a:latin typeface="Consolas" panose="020B0609020204030204" pitchFamily="49" charset="0"/>
              </a:rPr>
              <a:t>  }</a:t>
            </a:r>
          </a:p>
          <a:p>
            <a:pPr marL="0" indent="0">
              <a:buNone/>
            </a:pPr>
            <a:r>
              <a:rPr lang="fr-FR"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105152945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14EBB9D-B0F6-06E5-1B2B-411589D93945}"/>
              </a:ext>
            </a:extLst>
          </p:cNvPr>
          <p:cNvSpPr>
            <a:spLocks noGrp="1"/>
          </p:cNvSpPr>
          <p:nvPr>
            <p:ph type="title"/>
          </p:nvPr>
        </p:nvSpPr>
        <p:spPr/>
        <p:txBody>
          <a:bodyPr/>
          <a:lstStyle/>
          <a:p>
            <a:r>
              <a:rPr lang="fr-FR" dirty="0"/>
              <a:t>Nouvelle fonctionnalités ES6+</a:t>
            </a:r>
          </a:p>
        </p:txBody>
      </p:sp>
      <p:sp>
        <p:nvSpPr>
          <p:cNvPr id="5" name="Espace réservé du contenu 4">
            <a:extLst>
              <a:ext uri="{FF2B5EF4-FFF2-40B4-BE49-F238E27FC236}">
                <a16:creationId xmlns:a16="http://schemas.microsoft.com/office/drawing/2014/main" id="{AD6A7665-EF1A-0542-FB67-040C3F57E0CC}"/>
              </a:ext>
            </a:extLst>
          </p:cNvPr>
          <p:cNvSpPr>
            <a:spLocks noGrp="1"/>
          </p:cNvSpPr>
          <p:nvPr>
            <p:ph idx="1"/>
          </p:nvPr>
        </p:nvSpPr>
        <p:spPr/>
        <p:txBody>
          <a:bodyPr>
            <a:normAutofit/>
          </a:bodyPr>
          <a:lstStyle/>
          <a:p>
            <a:r>
              <a:rPr lang="fr-FR" dirty="0"/>
              <a:t>Arrow function</a:t>
            </a:r>
          </a:p>
          <a:p>
            <a:pPr lvl="2"/>
            <a:r>
              <a:rPr lang="fr-FR" dirty="0"/>
              <a:t>Remplace le mot clef </a:t>
            </a:r>
            <a:r>
              <a:rPr lang="fr-FR" i="1" dirty="0"/>
              <a:t>function</a:t>
            </a:r>
          </a:p>
          <a:p>
            <a:pPr lvl="2"/>
            <a:r>
              <a:rPr lang="fr-FR" dirty="0"/>
              <a:t>Permet de préserver le contexte de déclaration du mot clef </a:t>
            </a:r>
            <a:r>
              <a:rPr lang="fr-FR" i="1" dirty="0"/>
              <a:t>this</a:t>
            </a:r>
          </a:p>
          <a:p>
            <a:pPr lvl="4"/>
            <a:r>
              <a:rPr lang="fr-FR" dirty="0"/>
              <a:t>Ex : </a:t>
            </a:r>
            <a:r>
              <a:rPr lang="fr-FR" b="1" i="1" dirty="0"/>
              <a:t>const fn=(param1,)=&gt;{…code…}</a:t>
            </a:r>
          </a:p>
          <a:p>
            <a:r>
              <a:rPr lang="fr-FR" dirty="0"/>
              <a:t>Template string</a:t>
            </a:r>
          </a:p>
          <a:p>
            <a:pPr lvl="2"/>
            <a:r>
              <a:rPr lang="fr-FR" dirty="0"/>
              <a:t>Modèle de construction d’une chaine de caractères délimité par </a:t>
            </a:r>
            <a:r>
              <a:rPr lang="fr-FR" b="1" dirty="0"/>
              <a:t>`</a:t>
            </a:r>
            <a:r>
              <a:rPr lang="fr-FR" dirty="0"/>
              <a:t> </a:t>
            </a:r>
            <a:r>
              <a:rPr lang="fr-FR" sz="1200" dirty="0"/>
              <a:t>backtick (alt gr 7)</a:t>
            </a:r>
            <a:r>
              <a:rPr lang="fr-FR" dirty="0"/>
              <a:t> </a:t>
            </a:r>
          </a:p>
          <a:p>
            <a:pPr lvl="2"/>
            <a:r>
              <a:rPr lang="fr-FR" dirty="0"/>
              <a:t>Les contenus de variable ou d’appel de fonction js sont délimités par ${contenuDeValeur}</a:t>
            </a:r>
          </a:p>
          <a:p>
            <a:pPr lvl="2"/>
            <a:r>
              <a:rPr lang="fr-FR" dirty="0"/>
              <a:t>Les conteneurs de variable peuvent contenir des ternaires</a:t>
            </a:r>
          </a:p>
          <a:p>
            <a:pPr lvl="4"/>
            <a:r>
              <a:rPr lang="fr-FR" dirty="0"/>
              <a:t>Ex : </a:t>
            </a:r>
            <a:r>
              <a:rPr lang="fr-FR" sz="1800" b="1" i="1" dirty="0"/>
              <a:t>const str=`partie static${variable} ${var1?var1:’content’}`</a:t>
            </a:r>
            <a:endParaRPr lang="fr-FR" b="1" i="1" dirty="0"/>
          </a:p>
        </p:txBody>
      </p:sp>
    </p:spTree>
    <p:extLst>
      <p:ext uri="{BB962C8B-B14F-4D97-AF65-F5344CB8AC3E}">
        <p14:creationId xmlns:p14="http://schemas.microsoft.com/office/powerpoint/2010/main" val="170225986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8B7523-E629-B5F4-B08E-C3684DCE3C5F}"/>
              </a:ext>
            </a:extLst>
          </p:cNvPr>
          <p:cNvSpPr>
            <a:spLocks noGrp="1"/>
          </p:cNvSpPr>
          <p:nvPr>
            <p:ph type="title"/>
          </p:nvPr>
        </p:nvSpPr>
        <p:spPr/>
        <p:txBody>
          <a:bodyPr/>
          <a:lstStyle/>
          <a:p>
            <a:r>
              <a:rPr lang="fr-FR" dirty="0"/>
              <a:t>ES6+ déstructuration</a:t>
            </a:r>
          </a:p>
        </p:txBody>
      </p:sp>
      <p:sp>
        <p:nvSpPr>
          <p:cNvPr id="3" name="Espace réservé du contenu 2">
            <a:extLst>
              <a:ext uri="{FF2B5EF4-FFF2-40B4-BE49-F238E27FC236}">
                <a16:creationId xmlns:a16="http://schemas.microsoft.com/office/drawing/2014/main" id="{8DD48339-488A-C134-6079-F05091EB80D1}"/>
              </a:ext>
            </a:extLst>
          </p:cNvPr>
          <p:cNvSpPr>
            <a:spLocks noGrp="1"/>
          </p:cNvSpPr>
          <p:nvPr>
            <p:ph idx="1"/>
          </p:nvPr>
        </p:nvSpPr>
        <p:spPr/>
        <p:txBody>
          <a:bodyPr/>
          <a:lstStyle/>
          <a:p>
            <a:r>
              <a:rPr lang="fr-FR" dirty="0"/>
              <a:t>Déstructuration</a:t>
            </a:r>
          </a:p>
          <a:p>
            <a:pPr lvl="1"/>
            <a:r>
              <a:rPr lang="fr-FR" dirty="0"/>
              <a:t>Permet de récupérer que certains champs d’un objet depuis les paramètres d’entrées d’une fonction</a:t>
            </a:r>
          </a:p>
          <a:p>
            <a:pPr lvl="4"/>
            <a:r>
              <a:rPr lang="fr-FR" dirty="0"/>
              <a:t>Exemple :</a:t>
            </a:r>
          </a:p>
          <a:p>
            <a:pPr marL="1828800" lvl="4" indent="0">
              <a:buNone/>
            </a:pPr>
            <a:r>
              <a:rPr lang="fr-FR" dirty="0"/>
              <a:t>const fn=(</a:t>
            </a:r>
            <a:r>
              <a:rPr lang="fr-FR" b="1" dirty="0"/>
              <a:t>{abc,fgh}</a:t>
            </a:r>
            <a:r>
              <a:rPr lang="fr-FR" dirty="0"/>
              <a:t>)=&gt;{</a:t>
            </a:r>
          </a:p>
          <a:p>
            <a:pPr marL="1828800" lvl="4" indent="0">
              <a:buNone/>
            </a:pPr>
            <a:r>
              <a:rPr lang="fr-FR" dirty="0"/>
              <a:t>	console.log(abc,fgh);</a:t>
            </a:r>
          </a:p>
          <a:p>
            <a:pPr marL="1828800" lvl="4" indent="0">
              <a:buNone/>
            </a:pPr>
            <a:r>
              <a:rPr lang="fr-FR" dirty="0"/>
              <a:t>}</a:t>
            </a:r>
          </a:p>
          <a:p>
            <a:pPr marL="1828800" lvl="4" indent="0">
              <a:buNone/>
            </a:pPr>
            <a:r>
              <a:rPr lang="fr-FR" dirty="0"/>
              <a:t>fn(</a:t>
            </a:r>
            <a:r>
              <a:rPr lang="fr-FR" b="1" dirty="0"/>
              <a:t>{abc:123, xyz:234, fgh:’coucou’}</a:t>
            </a:r>
            <a:r>
              <a:rPr lang="fr-FR" dirty="0"/>
              <a:t>)</a:t>
            </a:r>
          </a:p>
          <a:p>
            <a:pPr lvl="1"/>
            <a:endParaRPr lang="fr-FR" dirty="0"/>
          </a:p>
          <a:p>
            <a:pPr marL="1828800" lvl="4" indent="0">
              <a:buNone/>
            </a:pPr>
            <a:endParaRPr lang="fr-FR" dirty="0"/>
          </a:p>
        </p:txBody>
      </p:sp>
    </p:spTree>
    <p:extLst>
      <p:ext uri="{BB962C8B-B14F-4D97-AF65-F5344CB8AC3E}">
        <p14:creationId xmlns:p14="http://schemas.microsoft.com/office/powerpoint/2010/main" val="802297097"/>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B75160-3EB6-0E6C-8270-C479DBA54E48}"/>
              </a:ext>
            </a:extLst>
          </p:cNvPr>
          <p:cNvSpPr>
            <a:spLocks noGrp="1"/>
          </p:cNvSpPr>
          <p:nvPr>
            <p:ph type="title"/>
          </p:nvPr>
        </p:nvSpPr>
        <p:spPr/>
        <p:txBody>
          <a:bodyPr/>
          <a:lstStyle/>
          <a:p>
            <a:r>
              <a:rPr lang="fr-FR" dirty="0"/>
              <a:t>ES6+ Spread operator</a:t>
            </a:r>
          </a:p>
        </p:txBody>
      </p:sp>
      <p:sp>
        <p:nvSpPr>
          <p:cNvPr id="3" name="Espace réservé du contenu 2">
            <a:extLst>
              <a:ext uri="{FF2B5EF4-FFF2-40B4-BE49-F238E27FC236}">
                <a16:creationId xmlns:a16="http://schemas.microsoft.com/office/drawing/2014/main" id="{A5D5C7E2-1990-CEC1-2A11-26FFA19901CB}"/>
              </a:ext>
            </a:extLst>
          </p:cNvPr>
          <p:cNvSpPr>
            <a:spLocks noGrp="1"/>
          </p:cNvSpPr>
          <p:nvPr>
            <p:ph idx="1"/>
          </p:nvPr>
        </p:nvSpPr>
        <p:spPr/>
        <p:txBody>
          <a:bodyPr>
            <a:normAutofit/>
          </a:bodyPr>
          <a:lstStyle/>
          <a:p>
            <a:r>
              <a:rPr lang="fr-FR" dirty="0"/>
              <a:t>Le spread operator permet </a:t>
            </a:r>
          </a:p>
          <a:p>
            <a:pPr lvl="2"/>
            <a:r>
              <a:rPr lang="fr-FR" dirty="0"/>
              <a:t>La création d’un nouvel objet peupler par les valeurs d’une autre instance</a:t>
            </a:r>
          </a:p>
          <a:p>
            <a:pPr lvl="2"/>
            <a:r>
              <a:rPr lang="fr-FR" dirty="0"/>
              <a:t>Copie de surface</a:t>
            </a:r>
          </a:p>
          <a:p>
            <a:pPr lvl="2"/>
            <a:r>
              <a:rPr lang="fr-FR" dirty="0"/>
              <a:t>Itérable dans itérable, non itérable dans non itérable</a:t>
            </a:r>
          </a:p>
          <a:p>
            <a:pPr lvl="2"/>
            <a:r>
              <a:rPr lang="fr-FR" dirty="0"/>
              <a:t>Exemple :</a:t>
            </a:r>
          </a:p>
          <a:p>
            <a:pPr marL="1828800" lvl="4" indent="0">
              <a:buNone/>
            </a:pPr>
            <a:r>
              <a:rPr lang="fr-FR" b="1" i="1" dirty="0"/>
              <a:t>const objet={abc:124, bcd:’une chaine’, xyz:’coucou’}</a:t>
            </a:r>
          </a:p>
          <a:p>
            <a:pPr marL="1828800" lvl="4" indent="0">
              <a:buNone/>
            </a:pPr>
            <a:r>
              <a:rPr lang="fr-FR" b="1" i="1" dirty="0"/>
              <a:t>const nouvelleRef={…objet, xyz:888}</a:t>
            </a:r>
          </a:p>
          <a:p>
            <a:pPr marL="1828800" lvl="4" indent="0">
              <a:buNone/>
            </a:pPr>
            <a:endParaRPr lang="fr-FR" b="1" i="1" dirty="0"/>
          </a:p>
          <a:p>
            <a:pPr marL="1828800" lvl="4" indent="0">
              <a:buNone/>
            </a:pPr>
            <a:r>
              <a:rPr lang="fr-FR" b="1" i="1" dirty="0"/>
              <a:t>const array=[1,2,3,4]</a:t>
            </a:r>
          </a:p>
          <a:p>
            <a:pPr marL="1828800" lvl="4" indent="0">
              <a:buNone/>
            </a:pPr>
            <a:r>
              <a:rPr lang="fr-FR" b="1" i="1" dirty="0"/>
              <a:t>const nouvelleRefArray=[…array,5,6,7]</a:t>
            </a:r>
          </a:p>
          <a:p>
            <a:pPr marL="1828800" lvl="4" indent="0">
              <a:buNone/>
            </a:pPr>
            <a:endParaRPr lang="fr-FR" dirty="0"/>
          </a:p>
          <a:p>
            <a:pPr marL="1828800" lvl="4" indent="0">
              <a:buNone/>
            </a:pPr>
            <a:endParaRPr lang="fr-FR" dirty="0"/>
          </a:p>
          <a:p>
            <a:pPr lvl="2"/>
            <a:endParaRPr lang="fr-FR" dirty="0"/>
          </a:p>
          <a:p>
            <a:pPr lvl="2"/>
            <a:endParaRPr lang="fr-FR" dirty="0"/>
          </a:p>
        </p:txBody>
      </p:sp>
    </p:spTree>
    <p:extLst>
      <p:ext uri="{BB962C8B-B14F-4D97-AF65-F5344CB8AC3E}">
        <p14:creationId xmlns:p14="http://schemas.microsoft.com/office/powerpoint/2010/main" val="392686184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3F952C-E664-3CC2-4DB4-477F052D1B84}"/>
              </a:ext>
            </a:extLst>
          </p:cNvPr>
          <p:cNvSpPr>
            <a:spLocks noGrp="1"/>
          </p:cNvSpPr>
          <p:nvPr>
            <p:ph type="title"/>
          </p:nvPr>
        </p:nvSpPr>
        <p:spPr/>
        <p:txBody>
          <a:bodyPr/>
          <a:lstStyle/>
          <a:p>
            <a:r>
              <a:rPr lang="fr-FR" dirty="0"/>
              <a:t>ES6+ type module</a:t>
            </a:r>
          </a:p>
        </p:txBody>
      </p:sp>
      <p:sp>
        <p:nvSpPr>
          <p:cNvPr id="3" name="Espace réservé du contenu 2">
            <a:extLst>
              <a:ext uri="{FF2B5EF4-FFF2-40B4-BE49-F238E27FC236}">
                <a16:creationId xmlns:a16="http://schemas.microsoft.com/office/drawing/2014/main" id="{D90A774F-3A01-7E9F-61EE-5DDDD1A88F0F}"/>
              </a:ext>
            </a:extLst>
          </p:cNvPr>
          <p:cNvSpPr>
            <a:spLocks noGrp="1"/>
          </p:cNvSpPr>
          <p:nvPr>
            <p:ph idx="1"/>
          </p:nvPr>
        </p:nvSpPr>
        <p:spPr/>
        <p:txBody>
          <a:bodyPr/>
          <a:lstStyle/>
          <a:p>
            <a:r>
              <a:rPr lang="fr-FR" dirty="0"/>
              <a:t>En js l’ensemble des contenus chargés par la balise script est exécuté dans un même contexte d’exécution.</a:t>
            </a:r>
          </a:p>
          <a:p>
            <a:pPr lvl="2"/>
            <a:r>
              <a:rPr lang="fr-FR" dirty="0"/>
              <a:t>Tous les fichiers ont accès aux contenus des autres fichier une fois chargés et exécutés</a:t>
            </a:r>
          </a:p>
          <a:p>
            <a:r>
              <a:rPr lang="fr-FR" dirty="0"/>
              <a:t>Depuis ES6 la balise script (html) supporte l’attribut </a:t>
            </a:r>
            <a:r>
              <a:rPr lang="fr-FR" b="1" i="1" dirty="0"/>
              <a:t>type="module"</a:t>
            </a:r>
            <a:r>
              <a:rPr lang="fr-FR" dirty="0"/>
              <a:t> </a:t>
            </a:r>
          </a:p>
          <a:p>
            <a:pPr lvl="2"/>
            <a:r>
              <a:rPr lang="fr-FR" dirty="0"/>
              <a:t>Délimite un contexte isolé d’exécution</a:t>
            </a:r>
          </a:p>
          <a:p>
            <a:pPr lvl="2"/>
            <a:r>
              <a:rPr lang="fr-FR" dirty="0"/>
              <a:t>Permet l’accès a tous les contenus non modules</a:t>
            </a:r>
          </a:p>
          <a:p>
            <a:pPr lvl="2"/>
            <a:r>
              <a:rPr lang="fr-FR" dirty="0"/>
              <a:t>Isole le code du module sans accès depuis l’extérieur</a:t>
            </a:r>
          </a:p>
          <a:p>
            <a:pPr lvl="2"/>
            <a:r>
              <a:rPr lang="fr-FR" dirty="0"/>
              <a:t>Notion d’import/export (cf. slide import export &amp; scoping)</a:t>
            </a:r>
          </a:p>
        </p:txBody>
      </p:sp>
    </p:spTree>
    <p:extLst>
      <p:ext uri="{BB962C8B-B14F-4D97-AF65-F5344CB8AC3E}">
        <p14:creationId xmlns:p14="http://schemas.microsoft.com/office/powerpoint/2010/main" val="295235026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35B8ED-B5E7-4A48-A9A0-4ACC6EE2F862}"/>
              </a:ext>
            </a:extLst>
          </p:cNvPr>
          <p:cNvSpPr>
            <a:spLocks noGrp="1"/>
          </p:cNvSpPr>
          <p:nvPr>
            <p:ph type="title"/>
          </p:nvPr>
        </p:nvSpPr>
        <p:spPr/>
        <p:txBody>
          <a:bodyPr/>
          <a:lstStyle/>
          <a:p>
            <a:r>
              <a:rPr lang="fr-FR" dirty="0"/>
              <a:t>C’est l’histoire d’un mec …</a:t>
            </a:r>
          </a:p>
        </p:txBody>
      </p:sp>
      <p:sp>
        <p:nvSpPr>
          <p:cNvPr id="3" name="Espace réservé du contenu 2">
            <a:extLst>
              <a:ext uri="{FF2B5EF4-FFF2-40B4-BE49-F238E27FC236}">
                <a16:creationId xmlns:a16="http://schemas.microsoft.com/office/drawing/2014/main" id="{4CFF0D88-6AFE-4F70-B905-C4FDDB7CE7E7}"/>
              </a:ext>
            </a:extLst>
          </p:cNvPr>
          <p:cNvSpPr>
            <a:spLocks noGrp="1"/>
          </p:cNvSpPr>
          <p:nvPr>
            <p:ph idx="1"/>
          </p:nvPr>
        </p:nvSpPr>
        <p:spPr/>
        <p:txBody>
          <a:bodyPr>
            <a:normAutofit fontScale="70000" lnSpcReduction="20000"/>
          </a:bodyPr>
          <a:lstStyle/>
          <a:p>
            <a:r>
              <a:rPr lang="fr-FR" dirty="0"/>
              <a:t>Jean-Pierre  lorsque il boit son café au bar joue souvent aux jeux d’argent.</a:t>
            </a:r>
          </a:p>
          <a:p>
            <a:r>
              <a:rPr lang="fr-FR" dirty="0"/>
              <a:t>Plutôt chanceux, ce jour d’avril il se dit que c’est aujourd’hui</a:t>
            </a:r>
          </a:p>
          <a:p>
            <a:pPr lvl="1"/>
            <a:endParaRPr lang="fr-FR" dirty="0"/>
          </a:p>
          <a:p>
            <a:pPr lvl="1"/>
            <a:r>
              <a:rPr lang="fr-FR" dirty="0"/>
              <a:t>Il </a:t>
            </a:r>
            <a:r>
              <a:rPr lang="fr-FR" b="1" dirty="0"/>
              <a:t>gratte</a:t>
            </a:r>
            <a:r>
              <a:rPr lang="fr-FR" dirty="0"/>
              <a:t>, </a:t>
            </a:r>
            <a:r>
              <a:rPr lang="fr-FR" b="1" dirty="0"/>
              <a:t>il perd </a:t>
            </a:r>
            <a:r>
              <a:rPr lang="fr-FR" dirty="0"/>
              <a:t>..</a:t>
            </a:r>
          </a:p>
          <a:p>
            <a:pPr lvl="1"/>
            <a:endParaRPr lang="fr-FR" dirty="0"/>
          </a:p>
          <a:p>
            <a:pPr lvl="1"/>
            <a:r>
              <a:rPr lang="fr-FR" dirty="0"/>
              <a:t>Il </a:t>
            </a:r>
            <a:r>
              <a:rPr lang="fr-FR" b="1" dirty="0"/>
              <a:t>fait un loto</a:t>
            </a:r>
          </a:p>
          <a:p>
            <a:pPr lvl="1"/>
            <a:endParaRPr lang="fr-FR" dirty="0"/>
          </a:p>
          <a:p>
            <a:pPr lvl="1"/>
            <a:r>
              <a:rPr lang="fr-FR" dirty="0"/>
              <a:t>Une </a:t>
            </a:r>
            <a:r>
              <a:rPr lang="fr-FR" b="1" dirty="0"/>
              <a:t>course de chevaux</a:t>
            </a:r>
            <a:r>
              <a:rPr lang="fr-FR" dirty="0"/>
              <a:t>, allais démarrer</a:t>
            </a:r>
          </a:p>
          <a:p>
            <a:pPr lvl="2"/>
            <a:endParaRPr lang="fr-FR" dirty="0"/>
          </a:p>
          <a:p>
            <a:pPr lvl="2"/>
            <a:r>
              <a:rPr lang="fr-FR" dirty="0"/>
              <a:t>Il a donc fait un pari sur un cheval</a:t>
            </a:r>
          </a:p>
          <a:p>
            <a:pPr lvl="3"/>
            <a:r>
              <a:rPr lang="fr-FR" dirty="0"/>
              <a:t>Qui à un look de gagnant (cf. photo 1).</a:t>
            </a:r>
          </a:p>
          <a:p>
            <a:pPr lvl="2"/>
            <a:endParaRPr lang="fr-FR" dirty="0"/>
          </a:p>
          <a:p>
            <a:pPr lvl="2"/>
            <a:r>
              <a:rPr lang="fr-FR" dirty="0"/>
              <a:t>Il attend devant la course qui débute </a:t>
            </a:r>
          </a:p>
          <a:p>
            <a:pPr lvl="2"/>
            <a:endParaRPr lang="fr-FR" dirty="0"/>
          </a:p>
          <a:p>
            <a:pPr lvl="2"/>
            <a:r>
              <a:rPr lang="fr-FR" dirty="0"/>
              <a:t>Son cheval est placé</a:t>
            </a:r>
          </a:p>
          <a:p>
            <a:pPr lvl="3"/>
            <a:r>
              <a:rPr lang="fr-FR" dirty="0">
                <a:sym typeface="Wingdings" panose="05000000000000000000" pitchFamily="2" charset="2"/>
              </a:rPr>
              <a:t>Mais il a coché sans le vouloir le </a:t>
            </a:r>
          </a:p>
          <a:p>
            <a:pPr lvl="4"/>
            <a:r>
              <a:rPr lang="fr-FR" dirty="0">
                <a:sym typeface="Wingdings" panose="05000000000000000000" pitchFamily="2" charset="2"/>
              </a:rPr>
              <a:t>8 </a:t>
            </a:r>
            <a:r>
              <a:rPr lang="fr-FR" i="1" dirty="0">
                <a:sym typeface="Wingdings" panose="05000000000000000000" pitchFamily="2" charset="2"/>
              </a:rPr>
              <a:t>petit ange des prés (cf. photo 2)</a:t>
            </a:r>
            <a:r>
              <a:rPr lang="fr-FR" dirty="0">
                <a:sym typeface="Wingdings" panose="05000000000000000000" pitchFamily="2" charset="2"/>
              </a:rPr>
              <a:t> dernier</a:t>
            </a:r>
            <a:endParaRPr lang="fr-FR" dirty="0"/>
          </a:p>
          <a:p>
            <a:pPr lvl="3"/>
            <a:r>
              <a:rPr lang="fr-FR" dirty="0"/>
              <a:t>Enfin quand il arrivera, si il arrive </a:t>
            </a:r>
          </a:p>
          <a:p>
            <a:pPr lvl="1"/>
            <a:endParaRPr lang="fr-FR" dirty="0"/>
          </a:p>
          <a:p>
            <a:pPr lvl="1"/>
            <a:endParaRPr lang="fr-FR" dirty="0"/>
          </a:p>
        </p:txBody>
      </p:sp>
      <p:pic>
        <p:nvPicPr>
          <p:cNvPr id="3076" name="Picture 4" descr="Comment jouer au Loto et Super Loto sur la grille papier ?">
            <a:extLst>
              <a:ext uri="{FF2B5EF4-FFF2-40B4-BE49-F238E27FC236}">
                <a16:creationId xmlns:a16="http://schemas.microsoft.com/office/drawing/2014/main" id="{94359234-146D-4166-A1B5-F4C4D9CDBC6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87808" y="2255255"/>
            <a:ext cx="1281113" cy="1725189"/>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 3">
            <a:extLst>
              <a:ext uri="{FF2B5EF4-FFF2-40B4-BE49-F238E27FC236}">
                <a16:creationId xmlns:a16="http://schemas.microsoft.com/office/drawing/2014/main" id="{2213A033-1060-4BC9-A175-2BAE00F8D218}"/>
              </a:ext>
            </a:extLst>
          </p:cNvPr>
          <p:cNvPicPr>
            <a:picLocks noChangeAspect="1"/>
          </p:cNvPicPr>
          <p:nvPr/>
        </p:nvPicPr>
        <p:blipFill>
          <a:blip r:embed="rId4"/>
          <a:stretch>
            <a:fillRect/>
          </a:stretch>
        </p:blipFill>
        <p:spPr>
          <a:xfrm>
            <a:off x="7600797" y="2132911"/>
            <a:ext cx="991984" cy="1725189"/>
          </a:xfrm>
          <a:prstGeom prst="rect">
            <a:avLst/>
          </a:prstGeom>
        </p:spPr>
      </p:pic>
      <p:pic>
        <p:nvPicPr>
          <p:cNvPr id="6" name="Image 5">
            <a:extLst>
              <a:ext uri="{FF2B5EF4-FFF2-40B4-BE49-F238E27FC236}">
                <a16:creationId xmlns:a16="http://schemas.microsoft.com/office/drawing/2014/main" id="{A95ADA8F-6F25-4E16-9B1F-E51B8BDB4C3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05036" y="3069229"/>
            <a:ext cx="2659274" cy="2659274"/>
          </a:xfrm>
          <a:prstGeom prst="rect">
            <a:avLst/>
          </a:prstGeom>
        </p:spPr>
      </p:pic>
      <p:pic>
        <p:nvPicPr>
          <p:cNvPr id="3078" name="Picture 6" descr="Jockey png 6 » PNG Image">
            <a:extLst>
              <a:ext uri="{FF2B5EF4-FFF2-40B4-BE49-F238E27FC236}">
                <a16:creationId xmlns:a16="http://schemas.microsoft.com/office/drawing/2014/main" id="{3C3F950D-1F73-471E-88F3-7D08C5B5466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9283" y="2958068"/>
            <a:ext cx="2155753" cy="2770142"/>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CE20A5DE-1C7D-4653-9D9F-6A03A2A3891A}"/>
              </a:ext>
            </a:extLst>
          </p:cNvPr>
          <p:cNvSpPr/>
          <p:nvPr/>
        </p:nvSpPr>
        <p:spPr>
          <a:xfrm>
            <a:off x="8180883" y="4725089"/>
            <a:ext cx="722762" cy="300082"/>
          </a:xfrm>
          <a:prstGeom prst="rect">
            <a:avLst/>
          </a:prstGeom>
        </p:spPr>
        <p:txBody>
          <a:bodyPr wrap="none">
            <a:spAutoFit/>
          </a:bodyPr>
          <a:lstStyle/>
          <a:p>
            <a:r>
              <a:rPr lang="fr-FR" sz="1350" i="1" dirty="0">
                <a:sym typeface="Wingdings" panose="05000000000000000000" pitchFamily="2" charset="2"/>
              </a:rPr>
              <a:t>photo 2</a:t>
            </a:r>
            <a:endParaRPr lang="fr-FR" sz="1350" dirty="0"/>
          </a:p>
        </p:txBody>
      </p:sp>
      <p:sp>
        <p:nvSpPr>
          <p:cNvPr id="11" name="Rectangle 10">
            <a:extLst>
              <a:ext uri="{FF2B5EF4-FFF2-40B4-BE49-F238E27FC236}">
                <a16:creationId xmlns:a16="http://schemas.microsoft.com/office/drawing/2014/main" id="{28769FB1-8AEC-40FD-9ACC-7A97582641BC}"/>
              </a:ext>
            </a:extLst>
          </p:cNvPr>
          <p:cNvSpPr/>
          <p:nvPr/>
        </p:nvSpPr>
        <p:spPr>
          <a:xfrm>
            <a:off x="5088460" y="2631862"/>
            <a:ext cx="722762" cy="300082"/>
          </a:xfrm>
          <a:prstGeom prst="rect">
            <a:avLst/>
          </a:prstGeom>
        </p:spPr>
        <p:txBody>
          <a:bodyPr wrap="none">
            <a:spAutoFit/>
          </a:bodyPr>
          <a:lstStyle/>
          <a:p>
            <a:r>
              <a:rPr lang="fr-FR" sz="1350" i="1" dirty="0">
                <a:sym typeface="Wingdings" panose="05000000000000000000" pitchFamily="2" charset="2"/>
              </a:rPr>
              <a:t>photo 1</a:t>
            </a:r>
            <a:endParaRPr lang="fr-FR" sz="1350" dirty="0"/>
          </a:p>
        </p:txBody>
      </p:sp>
    </p:spTree>
    <p:extLst>
      <p:ext uri="{BB962C8B-B14F-4D97-AF65-F5344CB8AC3E}">
        <p14:creationId xmlns:p14="http://schemas.microsoft.com/office/powerpoint/2010/main" val="340903020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DCC603-E4D1-40E0-AEC7-F936DD6C39FF}"/>
              </a:ext>
            </a:extLst>
          </p:cNvPr>
          <p:cNvSpPr>
            <a:spLocks noGrp="1"/>
          </p:cNvSpPr>
          <p:nvPr>
            <p:ph type="title"/>
          </p:nvPr>
        </p:nvSpPr>
        <p:spPr/>
        <p:txBody>
          <a:bodyPr/>
          <a:lstStyle/>
          <a:p>
            <a:r>
              <a:rPr lang="fr-FR" dirty="0"/>
              <a:t>C’est l’histoire d’un mec</a:t>
            </a:r>
          </a:p>
        </p:txBody>
      </p:sp>
      <p:sp>
        <p:nvSpPr>
          <p:cNvPr id="3" name="Espace réservé du contenu 2">
            <a:extLst>
              <a:ext uri="{FF2B5EF4-FFF2-40B4-BE49-F238E27FC236}">
                <a16:creationId xmlns:a16="http://schemas.microsoft.com/office/drawing/2014/main" id="{DD985EDA-5C7A-4342-A5D3-FFFAE7947D1A}"/>
              </a:ext>
            </a:extLst>
          </p:cNvPr>
          <p:cNvSpPr>
            <a:spLocks noGrp="1"/>
          </p:cNvSpPr>
          <p:nvPr>
            <p:ph idx="1"/>
          </p:nvPr>
        </p:nvSpPr>
        <p:spPr/>
        <p:txBody>
          <a:bodyPr>
            <a:normAutofit/>
          </a:bodyPr>
          <a:lstStyle/>
          <a:p>
            <a:r>
              <a:rPr lang="fr-FR" sz="1800" dirty="0"/>
              <a:t>Jp sais qu’il a tout joué au tiercé du coup il rentre pu un sous en poche </a:t>
            </a:r>
          </a:p>
          <a:p>
            <a:r>
              <a:rPr lang="fr-FR" sz="1800" dirty="0"/>
              <a:t>A 22h ce jour d’avril, il entend le tirage du loto </a:t>
            </a:r>
          </a:p>
          <a:p>
            <a:pPr lvl="1"/>
            <a:endParaRPr lang="fr-FR" sz="1800" dirty="0"/>
          </a:p>
          <a:p>
            <a:pPr lvl="1"/>
            <a:r>
              <a:rPr lang="fr-FR" sz="1800" dirty="0"/>
              <a:t>Souvenez vous, jp à joué avant le tiercé :</a:t>
            </a:r>
          </a:p>
          <a:p>
            <a:pPr lvl="2"/>
            <a:r>
              <a:rPr lang="fr-FR" sz="1350" dirty="0"/>
              <a:t>Il avait fait sa grille</a:t>
            </a:r>
          </a:p>
          <a:p>
            <a:pPr marL="0" indent="0" algn="ctr">
              <a:buNone/>
            </a:pPr>
            <a:r>
              <a:rPr lang="fr-FR" sz="1800" dirty="0">
                <a:solidFill>
                  <a:prstClr val="black"/>
                </a:solidFill>
              </a:rPr>
              <a:t>3 – 8 – 21 – 35 – 49</a:t>
            </a:r>
            <a:endParaRPr lang="fr-FR" sz="1800" dirty="0"/>
          </a:p>
          <a:p>
            <a:pPr lvl="2"/>
            <a:endParaRPr lang="fr-FR" sz="1350" dirty="0"/>
          </a:p>
          <a:p>
            <a:pPr lvl="2"/>
            <a:r>
              <a:rPr lang="fr-FR" sz="1350" dirty="0"/>
              <a:t>Enregistrer son ticket contre un reçu de jeu</a:t>
            </a:r>
          </a:p>
          <a:p>
            <a:pPr lvl="3"/>
            <a:r>
              <a:rPr lang="fr-FR" sz="1200" dirty="0"/>
              <a:t>Il a donc prévu après le tirage de vérifier si il a gagner</a:t>
            </a:r>
          </a:p>
          <a:p>
            <a:pPr lvl="4"/>
            <a:endParaRPr lang="fr-FR" sz="1200" dirty="0"/>
          </a:p>
          <a:p>
            <a:pPr lvl="4"/>
            <a:r>
              <a:rPr lang="fr-FR" sz="1200" dirty="0"/>
              <a:t>Il à déjà prévu que si il gagnait, il irait encaisser ses gains</a:t>
            </a:r>
          </a:p>
          <a:p>
            <a:pPr lvl="5"/>
            <a:r>
              <a:rPr lang="fr-FR" sz="1200" dirty="0"/>
              <a:t>et que c’est un gros lot, il déménagerait à Mulhouse</a:t>
            </a:r>
          </a:p>
          <a:p>
            <a:pPr lvl="4"/>
            <a:endParaRPr lang="fr-FR" sz="1200" dirty="0"/>
          </a:p>
          <a:p>
            <a:pPr lvl="4"/>
            <a:r>
              <a:rPr lang="fr-FR" sz="1200" dirty="0"/>
              <a:t>Il a aussi prévu que si il gagnait rien, il jetterait son ticket</a:t>
            </a:r>
          </a:p>
          <a:p>
            <a:pPr lvl="4"/>
            <a:endParaRPr lang="fr-FR" sz="1200" dirty="0"/>
          </a:p>
          <a:p>
            <a:pPr lvl="2"/>
            <a:r>
              <a:rPr lang="fr-FR" sz="1350" dirty="0"/>
              <a:t>Vue qu’il étais d’humeur gagnante il a jouer et fait d’autre chose</a:t>
            </a:r>
          </a:p>
          <a:p>
            <a:pPr lvl="3"/>
            <a:r>
              <a:rPr lang="fr-FR" sz="1200" dirty="0"/>
              <a:t>C’est la notification de l’appli qui lui à rappeler que le tirage venait d’être fait</a:t>
            </a:r>
          </a:p>
          <a:p>
            <a:endParaRPr lang="fr-FR" sz="1800" dirty="0"/>
          </a:p>
          <a:p>
            <a:r>
              <a:rPr lang="fr-FR" sz="1800" dirty="0"/>
              <a:t>Jp 42 ans en ce jour d’avril avais tous les bons numéros, dans l’ordre du loto.</a:t>
            </a:r>
          </a:p>
          <a:p>
            <a:endParaRPr lang="fr-FR" sz="1800" dirty="0"/>
          </a:p>
          <a:p>
            <a:pPr lvl="2"/>
            <a:endParaRPr lang="fr-FR" sz="1350" dirty="0"/>
          </a:p>
        </p:txBody>
      </p:sp>
      <p:pic>
        <p:nvPicPr>
          <p:cNvPr id="4" name="Picture 2">
            <a:extLst>
              <a:ext uri="{FF2B5EF4-FFF2-40B4-BE49-F238E27FC236}">
                <a16:creationId xmlns:a16="http://schemas.microsoft.com/office/drawing/2014/main" id="{0AA6389D-3040-4E02-8520-FB5F4CC3A1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5895" y="4791504"/>
            <a:ext cx="1042385" cy="887794"/>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e 8">
            <a:extLst>
              <a:ext uri="{FF2B5EF4-FFF2-40B4-BE49-F238E27FC236}">
                <a16:creationId xmlns:a16="http://schemas.microsoft.com/office/drawing/2014/main" id="{6E173959-956F-4F9F-86A4-2E09D1DB72C4}"/>
              </a:ext>
            </a:extLst>
          </p:cNvPr>
          <p:cNvGrpSpPr/>
          <p:nvPr/>
        </p:nvGrpSpPr>
        <p:grpSpPr>
          <a:xfrm>
            <a:off x="6137203" y="3429000"/>
            <a:ext cx="2721077" cy="1231491"/>
            <a:chOff x="7895303" y="2812026"/>
            <a:chExt cx="3628103" cy="1641988"/>
          </a:xfrm>
        </p:grpSpPr>
        <p:sp>
          <p:nvSpPr>
            <p:cNvPr id="6" name="Rectangle : coins arrondis 5">
              <a:extLst>
                <a:ext uri="{FF2B5EF4-FFF2-40B4-BE49-F238E27FC236}">
                  <a16:creationId xmlns:a16="http://schemas.microsoft.com/office/drawing/2014/main" id="{C10932B6-35DF-4A09-B591-CF35EAE5395A}"/>
                </a:ext>
              </a:extLst>
            </p:cNvPr>
            <p:cNvSpPr/>
            <p:nvPr/>
          </p:nvSpPr>
          <p:spPr>
            <a:xfrm>
              <a:off x="7895303" y="2812026"/>
              <a:ext cx="3628103" cy="118372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dirty="0">
                  <a:solidFill>
                    <a:schemeClr val="tx1"/>
                  </a:solidFill>
                </a:rPr>
                <a:t>Chanceux le type</a:t>
              </a:r>
            </a:p>
          </p:txBody>
        </p:sp>
        <p:sp>
          <p:nvSpPr>
            <p:cNvPr id="7" name="Triangle isocèle 6">
              <a:extLst>
                <a:ext uri="{FF2B5EF4-FFF2-40B4-BE49-F238E27FC236}">
                  <a16:creationId xmlns:a16="http://schemas.microsoft.com/office/drawing/2014/main" id="{D05F4CC3-44C3-494B-BF27-E95136278A60}"/>
                </a:ext>
              </a:extLst>
            </p:cNvPr>
            <p:cNvSpPr/>
            <p:nvPr/>
          </p:nvSpPr>
          <p:spPr>
            <a:xfrm rot="10800000">
              <a:off x="10421193" y="3995752"/>
              <a:ext cx="796413" cy="458262"/>
            </a:xfrm>
            <a:prstGeom prst="triangl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8" name="Rectangle 7">
              <a:extLst>
                <a:ext uri="{FF2B5EF4-FFF2-40B4-BE49-F238E27FC236}">
                  <a16:creationId xmlns:a16="http://schemas.microsoft.com/office/drawing/2014/main" id="{804A9ECB-07AD-4988-920A-D17F451FBBF8}"/>
                </a:ext>
              </a:extLst>
            </p:cNvPr>
            <p:cNvSpPr/>
            <p:nvPr/>
          </p:nvSpPr>
          <p:spPr>
            <a:xfrm>
              <a:off x="10491020" y="3926927"/>
              <a:ext cx="678425" cy="7480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350" dirty="0"/>
            </a:p>
          </p:txBody>
        </p:sp>
      </p:grpSp>
    </p:spTree>
    <p:extLst>
      <p:ext uri="{BB962C8B-B14F-4D97-AF65-F5344CB8AC3E}">
        <p14:creationId xmlns:p14="http://schemas.microsoft.com/office/powerpoint/2010/main" val="11637896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0E390E-8173-40CE-866F-7289E14FE043}"/>
              </a:ext>
            </a:extLst>
          </p:cNvPr>
          <p:cNvSpPr>
            <a:spLocks noGrp="1"/>
          </p:cNvSpPr>
          <p:nvPr>
            <p:ph type="title"/>
          </p:nvPr>
        </p:nvSpPr>
        <p:spPr/>
        <p:txBody>
          <a:bodyPr/>
          <a:lstStyle/>
          <a:p>
            <a:r>
              <a:rPr lang="fr-FR" dirty="0"/>
              <a:t> technique</a:t>
            </a:r>
          </a:p>
        </p:txBody>
      </p:sp>
      <p:sp>
        <p:nvSpPr>
          <p:cNvPr id="3" name="Espace réservé du contenu 2">
            <a:extLst>
              <a:ext uri="{FF2B5EF4-FFF2-40B4-BE49-F238E27FC236}">
                <a16:creationId xmlns:a16="http://schemas.microsoft.com/office/drawing/2014/main" id="{5F69A50B-F97E-494F-AE47-181B46576703}"/>
              </a:ext>
            </a:extLst>
          </p:cNvPr>
          <p:cNvSpPr>
            <a:spLocks noGrp="1"/>
          </p:cNvSpPr>
          <p:nvPr>
            <p:ph idx="1"/>
          </p:nvPr>
        </p:nvSpPr>
        <p:spPr/>
        <p:txBody>
          <a:bodyPr>
            <a:normAutofit fontScale="77500" lnSpcReduction="20000"/>
          </a:bodyPr>
          <a:lstStyle/>
          <a:p>
            <a:r>
              <a:rPr lang="fr-FR" dirty="0"/>
              <a:t>Le jeux a gratter n’avais aucune notion d’async</a:t>
            </a:r>
          </a:p>
          <a:p>
            <a:r>
              <a:rPr lang="fr-FR" dirty="0"/>
              <a:t>La course de chevaux na pas été utiliser sous forme d’async</a:t>
            </a:r>
          </a:p>
          <a:p>
            <a:r>
              <a:rPr lang="fr-FR" dirty="0"/>
              <a:t>Notion de promise es6 et </a:t>
            </a:r>
            <a:r>
              <a:rPr lang="fr-FR" b="1" dirty="0"/>
              <a:t>await</a:t>
            </a:r>
            <a:r>
              <a:rPr lang="fr-FR" dirty="0"/>
              <a:t> function es7/ts</a:t>
            </a:r>
          </a:p>
          <a:p>
            <a:endParaRPr lang="fr-FR" dirty="0"/>
          </a:p>
          <a:p>
            <a:r>
              <a:rPr lang="fr-FR" dirty="0"/>
              <a:t>Le loto quand à lui :</a:t>
            </a:r>
          </a:p>
          <a:p>
            <a:pPr lvl="2"/>
            <a:r>
              <a:rPr lang="fr-FR" dirty="0"/>
              <a:t>Jouer une fonction </a:t>
            </a:r>
            <a:r>
              <a:rPr lang="fr-FR" b="1" dirty="0"/>
              <a:t>async </a:t>
            </a:r>
            <a:r>
              <a:rPr lang="fr-FR" dirty="0"/>
              <a:t>qui </a:t>
            </a:r>
            <a:r>
              <a:rPr lang="fr-FR" b="1" dirty="0"/>
              <a:t>await</a:t>
            </a:r>
            <a:r>
              <a:rPr lang="fr-FR" dirty="0"/>
              <a:t> le tirage du soir</a:t>
            </a:r>
          </a:p>
          <a:p>
            <a:pPr lvl="2"/>
            <a:endParaRPr lang="fr-FR" dirty="0"/>
          </a:p>
          <a:p>
            <a:pPr lvl="2"/>
            <a:r>
              <a:rPr lang="fr-FR" dirty="0"/>
              <a:t>Une fois que l’action de jouer est fini j’ exécute une tache</a:t>
            </a:r>
          </a:p>
          <a:p>
            <a:pPr lvl="3"/>
            <a:r>
              <a:rPr lang="fr-FR" dirty="0"/>
              <a:t>En sachant à l’avance quelle prendrais du temps et que j’aurais bien d’autres taches à effectuer d’ici le résultat de la fonction appeler.</a:t>
            </a:r>
          </a:p>
          <a:p>
            <a:pPr lvl="3"/>
            <a:endParaRPr lang="fr-FR" dirty="0"/>
          </a:p>
          <a:p>
            <a:pPr lvl="3"/>
            <a:r>
              <a:rPr lang="fr-FR" dirty="0"/>
              <a:t>Je prévois directement, au moment de l’appel de la fonction, le </a:t>
            </a:r>
            <a:r>
              <a:rPr lang="fr-FR" b="1" dirty="0"/>
              <a:t>retour d’une promise</a:t>
            </a:r>
            <a:r>
              <a:rPr lang="fr-FR" dirty="0"/>
              <a:t>.</a:t>
            </a:r>
          </a:p>
          <a:p>
            <a:pPr lvl="3"/>
            <a:endParaRPr lang="fr-FR" dirty="0"/>
          </a:p>
          <a:p>
            <a:pPr lvl="3"/>
            <a:r>
              <a:rPr lang="fr-FR" dirty="0"/>
              <a:t>Promesse à laquelle je peux définir quoi faire quand l’exécution sera effectuée </a:t>
            </a:r>
          </a:p>
          <a:p>
            <a:pPr lvl="5"/>
            <a:r>
              <a:rPr lang="fr-FR" dirty="0"/>
              <a:t>avec       </a:t>
            </a:r>
            <a:r>
              <a:rPr lang="fr-FR" b="1" dirty="0"/>
              <a:t>.then(retour=&gt;{ … });</a:t>
            </a:r>
          </a:p>
          <a:p>
            <a:pPr lvl="5"/>
            <a:endParaRPr lang="fr-FR" dirty="0"/>
          </a:p>
          <a:p>
            <a:pPr marL="342900" lvl="1" indent="0">
              <a:buNone/>
            </a:pPr>
            <a:r>
              <a:rPr lang="fr-FR" dirty="0"/>
              <a:t> </a:t>
            </a:r>
          </a:p>
        </p:txBody>
      </p:sp>
    </p:spTree>
    <p:extLst>
      <p:ext uri="{BB962C8B-B14F-4D97-AF65-F5344CB8AC3E}">
        <p14:creationId xmlns:p14="http://schemas.microsoft.com/office/powerpoint/2010/main" val="287916862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BF35E-184C-B4D5-CEC2-6E43645BF83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17298ED-FB20-2C4C-4874-090D9C66C62E}"/>
              </a:ext>
            </a:extLst>
          </p:cNvPr>
          <p:cNvSpPr>
            <a:spLocks noGrp="1"/>
          </p:cNvSpPr>
          <p:nvPr>
            <p:ph type="title"/>
          </p:nvPr>
        </p:nvSpPr>
        <p:spPr/>
        <p:txBody>
          <a:bodyPr/>
          <a:lstStyle/>
          <a:p>
            <a:r>
              <a:rPr lang="fr-FR" dirty="0"/>
              <a:t>ES6+ Promise</a:t>
            </a:r>
          </a:p>
        </p:txBody>
      </p:sp>
      <p:sp>
        <p:nvSpPr>
          <p:cNvPr id="4" name="Espace réservé du contenu 3">
            <a:extLst>
              <a:ext uri="{FF2B5EF4-FFF2-40B4-BE49-F238E27FC236}">
                <a16:creationId xmlns:a16="http://schemas.microsoft.com/office/drawing/2014/main" id="{063F3BA6-B0E9-1D04-3C9D-850837485E2A}"/>
              </a:ext>
            </a:extLst>
          </p:cNvPr>
          <p:cNvSpPr>
            <a:spLocks noGrp="1"/>
          </p:cNvSpPr>
          <p:nvPr>
            <p:ph idx="1"/>
          </p:nvPr>
        </p:nvSpPr>
        <p:spPr/>
        <p:txBody>
          <a:bodyPr>
            <a:normAutofit fontScale="85000" lnSpcReduction="10000"/>
          </a:bodyPr>
          <a:lstStyle/>
          <a:p>
            <a:r>
              <a:rPr lang="fr-FR" dirty="0"/>
              <a:t>La promise est une promesse d’ exécution lorsque la tache async sera finalisée</a:t>
            </a:r>
          </a:p>
          <a:p>
            <a:pPr lvl="1"/>
            <a:r>
              <a:rPr lang="fr-FR" dirty="0"/>
              <a:t>Fetch basée sur les promises</a:t>
            </a:r>
          </a:p>
          <a:p>
            <a:pPr lvl="1"/>
            <a:r>
              <a:rPr lang="fr-FR" dirty="0"/>
              <a:t>Then renvoi aussi une promise</a:t>
            </a:r>
          </a:p>
          <a:p>
            <a:pPr lvl="2"/>
            <a:r>
              <a:rPr lang="fr-FR" dirty="0"/>
              <a:t>Chargé de la valeur de retour de la fonction en paramètre</a:t>
            </a:r>
          </a:p>
          <a:p>
            <a:pPr lvl="2"/>
            <a:r>
              <a:rPr lang="fr-FR" dirty="0"/>
              <a:t>Déclenché lorsque la tache est :</a:t>
            </a:r>
          </a:p>
          <a:p>
            <a:pPr lvl="3"/>
            <a:r>
              <a:rPr lang="fr-FR" dirty="0"/>
              <a:t> resolved(fulfilled) (meme si déjà résolue)</a:t>
            </a:r>
          </a:p>
          <a:p>
            <a:pPr lvl="3"/>
            <a:r>
              <a:rPr lang="fr-FR" dirty="0"/>
              <a:t>rejected</a:t>
            </a:r>
          </a:p>
          <a:p>
            <a:pPr lvl="2"/>
            <a:r>
              <a:rPr lang="fr-FR" dirty="0"/>
              <a:t>Les promises peuvent être:</a:t>
            </a:r>
          </a:p>
          <a:p>
            <a:pPr lvl="3"/>
            <a:r>
              <a:rPr lang="fr-FR" dirty="0"/>
              <a:t>Mise en concurrence Promise.race</a:t>
            </a:r>
          </a:p>
          <a:p>
            <a:pPr lvl="3"/>
            <a:r>
              <a:rPr lang="fr-FR" dirty="0"/>
              <a:t>Attendu par ensemble: Promise.all</a:t>
            </a:r>
          </a:p>
        </p:txBody>
      </p:sp>
      <p:sp>
        <p:nvSpPr>
          <p:cNvPr id="5" name="Espace réservé du contenu 4">
            <a:extLst>
              <a:ext uri="{FF2B5EF4-FFF2-40B4-BE49-F238E27FC236}">
                <a16:creationId xmlns:a16="http://schemas.microsoft.com/office/drawing/2014/main" id="{2324E087-5369-552A-BEFC-93A0442FD7BA}"/>
              </a:ext>
            </a:extLst>
          </p:cNvPr>
          <p:cNvSpPr>
            <a:spLocks noGrp="1"/>
          </p:cNvSpPr>
          <p:nvPr>
            <p:ph sz="quarter" idx="14"/>
          </p:nvPr>
        </p:nvSpPr>
        <p:spPr>
          <a:xfrm>
            <a:off x="142846" y="1713385"/>
            <a:ext cx="3904175" cy="3821918"/>
          </a:xfrm>
        </p:spPr>
        <p:txBody>
          <a:bodyPr>
            <a:normAutofit/>
          </a:bodyPr>
          <a:lstStyle/>
          <a:p>
            <a:r>
              <a:rPr lang="fr-FR" dirty="0">
                <a:solidFill>
                  <a:srgbClr val="000000"/>
                </a:solidFill>
                <a:latin typeface="Consolas" panose="020B0609020204030204" pitchFamily="49" charset="0"/>
              </a:rPr>
              <a:t>Fichier.js</a:t>
            </a:r>
          </a:p>
          <a:p>
            <a:pPr marL="0" indent="0">
              <a:buNone/>
            </a:pPr>
            <a:br>
              <a:rPr lang="fr-FR" dirty="0">
                <a:solidFill>
                  <a:srgbClr val="000000"/>
                </a:solidFill>
                <a:latin typeface="Consolas" panose="020B0609020204030204" pitchFamily="49" charset="0"/>
              </a:rPr>
            </a:br>
            <a:r>
              <a:rPr lang="fr-FR" dirty="0">
                <a:solidFill>
                  <a:srgbClr val="000000"/>
                </a:solidFill>
                <a:latin typeface="Consolas" panose="020B0609020204030204" pitchFamily="49" charset="0"/>
              </a:rPr>
              <a:t>const promise=fetch(‘url’)</a:t>
            </a:r>
            <a:br>
              <a:rPr lang="fr-FR" dirty="0">
                <a:solidFill>
                  <a:srgbClr val="000000"/>
                </a:solidFill>
                <a:latin typeface="Consolas" panose="020B0609020204030204" pitchFamily="49" charset="0"/>
              </a:rPr>
            </a:br>
            <a:endParaRPr lang="fr-FR" dirty="0">
              <a:solidFill>
                <a:srgbClr val="000000"/>
              </a:solidFill>
              <a:latin typeface="Consolas" panose="020B0609020204030204" pitchFamily="49" charset="0"/>
            </a:endParaRPr>
          </a:p>
          <a:p>
            <a:pPr marL="0" indent="0">
              <a:buNone/>
            </a:pPr>
            <a:r>
              <a:rPr lang="fr-FR" dirty="0">
                <a:solidFill>
                  <a:srgbClr val="000000"/>
                </a:solidFill>
                <a:latin typeface="Consolas" panose="020B0609020204030204" pitchFamily="49" charset="0"/>
              </a:rPr>
              <a:t>const treated=</a:t>
            </a:r>
          </a:p>
          <a:p>
            <a:pPr marL="0" indent="0">
              <a:buNone/>
            </a:pPr>
            <a:r>
              <a:rPr lang="fr-FR" dirty="0">
                <a:solidFill>
                  <a:srgbClr val="000000"/>
                </a:solidFill>
                <a:latin typeface="Consolas" panose="020B0609020204030204" pitchFamily="49" charset="0"/>
              </a:rPr>
              <a:t>   promise.then(response=&gt;response.json())</a:t>
            </a:r>
          </a:p>
          <a:p>
            <a:pPr marL="0" indent="0">
              <a:buNone/>
            </a:pPr>
            <a:endParaRPr lang="fr-FR" dirty="0">
              <a:solidFill>
                <a:srgbClr val="000000"/>
              </a:solidFill>
              <a:latin typeface="Consolas" panose="020B0609020204030204" pitchFamily="49" charset="0"/>
            </a:endParaRPr>
          </a:p>
          <a:p>
            <a:pPr marL="0" indent="0">
              <a:buNone/>
            </a:pPr>
            <a:r>
              <a:rPr lang="fr-FR" dirty="0">
                <a:solidFill>
                  <a:srgbClr val="000000"/>
                </a:solidFill>
                <a:latin typeface="Consolas" panose="020B0609020204030204" pitchFamily="49" charset="0"/>
              </a:rPr>
              <a:t>treated.then(array=&gt;console.log(array))</a:t>
            </a:r>
          </a:p>
          <a:p>
            <a:pPr marL="0" indent="0">
              <a:buNone/>
            </a:pPr>
            <a:endParaRPr lang="fr-FR" dirty="0">
              <a:solidFill>
                <a:srgbClr val="000000"/>
              </a:solidFill>
              <a:latin typeface="Consolas" panose="020B0609020204030204" pitchFamily="49" charset="0"/>
            </a:endParaRPr>
          </a:p>
          <a:p>
            <a:pPr marL="0" indent="0">
              <a:buNone/>
            </a:pPr>
            <a:r>
              <a:rPr lang="fr-FR" dirty="0">
                <a:solidFill>
                  <a:srgbClr val="000000"/>
                </a:solidFill>
                <a:latin typeface="Consolas" panose="020B0609020204030204" pitchFamily="49" charset="0"/>
              </a:rPr>
              <a:t>const timeout=new Promise(resolved=&gt;{</a:t>
            </a:r>
          </a:p>
          <a:p>
            <a:pPr marL="0" indent="0">
              <a:buNone/>
            </a:pPr>
            <a:r>
              <a:rPr lang="fr-FR" dirty="0">
                <a:solidFill>
                  <a:srgbClr val="000000"/>
                </a:solidFill>
                <a:latin typeface="Consolas" panose="020B0609020204030204" pitchFamily="49" charset="0"/>
              </a:rPr>
              <a:t>   setTimeout(()=&gt;resolved(‘charge’,1000)</a:t>
            </a:r>
          </a:p>
          <a:p>
            <a:pPr marL="0" indent="0">
              <a:buNone/>
            </a:pPr>
            <a:r>
              <a:rPr lang="fr-FR" dirty="0">
                <a:solidFill>
                  <a:srgbClr val="000000"/>
                </a:solidFill>
                <a:latin typeface="Consolas" panose="020B0609020204030204" pitchFamily="49" charset="0"/>
              </a:rPr>
              <a:t>})</a:t>
            </a:r>
          </a:p>
          <a:p>
            <a:pPr marL="0" indent="0">
              <a:buNone/>
            </a:pPr>
            <a:endParaRPr lang="fr-FR" dirty="0">
              <a:solidFill>
                <a:srgbClr val="000000"/>
              </a:solidFill>
              <a:latin typeface="Consolas" panose="020B0609020204030204" pitchFamily="49" charset="0"/>
            </a:endParaRPr>
          </a:p>
          <a:p>
            <a:pPr marL="0" indent="0">
              <a:buNone/>
            </a:pPr>
            <a:r>
              <a:rPr lang="fr-FR" dirty="0">
                <a:solidFill>
                  <a:srgbClr val="000000"/>
                </a:solidFill>
                <a:latin typeface="Consolas" panose="020B0609020204030204" pitchFamily="49" charset="0"/>
              </a:rPr>
              <a:t>Promise.race([treated,timeout])</a:t>
            </a:r>
          </a:p>
          <a:p>
            <a:pPr marL="0" indent="0">
              <a:buNone/>
            </a:pPr>
            <a:r>
              <a:rPr lang="fr-FR" dirty="0">
                <a:solidFill>
                  <a:srgbClr val="000000"/>
                </a:solidFill>
                <a:latin typeface="Consolas" panose="020B0609020204030204" pitchFamily="49" charset="0"/>
              </a:rPr>
              <a:t>       .then(res=&gt;console.log(res))</a:t>
            </a:r>
          </a:p>
        </p:txBody>
      </p:sp>
      <p:cxnSp>
        <p:nvCxnSpPr>
          <p:cNvPr id="22" name="Connecteur droit avec flèche 21">
            <a:extLst>
              <a:ext uri="{FF2B5EF4-FFF2-40B4-BE49-F238E27FC236}">
                <a16:creationId xmlns:a16="http://schemas.microsoft.com/office/drawing/2014/main" id="{CCA691E3-9DC3-2D33-4BD1-6D5D2E99E431}"/>
              </a:ext>
            </a:extLst>
          </p:cNvPr>
          <p:cNvCxnSpPr>
            <a:cxnSpLocks/>
          </p:cNvCxnSpPr>
          <p:nvPr/>
        </p:nvCxnSpPr>
        <p:spPr>
          <a:xfrm flipH="1" flipV="1">
            <a:off x="3851920" y="2924944"/>
            <a:ext cx="826760" cy="393567"/>
          </a:xfrm>
          <a:prstGeom prst="straightConnector1">
            <a:avLst/>
          </a:prstGeom>
          <a:ln w="76200">
            <a:tailEnd type="triangle"/>
          </a:ln>
        </p:spPr>
        <p:style>
          <a:lnRef idx="1">
            <a:schemeClr val="accent5"/>
          </a:lnRef>
          <a:fillRef idx="0">
            <a:schemeClr val="accent5"/>
          </a:fillRef>
          <a:effectRef idx="0">
            <a:schemeClr val="accent5"/>
          </a:effectRef>
          <a:fontRef idx="minor">
            <a:schemeClr val="tx1"/>
          </a:fontRef>
        </p:style>
      </p:cxnSp>
      <p:cxnSp>
        <p:nvCxnSpPr>
          <p:cNvPr id="25" name="Connecteur droit avec flèche 24">
            <a:extLst>
              <a:ext uri="{FF2B5EF4-FFF2-40B4-BE49-F238E27FC236}">
                <a16:creationId xmlns:a16="http://schemas.microsoft.com/office/drawing/2014/main" id="{3C9B1C4E-D7FC-3C0C-BB36-84EFAF1E1305}"/>
              </a:ext>
            </a:extLst>
          </p:cNvPr>
          <p:cNvCxnSpPr>
            <a:cxnSpLocks/>
          </p:cNvCxnSpPr>
          <p:nvPr/>
        </p:nvCxnSpPr>
        <p:spPr>
          <a:xfrm flipH="1" flipV="1">
            <a:off x="3707904" y="3429000"/>
            <a:ext cx="1224136" cy="536321"/>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cxnSp>
        <p:nvCxnSpPr>
          <p:cNvPr id="27" name="Connecteur droit avec flèche 26">
            <a:extLst>
              <a:ext uri="{FF2B5EF4-FFF2-40B4-BE49-F238E27FC236}">
                <a16:creationId xmlns:a16="http://schemas.microsoft.com/office/drawing/2014/main" id="{111E32C0-88F5-B642-18BE-575F948CE33C}"/>
              </a:ext>
            </a:extLst>
          </p:cNvPr>
          <p:cNvCxnSpPr>
            <a:cxnSpLocks/>
          </p:cNvCxnSpPr>
          <p:nvPr/>
        </p:nvCxnSpPr>
        <p:spPr>
          <a:xfrm flipH="1" flipV="1">
            <a:off x="3123260" y="4859414"/>
            <a:ext cx="2284080" cy="570401"/>
          </a:xfrm>
          <a:prstGeom prst="straightConnector1">
            <a:avLst/>
          </a:prstGeom>
          <a:ln w="76200">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14913661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1575CD-ABB2-E882-C02D-66994C19C590}"/>
              </a:ext>
            </a:extLst>
          </p:cNvPr>
          <p:cNvSpPr>
            <a:spLocks noGrp="1"/>
          </p:cNvSpPr>
          <p:nvPr>
            <p:ph type="title"/>
          </p:nvPr>
        </p:nvSpPr>
        <p:spPr/>
        <p:txBody>
          <a:bodyPr/>
          <a:lstStyle/>
          <a:p>
            <a:r>
              <a:rPr lang="fr-FR" dirty="0"/>
              <a:t>ES6 et appelle HTTP</a:t>
            </a:r>
          </a:p>
        </p:txBody>
      </p:sp>
      <p:sp>
        <p:nvSpPr>
          <p:cNvPr id="3" name="Espace réservé du contenu 2">
            <a:extLst>
              <a:ext uri="{FF2B5EF4-FFF2-40B4-BE49-F238E27FC236}">
                <a16:creationId xmlns:a16="http://schemas.microsoft.com/office/drawing/2014/main" id="{F9D9FE1B-D704-BFFB-9438-1323D4FA75C9}"/>
              </a:ext>
            </a:extLst>
          </p:cNvPr>
          <p:cNvSpPr>
            <a:spLocks noGrp="1"/>
          </p:cNvSpPr>
          <p:nvPr>
            <p:ph idx="1"/>
          </p:nvPr>
        </p:nvSpPr>
        <p:spPr>
          <a:xfrm>
            <a:off x="285720" y="1142984"/>
            <a:ext cx="5150376" cy="5286412"/>
          </a:xfrm>
        </p:spPr>
        <p:txBody>
          <a:bodyPr>
            <a:normAutofit fontScale="70000" lnSpcReduction="20000"/>
          </a:bodyPr>
          <a:lstStyle/>
          <a:p>
            <a:r>
              <a:rPr lang="fr-FR" dirty="0"/>
              <a:t>A l’instar de ES5 et </a:t>
            </a:r>
            <a:r>
              <a:rPr lang="fr-FR" b="1" i="1" dirty="0"/>
              <a:t>XMLHttpRequest</a:t>
            </a:r>
            <a:r>
              <a:rPr lang="fr-FR" dirty="0"/>
              <a:t> ES6+ redéfinit les appelle http grâce à </a:t>
            </a:r>
            <a:r>
              <a:rPr lang="fr-FR" b="1" i="1" dirty="0"/>
              <a:t>fetch</a:t>
            </a:r>
            <a:r>
              <a:rPr lang="fr-FR" dirty="0"/>
              <a:t> basé sur le system de </a:t>
            </a:r>
            <a:r>
              <a:rPr lang="fr-FR" b="1" i="1" dirty="0"/>
              <a:t>promise</a:t>
            </a:r>
          </a:p>
          <a:p>
            <a:endParaRPr lang="fr-FR" dirty="0"/>
          </a:p>
          <a:p>
            <a:r>
              <a:rPr lang="fr-FR" dirty="0"/>
              <a:t>Comme toute promise il est </a:t>
            </a:r>
            <a:r>
              <a:rPr lang="fr-FR" i="1" dirty="0"/>
              <a:t>awaitable</a:t>
            </a:r>
          </a:p>
          <a:p>
            <a:endParaRPr lang="fr-FR" i="1" dirty="0"/>
          </a:p>
          <a:p>
            <a:r>
              <a:rPr lang="fr-FR" i="1" dirty="0"/>
              <a:t>La promise de </a:t>
            </a:r>
            <a:r>
              <a:rPr lang="fr-FR" b="1" i="1" dirty="0"/>
              <a:t>fetch</a:t>
            </a:r>
            <a:r>
              <a:rPr lang="fr-FR" i="1" dirty="0"/>
              <a:t> ne retourne pas le contenu de réponse en charge mais un objet de type </a:t>
            </a:r>
            <a:r>
              <a:rPr lang="fr-FR" b="1" i="1" dirty="0"/>
              <a:t>Response</a:t>
            </a:r>
            <a:r>
              <a:rPr lang="fr-FR" dirty="0"/>
              <a:t> possédant un </a:t>
            </a:r>
            <a:r>
              <a:rPr lang="fr-FR" b="1" i="1" dirty="0"/>
              <a:t>stream</a:t>
            </a:r>
            <a:r>
              <a:rPr lang="fr-FR" dirty="0"/>
              <a:t> du contenu de réponse</a:t>
            </a:r>
          </a:p>
          <a:p>
            <a:pPr lvl="2"/>
            <a:r>
              <a:rPr lang="fr-FR" dirty="0"/>
              <a:t>Le </a:t>
            </a:r>
            <a:r>
              <a:rPr lang="fr-FR" b="1" i="1" dirty="0"/>
              <a:t>stream</a:t>
            </a:r>
            <a:r>
              <a:rPr lang="fr-FR" dirty="0"/>
              <a:t> doit être transformer dans le 1</a:t>
            </a:r>
            <a:r>
              <a:rPr lang="fr-FR" baseline="30000" dirty="0"/>
              <a:t>er</a:t>
            </a:r>
            <a:r>
              <a:rPr lang="fr-FR" dirty="0"/>
              <a:t> </a:t>
            </a:r>
            <a:r>
              <a:rPr lang="fr-FR" b="1" i="1" dirty="0"/>
              <a:t>then</a:t>
            </a:r>
            <a:r>
              <a:rPr lang="fr-FR" dirty="0"/>
              <a:t> puis préserver car un seul parcours est possible du </a:t>
            </a:r>
            <a:r>
              <a:rPr lang="fr-FR" b="1" i="1" dirty="0"/>
              <a:t>stream</a:t>
            </a:r>
          </a:p>
          <a:p>
            <a:pPr lvl="2"/>
            <a:r>
              <a:rPr lang="fr-FR" dirty="0"/>
              <a:t>3 manières de parcourir le </a:t>
            </a:r>
            <a:r>
              <a:rPr lang="fr-FR" b="1" i="1" dirty="0"/>
              <a:t>stream</a:t>
            </a:r>
            <a:r>
              <a:rPr lang="fr-FR" dirty="0"/>
              <a:t> :</a:t>
            </a:r>
          </a:p>
          <a:p>
            <a:pPr lvl="3"/>
            <a:r>
              <a:rPr lang="fr-FR" b="1" dirty="0"/>
              <a:t>.blob() </a:t>
            </a:r>
            <a:r>
              <a:rPr lang="fr-FR" i="1" dirty="0"/>
              <a:t>pour les contenus binaires</a:t>
            </a:r>
          </a:p>
          <a:p>
            <a:pPr lvl="3"/>
            <a:r>
              <a:rPr lang="fr-FR" b="1" i="1" dirty="0"/>
              <a:t>.text() </a:t>
            </a:r>
            <a:r>
              <a:rPr lang="fr-FR" dirty="0"/>
              <a:t>pour les contenus text génériques (html par ex.)</a:t>
            </a:r>
          </a:p>
          <a:p>
            <a:pPr lvl="3" algn="just"/>
            <a:r>
              <a:rPr lang="fr-FR" b="1" i="1" dirty="0"/>
              <a:t>.json()</a:t>
            </a:r>
            <a:r>
              <a:rPr lang="fr-FR" dirty="0"/>
              <a:t> pour les contenus json il seront parsé et retourné en instance js</a:t>
            </a:r>
            <a:endParaRPr lang="fr-FR" b="1" i="1" dirty="0"/>
          </a:p>
          <a:p>
            <a:pPr lvl="4"/>
            <a:endParaRPr lang="fr-FR" b="1" dirty="0"/>
          </a:p>
        </p:txBody>
      </p:sp>
      <p:sp>
        <p:nvSpPr>
          <p:cNvPr id="4" name="Espace réservé du contenu 2">
            <a:extLst>
              <a:ext uri="{FF2B5EF4-FFF2-40B4-BE49-F238E27FC236}">
                <a16:creationId xmlns:a16="http://schemas.microsoft.com/office/drawing/2014/main" id="{1DF7E60E-9AD9-9875-6541-E1A475104DF2}"/>
              </a:ext>
            </a:extLst>
          </p:cNvPr>
          <p:cNvSpPr txBox="1">
            <a:spLocks/>
          </p:cNvSpPr>
          <p:nvPr/>
        </p:nvSpPr>
        <p:spPr>
          <a:xfrm>
            <a:off x="5508104" y="1935072"/>
            <a:ext cx="3456384" cy="3870192"/>
          </a:xfrm>
          <a:prstGeom prst="rect">
            <a:avLst/>
          </a:prstGeom>
          <a:solidFill>
            <a:schemeClr val="bg1">
              <a:alpha val="74000"/>
            </a:schemeClr>
          </a:solidFill>
          <a:ln>
            <a:solidFill>
              <a:schemeClr val="bg1">
                <a:lumMod val="85000"/>
              </a:schemeClr>
            </a:solidFill>
          </a:ln>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625475" indent="-228600" algn="l" defTabSz="914400" rtl="0" eaLnBrk="1" latinLnBrk="0" hangingPunct="1">
              <a:spcBef>
                <a:spcPct val="20000"/>
              </a:spcBef>
              <a:buFont typeface="Wingdings" pitchFamily="2" charset="2"/>
              <a:buChar char="2"/>
              <a:defRPr sz="2000" kern="1200">
                <a:solidFill>
                  <a:schemeClr val="tx1"/>
                </a:solidFill>
                <a:latin typeface="+mn-lt"/>
                <a:ea typeface="+mn-ea"/>
                <a:cs typeface="+mn-cs"/>
              </a:defRPr>
            </a:lvl8pPr>
            <a:lvl9pPr marL="625475" indent="-228600" algn="l" defTabSz="914400" rtl="0" eaLnBrk="1" latinLnBrk="0" hangingPunct="1">
              <a:spcBef>
                <a:spcPct val="20000"/>
              </a:spcBef>
              <a:buSzPct val="150000"/>
              <a:buFont typeface="Wingdings" pitchFamily="2" charset="2"/>
              <a:buChar char="C"/>
              <a:defRPr sz="2000" kern="1200" baseline="0">
                <a:solidFill>
                  <a:schemeClr val="tx1"/>
                </a:solidFill>
                <a:latin typeface="+mn-lt"/>
                <a:ea typeface="+mn-ea"/>
                <a:cs typeface="+mn-cs"/>
              </a:defRPr>
            </a:lvl9pPr>
          </a:lstStyle>
          <a:p>
            <a:pPr>
              <a:lnSpc>
                <a:spcPts val="1425"/>
              </a:lnSpc>
              <a:buNone/>
            </a:pPr>
            <a:endParaRPr lang="fr-FR" sz="1600" b="0" dirty="0">
              <a:solidFill>
                <a:srgbClr val="FF7B72"/>
              </a:solidFill>
              <a:effectLst/>
              <a:latin typeface="Consolas" panose="020B0609020204030204" pitchFamily="49" charset="0"/>
            </a:endParaRPr>
          </a:p>
          <a:p>
            <a:pPr>
              <a:lnSpc>
                <a:spcPts val="1425"/>
              </a:lnSpc>
              <a:buNone/>
            </a:pPr>
            <a:r>
              <a:rPr lang="fr-FR" sz="1600" b="0" dirty="0">
                <a:solidFill>
                  <a:srgbClr val="FF7B72"/>
                </a:solidFill>
                <a:effectLst/>
                <a:latin typeface="Consolas" panose="020B0609020204030204" pitchFamily="49" charset="0"/>
              </a:rPr>
              <a:t>const</a:t>
            </a:r>
            <a:r>
              <a:rPr lang="fr-FR" sz="1600" b="0" dirty="0">
                <a:solidFill>
                  <a:srgbClr val="BBBEBF"/>
                </a:solidFill>
                <a:effectLst/>
                <a:latin typeface="Consolas" panose="020B0609020204030204" pitchFamily="49" charset="0"/>
              </a:rPr>
              <a:t> </a:t>
            </a:r>
            <a:r>
              <a:rPr lang="fr-FR" sz="1600" b="0" dirty="0">
                <a:solidFill>
                  <a:srgbClr val="79C0FF"/>
                </a:solidFill>
                <a:effectLst/>
                <a:latin typeface="Consolas" panose="020B0609020204030204" pitchFamily="49" charset="0"/>
              </a:rPr>
              <a:t>promise</a:t>
            </a:r>
            <a:r>
              <a:rPr lang="fr-FR" sz="1600" b="0" dirty="0">
                <a:solidFill>
                  <a:srgbClr val="BBBEBF"/>
                </a:solidFill>
                <a:effectLst/>
                <a:latin typeface="Consolas" panose="020B0609020204030204" pitchFamily="49" charset="0"/>
              </a:rPr>
              <a:t> </a:t>
            </a:r>
            <a:r>
              <a:rPr lang="fr-FR" sz="1600" b="0" dirty="0">
                <a:effectLst/>
                <a:latin typeface="Consolas" panose="020B0609020204030204" pitchFamily="49" charset="0"/>
              </a:rPr>
              <a:t>= </a:t>
            </a:r>
          </a:p>
          <a:p>
            <a:pPr>
              <a:lnSpc>
                <a:spcPts val="1425"/>
              </a:lnSpc>
              <a:buNone/>
            </a:pPr>
            <a:r>
              <a:rPr lang="fr-FR" sz="1600" dirty="0">
                <a:solidFill>
                  <a:srgbClr val="BBBEBF"/>
                </a:solidFill>
                <a:latin typeface="Consolas" panose="020B0609020204030204" pitchFamily="49" charset="0"/>
              </a:rPr>
              <a:t>	</a:t>
            </a:r>
            <a:r>
              <a:rPr lang="fr-FR" sz="1600" b="0" dirty="0">
                <a:solidFill>
                  <a:srgbClr val="DCDCAA"/>
                </a:solidFill>
                <a:effectLst/>
                <a:latin typeface="Consolas" panose="020B0609020204030204" pitchFamily="49" charset="0"/>
              </a:rPr>
              <a:t>fetch</a:t>
            </a:r>
            <a:r>
              <a:rPr lang="fr-FR" sz="1600" b="0" dirty="0">
                <a:effectLst/>
                <a:latin typeface="Consolas" panose="020B0609020204030204" pitchFamily="49" charset="0"/>
              </a:rPr>
              <a:t>(</a:t>
            </a:r>
            <a:r>
              <a:rPr lang="fr-FR" sz="1600" b="0" dirty="0">
                <a:solidFill>
                  <a:srgbClr val="A5D6FF"/>
                </a:solidFill>
                <a:effectLst/>
                <a:latin typeface="Consolas" panose="020B0609020204030204" pitchFamily="49" charset="0"/>
              </a:rPr>
              <a:t>"url"</a:t>
            </a:r>
            <a:r>
              <a:rPr lang="fr-FR" sz="1600" b="0" dirty="0">
                <a:effectLst/>
                <a:latin typeface="Consolas" panose="020B0609020204030204" pitchFamily="49" charset="0"/>
              </a:rPr>
              <a:t>, {</a:t>
            </a:r>
          </a:p>
          <a:p>
            <a:pPr>
              <a:lnSpc>
                <a:spcPts val="1425"/>
              </a:lnSpc>
              <a:buNone/>
            </a:pPr>
            <a:r>
              <a:rPr lang="fr-FR" sz="1600" b="0" dirty="0">
                <a:solidFill>
                  <a:srgbClr val="BBBEBF"/>
                </a:solidFill>
                <a:effectLst/>
                <a:latin typeface="Consolas" panose="020B0609020204030204" pitchFamily="49" charset="0"/>
              </a:rPr>
              <a:t>  	   </a:t>
            </a:r>
            <a:r>
              <a:rPr lang="fr-FR" sz="1600" b="0" dirty="0">
                <a:effectLst/>
                <a:latin typeface="Consolas" panose="020B0609020204030204" pitchFamily="49" charset="0"/>
              </a:rPr>
              <a:t>method</a:t>
            </a:r>
            <a:r>
              <a:rPr lang="fr-FR" sz="1600" b="0" dirty="0">
                <a:solidFill>
                  <a:srgbClr val="9CDCFE"/>
                </a:solidFill>
                <a:effectLst/>
                <a:latin typeface="Consolas" panose="020B0609020204030204" pitchFamily="49" charset="0"/>
              </a:rPr>
              <a:t>:</a:t>
            </a:r>
            <a:r>
              <a:rPr lang="fr-FR" sz="1600" b="0" dirty="0">
                <a:solidFill>
                  <a:srgbClr val="C9D1D9"/>
                </a:solidFill>
                <a:effectLst/>
                <a:latin typeface="Consolas" panose="020B0609020204030204" pitchFamily="49" charset="0"/>
              </a:rPr>
              <a:t> </a:t>
            </a:r>
            <a:r>
              <a:rPr lang="fr-FR" sz="1600" b="0" dirty="0">
                <a:solidFill>
                  <a:srgbClr val="A5D6FF"/>
                </a:solidFill>
                <a:effectLst/>
                <a:latin typeface="Consolas" panose="020B0609020204030204" pitchFamily="49" charset="0"/>
              </a:rPr>
              <a:t>"PUT"</a:t>
            </a:r>
            <a:r>
              <a:rPr lang="fr-FR" sz="1600" b="0" dirty="0">
                <a:effectLst/>
                <a:latin typeface="Consolas" panose="020B0609020204030204" pitchFamily="49" charset="0"/>
              </a:rPr>
              <a:t>,</a:t>
            </a:r>
          </a:p>
          <a:p>
            <a:pPr>
              <a:lnSpc>
                <a:spcPts val="1425"/>
              </a:lnSpc>
              <a:buNone/>
            </a:pPr>
            <a:r>
              <a:rPr lang="fr-FR" sz="1600" b="0" dirty="0">
                <a:solidFill>
                  <a:srgbClr val="BBBEBF"/>
                </a:solidFill>
                <a:effectLst/>
                <a:latin typeface="Consolas" panose="020B0609020204030204" pitchFamily="49" charset="0"/>
              </a:rPr>
              <a:t>  	      </a:t>
            </a:r>
            <a:r>
              <a:rPr lang="fr-FR" sz="1600" b="0" dirty="0">
                <a:effectLst/>
                <a:latin typeface="Consolas" panose="020B0609020204030204" pitchFamily="49" charset="0"/>
              </a:rPr>
              <a:t>headers</a:t>
            </a:r>
            <a:r>
              <a:rPr lang="fr-FR" sz="1600" b="0" dirty="0">
                <a:solidFill>
                  <a:srgbClr val="9CDCFE"/>
                </a:solidFill>
                <a:effectLst/>
                <a:latin typeface="Consolas" panose="020B0609020204030204" pitchFamily="49" charset="0"/>
              </a:rPr>
              <a:t>:</a:t>
            </a:r>
            <a:r>
              <a:rPr lang="fr-FR" sz="1600" b="0" dirty="0">
                <a:solidFill>
                  <a:srgbClr val="C9D1D9"/>
                </a:solidFill>
                <a:effectLst/>
                <a:latin typeface="Consolas" panose="020B0609020204030204" pitchFamily="49" charset="0"/>
              </a:rPr>
              <a:t> {</a:t>
            </a:r>
            <a:endParaRPr lang="fr-FR" sz="1600" b="0" dirty="0">
              <a:solidFill>
                <a:srgbClr val="BBBEBF"/>
              </a:solidFill>
              <a:effectLst/>
              <a:latin typeface="Consolas" panose="020B0609020204030204" pitchFamily="49" charset="0"/>
            </a:endParaRPr>
          </a:p>
          <a:p>
            <a:pPr>
              <a:lnSpc>
                <a:spcPts val="1425"/>
              </a:lnSpc>
              <a:buNone/>
            </a:pPr>
            <a:r>
              <a:rPr lang="fr-FR" sz="1600" b="0" dirty="0">
                <a:solidFill>
                  <a:srgbClr val="C9D1D9"/>
                </a:solidFill>
                <a:effectLst/>
                <a:latin typeface="Consolas" panose="020B0609020204030204" pitchFamily="49" charset="0"/>
              </a:rPr>
              <a:t>    	   </a:t>
            </a:r>
            <a:r>
              <a:rPr lang="fr-FR" sz="1600" b="0" dirty="0">
                <a:solidFill>
                  <a:srgbClr val="A5D6FF"/>
                </a:solidFill>
                <a:effectLst/>
                <a:latin typeface="Consolas" panose="020B0609020204030204" pitchFamily="49" charset="0"/>
              </a:rPr>
              <a:t>"</a:t>
            </a:r>
            <a:r>
              <a:rPr lang="fr-FR" sz="1200" b="0" dirty="0">
                <a:solidFill>
                  <a:srgbClr val="A5D6FF"/>
                </a:solidFill>
                <a:effectLst/>
                <a:latin typeface="Consolas" panose="020B0609020204030204" pitchFamily="49" charset="0"/>
              </a:rPr>
              <a:t>Content-Type</a:t>
            </a:r>
            <a:r>
              <a:rPr lang="fr-FR" sz="1600" b="0" dirty="0">
                <a:solidFill>
                  <a:srgbClr val="A5D6FF"/>
                </a:solidFill>
                <a:effectLst/>
                <a:latin typeface="Consolas" panose="020B0609020204030204" pitchFamily="49" charset="0"/>
              </a:rPr>
              <a:t>"</a:t>
            </a:r>
            <a:r>
              <a:rPr lang="fr-FR" sz="1600" b="0" dirty="0">
                <a:solidFill>
                  <a:srgbClr val="9CDCFE"/>
                </a:solidFill>
                <a:effectLst/>
                <a:latin typeface="Consolas" panose="020B0609020204030204" pitchFamily="49" charset="0"/>
              </a:rPr>
              <a:t>:</a:t>
            </a:r>
            <a:r>
              <a:rPr lang="fr-FR" sz="1600" b="0" dirty="0">
                <a:solidFill>
                  <a:srgbClr val="C9D1D9"/>
                </a:solidFill>
                <a:effectLst/>
                <a:latin typeface="Consolas" panose="020B0609020204030204" pitchFamily="49" charset="0"/>
              </a:rPr>
              <a:t> 	  </a:t>
            </a:r>
          </a:p>
          <a:p>
            <a:pPr>
              <a:lnSpc>
                <a:spcPts val="1425"/>
              </a:lnSpc>
              <a:buNone/>
            </a:pPr>
            <a:r>
              <a:rPr lang="fr-FR" sz="1600" dirty="0">
                <a:solidFill>
                  <a:srgbClr val="C9D1D9"/>
                </a:solidFill>
                <a:latin typeface="Consolas" panose="020B0609020204030204" pitchFamily="49" charset="0"/>
              </a:rPr>
              <a:t>               </a:t>
            </a:r>
            <a:r>
              <a:rPr lang="fr-FR" sz="1600" b="0" dirty="0">
                <a:solidFill>
                  <a:srgbClr val="A5D6FF"/>
                </a:solidFill>
                <a:effectLst/>
                <a:latin typeface="Consolas" panose="020B0609020204030204" pitchFamily="49" charset="0"/>
              </a:rPr>
              <a:t>"</a:t>
            </a:r>
            <a:r>
              <a:rPr lang="fr-FR" sz="1100" b="0" dirty="0">
                <a:solidFill>
                  <a:srgbClr val="A5D6FF"/>
                </a:solidFill>
                <a:effectLst/>
                <a:latin typeface="Consolas" panose="020B0609020204030204" pitchFamily="49" charset="0"/>
              </a:rPr>
              <a:t>application/json</a:t>
            </a:r>
            <a:r>
              <a:rPr lang="fr-FR" sz="1600" b="0" dirty="0">
                <a:solidFill>
                  <a:srgbClr val="A5D6FF"/>
                </a:solidFill>
                <a:effectLst/>
                <a:latin typeface="Consolas" panose="020B0609020204030204" pitchFamily="49" charset="0"/>
              </a:rPr>
              <a:t>"</a:t>
            </a:r>
            <a:r>
              <a:rPr lang="fr-FR" sz="1600" b="0" dirty="0">
                <a:effectLst/>
                <a:latin typeface="Consolas" panose="020B0609020204030204" pitchFamily="49" charset="0"/>
              </a:rPr>
              <a:t>,</a:t>
            </a:r>
          </a:p>
          <a:p>
            <a:pPr>
              <a:lnSpc>
                <a:spcPts val="1425"/>
              </a:lnSpc>
              <a:buNone/>
            </a:pPr>
            <a:r>
              <a:rPr lang="fr-FR" sz="1600" b="0" dirty="0">
                <a:solidFill>
                  <a:srgbClr val="C9D1D9"/>
                </a:solidFill>
                <a:effectLst/>
                <a:latin typeface="Consolas" panose="020B0609020204030204" pitchFamily="49" charset="0"/>
              </a:rPr>
              <a:t>           </a:t>
            </a:r>
            <a:r>
              <a:rPr lang="fr-FR" sz="1200" b="0" dirty="0">
                <a:effectLst/>
                <a:latin typeface="Consolas" panose="020B0609020204030204" pitchFamily="49" charset="0"/>
              </a:rPr>
              <a:t>Accept</a:t>
            </a:r>
            <a:r>
              <a:rPr lang="fr-FR" sz="1600" b="0" dirty="0">
                <a:solidFill>
                  <a:srgbClr val="9CDCFE"/>
                </a:solidFill>
                <a:effectLst/>
                <a:latin typeface="Consolas" panose="020B0609020204030204" pitchFamily="49" charset="0"/>
              </a:rPr>
              <a:t>:</a:t>
            </a:r>
            <a:r>
              <a:rPr lang="fr-FR" sz="1600" b="0" dirty="0">
                <a:solidFill>
                  <a:srgbClr val="C9D1D9"/>
                </a:solidFill>
                <a:effectLst/>
                <a:latin typeface="Consolas" panose="020B0609020204030204" pitchFamily="49" charset="0"/>
              </a:rPr>
              <a:t> 		       </a:t>
            </a:r>
            <a:r>
              <a:rPr lang="fr-FR" sz="1600" b="0" dirty="0">
                <a:solidFill>
                  <a:srgbClr val="A5D6FF"/>
                </a:solidFill>
                <a:effectLst/>
                <a:latin typeface="Consolas" panose="020B0609020204030204" pitchFamily="49" charset="0"/>
              </a:rPr>
              <a:t>"</a:t>
            </a:r>
            <a:r>
              <a:rPr lang="fr-FR" sz="1050" b="0" dirty="0">
                <a:solidFill>
                  <a:srgbClr val="A5D6FF"/>
                </a:solidFill>
                <a:effectLst/>
                <a:latin typeface="Consolas" panose="020B0609020204030204" pitchFamily="49" charset="0"/>
              </a:rPr>
              <a:t>application/json</a:t>
            </a:r>
            <a:r>
              <a:rPr lang="fr-FR" sz="1600" b="0" dirty="0">
                <a:solidFill>
                  <a:srgbClr val="A5D6FF"/>
                </a:solidFill>
                <a:effectLst/>
                <a:latin typeface="Consolas" panose="020B0609020204030204" pitchFamily="49" charset="0"/>
              </a:rPr>
              <a:t>"</a:t>
            </a:r>
            <a:r>
              <a:rPr lang="fr-FR" sz="1600" b="0" dirty="0">
                <a:solidFill>
                  <a:srgbClr val="C9D1D9"/>
                </a:solidFill>
                <a:effectLst/>
                <a:latin typeface="Consolas" panose="020B0609020204030204" pitchFamily="49" charset="0"/>
              </a:rPr>
              <a:t>,</a:t>
            </a:r>
            <a:endParaRPr lang="fr-FR" sz="1600" b="0" dirty="0">
              <a:solidFill>
                <a:srgbClr val="BBBEBF"/>
              </a:solidFill>
              <a:effectLst/>
              <a:latin typeface="Consolas" panose="020B0609020204030204" pitchFamily="49" charset="0"/>
            </a:endParaRPr>
          </a:p>
          <a:p>
            <a:pPr>
              <a:lnSpc>
                <a:spcPts val="1425"/>
              </a:lnSpc>
              <a:buNone/>
            </a:pPr>
            <a:r>
              <a:rPr lang="fr-FR" sz="1600" b="0" dirty="0">
                <a:solidFill>
                  <a:srgbClr val="C9D1D9"/>
                </a:solidFill>
                <a:effectLst/>
                <a:latin typeface="Consolas" panose="020B0609020204030204" pitchFamily="49" charset="0"/>
              </a:rPr>
              <a:t>  		 </a:t>
            </a:r>
            <a:r>
              <a:rPr lang="fr-FR" sz="1600" b="0" dirty="0">
                <a:effectLst/>
                <a:latin typeface="Consolas" panose="020B0609020204030204" pitchFamily="49" charset="0"/>
              </a:rPr>
              <a:t>},</a:t>
            </a:r>
          </a:p>
          <a:p>
            <a:pPr>
              <a:lnSpc>
                <a:spcPts val="1425"/>
              </a:lnSpc>
              <a:buNone/>
            </a:pPr>
            <a:r>
              <a:rPr lang="fr-FR" sz="1600" b="0" dirty="0">
                <a:solidFill>
                  <a:srgbClr val="BBBEBF"/>
                </a:solidFill>
                <a:effectLst/>
                <a:latin typeface="Consolas" panose="020B0609020204030204" pitchFamily="49" charset="0"/>
              </a:rPr>
              <a:t>  	   </a:t>
            </a:r>
            <a:r>
              <a:rPr lang="fr-FR" sz="1600" b="0" dirty="0">
                <a:effectLst/>
                <a:latin typeface="Consolas" panose="020B0609020204030204" pitchFamily="49" charset="0"/>
              </a:rPr>
              <a:t>body</a:t>
            </a:r>
            <a:r>
              <a:rPr lang="fr-FR" sz="1600" b="0" dirty="0">
                <a:solidFill>
                  <a:srgbClr val="9CDCFE"/>
                </a:solidFill>
                <a:effectLst/>
                <a:latin typeface="Consolas" panose="020B0609020204030204" pitchFamily="49" charset="0"/>
              </a:rPr>
              <a:t>:</a:t>
            </a:r>
            <a:r>
              <a:rPr lang="fr-FR" sz="1600" b="0" dirty="0">
                <a:solidFill>
                  <a:srgbClr val="C9D1D9"/>
                </a:solidFill>
                <a:effectLst/>
                <a:latin typeface="Consolas" panose="020B0609020204030204" pitchFamily="49" charset="0"/>
              </a:rPr>
              <a:t>       	</a:t>
            </a:r>
            <a:r>
              <a:rPr lang="fr-FR" sz="1200" b="0" dirty="0">
                <a:solidFill>
                  <a:srgbClr val="79C0FF"/>
                </a:solidFill>
                <a:effectLst/>
                <a:latin typeface="Consolas" panose="020B0609020204030204" pitchFamily="49" charset="0"/>
              </a:rPr>
              <a:t>JSON</a:t>
            </a:r>
            <a:r>
              <a:rPr lang="fr-FR" sz="1200" b="0" dirty="0">
                <a:solidFill>
                  <a:srgbClr val="C9D1D9"/>
                </a:solidFill>
                <a:effectLst/>
                <a:latin typeface="Consolas" panose="020B0609020204030204" pitchFamily="49" charset="0"/>
              </a:rPr>
              <a:t>.</a:t>
            </a:r>
            <a:r>
              <a:rPr lang="fr-FR" sz="1200" b="0" dirty="0">
                <a:solidFill>
                  <a:srgbClr val="D2A8FF"/>
                </a:solidFill>
                <a:effectLst/>
                <a:latin typeface="Consolas" panose="020B0609020204030204" pitchFamily="49" charset="0"/>
              </a:rPr>
              <a:t>stringify</a:t>
            </a:r>
            <a:r>
              <a:rPr lang="fr-FR" sz="1200" b="0" dirty="0">
                <a:effectLst/>
                <a:latin typeface="Consolas" panose="020B0609020204030204" pitchFamily="49" charset="0"/>
              </a:rPr>
              <a:t>(uneInstance),</a:t>
            </a:r>
            <a:endParaRPr lang="fr-FR" sz="1600" b="0" dirty="0">
              <a:effectLst/>
              <a:latin typeface="Consolas" panose="020B0609020204030204" pitchFamily="49" charset="0"/>
            </a:endParaRPr>
          </a:p>
          <a:p>
            <a:pPr>
              <a:lnSpc>
                <a:spcPts val="1425"/>
              </a:lnSpc>
              <a:buNone/>
            </a:pPr>
            <a:r>
              <a:rPr lang="fr-FR" sz="1600" b="0" dirty="0">
                <a:effectLst/>
                <a:latin typeface="Consolas" panose="020B0609020204030204" pitchFamily="49" charset="0"/>
              </a:rPr>
              <a:t>	}).</a:t>
            </a:r>
            <a:r>
              <a:rPr lang="fr-FR" sz="1600" b="0" dirty="0">
                <a:solidFill>
                  <a:srgbClr val="D2A8FF"/>
                </a:solidFill>
                <a:effectLst/>
                <a:latin typeface="Consolas" panose="020B0609020204030204" pitchFamily="49" charset="0"/>
              </a:rPr>
              <a:t>then</a:t>
            </a:r>
            <a:r>
              <a:rPr lang="fr-FR" sz="1600" b="0" dirty="0">
                <a:effectLst/>
                <a:latin typeface="Consolas" panose="020B0609020204030204" pitchFamily="49" charset="0"/>
              </a:rPr>
              <a:t>((</a:t>
            </a:r>
            <a:r>
              <a:rPr lang="fr-FR" sz="1600" b="0" dirty="0">
                <a:solidFill>
                  <a:srgbClr val="FFA657"/>
                </a:solidFill>
                <a:effectLst/>
                <a:latin typeface="Consolas" panose="020B0609020204030204" pitchFamily="49" charset="0"/>
              </a:rPr>
              <a:t>response</a:t>
            </a:r>
            <a:r>
              <a:rPr lang="fr-FR" sz="1600" b="0" dirty="0">
                <a:effectLst/>
                <a:latin typeface="Consolas" panose="020B0609020204030204" pitchFamily="49" charset="0"/>
              </a:rPr>
              <a:t>)</a:t>
            </a:r>
            <a:r>
              <a:rPr lang="fr-FR" sz="1600" b="0" dirty="0">
                <a:solidFill>
                  <a:srgbClr val="BBBEBF"/>
                </a:solidFill>
                <a:effectLst/>
                <a:latin typeface="Consolas" panose="020B0609020204030204" pitchFamily="49" charset="0"/>
              </a:rPr>
              <a:t> </a:t>
            </a:r>
            <a:r>
              <a:rPr lang="fr-FR" sz="1600" b="0" dirty="0">
                <a:solidFill>
                  <a:srgbClr val="FF7B72"/>
                </a:solidFill>
                <a:effectLst/>
                <a:latin typeface="Consolas" panose="020B0609020204030204" pitchFamily="49" charset="0"/>
              </a:rPr>
              <a:t>=&gt;</a:t>
            </a:r>
            <a:r>
              <a:rPr lang="fr-FR" sz="1600" b="0" dirty="0">
                <a:solidFill>
                  <a:srgbClr val="BBBEBF"/>
                </a:solidFill>
                <a:effectLst/>
                <a:latin typeface="Consolas" panose="020B0609020204030204" pitchFamily="49" charset="0"/>
              </a:rPr>
              <a:t> 	    </a:t>
            </a:r>
            <a:r>
              <a:rPr lang="fr-FR" sz="1600" b="0" dirty="0">
                <a:solidFill>
                  <a:srgbClr val="FFA657"/>
                </a:solidFill>
                <a:effectLst/>
                <a:latin typeface="Consolas" panose="020B0609020204030204" pitchFamily="49" charset="0"/>
              </a:rPr>
              <a:t>response</a:t>
            </a:r>
            <a:r>
              <a:rPr lang="fr-FR" sz="1600" b="0" dirty="0">
                <a:solidFill>
                  <a:srgbClr val="BBBEBF"/>
                </a:solidFill>
                <a:effectLst/>
                <a:latin typeface="Consolas" panose="020B0609020204030204" pitchFamily="49" charset="0"/>
              </a:rPr>
              <a:t>.</a:t>
            </a:r>
            <a:r>
              <a:rPr lang="fr-FR" sz="1600" b="0" dirty="0">
                <a:solidFill>
                  <a:srgbClr val="D2A8FF"/>
                </a:solidFill>
                <a:effectLst/>
                <a:latin typeface="Consolas" panose="020B0609020204030204" pitchFamily="49" charset="0"/>
              </a:rPr>
              <a:t>json</a:t>
            </a:r>
            <a:r>
              <a:rPr lang="fr-FR" sz="1600" b="0" dirty="0">
                <a:effectLst/>
                <a:latin typeface="Consolas" panose="020B0609020204030204" pitchFamily="49" charset="0"/>
              </a:rPr>
              <a:t>());</a:t>
            </a:r>
          </a:p>
          <a:p>
            <a:pPr>
              <a:lnSpc>
                <a:spcPts val="1425"/>
              </a:lnSpc>
              <a:buNone/>
            </a:pPr>
            <a:endParaRPr lang="fr-FR" sz="1600" dirty="0">
              <a:solidFill>
                <a:srgbClr val="79C0FF"/>
              </a:solidFill>
              <a:latin typeface="Consolas" panose="020B0609020204030204" pitchFamily="49" charset="0"/>
            </a:endParaRPr>
          </a:p>
          <a:p>
            <a:pPr>
              <a:lnSpc>
                <a:spcPts val="1425"/>
              </a:lnSpc>
              <a:buNone/>
            </a:pPr>
            <a:r>
              <a:rPr lang="fr-FR" sz="1600" dirty="0">
                <a:solidFill>
                  <a:srgbClr val="79C0FF"/>
                </a:solidFill>
                <a:latin typeface="Consolas" panose="020B0609020204030204" pitchFamily="49" charset="0"/>
              </a:rPr>
              <a:t>promise</a:t>
            </a:r>
            <a:r>
              <a:rPr lang="fr-FR" sz="1600" dirty="0">
                <a:latin typeface="Consolas" panose="020B0609020204030204" pitchFamily="49" charset="0"/>
              </a:rPr>
              <a:t>.</a:t>
            </a:r>
            <a:r>
              <a:rPr lang="fr-FR" sz="1600" dirty="0">
                <a:solidFill>
                  <a:srgbClr val="D2A8FF"/>
                </a:solidFill>
                <a:latin typeface="Consolas" panose="020B0609020204030204" pitchFamily="49" charset="0"/>
              </a:rPr>
              <a:t>then</a:t>
            </a:r>
            <a:r>
              <a:rPr lang="fr-FR" sz="1600" dirty="0">
                <a:latin typeface="Consolas" panose="020B0609020204030204" pitchFamily="49" charset="0"/>
              </a:rPr>
              <a:t>((</a:t>
            </a:r>
            <a:r>
              <a:rPr lang="fr-FR" sz="1600" dirty="0">
                <a:solidFill>
                  <a:srgbClr val="FFA657"/>
                </a:solidFill>
                <a:latin typeface="Consolas" panose="020B0609020204030204" pitchFamily="49" charset="0"/>
              </a:rPr>
              <a:t>obj</a:t>
            </a:r>
            <a:r>
              <a:rPr lang="fr-FR" sz="1600" dirty="0">
                <a:latin typeface="Consolas" panose="020B0609020204030204" pitchFamily="49" charset="0"/>
              </a:rPr>
              <a:t>)</a:t>
            </a:r>
            <a:r>
              <a:rPr lang="fr-FR" sz="1600" dirty="0">
                <a:solidFill>
                  <a:srgbClr val="BBBEBF"/>
                </a:solidFill>
                <a:latin typeface="Consolas" panose="020B0609020204030204" pitchFamily="49" charset="0"/>
              </a:rPr>
              <a:t> </a:t>
            </a:r>
            <a:r>
              <a:rPr lang="fr-FR" sz="1600" dirty="0">
                <a:solidFill>
                  <a:srgbClr val="FF7B72"/>
                </a:solidFill>
                <a:latin typeface="Consolas" panose="020B0609020204030204" pitchFamily="49" charset="0"/>
              </a:rPr>
              <a:t>=&gt;</a:t>
            </a:r>
            <a:r>
              <a:rPr lang="fr-FR" sz="1600" dirty="0">
                <a:solidFill>
                  <a:srgbClr val="BBBEBF"/>
                </a:solidFill>
                <a:latin typeface="Consolas" panose="020B0609020204030204" pitchFamily="49" charset="0"/>
              </a:rPr>
              <a:t> </a:t>
            </a:r>
            <a:br>
              <a:rPr lang="fr-FR" sz="1600" b="0" dirty="0">
                <a:solidFill>
                  <a:srgbClr val="BBBEBF"/>
                </a:solidFill>
                <a:effectLst/>
                <a:latin typeface="Consolas" panose="020B0609020204030204" pitchFamily="49" charset="0"/>
              </a:rPr>
            </a:br>
            <a:r>
              <a:rPr lang="fr-FR" sz="1600" b="0" dirty="0">
                <a:solidFill>
                  <a:srgbClr val="BBBEBF"/>
                </a:solidFill>
                <a:effectLst/>
                <a:latin typeface="Consolas" panose="020B0609020204030204" pitchFamily="49" charset="0"/>
              </a:rPr>
              <a:t>	  </a:t>
            </a:r>
            <a:r>
              <a:rPr lang="fr-FR" sz="1600" b="0" dirty="0">
                <a:solidFill>
                  <a:srgbClr val="C9D1D9"/>
                </a:solidFill>
                <a:effectLst/>
                <a:latin typeface="Consolas" panose="020B0609020204030204" pitchFamily="49" charset="0"/>
              </a:rPr>
              <a:t> </a:t>
            </a:r>
            <a:r>
              <a:rPr lang="fr-FR" sz="1600" b="0" dirty="0">
                <a:solidFill>
                  <a:srgbClr val="79C0FF"/>
                </a:solidFill>
                <a:effectLst/>
                <a:latin typeface="Consolas" panose="020B0609020204030204" pitchFamily="49" charset="0"/>
              </a:rPr>
              <a:t>console</a:t>
            </a:r>
            <a:r>
              <a:rPr lang="fr-FR" sz="1600" b="0" dirty="0">
                <a:solidFill>
                  <a:srgbClr val="C9D1D9"/>
                </a:solidFill>
                <a:effectLst/>
                <a:latin typeface="Consolas" panose="020B0609020204030204" pitchFamily="49" charset="0"/>
              </a:rPr>
              <a:t>.</a:t>
            </a:r>
            <a:r>
              <a:rPr lang="fr-FR" sz="1600" b="0" dirty="0">
                <a:solidFill>
                  <a:srgbClr val="D2A8FF"/>
                </a:solidFill>
                <a:effectLst/>
                <a:latin typeface="Consolas" panose="020B0609020204030204" pitchFamily="49" charset="0"/>
              </a:rPr>
              <a:t>log</a:t>
            </a:r>
            <a:r>
              <a:rPr lang="fr-FR" sz="1600" b="0" dirty="0">
                <a:effectLst/>
                <a:latin typeface="Consolas" panose="020B0609020204030204" pitchFamily="49" charset="0"/>
              </a:rPr>
              <a:t>(</a:t>
            </a:r>
            <a:r>
              <a:rPr lang="fr-FR" sz="1600" dirty="0">
                <a:solidFill>
                  <a:srgbClr val="FFA657"/>
                </a:solidFill>
                <a:latin typeface="Consolas" panose="020B0609020204030204" pitchFamily="49" charset="0"/>
              </a:rPr>
              <a:t>obj</a:t>
            </a:r>
            <a:r>
              <a:rPr lang="fr-FR" sz="1600" b="0" dirty="0">
                <a:effectLst/>
                <a:latin typeface="Consolas" panose="020B0609020204030204" pitchFamily="49" charset="0"/>
              </a:rPr>
              <a:t>);</a:t>
            </a:r>
            <a:endParaRPr lang="fr-FR" sz="1050" b="0" dirty="0">
              <a:effectLst/>
              <a:latin typeface="Consolas" panose="020B0609020204030204" pitchFamily="49" charset="0"/>
            </a:endParaRPr>
          </a:p>
          <a:p>
            <a:pPr>
              <a:lnSpc>
                <a:spcPts val="1425"/>
              </a:lnSpc>
              <a:buNone/>
            </a:pPr>
            <a:endParaRPr lang="fr-FR" sz="1600" b="0" dirty="0">
              <a:solidFill>
                <a:srgbClr val="BBBEBF"/>
              </a:solidFill>
              <a:effectLst/>
              <a:latin typeface="Consolas" panose="020B0609020204030204" pitchFamily="49" charset="0"/>
            </a:endParaRPr>
          </a:p>
          <a:p>
            <a:endParaRPr lang="fr-FR" sz="1600" b="1" dirty="0"/>
          </a:p>
        </p:txBody>
      </p:sp>
    </p:spTree>
    <p:extLst>
      <p:ext uri="{BB962C8B-B14F-4D97-AF65-F5344CB8AC3E}">
        <p14:creationId xmlns:p14="http://schemas.microsoft.com/office/powerpoint/2010/main" val="3951104291"/>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496F59-E83C-4D19-9B92-5FF831EE63A3}"/>
              </a:ext>
            </a:extLst>
          </p:cNvPr>
          <p:cNvSpPr>
            <a:spLocks noGrp="1"/>
          </p:cNvSpPr>
          <p:nvPr>
            <p:ph type="title"/>
          </p:nvPr>
        </p:nvSpPr>
        <p:spPr/>
        <p:txBody>
          <a:bodyPr/>
          <a:lstStyle/>
          <a:p>
            <a:r>
              <a:rPr lang="fr-FR" dirty="0"/>
              <a:t>ES7+ Async / await / Promise</a:t>
            </a:r>
          </a:p>
        </p:txBody>
      </p:sp>
      <p:sp>
        <p:nvSpPr>
          <p:cNvPr id="4" name="Espace réservé du contenu 3">
            <a:extLst>
              <a:ext uri="{FF2B5EF4-FFF2-40B4-BE49-F238E27FC236}">
                <a16:creationId xmlns:a16="http://schemas.microsoft.com/office/drawing/2014/main" id="{D0E43CA6-8A11-4EDA-BD44-66B24B025C74}"/>
              </a:ext>
            </a:extLst>
          </p:cNvPr>
          <p:cNvSpPr>
            <a:spLocks noGrp="1"/>
          </p:cNvSpPr>
          <p:nvPr>
            <p:ph idx="1"/>
          </p:nvPr>
        </p:nvSpPr>
        <p:spPr/>
        <p:txBody>
          <a:bodyPr>
            <a:normAutofit lnSpcReduction="10000"/>
          </a:bodyPr>
          <a:lstStyle/>
          <a:p>
            <a:r>
              <a:rPr lang="fr-FR" dirty="0"/>
              <a:t>Pour être attendu une fonction :</a:t>
            </a:r>
          </a:p>
          <a:p>
            <a:pPr lvl="1"/>
            <a:r>
              <a:rPr lang="fr-FR" dirty="0"/>
              <a:t>Doit soit être déclarer async</a:t>
            </a:r>
          </a:p>
          <a:p>
            <a:pPr lvl="2"/>
            <a:r>
              <a:rPr lang="fr-FR" dirty="0"/>
              <a:t>Comporter un/des await</a:t>
            </a:r>
          </a:p>
          <a:p>
            <a:pPr lvl="2"/>
            <a:endParaRPr lang="fr-FR" dirty="0"/>
          </a:p>
          <a:p>
            <a:pPr lvl="2"/>
            <a:r>
              <a:rPr lang="fr-FR" dirty="0"/>
              <a:t>Doit retourner une promise</a:t>
            </a:r>
          </a:p>
          <a:p>
            <a:pPr lvl="2"/>
            <a:endParaRPr lang="fr-FR" dirty="0"/>
          </a:p>
          <a:p>
            <a:pPr lvl="2"/>
            <a:r>
              <a:rPr lang="fr-FR" dirty="0"/>
              <a:t>Une fonction </a:t>
            </a:r>
            <a:r>
              <a:rPr lang="fr-FR" b="1" dirty="0"/>
              <a:t>async </a:t>
            </a:r>
            <a:r>
              <a:rPr lang="fr-FR" dirty="0"/>
              <a:t>s’utilise soit </a:t>
            </a:r>
          </a:p>
          <a:p>
            <a:pPr lvl="4"/>
            <a:r>
              <a:rPr lang="fr-FR" dirty="0"/>
              <a:t>Notion d’attente explicite, préfixer par </a:t>
            </a:r>
            <a:r>
              <a:rPr lang="fr-FR" b="1" dirty="0"/>
              <a:t>await</a:t>
            </a:r>
          </a:p>
          <a:p>
            <a:pPr lvl="4"/>
            <a:r>
              <a:rPr lang="fr-FR" dirty="0"/>
              <a:t>Pas d’attente explicite, pas de préfixe à l’appel</a:t>
            </a:r>
          </a:p>
        </p:txBody>
      </p:sp>
      <p:sp>
        <p:nvSpPr>
          <p:cNvPr id="5" name="Espace réservé du contenu 4">
            <a:extLst>
              <a:ext uri="{FF2B5EF4-FFF2-40B4-BE49-F238E27FC236}">
                <a16:creationId xmlns:a16="http://schemas.microsoft.com/office/drawing/2014/main" id="{6E16AD51-1085-440D-8B5E-E9F6D32204D6}"/>
              </a:ext>
            </a:extLst>
          </p:cNvPr>
          <p:cNvSpPr>
            <a:spLocks noGrp="1"/>
          </p:cNvSpPr>
          <p:nvPr>
            <p:ph sz="quarter" idx="14"/>
          </p:nvPr>
        </p:nvSpPr>
        <p:spPr>
          <a:xfrm>
            <a:off x="142846" y="1713385"/>
            <a:ext cx="3904175" cy="3821918"/>
          </a:xfrm>
        </p:spPr>
        <p:txBody>
          <a:bodyPr>
            <a:normAutofit fontScale="92500" lnSpcReduction="20000"/>
          </a:bodyPr>
          <a:lstStyle/>
          <a:p>
            <a:r>
              <a:rPr lang="fr-FR" dirty="0">
                <a:solidFill>
                  <a:srgbClr val="000000"/>
                </a:solidFill>
                <a:latin typeface="Consolas" panose="020B0609020204030204" pitchFamily="49" charset="0"/>
              </a:rPr>
              <a:t>Fichier.js</a:t>
            </a:r>
          </a:p>
          <a:p>
            <a:pPr marL="0" indent="0">
              <a:buNone/>
            </a:pPr>
            <a:br>
              <a:rPr lang="fr-FR" dirty="0">
                <a:solidFill>
                  <a:srgbClr val="000000"/>
                </a:solidFill>
                <a:latin typeface="Consolas" panose="020B0609020204030204" pitchFamily="49" charset="0"/>
              </a:rPr>
            </a:br>
            <a:r>
              <a:rPr lang="fr-FR" dirty="0">
                <a:solidFill>
                  <a:srgbClr val="0000FF"/>
                </a:solidFill>
                <a:latin typeface="Consolas" panose="020B0609020204030204" pitchFamily="49" charset="0"/>
              </a:rPr>
              <a:t>async</a:t>
            </a: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function</a:t>
            </a:r>
            <a:r>
              <a:rPr lang="fr-FR" dirty="0">
                <a:solidFill>
                  <a:srgbClr val="000000"/>
                </a:solidFill>
                <a:latin typeface="Consolas" panose="020B0609020204030204" pitchFamily="49" charset="0"/>
              </a:rPr>
              <a:t> doSomething2() {</a:t>
            </a:r>
          </a:p>
          <a:p>
            <a:pPr marL="0" indent="0">
              <a:buNone/>
            </a:pPr>
            <a:r>
              <a:rPr lang="fr-FR" dirty="0">
                <a:solidFill>
                  <a:srgbClr val="000000"/>
                </a:solidFill>
                <a:latin typeface="Consolas" panose="020B0609020204030204" pitchFamily="49" charset="0"/>
              </a:rPr>
              <a:t>  console.log(</a:t>
            </a:r>
            <a:r>
              <a:rPr lang="fr-FR" dirty="0">
                <a:solidFill>
                  <a:srgbClr val="0000FF"/>
                </a:solidFill>
                <a:latin typeface="Consolas" panose="020B0609020204030204" pitchFamily="49" charset="0"/>
              </a:rPr>
              <a:t>await</a:t>
            </a:r>
            <a:r>
              <a:rPr lang="fr-FR" dirty="0">
                <a:solidFill>
                  <a:srgbClr val="000000"/>
                </a:solidFill>
                <a:latin typeface="Consolas" panose="020B0609020204030204" pitchFamily="49" charset="0"/>
              </a:rPr>
              <a:t> doSomethingAsync())</a:t>
            </a:r>
          </a:p>
          <a:p>
            <a:pPr marL="0" indent="0">
              <a:buNone/>
            </a:pPr>
            <a:r>
              <a:rPr lang="fr-FR" dirty="0">
                <a:solidFill>
                  <a:srgbClr val="000000"/>
                </a:solidFill>
                <a:latin typeface="Consolas" panose="020B0609020204030204" pitchFamily="49" charset="0"/>
              </a:rPr>
              <a:t>}</a:t>
            </a:r>
          </a:p>
          <a:p>
            <a:pPr marL="0" indent="0">
              <a:buNone/>
            </a:pPr>
            <a:endParaRPr lang="fr-FR" dirty="0">
              <a:solidFill>
                <a:srgbClr val="000000"/>
              </a:solidFill>
              <a:latin typeface="Consolas" panose="020B0609020204030204" pitchFamily="49" charset="0"/>
            </a:endParaRPr>
          </a:p>
          <a:p>
            <a:pPr marL="0" indent="0">
              <a:buNone/>
            </a:pPr>
            <a:r>
              <a:rPr lang="fr-FR" dirty="0">
                <a:solidFill>
                  <a:srgbClr val="0000FF"/>
                </a:solidFill>
                <a:latin typeface="Consolas" panose="020B0609020204030204" pitchFamily="49" charset="0"/>
              </a:rPr>
              <a:t>function</a:t>
            </a:r>
            <a:r>
              <a:rPr lang="fr-FR" dirty="0">
                <a:solidFill>
                  <a:srgbClr val="000000"/>
                </a:solidFill>
                <a:latin typeface="Consolas" panose="020B0609020204030204" pitchFamily="49" charset="0"/>
              </a:rPr>
              <a:t> doSomethingAsync() {</a:t>
            </a:r>
          </a:p>
          <a:p>
            <a:pPr marL="0" indent="0">
              <a:buNone/>
            </a:pP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return</a:t>
            </a: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new</a:t>
            </a:r>
            <a:r>
              <a:rPr lang="fr-FR" dirty="0">
                <a:solidFill>
                  <a:srgbClr val="000000"/>
                </a:solidFill>
                <a:latin typeface="Consolas" panose="020B0609020204030204" pitchFamily="49" charset="0"/>
              </a:rPr>
              <a:t> Promise((resolve) </a:t>
            </a:r>
            <a:r>
              <a:rPr lang="fr-FR" dirty="0">
                <a:solidFill>
                  <a:srgbClr val="0000FF"/>
                </a:solidFill>
                <a:latin typeface="Consolas" panose="020B0609020204030204" pitchFamily="49" charset="0"/>
              </a:rPr>
              <a:t>=&gt;</a:t>
            </a:r>
            <a:r>
              <a:rPr lang="fr-FR" dirty="0">
                <a:solidFill>
                  <a:srgbClr val="000000"/>
                </a:solidFill>
                <a:latin typeface="Consolas" panose="020B0609020204030204" pitchFamily="49" charset="0"/>
              </a:rPr>
              <a:t> {</a:t>
            </a:r>
          </a:p>
          <a:p>
            <a:pPr marL="0" indent="0">
              <a:buNone/>
            </a:pPr>
            <a:r>
              <a:rPr lang="fr-FR" dirty="0">
                <a:solidFill>
                  <a:srgbClr val="000000"/>
                </a:solidFill>
                <a:latin typeface="Consolas" panose="020B0609020204030204" pitchFamily="49" charset="0"/>
              </a:rPr>
              <a:t>    setTimeout(() </a:t>
            </a:r>
            <a:r>
              <a:rPr lang="fr-FR" dirty="0">
                <a:solidFill>
                  <a:srgbClr val="0000FF"/>
                </a:solidFill>
                <a:latin typeface="Consolas" panose="020B0609020204030204" pitchFamily="49" charset="0"/>
              </a:rPr>
              <a:t>=&gt;</a:t>
            </a:r>
            <a:r>
              <a:rPr lang="fr-FR" dirty="0">
                <a:solidFill>
                  <a:srgbClr val="000000"/>
                </a:solidFill>
                <a:latin typeface="Consolas" panose="020B0609020204030204" pitchFamily="49" charset="0"/>
              </a:rPr>
              <a:t> resolve(</a:t>
            </a:r>
            <a:r>
              <a:rPr lang="fr-FR" dirty="0">
                <a:solidFill>
                  <a:srgbClr val="A31515"/>
                </a:solidFill>
                <a:latin typeface="Consolas" panose="020B0609020204030204" pitchFamily="49" charset="0"/>
              </a:rPr>
              <a:t>'</a:t>
            </a:r>
            <a:r>
              <a:rPr lang="fr-FR" sz="1350" dirty="0">
                <a:solidFill>
                  <a:srgbClr val="A31515"/>
                </a:solidFill>
                <a:latin typeface="Consolas" panose="020B0609020204030204" pitchFamily="49" charset="0"/>
              </a:rPr>
              <a:t>I did</a:t>
            </a:r>
            <a:r>
              <a:rPr lang="fr-FR" dirty="0">
                <a:solidFill>
                  <a:srgbClr val="A31515"/>
                </a:solidFill>
                <a:latin typeface="Consolas" panose="020B0609020204030204" pitchFamily="49" charset="0"/>
              </a:rPr>
              <a:t>'</a:t>
            </a:r>
            <a:r>
              <a:rPr lang="fr-FR" dirty="0">
                <a:solidFill>
                  <a:srgbClr val="000000"/>
                </a:solidFill>
                <a:latin typeface="Consolas" panose="020B0609020204030204" pitchFamily="49" charset="0"/>
              </a:rPr>
              <a:t>), </a:t>
            </a:r>
            <a:r>
              <a:rPr lang="fr-FR" dirty="0">
                <a:solidFill>
                  <a:srgbClr val="098658"/>
                </a:solidFill>
                <a:latin typeface="Consolas" panose="020B0609020204030204" pitchFamily="49" charset="0"/>
              </a:rPr>
              <a:t>3000</a:t>
            </a:r>
            <a:r>
              <a:rPr lang="fr-FR" dirty="0">
                <a:solidFill>
                  <a:srgbClr val="000000"/>
                </a:solidFill>
                <a:latin typeface="Consolas" panose="020B0609020204030204" pitchFamily="49" charset="0"/>
              </a:rPr>
              <a:t>);</a:t>
            </a:r>
          </a:p>
          <a:p>
            <a:pPr marL="0" indent="0">
              <a:buNone/>
            </a:pPr>
            <a:r>
              <a:rPr lang="fr-FR" dirty="0">
                <a:solidFill>
                  <a:srgbClr val="000000"/>
                </a:solidFill>
                <a:latin typeface="Consolas" panose="020B0609020204030204" pitchFamily="49" charset="0"/>
              </a:rPr>
              <a:t>  });</a:t>
            </a:r>
          </a:p>
          <a:p>
            <a:pPr marL="0" indent="0">
              <a:buNone/>
            </a:pPr>
            <a:r>
              <a:rPr lang="fr-FR" dirty="0">
                <a:solidFill>
                  <a:srgbClr val="000000"/>
                </a:solidFill>
                <a:latin typeface="Consolas" panose="020B0609020204030204" pitchFamily="49" charset="0"/>
              </a:rPr>
              <a:t>}</a:t>
            </a:r>
          </a:p>
          <a:p>
            <a:pPr marL="0" indent="0">
              <a:buNone/>
            </a:pPr>
            <a:endParaRPr lang="fr-FR" dirty="0">
              <a:solidFill>
                <a:srgbClr val="0000FF"/>
              </a:solidFill>
              <a:latin typeface="Consolas" panose="020B0609020204030204" pitchFamily="49" charset="0"/>
            </a:endParaRPr>
          </a:p>
          <a:p>
            <a:pPr marL="0" indent="0">
              <a:buNone/>
            </a:pPr>
            <a:br>
              <a:rPr lang="fr-FR" dirty="0">
                <a:solidFill>
                  <a:srgbClr val="000000"/>
                </a:solidFill>
                <a:latin typeface="Consolas" panose="020B0609020204030204" pitchFamily="49" charset="0"/>
              </a:rPr>
            </a:br>
            <a:r>
              <a:rPr lang="fr-FR" dirty="0">
                <a:solidFill>
                  <a:srgbClr val="0000FF"/>
                </a:solidFill>
                <a:latin typeface="Consolas" panose="020B0609020204030204" pitchFamily="49" charset="0"/>
              </a:rPr>
              <a:t>async</a:t>
            </a:r>
            <a:r>
              <a:rPr lang="fr-FR" dirty="0">
                <a:solidFill>
                  <a:srgbClr val="000000"/>
                </a:solidFill>
                <a:latin typeface="Consolas" panose="020B0609020204030204" pitchFamily="49" charset="0"/>
              </a:rPr>
              <a:t> </a:t>
            </a:r>
            <a:r>
              <a:rPr lang="fr-FR" dirty="0">
                <a:solidFill>
                  <a:srgbClr val="0000FF"/>
                </a:solidFill>
                <a:latin typeface="Consolas" panose="020B0609020204030204" pitchFamily="49" charset="0"/>
              </a:rPr>
              <a:t>function</a:t>
            </a:r>
            <a:r>
              <a:rPr lang="fr-FR" dirty="0">
                <a:solidFill>
                  <a:srgbClr val="000000"/>
                </a:solidFill>
                <a:latin typeface="Consolas" panose="020B0609020204030204" pitchFamily="49" charset="0"/>
              </a:rPr>
              <a:t> doSomething() {</a:t>
            </a:r>
          </a:p>
          <a:p>
            <a:pPr marL="0" indent="0">
              <a:buNone/>
            </a:pPr>
            <a:r>
              <a:rPr lang="fr-FR" dirty="0">
                <a:solidFill>
                  <a:srgbClr val="000000"/>
                </a:solidFill>
                <a:latin typeface="Consolas" panose="020B0609020204030204" pitchFamily="49" charset="0"/>
              </a:rPr>
              <a:t>  console.log(</a:t>
            </a:r>
            <a:r>
              <a:rPr lang="fr-FR" dirty="0">
                <a:solidFill>
                  <a:srgbClr val="0000FF"/>
                </a:solidFill>
                <a:latin typeface="Consolas" panose="020B0609020204030204" pitchFamily="49" charset="0"/>
              </a:rPr>
              <a:t>await</a:t>
            </a:r>
            <a:r>
              <a:rPr lang="fr-FR" dirty="0">
                <a:solidFill>
                  <a:srgbClr val="000000"/>
                </a:solidFill>
                <a:latin typeface="Consolas" panose="020B0609020204030204" pitchFamily="49" charset="0"/>
              </a:rPr>
              <a:t> doSomethingAsync())</a:t>
            </a:r>
          </a:p>
          <a:p>
            <a:pPr marL="0" indent="0">
              <a:buNone/>
            </a:pPr>
            <a:r>
              <a:rPr lang="fr-FR" dirty="0">
                <a:solidFill>
                  <a:srgbClr val="000000"/>
                </a:solidFill>
                <a:latin typeface="Consolas" panose="020B0609020204030204" pitchFamily="49" charset="0"/>
              </a:rPr>
              <a:t>  console.log(</a:t>
            </a:r>
            <a:r>
              <a:rPr lang="fr-FR" dirty="0">
                <a:solidFill>
                  <a:srgbClr val="0000FF"/>
                </a:solidFill>
                <a:latin typeface="Consolas" panose="020B0609020204030204" pitchFamily="49" charset="0"/>
              </a:rPr>
              <a:t>await</a:t>
            </a:r>
            <a:r>
              <a:rPr lang="fr-FR" dirty="0">
                <a:solidFill>
                  <a:srgbClr val="000000"/>
                </a:solidFill>
                <a:latin typeface="Consolas" panose="020B0609020204030204" pitchFamily="49" charset="0"/>
              </a:rPr>
              <a:t> doSomething2())</a:t>
            </a:r>
          </a:p>
          <a:p>
            <a:pPr marL="0" indent="0">
              <a:buNone/>
            </a:pPr>
            <a:r>
              <a:rPr lang="fr-FR" dirty="0">
                <a:solidFill>
                  <a:srgbClr val="000000"/>
                </a:solidFill>
                <a:latin typeface="Consolas" panose="020B0609020204030204" pitchFamily="49" charset="0"/>
              </a:rPr>
              <a:t>}</a:t>
            </a:r>
          </a:p>
          <a:p>
            <a:pPr marL="0" indent="0">
              <a:buNone/>
            </a:pPr>
            <a:br>
              <a:rPr lang="fr-FR" dirty="0">
                <a:solidFill>
                  <a:srgbClr val="000000"/>
                </a:solidFill>
                <a:latin typeface="Consolas" panose="020B0609020204030204" pitchFamily="49" charset="0"/>
              </a:rPr>
            </a:br>
            <a:r>
              <a:rPr lang="fr-FR" dirty="0">
                <a:solidFill>
                  <a:srgbClr val="000000"/>
                </a:solidFill>
                <a:latin typeface="Consolas" panose="020B0609020204030204" pitchFamily="49" charset="0"/>
              </a:rPr>
              <a:t>console.log(</a:t>
            </a:r>
            <a:r>
              <a:rPr lang="fr-FR" dirty="0">
                <a:solidFill>
                  <a:srgbClr val="A31515"/>
                </a:solidFill>
                <a:latin typeface="Consolas" panose="020B0609020204030204" pitchFamily="49" charset="0"/>
              </a:rPr>
              <a:t>'Before'</a:t>
            </a:r>
            <a:r>
              <a:rPr lang="fr-FR" dirty="0">
                <a:solidFill>
                  <a:srgbClr val="000000"/>
                </a:solidFill>
                <a:latin typeface="Consolas" panose="020B0609020204030204" pitchFamily="49" charset="0"/>
              </a:rPr>
              <a:t>);</a:t>
            </a:r>
          </a:p>
          <a:p>
            <a:pPr marL="0" indent="0">
              <a:buNone/>
            </a:pPr>
            <a:r>
              <a:rPr lang="fr-FR" dirty="0">
                <a:solidFill>
                  <a:srgbClr val="000000"/>
                </a:solidFill>
                <a:latin typeface="Consolas" panose="020B0609020204030204" pitchFamily="49" charset="0"/>
              </a:rPr>
              <a:t>doSomething();</a:t>
            </a:r>
          </a:p>
          <a:p>
            <a:pPr marL="0" indent="0">
              <a:buNone/>
            </a:pPr>
            <a:r>
              <a:rPr lang="fr-FR" dirty="0">
                <a:solidFill>
                  <a:srgbClr val="000000"/>
                </a:solidFill>
                <a:latin typeface="Consolas" panose="020B0609020204030204" pitchFamily="49" charset="0"/>
              </a:rPr>
              <a:t>console.log(</a:t>
            </a:r>
            <a:r>
              <a:rPr lang="fr-FR" dirty="0">
                <a:solidFill>
                  <a:srgbClr val="A31515"/>
                </a:solidFill>
                <a:latin typeface="Consolas" panose="020B0609020204030204" pitchFamily="49" charset="0"/>
              </a:rPr>
              <a:t>'After'</a:t>
            </a:r>
            <a:r>
              <a:rPr lang="fr-FR" dirty="0">
                <a:solidFill>
                  <a:srgbClr val="000000"/>
                </a:solidFill>
                <a:latin typeface="Consolas" panose="020B0609020204030204" pitchFamily="49" charset="0"/>
              </a:rPr>
              <a:t>);</a:t>
            </a:r>
          </a:p>
        </p:txBody>
      </p:sp>
      <p:cxnSp>
        <p:nvCxnSpPr>
          <p:cNvPr id="8" name="Connecteur droit avec flèche 7">
            <a:extLst>
              <a:ext uri="{FF2B5EF4-FFF2-40B4-BE49-F238E27FC236}">
                <a16:creationId xmlns:a16="http://schemas.microsoft.com/office/drawing/2014/main" id="{27A109DD-DE65-40D6-9C03-063E53CCBF72}"/>
              </a:ext>
            </a:extLst>
          </p:cNvPr>
          <p:cNvCxnSpPr>
            <a:cxnSpLocks/>
          </p:cNvCxnSpPr>
          <p:nvPr/>
        </p:nvCxnSpPr>
        <p:spPr>
          <a:xfrm flipH="1" flipV="1">
            <a:off x="3368040" y="2411730"/>
            <a:ext cx="1203960" cy="27885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 name="Connecteur : en angle 10">
            <a:extLst>
              <a:ext uri="{FF2B5EF4-FFF2-40B4-BE49-F238E27FC236}">
                <a16:creationId xmlns:a16="http://schemas.microsoft.com/office/drawing/2014/main" id="{B04A7287-1A76-439A-A57B-E2B5262FC6F9}"/>
              </a:ext>
            </a:extLst>
          </p:cNvPr>
          <p:cNvCxnSpPr>
            <a:cxnSpLocks/>
          </p:cNvCxnSpPr>
          <p:nvPr/>
        </p:nvCxnSpPr>
        <p:spPr>
          <a:xfrm rot="10800000">
            <a:off x="1021080" y="1863090"/>
            <a:ext cx="3230880" cy="457200"/>
          </a:xfrm>
          <a:prstGeom prst="bentConnector3">
            <a:avLst>
              <a:gd name="adj1" fmla="val 11792"/>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22" name="Connecteur droit avec flèche 21">
            <a:extLst>
              <a:ext uri="{FF2B5EF4-FFF2-40B4-BE49-F238E27FC236}">
                <a16:creationId xmlns:a16="http://schemas.microsoft.com/office/drawing/2014/main" id="{26D65721-7DB1-4CFF-9B58-54169E804D6C}"/>
              </a:ext>
            </a:extLst>
          </p:cNvPr>
          <p:cNvCxnSpPr>
            <a:cxnSpLocks/>
          </p:cNvCxnSpPr>
          <p:nvPr/>
        </p:nvCxnSpPr>
        <p:spPr>
          <a:xfrm flipH="1" flipV="1">
            <a:off x="3619500" y="3234690"/>
            <a:ext cx="1059180" cy="83821"/>
          </a:xfrm>
          <a:prstGeom prst="straightConnector1">
            <a:avLst/>
          </a:prstGeom>
          <a:ln w="76200">
            <a:tailEnd type="triangle"/>
          </a:ln>
        </p:spPr>
        <p:style>
          <a:lnRef idx="1">
            <a:schemeClr val="accent5"/>
          </a:lnRef>
          <a:fillRef idx="0">
            <a:schemeClr val="accent5"/>
          </a:fillRef>
          <a:effectRef idx="0">
            <a:schemeClr val="accent5"/>
          </a:effectRef>
          <a:fontRef idx="minor">
            <a:schemeClr val="tx1"/>
          </a:fontRef>
        </p:style>
      </p:cxnSp>
      <p:cxnSp>
        <p:nvCxnSpPr>
          <p:cNvPr id="25" name="Connecteur droit avec flèche 24">
            <a:extLst>
              <a:ext uri="{FF2B5EF4-FFF2-40B4-BE49-F238E27FC236}">
                <a16:creationId xmlns:a16="http://schemas.microsoft.com/office/drawing/2014/main" id="{1743CFC3-04CB-4585-A4B2-40D791D5D5DB}"/>
              </a:ext>
            </a:extLst>
          </p:cNvPr>
          <p:cNvCxnSpPr>
            <a:cxnSpLocks/>
          </p:cNvCxnSpPr>
          <p:nvPr/>
        </p:nvCxnSpPr>
        <p:spPr>
          <a:xfrm flipH="1" flipV="1">
            <a:off x="3368040" y="4290094"/>
            <a:ext cx="1840230" cy="1"/>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cxnSp>
        <p:nvCxnSpPr>
          <p:cNvPr id="27" name="Connecteur droit avec flèche 26">
            <a:extLst>
              <a:ext uri="{FF2B5EF4-FFF2-40B4-BE49-F238E27FC236}">
                <a16:creationId xmlns:a16="http://schemas.microsoft.com/office/drawing/2014/main" id="{70F432FC-84B7-4C3E-AA15-738B5CBE078F}"/>
              </a:ext>
            </a:extLst>
          </p:cNvPr>
          <p:cNvCxnSpPr>
            <a:cxnSpLocks/>
          </p:cNvCxnSpPr>
          <p:nvPr/>
        </p:nvCxnSpPr>
        <p:spPr>
          <a:xfrm flipH="1">
            <a:off x="1554480" y="4838713"/>
            <a:ext cx="3771900" cy="304799"/>
          </a:xfrm>
          <a:prstGeom prst="straightConnector1">
            <a:avLst/>
          </a:prstGeom>
          <a:ln w="76200">
            <a:tailEnd type="triangle"/>
          </a:ln>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421926958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86F08-AAD6-9133-3A27-876035FC474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7EB6794-DDCD-2A6A-FC5C-3CC63FAB9CCC}"/>
              </a:ext>
            </a:extLst>
          </p:cNvPr>
          <p:cNvSpPr>
            <a:spLocks noGrp="1"/>
          </p:cNvSpPr>
          <p:nvPr>
            <p:ph type="title"/>
          </p:nvPr>
        </p:nvSpPr>
        <p:spPr/>
        <p:txBody>
          <a:bodyPr/>
          <a:lstStyle/>
          <a:p>
            <a:r>
              <a:rPr lang="fr-FR" dirty="0"/>
              <a:t>Principe de responsive design</a:t>
            </a:r>
          </a:p>
        </p:txBody>
      </p:sp>
      <p:sp>
        <p:nvSpPr>
          <p:cNvPr id="3" name="Espace réservé du contenu 2">
            <a:extLst>
              <a:ext uri="{FF2B5EF4-FFF2-40B4-BE49-F238E27FC236}">
                <a16:creationId xmlns:a16="http://schemas.microsoft.com/office/drawing/2014/main" id="{AC51A4B4-53C7-B84B-3A21-DF21DEB3A7C8}"/>
              </a:ext>
            </a:extLst>
          </p:cNvPr>
          <p:cNvSpPr>
            <a:spLocks noGrp="1"/>
          </p:cNvSpPr>
          <p:nvPr>
            <p:ph idx="1"/>
          </p:nvPr>
        </p:nvSpPr>
        <p:spPr/>
        <p:txBody>
          <a:bodyPr>
            <a:normAutofit/>
          </a:bodyPr>
          <a:lstStyle/>
          <a:p>
            <a:r>
              <a:rPr lang="fr-FR" dirty="0"/>
              <a:t>En fonction des dimensions d’affichages:</a:t>
            </a:r>
          </a:p>
          <a:p>
            <a:pPr lvl="2"/>
            <a:r>
              <a:rPr lang="fr-FR" dirty="0"/>
              <a:t>Les composants doivent avoir des dimensions et / ou displays différents</a:t>
            </a:r>
          </a:p>
          <a:p>
            <a:pPr lvl="3"/>
            <a:r>
              <a:rPr lang="fr-FR" dirty="0"/>
              <a:t>Query</a:t>
            </a:r>
          </a:p>
          <a:p>
            <a:pPr lvl="4"/>
            <a:r>
              <a:rPr lang="fr-FR" dirty="0"/>
              <a:t>Media : print, screen, speech*, all</a:t>
            </a:r>
          </a:p>
          <a:p>
            <a:pPr lvl="4"/>
            <a:r>
              <a:rPr lang="fr-FR" dirty="0"/>
              <a:t>Conditionals:</a:t>
            </a:r>
          </a:p>
          <a:p>
            <a:pPr lvl="5"/>
            <a:r>
              <a:rPr lang="fr-FR" dirty="0"/>
              <a:t>width, max-width, min-width</a:t>
            </a:r>
          </a:p>
          <a:p>
            <a:pPr lvl="5"/>
            <a:r>
              <a:rPr lang="fr-FR" dirty="0"/>
              <a:t>height, max-height, min-height</a:t>
            </a:r>
          </a:p>
          <a:p>
            <a:pPr lvl="5"/>
            <a:r>
              <a:rPr lang="fr-FR" dirty="0"/>
              <a:t>orientation, résolution</a:t>
            </a:r>
          </a:p>
          <a:p>
            <a:pPr lvl="5"/>
            <a:r>
              <a:rPr lang="fr-FR" dirty="0"/>
              <a:t>and , or, not</a:t>
            </a:r>
          </a:p>
          <a:p>
            <a:pPr lvl="4"/>
            <a:r>
              <a:rPr lang="fr-FR" dirty="0"/>
              <a:t>Exemple de media query:</a:t>
            </a:r>
          </a:p>
          <a:p>
            <a:pPr marL="1828800" lvl="4" indent="0">
              <a:buNone/>
            </a:pPr>
            <a:r>
              <a:rPr lang="en-US" b="1" i="1" dirty="0"/>
              <a:t>only screen and (min-width: 768px)</a:t>
            </a:r>
          </a:p>
          <a:p>
            <a:pPr marL="1828800" lvl="4" indent="0">
              <a:buNone/>
            </a:pPr>
            <a:r>
              <a:rPr lang="en-US" b="1" dirty="0"/>
              <a:t>screen and (orientation: portrait)</a:t>
            </a:r>
            <a:endParaRPr lang="fr-FR" b="1" i="1" dirty="0"/>
          </a:p>
        </p:txBody>
      </p:sp>
    </p:spTree>
    <p:extLst>
      <p:ext uri="{BB962C8B-B14F-4D97-AF65-F5344CB8AC3E}">
        <p14:creationId xmlns:p14="http://schemas.microsoft.com/office/powerpoint/2010/main" val="110020056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2C7BF0-A5EA-5032-1979-EF71A2371A9C}"/>
              </a:ext>
            </a:extLst>
          </p:cNvPr>
          <p:cNvSpPr>
            <a:spLocks noGrp="1"/>
          </p:cNvSpPr>
          <p:nvPr>
            <p:ph type="title"/>
          </p:nvPr>
        </p:nvSpPr>
        <p:spPr/>
        <p:txBody>
          <a:bodyPr/>
          <a:lstStyle/>
          <a:p>
            <a:r>
              <a:rPr lang="fr-FR" dirty="0"/>
              <a:t>Principe de responsive design</a:t>
            </a:r>
          </a:p>
        </p:txBody>
      </p:sp>
      <p:sp>
        <p:nvSpPr>
          <p:cNvPr id="3" name="Espace réservé du contenu 2">
            <a:extLst>
              <a:ext uri="{FF2B5EF4-FFF2-40B4-BE49-F238E27FC236}">
                <a16:creationId xmlns:a16="http://schemas.microsoft.com/office/drawing/2014/main" id="{F3FDEA09-1F2D-100B-AB03-978BAF6B47CF}"/>
              </a:ext>
            </a:extLst>
          </p:cNvPr>
          <p:cNvSpPr>
            <a:spLocks noGrp="1"/>
          </p:cNvSpPr>
          <p:nvPr>
            <p:ph idx="1"/>
          </p:nvPr>
        </p:nvSpPr>
        <p:spPr/>
        <p:txBody>
          <a:bodyPr>
            <a:normAutofit fontScale="85000" lnSpcReduction="20000"/>
          </a:bodyPr>
          <a:lstStyle/>
          <a:p>
            <a:r>
              <a:rPr lang="fr-FR" dirty="0"/>
              <a:t>En fonction des dimensions d’affichages:</a:t>
            </a:r>
          </a:p>
          <a:p>
            <a:pPr lvl="1"/>
            <a:r>
              <a:rPr lang="fr-FR" dirty="0"/>
              <a:t>Les composants doivent avoir des dimensions et / ou displays différents</a:t>
            </a:r>
          </a:p>
          <a:p>
            <a:pPr lvl="2"/>
            <a:r>
              <a:rPr lang="fr-FR" dirty="0"/>
              <a:t>Css et media queries</a:t>
            </a:r>
          </a:p>
          <a:p>
            <a:pPr lvl="3"/>
            <a:r>
              <a:rPr lang="fr-FR" dirty="0"/>
              <a:t>Dans les balises link</a:t>
            </a:r>
          </a:p>
          <a:p>
            <a:pPr marL="2286000" lvl="5" indent="0">
              <a:buNone/>
            </a:pPr>
            <a:r>
              <a:rPr lang="fr-FR" b="1" i="1" dirty="0"/>
              <a:t>&lt;link rel="stylesheet" media="query"/&gt;</a:t>
            </a:r>
          </a:p>
          <a:p>
            <a:pPr lvl="3"/>
            <a:r>
              <a:rPr lang="fr-FR" dirty="0"/>
              <a:t>Dans le css</a:t>
            </a:r>
          </a:p>
          <a:p>
            <a:pPr marL="2286000" lvl="5" indent="0">
              <a:buNone/>
            </a:pPr>
            <a:r>
              <a:rPr lang="fr-FR" b="1" i="1" dirty="0"/>
              <a:t>@media query{</a:t>
            </a:r>
          </a:p>
          <a:p>
            <a:pPr marL="2286000" lvl="5" indent="0">
              <a:buNone/>
            </a:pPr>
            <a:r>
              <a:rPr lang="fr-FR" dirty="0"/>
              <a:t>	//…contenu css</a:t>
            </a:r>
          </a:p>
          <a:p>
            <a:pPr marL="2286000" lvl="5" indent="0">
              <a:buNone/>
            </a:pPr>
            <a:r>
              <a:rPr lang="fr-FR" b="1" i="1" dirty="0"/>
              <a:t>}</a:t>
            </a:r>
          </a:p>
          <a:p>
            <a:pPr lvl="3"/>
            <a:r>
              <a:rPr lang="fr-FR" dirty="0"/>
              <a:t>En js</a:t>
            </a:r>
          </a:p>
          <a:p>
            <a:pPr marL="2286000" lvl="5" indent="0">
              <a:buNone/>
            </a:pPr>
            <a:r>
              <a:rPr lang="fr-FR" b="1" i="1" dirty="0"/>
              <a:t>var x = window.matchMedia("(max-width: 700px)");</a:t>
            </a:r>
          </a:p>
          <a:p>
            <a:pPr marL="2286000" lvl="5" indent="0">
              <a:buNone/>
            </a:pPr>
            <a:r>
              <a:rPr lang="fr-FR" b="1" i="1" dirty="0"/>
              <a:t>function myFunction(x) {</a:t>
            </a:r>
          </a:p>
          <a:p>
            <a:pPr marL="2286000" lvl="5" indent="0">
              <a:buNone/>
            </a:pPr>
            <a:r>
              <a:rPr lang="fr-FR" b="1" i="1" dirty="0"/>
              <a:t>	if (x.matches) { // If media query matches</a:t>
            </a:r>
          </a:p>
          <a:p>
            <a:pPr marL="2286000" lvl="5" indent="0">
              <a:buNone/>
            </a:pPr>
            <a:r>
              <a:rPr lang="fr-FR" b="1" i="1" dirty="0"/>
              <a:t>		document.body.style.backgroundColor = "yellow";</a:t>
            </a:r>
          </a:p>
          <a:p>
            <a:pPr marL="2286000" lvl="5" indent="0">
              <a:buNone/>
            </a:pPr>
            <a:r>
              <a:rPr lang="fr-FR" b="1" i="1" dirty="0"/>
              <a:t>	} else {</a:t>
            </a:r>
          </a:p>
          <a:p>
            <a:pPr marL="2286000" lvl="5" indent="0">
              <a:buNone/>
            </a:pPr>
            <a:r>
              <a:rPr lang="fr-FR" b="1" i="1" dirty="0"/>
              <a:t>		document.body.style.backgroundColor = "pink";</a:t>
            </a:r>
          </a:p>
          <a:p>
            <a:pPr marL="2286000" lvl="5" indent="0">
              <a:buNone/>
            </a:pPr>
            <a:r>
              <a:rPr lang="fr-FR" b="1" i="1" dirty="0"/>
              <a:t>	}</a:t>
            </a:r>
          </a:p>
          <a:p>
            <a:pPr marL="2286000" lvl="5" indent="0">
              <a:buNone/>
            </a:pPr>
            <a:r>
              <a:rPr lang="fr-FR" b="1" i="1" dirty="0"/>
              <a:t>}</a:t>
            </a:r>
          </a:p>
          <a:p>
            <a:pPr lvl="5"/>
            <a:endParaRPr lang="fr-FR" dirty="0"/>
          </a:p>
        </p:txBody>
      </p:sp>
    </p:spTree>
    <p:extLst>
      <p:ext uri="{BB962C8B-B14F-4D97-AF65-F5344CB8AC3E}">
        <p14:creationId xmlns:p14="http://schemas.microsoft.com/office/powerpoint/2010/main" val="108808499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BAC60E-03C6-6A3F-4F81-D7CE98B51BA7}"/>
              </a:ext>
            </a:extLst>
          </p:cNvPr>
          <p:cNvSpPr>
            <a:spLocks noGrp="1"/>
          </p:cNvSpPr>
          <p:nvPr>
            <p:ph type="title"/>
          </p:nvPr>
        </p:nvSpPr>
        <p:spPr/>
        <p:txBody>
          <a:bodyPr/>
          <a:lstStyle/>
          <a:p>
            <a:r>
              <a:rPr lang="fr-FR" dirty="0"/>
              <a:t>11.Optimisation</a:t>
            </a:r>
          </a:p>
        </p:txBody>
      </p:sp>
      <p:sp>
        <p:nvSpPr>
          <p:cNvPr id="3" name="Espace réservé du texte 2">
            <a:extLst>
              <a:ext uri="{FF2B5EF4-FFF2-40B4-BE49-F238E27FC236}">
                <a16:creationId xmlns:a16="http://schemas.microsoft.com/office/drawing/2014/main" id="{FBD8E9DC-0323-1865-61FA-A2E974A49C6A}"/>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10540088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10008C6A-BB44-988C-E803-0D7191863A56}"/>
              </a:ext>
            </a:extLst>
          </p:cNvPr>
          <p:cNvSpPr>
            <a:spLocks noGrp="1"/>
          </p:cNvSpPr>
          <p:nvPr>
            <p:ph type="title"/>
          </p:nvPr>
        </p:nvSpPr>
        <p:spPr/>
        <p:txBody>
          <a:bodyPr/>
          <a:lstStyle/>
          <a:p>
            <a:r>
              <a:rPr lang="fr-FR" dirty="0"/>
              <a:t>Optimisation DOM</a:t>
            </a:r>
          </a:p>
        </p:txBody>
      </p:sp>
      <p:sp>
        <p:nvSpPr>
          <p:cNvPr id="5" name="Espace réservé du contenu 4">
            <a:extLst>
              <a:ext uri="{FF2B5EF4-FFF2-40B4-BE49-F238E27FC236}">
                <a16:creationId xmlns:a16="http://schemas.microsoft.com/office/drawing/2014/main" id="{BE732A9E-7048-367C-9332-70E170C92F84}"/>
              </a:ext>
            </a:extLst>
          </p:cNvPr>
          <p:cNvSpPr>
            <a:spLocks noGrp="1"/>
          </p:cNvSpPr>
          <p:nvPr>
            <p:ph idx="1"/>
          </p:nvPr>
        </p:nvSpPr>
        <p:spPr/>
        <p:txBody>
          <a:bodyPr/>
          <a:lstStyle/>
          <a:p>
            <a:r>
              <a:rPr lang="fr-FR" dirty="0"/>
              <a:t>Privilégier .</a:t>
            </a:r>
            <a:r>
              <a:rPr lang="fr-FR" b="1" i="1" dirty="0"/>
              <a:t>textContent</a:t>
            </a:r>
            <a:r>
              <a:rPr lang="fr-FR" dirty="0"/>
              <a:t>  a .</a:t>
            </a:r>
            <a:r>
              <a:rPr lang="fr-FR" b="1" i="1" dirty="0"/>
              <a:t>innerHTML</a:t>
            </a:r>
          </a:p>
          <a:p>
            <a:pPr lvl="2"/>
            <a:r>
              <a:rPr lang="fr-FR" dirty="0"/>
              <a:t>Plus rapide et évite les faille </a:t>
            </a:r>
            <a:r>
              <a:rPr lang="fr-FR" dirty="0" err="1"/>
              <a:t>xss</a:t>
            </a:r>
            <a:endParaRPr lang="fr-FR" dirty="0"/>
          </a:p>
          <a:p>
            <a:endParaRPr lang="fr-FR" dirty="0"/>
          </a:p>
          <a:p>
            <a:r>
              <a:rPr lang="fr-FR" dirty="0"/>
              <a:t>Privilégier les </a:t>
            </a:r>
            <a:r>
              <a:rPr lang="fr-FR" b="1" i="1" dirty="0" err="1"/>
              <a:t>documentFragment</a:t>
            </a:r>
            <a:r>
              <a:rPr lang="fr-FR" dirty="0"/>
              <a:t> pour des listes d’éléments a insérer dans le DOM</a:t>
            </a:r>
          </a:p>
          <a:p>
            <a:pPr lvl="2"/>
            <a:r>
              <a:rPr lang="fr-FR" dirty="0"/>
              <a:t>limite les rendus à chaque insertion d'élément</a:t>
            </a:r>
          </a:p>
          <a:p>
            <a:endParaRPr lang="fr-FR" dirty="0"/>
          </a:p>
          <a:p>
            <a:r>
              <a:rPr lang="fr-FR" dirty="0"/>
              <a:t>Stocker les résultats de </a:t>
            </a:r>
            <a:r>
              <a:rPr lang="fr-FR" b="1" i="1" dirty="0"/>
              <a:t>querySelector</a:t>
            </a:r>
            <a:r>
              <a:rPr lang="fr-FR" dirty="0"/>
              <a:t> </a:t>
            </a:r>
          </a:p>
          <a:p>
            <a:pPr lvl="2"/>
            <a:r>
              <a:rPr lang="fr-FR" dirty="0"/>
              <a:t>plutôt que de resélectionner le même élément dans une boucle</a:t>
            </a:r>
          </a:p>
        </p:txBody>
      </p:sp>
    </p:spTree>
    <p:extLst>
      <p:ext uri="{BB962C8B-B14F-4D97-AF65-F5344CB8AC3E}">
        <p14:creationId xmlns:p14="http://schemas.microsoft.com/office/powerpoint/2010/main" val="267348805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A1030E-3421-E9DF-BACC-588178E6585C}"/>
              </a:ext>
            </a:extLst>
          </p:cNvPr>
          <p:cNvSpPr>
            <a:spLocks noGrp="1"/>
          </p:cNvSpPr>
          <p:nvPr>
            <p:ph type="title"/>
          </p:nvPr>
        </p:nvSpPr>
        <p:spPr/>
        <p:txBody>
          <a:bodyPr/>
          <a:lstStyle/>
          <a:p>
            <a:r>
              <a:rPr lang="fr-FR" dirty="0"/>
              <a:t>Optimisation de code</a:t>
            </a:r>
          </a:p>
        </p:txBody>
      </p:sp>
      <p:sp>
        <p:nvSpPr>
          <p:cNvPr id="3" name="Espace réservé du contenu 2">
            <a:extLst>
              <a:ext uri="{FF2B5EF4-FFF2-40B4-BE49-F238E27FC236}">
                <a16:creationId xmlns:a16="http://schemas.microsoft.com/office/drawing/2014/main" id="{E30BAF7E-B331-4CF4-A9E7-0C35ACDD7FB8}"/>
              </a:ext>
            </a:extLst>
          </p:cNvPr>
          <p:cNvSpPr>
            <a:spLocks noGrp="1"/>
          </p:cNvSpPr>
          <p:nvPr>
            <p:ph idx="1"/>
          </p:nvPr>
        </p:nvSpPr>
        <p:spPr/>
        <p:txBody>
          <a:bodyPr>
            <a:normAutofit lnSpcReduction="10000"/>
          </a:bodyPr>
          <a:lstStyle/>
          <a:p>
            <a:r>
              <a:rPr lang="fr-FR" dirty="0"/>
              <a:t>Toujours mettre les </a:t>
            </a:r>
            <a:r>
              <a:rPr lang="fr-FR" b="1" i="1" dirty="0"/>
              <a:t>{…}</a:t>
            </a:r>
            <a:r>
              <a:rPr lang="fr-FR" dirty="0"/>
              <a:t> pour les blocs d’instruction (if, for, …) même si il n’y a qu'une instruction</a:t>
            </a:r>
          </a:p>
          <a:p>
            <a:pPr lvl="2"/>
            <a:r>
              <a:rPr lang="fr-FR" dirty="0"/>
              <a:t>Accélère le parsing du code js</a:t>
            </a:r>
          </a:p>
          <a:p>
            <a:endParaRPr lang="fr-FR" dirty="0"/>
          </a:p>
          <a:p>
            <a:r>
              <a:rPr lang="fr-FR" dirty="0"/>
              <a:t>Utiliser les fonctions de l’array </a:t>
            </a:r>
            <a:r>
              <a:rPr lang="fr-FR" b="1" i="1" dirty="0"/>
              <a:t>.map</a:t>
            </a:r>
            <a:r>
              <a:rPr lang="fr-FR" dirty="0"/>
              <a:t>, </a:t>
            </a:r>
            <a:r>
              <a:rPr lang="fr-FR" b="1" i="1" dirty="0"/>
              <a:t>.forEach</a:t>
            </a:r>
            <a:r>
              <a:rPr lang="fr-FR" dirty="0"/>
              <a:t>, ou les boucles for..of </a:t>
            </a:r>
          </a:p>
          <a:p>
            <a:pPr lvl="2"/>
            <a:r>
              <a:rPr lang="fr-FR" dirty="0"/>
              <a:t>Evite les recalcul de taille d’array</a:t>
            </a:r>
          </a:p>
          <a:p>
            <a:endParaRPr lang="fr-FR" dirty="0"/>
          </a:p>
          <a:p>
            <a:r>
              <a:rPr lang="fr-FR" dirty="0"/>
              <a:t>Ne plus utiliser </a:t>
            </a:r>
            <a:r>
              <a:rPr lang="fr-FR" b="1" i="1" dirty="0"/>
              <a:t>var</a:t>
            </a:r>
            <a:r>
              <a:rPr lang="fr-FR" dirty="0"/>
              <a:t>, mais </a:t>
            </a:r>
            <a:r>
              <a:rPr lang="fr-FR" b="1" i="1" dirty="0"/>
              <a:t>const </a:t>
            </a:r>
            <a:r>
              <a:rPr lang="fr-FR" dirty="0"/>
              <a:t>ou </a:t>
            </a:r>
            <a:r>
              <a:rPr lang="fr-FR" b="1" i="1" dirty="0"/>
              <a:t>let</a:t>
            </a:r>
            <a:r>
              <a:rPr lang="fr-FR" dirty="0"/>
              <a:t>  </a:t>
            </a:r>
          </a:p>
          <a:p>
            <a:pPr lvl="2"/>
            <a:r>
              <a:rPr lang="fr-FR" dirty="0"/>
              <a:t>Privilégier </a:t>
            </a:r>
            <a:r>
              <a:rPr lang="fr-FR" b="1" i="1" dirty="0"/>
              <a:t>const</a:t>
            </a:r>
            <a:r>
              <a:rPr lang="fr-FR" dirty="0"/>
              <a:t> par defaut</a:t>
            </a:r>
          </a:p>
          <a:p>
            <a:pPr lvl="2"/>
            <a:endParaRPr lang="fr-FR" dirty="0"/>
          </a:p>
          <a:p>
            <a:endParaRPr lang="fr-FR" dirty="0"/>
          </a:p>
        </p:txBody>
      </p:sp>
    </p:spTree>
    <p:extLst>
      <p:ext uri="{BB962C8B-B14F-4D97-AF65-F5344CB8AC3E}">
        <p14:creationId xmlns:p14="http://schemas.microsoft.com/office/powerpoint/2010/main" val="2004363982"/>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853A32-AC43-CE65-3D1D-95D4815F6A3F}"/>
              </a:ext>
            </a:extLst>
          </p:cNvPr>
          <p:cNvSpPr>
            <a:spLocks noGrp="1"/>
          </p:cNvSpPr>
          <p:nvPr>
            <p:ph type="title"/>
          </p:nvPr>
        </p:nvSpPr>
        <p:spPr/>
        <p:txBody>
          <a:bodyPr/>
          <a:lstStyle/>
          <a:p>
            <a:r>
              <a:rPr lang="fr-FR" dirty="0"/>
              <a:t>Optimisation chargement js dans le DOM</a:t>
            </a:r>
          </a:p>
        </p:txBody>
      </p:sp>
      <p:sp>
        <p:nvSpPr>
          <p:cNvPr id="3" name="Espace réservé du contenu 2">
            <a:extLst>
              <a:ext uri="{FF2B5EF4-FFF2-40B4-BE49-F238E27FC236}">
                <a16:creationId xmlns:a16="http://schemas.microsoft.com/office/drawing/2014/main" id="{EFADE67D-7E87-D4D4-93A5-1D622D05F2F5}"/>
              </a:ext>
            </a:extLst>
          </p:cNvPr>
          <p:cNvSpPr>
            <a:spLocks noGrp="1"/>
          </p:cNvSpPr>
          <p:nvPr>
            <p:ph idx="1"/>
          </p:nvPr>
        </p:nvSpPr>
        <p:spPr/>
        <p:txBody>
          <a:bodyPr>
            <a:normAutofit/>
          </a:bodyPr>
          <a:lstStyle/>
          <a:p>
            <a:r>
              <a:rPr lang="fr-FR" dirty="0"/>
              <a:t>Privilégier toujours le chargement de script dans html async</a:t>
            </a:r>
          </a:p>
          <a:p>
            <a:pPr lvl="2"/>
            <a:r>
              <a:rPr lang="fr-FR" dirty="0"/>
              <a:t>Evite de bloquer la construction du DOM pendant le chargement du script</a:t>
            </a:r>
          </a:p>
          <a:p>
            <a:pPr lvl="2"/>
            <a:r>
              <a:rPr lang="fr-FR" dirty="0"/>
              <a:t>Exécute qu'une fois le DOM chargé</a:t>
            </a:r>
          </a:p>
          <a:p>
            <a:pPr marL="0" indent="0" algn="ctr">
              <a:buNone/>
            </a:pPr>
            <a:r>
              <a:rPr lang="fr-FR" b="1" i="1" dirty="0"/>
              <a:t>&lt;script src="app.js" defer&gt;&lt;/script&gt;</a:t>
            </a:r>
          </a:p>
          <a:p>
            <a:endParaRPr lang="fr-FR" dirty="0"/>
          </a:p>
          <a:p>
            <a:r>
              <a:rPr lang="fr-FR" dirty="0"/>
              <a:t>Privilégier le chargement dynamique des scripts grâce aux promise et import </a:t>
            </a:r>
            <a:r>
              <a:rPr lang="fr-FR" sz="2000" dirty="0"/>
              <a:t>(ou grâce à </a:t>
            </a:r>
            <a:r>
              <a:rPr lang="fr-FR" sz="2000" b="1" i="1" dirty="0"/>
              <a:t>async</a:t>
            </a:r>
            <a:r>
              <a:rPr lang="fr-FR" sz="2000" dirty="0"/>
              <a:t> </a:t>
            </a:r>
            <a:r>
              <a:rPr lang="fr-FR" sz="2000" b="1" i="1" dirty="0"/>
              <a:t>await</a:t>
            </a:r>
            <a:r>
              <a:rPr lang="fr-FR" sz="2000" dirty="0"/>
              <a:t>)</a:t>
            </a:r>
            <a:endParaRPr lang="fr-FR" dirty="0"/>
          </a:p>
          <a:p>
            <a:pPr marL="0" indent="0" algn="ctr">
              <a:buNone/>
            </a:pPr>
            <a:r>
              <a:rPr lang="fr-FR" b="1" i="1" dirty="0"/>
              <a:t>import('./module.js').then(...)</a:t>
            </a:r>
          </a:p>
          <a:p>
            <a:endParaRPr lang="fr-FR" dirty="0"/>
          </a:p>
        </p:txBody>
      </p:sp>
    </p:spTree>
    <p:extLst>
      <p:ext uri="{BB962C8B-B14F-4D97-AF65-F5344CB8AC3E}">
        <p14:creationId xmlns:p14="http://schemas.microsoft.com/office/powerpoint/2010/main" val="163481210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1B1B7A-959A-5520-A6FF-30007603B7B9}"/>
              </a:ext>
            </a:extLst>
          </p:cNvPr>
          <p:cNvSpPr>
            <a:spLocks noGrp="1"/>
          </p:cNvSpPr>
          <p:nvPr>
            <p:ph type="title"/>
          </p:nvPr>
        </p:nvSpPr>
        <p:spPr/>
        <p:txBody>
          <a:bodyPr/>
          <a:lstStyle/>
          <a:p>
            <a:r>
              <a:rPr lang="fr-FR" dirty="0"/>
              <a:t>Profilage &amp; benchmark</a:t>
            </a:r>
          </a:p>
        </p:txBody>
      </p:sp>
      <p:sp>
        <p:nvSpPr>
          <p:cNvPr id="3" name="Espace réservé du contenu 2">
            <a:extLst>
              <a:ext uri="{FF2B5EF4-FFF2-40B4-BE49-F238E27FC236}">
                <a16:creationId xmlns:a16="http://schemas.microsoft.com/office/drawing/2014/main" id="{2BD1FB46-7944-F014-7447-D12A022211C3}"/>
              </a:ext>
            </a:extLst>
          </p:cNvPr>
          <p:cNvSpPr>
            <a:spLocks noGrp="1"/>
          </p:cNvSpPr>
          <p:nvPr>
            <p:ph idx="1"/>
          </p:nvPr>
        </p:nvSpPr>
        <p:spPr/>
        <p:txBody>
          <a:bodyPr>
            <a:normAutofit/>
          </a:bodyPr>
          <a:lstStyle/>
          <a:p>
            <a:r>
              <a:rPr lang="fr-FR" dirty="0"/>
              <a:t>Il est possible de connaitre le temps mis par du code à s’exécuter :</a:t>
            </a:r>
          </a:p>
          <a:p>
            <a:pPr marL="0" indent="0" algn="ctr">
              <a:buNone/>
            </a:pPr>
            <a:r>
              <a:rPr lang="fr-FR" b="1" i="1" dirty="0"/>
              <a:t>console.time(‘nom de mon chronomètre’)</a:t>
            </a:r>
          </a:p>
          <a:p>
            <a:pPr marL="0" indent="0" algn="ctr">
              <a:buNone/>
            </a:pPr>
            <a:r>
              <a:rPr lang="fr-FR" b="1" i="1" dirty="0"/>
              <a:t>console.timeEnd(‘nom de mon chronomètre’)</a:t>
            </a:r>
            <a:endParaRPr lang="fr-FR" dirty="0"/>
          </a:p>
          <a:p>
            <a:pPr lvl="2"/>
            <a:r>
              <a:rPr lang="fr-FR" dirty="0"/>
              <a:t>Permet de démarrer un chronomètre puis de l’arrêter </a:t>
            </a:r>
          </a:p>
          <a:p>
            <a:pPr lvl="2"/>
            <a:r>
              <a:rPr lang="fr-FR" dirty="0"/>
              <a:t>Plusieurs Chonos peuvent tourner en même temps</a:t>
            </a:r>
          </a:p>
          <a:p>
            <a:endParaRPr lang="fr-FR" dirty="0"/>
          </a:p>
          <a:p>
            <a:r>
              <a:rPr lang="fr-FR" dirty="0"/>
              <a:t>Il est possible de logger avec la pile d’ appelle</a:t>
            </a:r>
          </a:p>
          <a:p>
            <a:pPr marL="0" indent="0" algn="ctr">
              <a:buNone/>
            </a:pPr>
            <a:r>
              <a:rPr lang="fr-FR" b="1" i="1" dirty="0"/>
              <a:t>console.trace(value)</a:t>
            </a:r>
          </a:p>
          <a:p>
            <a:endParaRPr lang="fr-FR" dirty="0"/>
          </a:p>
        </p:txBody>
      </p:sp>
      <p:pic>
        <p:nvPicPr>
          <p:cNvPr id="5" name="Image 4">
            <a:extLst>
              <a:ext uri="{FF2B5EF4-FFF2-40B4-BE49-F238E27FC236}">
                <a16:creationId xmlns:a16="http://schemas.microsoft.com/office/drawing/2014/main" id="{52E271F3-FD9F-6732-61B7-5441D991DB00}"/>
              </a:ext>
            </a:extLst>
          </p:cNvPr>
          <p:cNvPicPr>
            <a:picLocks noChangeAspect="1"/>
          </p:cNvPicPr>
          <p:nvPr/>
        </p:nvPicPr>
        <p:blipFill>
          <a:blip r:embed="rId2"/>
          <a:stretch>
            <a:fillRect/>
          </a:stretch>
        </p:blipFill>
        <p:spPr>
          <a:xfrm>
            <a:off x="6876256" y="4293096"/>
            <a:ext cx="1533525" cy="552450"/>
          </a:xfrm>
          <a:prstGeom prst="rect">
            <a:avLst/>
          </a:prstGeom>
        </p:spPr>
      </p:pic>
    </p:spTree>
    <p:extLst>
      <p:ext uri="{BB962C8B-B14F-4D97-AF65-F5344CB8AC3E}">
        <p14:creationId xmlns:p14="http://schemas.microsoft.com/office/powerpoint/2010/main" val="4058467420"/>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39C478-1A9F-E670-65ED-956C7011D3EF}"/>
              </a:ext>
            </a:extLst>
          </p:cNvPr>
          <p:cNvSpPr>
            <a:spLocks noGrp="1"/>
          </p:cNvSpPr>
          <p:nvPr>
            <p:ph type="title"/>
          </p:nvPr>
        </p:nvSpPr>
        <p:spPr/>
        <p:txBody>
          <a:bodyPr/>
          <a:lstStyle/>
          <a:p>
            <a:r>
              <a:rPr lang="fr-FR" dirty="0"/>
              <a:t>Cache et navigateur</a:t>
            </a:r>
          </a:p>
        </p:txBody>
      </p:sp>
      <p:sp>
        <p:nvSpPr>
          <p:cNvPr id="3" name="Espace réservé du contenu 2">
            <a:extLst>
              <a:ext uri="{FF2B5EF4-FFF2-40B4-BE49-F238E27FC236}">
                <a16:creationId xmlns:a16="http://schemas.microsoft.com/office/drawing/2014/main" id="{84584B4B-1C59-017F-B559-A4FFB7F32082}"/>
              </a:ext>
            </a:extLst>
          </p:cNvPr>
          <p:cNvSpPr>
            <a:spLocks noGrp="1"/>
          </p:cNvSpPr>
          <p:nvPr>
            <p:ph idx="1"/>
          </p:nvPr>
        </p:nvSpPr>
        <p:spPr/>
        <p:txBody>
          <a:bodyPr/>
          <a:lstStyle/>
          <a:p>
            <a:r>
              <a:rPr lang="fr-FR" dirty="0"/>
              <a:t>Un composant de stockage en cache pour les requêtes http existe dans le navigateur </a:t>
            </a:r>
            <a:r>
              <a:rPr lang="fr-FR" b="1" i="1" dirty="0"/>
              <a:t>cacheStorage</a:t>
            </a:r>
            <a:r>
              <a:rPr lang="fr-FR" dirty="0"/>
              <a:t>.</a:t>
            </a:r>
          </a:p>
          <a:p>
            <a:pPr lvl="2"/>
            <a:endParaRPr lang="fr-FR" dirty="0"/>
          </a:p>
          <a:p>
            <a:pPr lvl="2"/>
            <a:r>
              <a:rPr lang="fr-FR" dirty="0"/>
              <a:t>Proche de la logique LocalStorage / </a:t>
            </a:r>
            <a:r>
              <a:rPr lang="fr-FR" sz="1600" dirty="0"/>
              <a:t>sessionStorage</a:t>
            </a:r>
            <a:r>
              <a:rPr lang="fr-FR" dirty="0"/>
              <a:t> mais pour la requête http</a:t>
            </a:r>
          </a:p>
          <a:p>
            <a:pPr lvl="1"/>
            <a:endParaRPr lang="fr-FR" dirty="0"/>
          </a:p>
        </p:txBody>
      </p:sp>
      <p:sp>
        <p:nvSpPr>
          <p:cNvPr id="4" name="Espace réservé du contenu 3">
            <a:extLst>
              <a:ext uri="{FF2B5EF4-FFF2-40B4-BE49-F238E27FC236}">
                <a16:creationId xmlns:a16="http://schemas.microsoft.com/office/drawing/2014/main" id="{11B1D706-2290-7283-C694-00839E7ABF51}"/>
              </a:ext>
            </a:extLst>
          </p:cNvPr>
          <p:cNvSpPr>
            <a:spLocks noGrp="1"/>
          </p:cNvSpPr>
          <p:nvPr>
            <p:ph sz="quarter" idx="14"/>
          </p:nvPr>
        </p:nvSpPr>
        <p:spPr>
          <a:xfrm>
            <a:off x="5572133" y="1714488"/>
            <a:ext cx="3071834" cy="4234792"/>
          </a:xfrm>
        </p:spPr>
        <p:txBody>
          <a:bodyPr>
            <a:normAutofit fontScale="55000" lnSpcReduction="20000"/>
          </a:bodyPr>
          <a:lstStyle/>
          <a:p>
            <a:pPr>
              <a:lnSpc>
                <a:spcPts val="1425"/>
              </a:lnSpc>
              <a:buNone/>
            </a:pPr>
            <a:r>
              <a:rPr lang="fr-FR" b="0" dirty="0">
                <a:solidFill>
                  <a:srgbClr val="569CD6"/>
                </a:solidFill>
                <a:effectLst/>
                <a:latin typeface="Consolas" panose="020B0609020204030204" pitchFamily="49" charset="0"/>
              </a:rPr>
              <a:t>async</a:t>
            </a:r>
            <a:r>
              <a:rPr lang="fr-FR" b="0" dirty="0">
                <a:solidFill>
                  <a:srgbClr val="BBBEBF"/>
                </a:solidFill>
                <a:effectLst/>
                <a:latin typeface="Consolas" panose="020B0609020204030204" pitchFamily="49" charset="0"/>
              </a:rPr>
              <a:t> </a:t>
            </a:r>
            <a:r>
              <a:rPr lang="fr-FR" b="0" dirty="0">
                <a:solidFill>
                  <a:srgbClr val="FF7B72"/>
                </a:solidFill>
                <a:effectLst/>
                <a:latin typeface="Consolas" panose="020B0609020204030204" pitchFamily="49" charset="0"/>
              </a:rPr>
              <a:t>function</a:t>
            </a:r>
            <a:r>
              <a:rPr lang="fr-FR" b="0" dirty="0">
                <a:solidFill>
                  <a:srgbClr val="BBBEBF"/>
                </a:solidFill>
                <a:effectLst/>
                <a:latin typeface="Consolas" panose="020B0609020204030204" pitchFamily="49" charset="0"/>
              </a:rPr>
              <a:t> </a:t>
            </a:r>
            <a:r>
              <a:rPr lang="fr-FR" b="0" dirty="0">
                <a:solidFill>
                  <a:srgbClr val="D2A8FF"/>
                </a:solidFill>
                <a:effectLst/>
                <a:latin typeface="Consolas" panose="020B0609020204030204" pitchFamily="49" charset="0"/>
              </a:rPr>
              <a:t>fetchAvecCache</a:t>
            </a:r>
            <a:r>
              <a:rPr lang="fr-FR" b="0" dirty="0">
                <a:effectLst/>
                <a:latin typeface="Consolas" panose="020B0609020204030204" pitchFamily="49" charset="0"/>
              </a:rPr>
              <a:t>(</a:t>
            </a:r>
            <a:r>
              <a:rPr lang="fr-FR" b="0" dirty="0">
                <a:solidFill>
                  <a:srgbClr val="FFA657"/>
                </a:solidFill>
                <a:effectLst/>
                <a:latin typeface="Consolas" panose="020B0609020204030204" pitchFamily="49" charset="0"/>
              </a:rPr>
              <a:t>url</a:t>
            </a:r>
            <a:r>
              <a:rPr lang="fr-FR" b="0" dirty="0">
                <a:effectLst/>
                <a:latin typeface="Consolas" panose="020B0609020204030204" pitchFamily="49" charset="0"/>
              </a:rPr>
              <a:t>) {</a:t>
            </a:r>
          </a:p>
          <a:p>
            <a:pPr>
              <a:lnSpc>
                <a:spcPts val="1425"/>
              </a:lnSpc>
              <a:buNone/>
            </a:pPr>
            <a:r>
              <a:rPr lang="fr-FR" b="0" dirty="0">
                <a:solidFill>
                  <a:srgbClr val="C9D1D9"/>
                </a:solidFill>
                <a:effectLst/>
                <a:latin typeface="Consolas" panose="020B0609020204030204" pitchFamily="49" charset="0"/>
              </a:rPr>
              <a:t>  </a:t>
            </a:r>
            <a:r>
              <a:rPr lang="fr-FR" sz="1700" b="0" dirty="0">
                <a:effectLst/>
                <a:latin typeface="Consolas" panose="020B0609020204030204" pitchFamily="49" charset="0"/>
              </a:rPr>
              <a:t>// 1. Ouvrir (ou créer) un espace de cache nommé "mon-cache-api"</a:t>
            </a:r>
          </a:p>
          <a:p>
            <a:pPr>
              <a:lnSpc>
                <a:spcPts val="1425"/>
              </a:lnSpc>
              <a:buNone/>
            </a:pPr>
            <a:r>
              <a:rPr lang="fr-FR" b="0" dirty="0">
                <a:solidFill>
                  <a:srgbClr val="C9D1D9"/>
                </a:solidFill>
                <a:effectLst/>
                <a:latin typeface="Consolas" panose="020B0609020204030204" pitchFamily="49" charset="0"/>
              </a:rPr>
              <a:t>  </a:t>
            </a:r>
            <a:r>
              <a:rPr lang="fr-FR" b="0" dirty="0">
                <a:solidFill>
                  <a:srgbClr val="FF7B72"/>
                </a:solidFill>
                <a:effectLst/>
                <a:latin typeface="Consolas" panose="020B0609020204030204" pitchFamily="49" charset="0"/>
              </a:rPr>
              <a:t>const</a:t>
            </a:r>
            <a:r>
              <a:rPr lang="fr-FR" b="0" dirty="0">
                <a:solidFill>
                  <a:srgbClr val="C9D1D9"/>
                </a:solidFill>
                <a:effectLst/>
                <a:latin typeface="Consolas" panose="020B0609020204030204" pitchFamily="49" charset="0"/>
              </a:rPr>
              <a:t> </a:t>
            </a:r>
            <a:r>
              <a:rPr lang="fr-FR" b="0" dirty="0">
                <a:solidFill>
                  <a:srgbClr val="79C0FF"/>
                </a:solidFill>
                <a:effectLst/>
                <a:latin typeface="Consolas" panose="020B0609020204030204" pitchFamily="49" charset="0"/>
              </a:rPr>
              <a:t>cache</a:t>
            </a:r>
            <a:r>
              <a:rPr lang="fr-FR" b="0" dirty="0">
                <a:solidFill>
                  <a:srgbClr val="C9D1D9"/>
                </a:solidFill>
                <a:effectLst/>
                <a:latin typeface="Consolas" panose="020B0609020204030204" pitchFamily="49" charset="0"/>
              </a:rPr>
              <a:t> </a:t>
            </a:r>
            <a:r>
              <a:rPr lang="fr-FR" b="0" dirty="0">
                <a:effectLst/>
                <a:latin typeface="Consolas" panose="020B0609020204030204" pitchFamily="49" charset="0"/>
              </a:rPr>
              <a:t>=</a:t>
            </a:r>
            <a:r>
              <a:rPr lang="fr-FR" b="0" dirty="0">
                <a:solidFill>
                  <a:srgbClr val="C9D1D9"/>
                </a:solidFill>
                <a:effectLst/>
                <a:latin typeface="Consolas" panose="020B0609020204030204" pitchFamily="49" charset="0"/>
              </a:rPr>
              <a:t> </a:t>
            </a:r>
            <a:r>
              <a:rPr lang="fr-FR" b="0" dirty="0">
                <a:solidFill>
                  <a:srgbClr val="C586C0"/>
                </a:solidFill>
                <a:effectLst/>
                <a:latin typeface="Consolas" panose="020B0609020204030204" pitchFamily="49" charset="0"/>
              </a:rPr>
              <a:t>await</a:t>
            </a:r>
            <a:r>
              <a:rPr lang="fr-FR" b="0" dirty="0">
                <a:solidFill>
                  <a:srgbClr val="C9D1D9"/>
                </a:solidFill>
                <a:effectLst/>
                <a:latin typeface="Consolas" panose="020B0609020204030204" pitchFamily="49" charset="0"/>
              </a:rPr>
              <a:t> </a:t>
            </a:r>
            <a:r>
              <a:rPr lang="fr-FR" b="0" dirty="0">
                <a:solidFill>
                  <a:srgbClr val="79C0FF"/>
                </a:solidFill>
                <a:effectLst/>
                <a:latin typeface="Consolas" panose="020B0609020204030204" pitchFamily="49" charset="0"/>
              </a:rPr>
              <a:t>caches</a:t>
            </a:r>
            <a:r>
              <a:rPr lang="fr-FR" b="0" dirty="0">
                <a:solidFill>
                  <a:srgbClr val="C9D1D9"/>
                </a:solidFill>
                <a:effectLst/>
                <a:latin typeface="Consolas" panose="020B0609020204030204" pitchFamily="49" charset="0"/>
              </a:rPr>
              <a:t>.</a:t>
            </a:r>
            <a:r>
              <a:rPr lang="fr-FR" b="0" dirty="0">
                <a:solidFill>
                  <a:srgbClr val="D2A8FF"/>
                </a:solidFill>
                <a:effectLst/>
                <a:latin typeface="Consolas" panose="020B0609020204030204" pitchFamily="49" charset="0"/>
              </a:rPr>
              <a:t>open</a:t>
            </a:r>
            <a:r>
              <a:rPr lang="fr-FR" b="0" dirty="0">
                <a:effectLst/>
                <a:latin typeface="Consolas" panose="020B0609020204030204" pitchFamily="49" charset="0"/>
              </a:rPr>
              <a:t>(</a:t>
            </a:r>
            <a:r>
              <a:rPr lang="fr-FR" b="0" dirty="0">
                <a:solidFill>
                  <a:srgbClr val="A5D6FF"/>
                </a:solidFill>
                <a:effectLst/>
                <a:latin typeface="Consolas" panose="020B0609020204030204" pitchFamily="49" charset="0"/>
              </a:rPr>
              <a:t>"</a:t>
            </a:r>
            <a:r>
              <a:rPr lang="fr-FR" sz="1800" b="0" dirty="0">
                <a:solidFill>
                  <a:srgbClr val="A5D6FF"/>
                </a:solidFill>
                <a:effectLst/>
                <a:latin typeface="Consolas" panose="020B0609020204030204" pitchFamily="49" charset="0"/>
              </a:rPr>
              <a:t>mon-cache</a:t>
            </a:r>
            <a:r>
              <a:rPr lang="fr-FR" b="0" dirty="0">
                <a:solidFill>
                  <a:srgbClr val="A5D6FF"/>
                </a:solidFill>
                <a:effectLst/>
                <a:latin typeface="Consolas" panose="020B0609020204030204" pitchFamily="49" charset="0"/>
              </a:rPr>
              <a:t>"</a:t>
            </a:r>
            <a:r>
              <a:rPr lang="fr-FR" b="0" dirty="0">
                <a:effectLst/>
                <a:latin typeface="Consolas" panose="020B0609020204030204" pitchFamily="49" charset="0"/>
              </a:rPr>
              <a:t>);</a:t>
            </a:r>
          </a:p>
          <a:p>
            <a:pPr>
              <a:lnSpc>
                <a:spcPts val="1425"/>
              </a:lnSpc>
              <a:buNone/>
            </a:pPr>
            <a:r>
              <a:rPr lang="fr-FR" sz="1700" b="0" dirty="0">
                <a:effectLst/>
                <a:latin typeface="Consolas" panose="020B0609020204030204" pitchFamily="49" charset="0"/>
              </a:rPr>
              <a:t>  // 2. Vérifier si la requête est déjà dans le cache</a:t>
            </a:r>
          </a:p>
          <a:p>
            <a:pPr>
              <a:lnSpc>
                <a:spcPts val="1425"/>
              </a:lnSpc>
              <a:buNone/>
            </a:pPr>
            <a:r>
              <a:rPr lang="fr-FR" b="0" dirty="0">
                <a:solidFill>
                  <a:srgbClr val="C9D1D9"/>
                </a:solidFill>
                <a:effectLst/>
                <a:latin typeface="Consolas" panose="020B0609020204030204" pitchFamily="49" charset="0"/>
              </a:rPr>
              <a:t>  </a:t>
            </a:r>
            <a:r>
              <a:rPr lang="fr-FR" b="0" dirty="0">
                <a:solidFill>
                  <a:srgbClr val="FF7B72"/>
                </a:solidFill>
                <a:effectLst/>
                <a:latin typeface="Consolas" panose="020B0609020204030204" pitchFamily="49" charset="0"/>
              </a:rPr>
              <a:t>const</a:t>
            </a:r>
            <a:r>
              <a:rPr lang="fr-FR" b="0" dirty="0">
                <a:solidFill>
                  <a:srgbClr val="C9D1D9"/>
                </a:solidFill>
                <a:effectLst/>
                <a:latin typeface="Consolas" panose="020B0609020204030204" pitchFamily="49" charset="0"/>
              </a:rPr>
              <a:t> </a:t>
            </a:r>
            <a:r>
              <a:rPr lang="fr-FR" b="0" dirty="0">
                <a:solidFill>
                  <a:srgbClr val="79C0FF"/>
                </a:solidFill>
                <a:effectLst/>
                <a:latin typeface="Consolas" panose="020B0609020204030204" pitchFamily="49" charset="0"/>
              </a:rPr>
              <a:t>reponseCachee</a:t>
            </a:r>
            <a:r>
              <a:rPr lang="fr-FR" b="0" dirty="0">
                <a:solidFill>
                  <a:srgbClr val="C9D1D9"/>
                </a:solidFill>
                <a:effectLst/>
                <a:latin typeface="Consolas" panose="020B0609020204030204" pitchFamily="49" charset="0"/>
              </a:rPr>
              <a:t> </a:t>
            </a:r>
            <a:r>
              <a:rPr lang="fr-FR" b="0" dirty="0">
                <a:effectLst/>
                <a:latin typeface="Consolas" panose="020B0609020204030204" pitchFamily="49" charset="0"/>
              </a:rPr>
              <a:t>=</a:t>
            </a:r>
            <a:r>
              <a:rPr lang="fr-FR" b="0" dirty="0">
                <a:solidFill>
                  <a:srgbClr val="C9D1D9"/>
                </a:solidFill>
                <a:effectLst/>
                <a:latin typeface="Consolas" panose="020B0609020204030204" pitchFamily="49" charset="0"/>
              </a:rPr>
              <a:t> </a:t>
            </a:r>
            <a:r>
              <a:rPr lang="fr-FR" b="0" dirty="0">
                <a:solidFill>
                  <a:srgbClr val="C586C0"/>
                </a:solidFill>
                <a:effectLst/>
                <a:latin typeface="Consolas" panose="020B0609020204030204" pitchFamily="49" charset="0"/>
              </a:rPr>
              <a:t>await</a:t>
            </a:r>
            <a:r>
              <a:rPr lang="fr-FR" b="0" dirty="0">
                <a:solidFill>
                  <a:srgbClr val="C9D1D9"/>
                </a:solidFill>
                <a:effectLst/>
                <a:latin typeface="Consolas" panose="020B0609020204030204" pitchFamily="49" charset="0"/>
              </a:rPr>
              <a:t> </a:t>
            </a:r>
            <a:r>
              <a:rPr lang="fr-FR" b="0" dirty="0">
                <a:solidFill>
                  <a:srgbClr val="79C0FF"/>
                </a:solidFill>
                <a:effectLst/>
                <a:latin typeface="Consolas" panose="020B0609020204030204" pitchFamily="49" charset="0"/>
              </a:rPr>
              <a:t>cache</a:t>
            </a:r>
            <a:r>
              <a:rPr lang="fr-FR" b="0" dirty="0">
                <a:solidFill>
                  <a:srgbClr val="C9D1D9"/>
                </a:solidFill>
                <a:effectLst/>
                <a:latin typeface="Consolas" panose="020B0609020204030204" pitchFamily="49" charset="0"/>
              </a:rPr>
              <a:t>.</a:t>
            </a:r>
            <a:r>
              <a:rPr lang="fr-FR" b="0" dirty="0">
                <a:solidFill>
                  <a:srgbClr val="D2A8FF"/>
                </a:solidFill>
                <a:effectLst/>
                <a:latin typeface="Consolas" panose="020B0609020204030204" pitchFamily="49" charset="0"/>
              </a:rPr>
              <a:t>match</a:t>
            </a:r>
            <a:r>
              <a:rPr lang="fr-FR" b="0" dirty="0">
                <a:effectLst/>
                <a:latin typeface="Consolas" panose="020B0609020204030204" pitchFamily="49" charset="0"/>
              </a:rPr>
              <a:t>(</a:t>
            </a:r>
            <a:r>
              <a:rPr lang="fr-FR" b="0" dirty="0">
                <a:solidFill>
                  <a:srgbClr val="FFA657"/>
                </a:solidFill>
                <a:effectLst/>
                <a:latin typeface="Consolas" panose="020B0609020204030204" pitchFamily="49" charset="0"/>
              </a:rPr>
              <a:t>url</a:t>
            </a:r>
            <a:r>
              <a:rPr lang="fr-FR" b="0" dirty="0">
                <a:effectLst/>
                <a:latin typeface="Consolas" panose="020B0609020204030204" pitchFamily="49" charset="0"/>
              </a:rPr>
              <a:t>);</a:t>
            </a:r>
          </a:p>
          <a:p>
            <a:pPr>
              <a:lnSpc>
                <a:spcPts val="1425"/>
              </a:lnSpc>
              <a:buNone/>
            </a:pPr>
            <a:r>
              <a:rPr lang="fr-FR" b="0" dirty="0">
                <a:solidFill>
                  <a:srgbClr val="C9D1D9"/>
                </a:solidFill>
                <a:effectLst/>
                <a:latin typeface="Consolas" panose="020B0609020204030204" pitchFamily="49" charset="0"/>
              </a:rPr>
              <a:t>  </a:t>
            </a:r>
            <a:r>
              <a:rPr lang="fr-FR" b="0" dirty="0">
                <a:solidFill>
                  <a:srgbClr val="C586C0"/>
                </a:solidFill>
                <a:effectLst/>
                <a:latin typeface="Consolas" panose="020B0609020204030204" pitchFamily="49" charset="0"/>
              </a:rPr>
              <a:t>if</a:t>
            </a:r>
            <a:r>
              <a:rPr lang="fr-FR" b="0" dirty="0">
                <a:solidFill>
                  <a:srgbClr val="C9D1D9"/>
                </a:solidFill>
                <a:effectLst/>
                <a:latin typeface="Consolas" panose="020B0609020204030204" pitchFamily="49" charset="0"/>
              </a:rPr>
              <a:t> </a:t>
            </a:r>
            <a:r>
              <a:rPr lang="fr-FR" b="0" dirty="0">
                <a:effectLst/>
                <a:latin typeface="Consolas" panose="020B0609020204030204" pitchFamily="49" charset="0"/>
              </a:rPr>
              <a:t>(</a:t>
            </a:r>
            <a:r>
              <a:rPr lang="fr-FR" b="0" dirty="0">
                <a:solidFill>
                  <a:srgbClr val="79C0FF"/>
                </a:solidFill>
                <a:effectLst/>
                <a:latin typeface="Consolas" panose="020B0609020204030204" pitchFamily="49" charset="0"/>
              </a:rPr>
              <a:t>reponseCachee</a:t>
            </a:r>
            <a:r>
              <a:rPr lang="fr-FR" b="0" dirty="0">
                <a:effectLst/>
                <a:latin typeface="Consolas" panose="020B0609020204030204" pitchFamily="49" charset="0"/>
              </a:rPr>
              <a:t>) {</a:t>
            </a:r>
          </a:p>
          <a:p>
            <a:pPr>
              <a:lnSpc>
                <a:spcPts val="1425"/>
              </a:lnSpc>
              <a:buNone/>
            </a:pPr>
            <a:r>
              <a:rPr lang="fr-FR" b="0" dirty="0">
                <a:solidFill>
                  <a:srgbClr val="C9D1D9"/>
                </a:solidFill>
                <a:effectLst/>
                <a:latin typeface="Consolas" panose="020B0609020204030204" pitchFamily="49" charset="0"/>
              </a:rPr>
              <a:t>    </a:t>
            </a:r>
            <a:r>
              <a:rPr lang="fr-FR" b="0" dirty="0">
                <a:solidFill>
                  <a:srgbClr val="79C0FF"/>
                </a:solidFill>
                <a:effectLst/>
                <a:latin typeface="Consolas" panose="020B0609020204030204" pitchFamily="49" charset="0"/>
              </a:rPr>
              <a:t>console</a:t>
            </a:r>
            <a:r>
              <a:rPr lang="fr-FR" b="0" dirty="0">
                <a:solidFill>
                  <a:srgbClr val="C9D1D9"/>
                </a:solidFill>
                <a:effectLst/>
                <a:latin typeface="Consolas" panose="020B0609020204030204" pitchFamily="49" charset="0"/>
              </a:rPr>
              <a:t>.</a:t>
            </a:r>
            <a:r>
              <a:rPr lang="fr-FR" b="0" dirty="0">
                <a:solidFill>
                  <a:srgbClr val="D2A8FF"/>
                </a:solidFill>
                <a:effectLst/>
                <a:latin typeface="Consolas" panose="020B0609020204030204" pitchFamily="49" charset="0"/>
              </a:rPr>
              <a:t>log</a:t>
            </a:r>
            <a:r>
              <a:rPr lang="fr-FR" b="0" dirty="0">
                <a:effectLst/>
                <a:latin typeface="Consolas" panose="020B0609020204030204" pitchFamily="49" charset="0"/>
              </a:rPr>
              <a:t>(</a:t>
            </a:r>
            <a:r>
              <a:rPr lang="fr-FR" b="0" dirty="0">
                <a:solidFill>
                  <a:srgbClr val="A5D6FF"/>
                </a:solidFill>
                <a:effectLst/>
                <a:latin typeface="Consolas" panose="020B0609020204030204" pitchFamily="49" charset="0"/>
              </a:rPr>
              <a:t>"Donnée depuisCacheStorage !"</a:t>
            </a:r>
            <a:r>
              <a:rPr lang="fr-FR" b="0" dirty="0">
                <a:effectLst/>
                <a:latin typeface="Consolas" panose="020B0609020204030204" pitchFamily="49" charset="0"/>
              </a:rPr>
              <a:t>);</a:t>
            </a:r>
          </a:p>
          <a:p>
            <a:pPr>
              <a:lnSpc>
                <a:spcPts val="1425"/>
              </a:lnSpc>
              <a:buNone/>
            </a:pPr>
            <a:r>
              <a:rPr lang="fr-FR" b="0" dirty="0">
                <a:solidFill>
                  <a:srgbClr val="C9D1D9"/>
                </a:solidFill>
                <a:effectLst/>
                <a:latin typeface="Consolas" panose="020B0609020204030204" pitchFamily="49" charset="0"/>
              </a:rPr>
              <a:t>    </a:t>
            </a:r>
            <a:r>
              <a:rPr lang="fr-FR" b="0" dirty="0">
                <a:solidFill>
                  <a:srgbClr val="C586C0"/>
                </a:solidFill>
                <a:effectLst/>
                <a:latin typeface="Consolas" panose="020B0609020204030204" pitchFamily="49" charset="0"/>
              </a:rPr>
              <a:t>return</a:t>
            </a:r>
            <a:r>
              <a:rPr lang="fr-FR" b="0" dirty="0">
                <a:solidFill>
                  <a:srgbClr val="C9D1D9"/>
                </a:solidFill>
                <a:effectLst/>
                <a:latin typeface="Consolas" panose="020B0609020204030204" pitchFamily="49" charset="0"/>
              </a:rPr>
              <a:t> </a:t>
            </a:r>
            <a:r>
              <a:rPr lang="fr-FR" b="0" dirty="0">
                <a:solidFill>
                  <a:srgbClr val="79C0FF"/>
                </a:solidFill>
                <a:effectLst/>
                <a:latin typeface="Consolas" panose="020B0609020204030204" pitchFamily="49" charset="0"/>
              </a:rPr>
              <a:t>reponseCachee</a:t>
            </a:r>
            <a:r>
              <a:rPr lang="fr-FR" b="0" dirty="0">
                <a:solidFill>
                  <a:srgbClr val="C9D1D9"/>
                </a:solidFill>
                <a:effectLst/>
                <a:latin typeface="Consolas" panose="020B0609020204030204" pitchFamily="49" charset="0"/>
              </a:rPr>
              <a:t>.</a:t>
            </a:r>
            <a:r>
              <a:rPr lang="fr-FR" b="0" dirty="0">
                <a:solidFill>
                  <a:srgbClr val="D2A8FF"/>
                </a:solidFill>
                <a:effectLst/>
                <a:latin typeface="Consolas" panose="020B0609020204030204" pitchFamily="49" charset="0"/>
              </a:rPr>
              <a:t>json</a:t>
            </a:r>
            <a:r>
              <a:rPr lang="fr-FR" b="0" dirty="0">
                <a:solidFill>
                  <a:srgbClr val="C9D1D9"/>
                </a:solidFill>
                <a:effectLst/>
                <a:latin typeface="Consolas" panose="020B0609020204030204" pitchFamily="49" charset="0"/>
              </a:rPr>
              <a:t>();</a:t>
            </a:r>
            <a:endParaRPr lang="fr-FR" b="0" dirty="0">
              <a:solidFill>
                <a:srgbClr val="BBBEBF"/>
              </a:solidFill>
              <a:effectLst/>
              <a:latin typeface="Consolas" panose="020B0609020204030204" pitchFamily="49" charset="0"/>
            </a:endParaRPr>
          </a:p>
          <a:p>
            <a:pPr>
              <a:lnSpc>
                <a:spcPts val="1425"/>
              </a:lnSpc>
              <a:buNone/>
            </a:pPr>
            <a:r>
              <a:rPr lang="fr-FR" b="0" dirty="0">
                <a:effectLst/>
                <a:latin typeface="Consolas" panose="020B0609020204030204" pitchFamily="49" charset="0"/>
              </a:rPr>
              <a:t>  }</a:t>
            </a:r>
          </a:p>
          <a:p>
            <a:pPr>
              <a:lnSpc>
                <a:spcPts val="1425"/>
              </a:lnSpc>
              <a:buNone/>
            </a:pPr>
            <a:r>
              <a:rPr lang="fr-FR" sz="1900" b="0" dirty="0">
                <a:effectLst/>
                <a:latin typeface="Consolas" panose="020B0609020204030204" pitchFamily="49" charset="0"/>
              </a:rPr>
              <a:t>  // 3. Sinon, faire la vraie requête réseau</a:t>
            </a:r>
          </a:p>
          <a:p>
            <a:pPr>
              <a:lnSpc>
                <a:spcPts val="1425"/>
              </a:lnSpc>
              <a:buNone/>
            </a:pPr>
            <a:r>
              <a:rPr lang="fr-FR" b="0" dirty="0">
                <a:solidFill>
                  <a:srgbClr val="C9D1D9"/>
                </a:solidFill>
                <a:effectLst/>
                <a:latin typeface="Consolas" panose="020B0609020204030204" pitchFamily="49" charset="0"/>
              </a:rPr>
              <a:t>  </a:t>
            </a:r>
            <a:r>
              <a:rPr lang="fr-FR" b="0" dirty="0">
                <a:solidFill>
                  <a:srgbClr val="79C0FF"/>
                </a:solidFill>
                <a:effectLst/>
                <a:latin typeface="Consolas" panose="020B0609020204030204" pitchFamily="49" charset="0"/>
              </a:rPr>
              <a:t>console</a:t>
            </a:r>
            <a:r>
              <a:rPr lang="fr-FR" b="0" dirty="0">
                <a:solidFill>
                  <a:srgbClr val="C9D1D9"/>
                </a:solidFill>
                <a:effectLst/>
                <a:latin typeface="Consolas" panose="020B0609020204030204" pitchFamily="49" charset="0"/>
              </a:rPr>
              <a:t>.</a:t>
            </a:r>
            <a:r>
              <a:rPr lang="fr-FR" b="0" dirty="0">
                <a:solidFill>
                  <a:srgbClr val="D2A8FF"/>
                </a:solidFill>
                <a:effectLst/>
                <a:latin typeface="Consolas" panose="020B0609020204030204" pitchFamily="49" charset="0"/>
              </a:rPr>
              <a:t>log</a:t>
            </a:r>
            <a:r>
              <a:rPr lang="fr-FR" b="0" dirty="0">
                <a:effectLst/>
                <a:latin typeface="Consolas" panose="020B0609020204030204" pitchFamily="49" charset="0"/>
              </a:rPr>
              <a:t>(</a:t>
            </a:r>
            <a:r>
              <a:rPr lang="fr-FR" b="0" dirty="0">
                <a:solidFill>
                  <a:srgbClr val="A5D6FF"/>
                </a:solidFill>
                <a:effectLst/>
                <a:latin typeface="Consolas" panose="020B0609020204030204" pitchFamily="49" charset="0"/>
              </a:rPr>
              <a:t>"</a:t>
            </a:r>
            <a:r>
              <a:rPr lang="fr-FR" sz="2000" b="0" dirty="0">
                <a:solidFill>
                  <a:srgbClr val="A5D6FF"/>
                </a:solidFill>
                <a:effectLst/>
                <a:latin typeface="Consolas" panose="020B0609020204030204" pitchFamily="49" charset="0"/>
              </a:rPr>
              <a:t>Requête réseau en cours...</a:t>
            </a:r>
            <a:r>
              <a:rPr lang="fr-FR" b="0" dirty="0">
                <a:solidFill>
                  <a:srgbClr val="A5D6FF"/>
                </a:solidFill>
                <a:effectLst/>
                <a:latin typeface="Consolas" panose="020B0609020204030204" pitchFamily="49" charset="0"/>
              </a:rPr>
              <a:t>"</a:t>
            </a:r>
            <a:r>
              <a:rPr lang="fr-FR" b="0" dirty="0">
                <a:effectLst/>
                <a:latin typeface="Consolas" panose="020B0609020204030204" pitchFamily="49" charset="0"/>
              </a:rPr>
              <a:t>);</a:t>
            </a:r>
          </a:p>
          <a:p>
            <a:pPr>
              <a:lnSpc>
                <a:spcPts val="1425"/>
              </a:lnSpc>
              <a:buNone/>
            </a:pPr>
            <a:r>
              <a:rPr lang="fr-FR" b="0" dirty="0">
                <a:solidFill>
                  <a:srgbClr val="C9D1D9"/>
                </a:solidFill>
                <a:effectLst/>
                <a:latin typeface="Consolas" panose="020B0609020204030204" pitchFamily="49" charset="0"/>
              </a:rPr>
              <a:t>  </a:t>
            </a:r>
            <a:r>
              <a:rPr lang="fr-FR" b="0" dirty="0">
                <a:solidFill>
                  <a:srgbClr val="FF7B72"/>
                </a:solidFill>
                <a:effectLst/>
                <a:latin typeface="Consolas" panose="020B0609020204030204" pitchFamily="49" charset="0"/>
              </a:rPr>
              <a:t>const</a:t>
            </a:r>
            <a:r>
              <a:rPr lang="fr-FR" b="0" dirty="0">
                <a:solidFill>
                  <a:srgbClr val="C9D1D9"/>
                </a:solidFill>
                <a:effectLst/>
                <a:latin typeface="Consolas" panose="020B0609020204030204" pitchFamily="49" charset="0"/>
              </a:rPr>
              <a:t> </a:t>
            </a:r>
            <a:r>
              <a:rPr lang="fr-FR" b="0" dirty="0">
                <a:solidFill>
                  <a:srgbClr val="79C0FF"/>
                </a:solidFill>
                <a:effectLst/>
                <a:latin typeface="Consolas" panose="020B0609020204030204" pitchFamily="49" charset="0"/>
              </a:rPr>
              <a:t>reponseReseau</a:t>
            </a:r>
            <a:r>
              <a:rPr lang="fr-FR" b="0" dirty="0">
                <a:solidFill>
                  <a:srgbClr val="C9D1D9"/>
                </a:solidFill>
                <a:effectLst/>
                <a:latin typeface="Consolas" panose="020B0609020204030204" pitchFamily="49" charset="0"/>
              </a:rPr>
              <a:t> </a:t>
            </a:r>
            <a:r>
              <a:rPr lang="fr-FR" b="0" dirty="0">
                <a:effectLst/>
                <a:latin typeface="Consolas" panose="020B0609020204030204" pitchFamily="49" charset="0"/>
              </a:rPr>
              <a:t>=</a:t>
            </a:r>
            <a:r>
              <a:rPr lang="fr-FR" b="0" dirty="0">
                <a:solidFill>
                  <a:srgbClr val="C9D1D9"/>
                </a:solidFill>
                <a:effectLst/>
                <a:latin typeface="Consolas" panose="020B0609020204030204" pitchFamily="49" charset="0"/>
              </a:rPr>
              <a:t> </a:t>
            </a:r>
            <a:r>
              <a:rPr lang="fr-FR" b="0" dirty="0">
                <a:solidFill>
                  <a:srgbClr val="C586C0"/>
                </a:solidFill>
                <a:effectLst/>
                <a:latin typeface="Consolas" panose="020B0609020204030204" pitchFamily="49" charset="0"/>
              </a:rPr>
              <a:t>await</a:t>
            </a:r>
            <a:r>
              <a:rPr lang="fr-FR" b="0" dirty="0">
                <a:solidFill>
                  <a:srgbClr val="C9D1D9"/>
                </a:solidFill>
                <a:effectLst/>
                <a:latin typeface="Consolas" panose="020B0609020204030204" pitchFamily="49" charset="0"/>
              </a:rPr>
              <a:t> </a:t>
            </a:r>
            <a:r>
              <a:rPr lang="fr-FR" b="0" dirty="0">
                <a:effectLst/>
                <a:latin typeface="Consolas" panose="020B0609020204030204" pitchFamily="49" charset="0"/>
              </a:rPr>
              <a:t>fetch(</a:t>
            </a:r>
            <a:r>
              <a:rPr lang="fr-FR" b="0" dirty="0">
                <a:solidFill>
                  <a:srgbClr val="FFA657"/>
                </a:solidFill>
                <a:effectLst/>
                <a:latin typeface="Consolas" panose="020B0609020204030204" pitchFamily="49" charset="0"/>
              </a:rPr>
              <a:t>url</a:t>
            </a:r>
            <a:r>
              <a:rPr lang="fr-FR" b="0" dirty="0">
                <a:effectLst/>
                <a:latin typeface="Consolas" panose="020B0609020204030204" pitchFamily="49" charset="0"/>
              </a:rPr>
              <a:t>);</a:t>
            </a:r>
          </a:p>
          <a:p>
            <a:pPr>
              <a:lnSpc>
                <a:spcPts val="1425"/>
              </a:lnSpc>
              <a:buNone/>
            </a:pPr>
            <a:r>
              <a:rPr lang="fr-FR" b="0" dirty="0">
                <a:effectLst/>
                <a:latin typeface="Consolas" panose="020B0609020204030204" pitchFamily="49" charset="0"/>
              </a:rPr>
              <a:t>  </a:t>
            </a:r>
            <a:r>
              <a:rPr lang="fr-FR" sz="1700" b="0" dirty="0">
                <a:effectLst/>
                <a:latin typeface="Consolas" panose="020B0609020204030204" pitchFamily="49" charset="0"/>
              </a:rPr>
              <a:t>// 4. Stocker une copie de la réponse dans le cache pour la prochaine fois</a:t>
            </a:r>
          </a:p>
          <a:p>
            <a:pPr>
              <a:lnSpc>
                <a:spcPts val="1425"/>
              </a:lnSpc>
              <a:buNone/>
            </a:pPr>
            <a:r>
              <a:rPr lang="fr-FR" sz="1700" b="0" dirty="0">
                <a:effectLst/>
                <a:latin typeface="Consolas" panose="020B0609020204030204" pitchFamily="49" charset="0"/>
              </a:rPr>
              <a:t>  // Note : .clone() est obligatoire car le corps d'une réponse ne peut être lu qu'une seule fois</a:t>
            </a:r>
          </a:p>
          <a:p>
            <a:pPr>
              <a:lnSpc>
                <a:spcPts val="1425"/>
              </a:lnSpc>
              <a:buNone/>
            </a:pPr>
            <a:r>
              <a:rPr lang="fr-FR" b="0" dirty="0">
                <a:solidFill>
                  <a:srgbClr val="C9D1D9"/>
                </a:solidFill>
                <a:effectLst/>
                <a:latin typeface="Consolas" panose="020B0609020204030204" pitchFamily="49" charset="0"/>
              </a:rPr>
              <a:t>  </a:t>
            </a:r>
            <a:r>
              <a:rPr lang="fr-FR" b="0" dirty="0">
                <a:solidFill>
                  <a:srgbClr val="79C0FF"/>
                </a:solidFill>
                <a:effectLst/>
                <a:latin typeface="Consolas" panose="020B0609020204030204" pitchFamily="49" charset="0"/>
              </a:rPr>
              <a:t>cache</a:t>
            </a:r>
            <a:r>
              <a:rPr lang="fr-FR" b="0" dirty="0">
                <a:solidFill>
                  <a:srgbClr val="C9D1D9"/>
                </a:solidFill>
                <a:effectLst/>
                <a:latin typeface="Consolas" panose="020B0609020204030204" pitchFamily="49" charset="0"/>
              </a:rPr>
              <a:t>.</a:t>
            </a:r>
            <a:r>
              <a:rPr lang="fr-FR" b="0" dirty="0">
                <a:solidFill>
                  <a:srgbClr val="D2A8FF"/>
                </a:solidFill>
                <a:effectLst/>
                <a:latin typeface="Consolas" panose="020B0609020204030204" pitchFamily="49" charset="0"/>
              </a:rPr>
              <a:t>put</a:t>
            </a:r>
            <a:r>
              <a:rPr lang="fr-FR" b="0" dirty="0">
                <a:effectLst/>
                <a:latin typeface="Consolas" panose="020B0609020204030204" pitchFamily="49" charset="0"/>
              </a:rPr>
              <a:t>(</a:t>
            </a:r>
            <a:r>
              <a:rPr lang="fr-FR" b="0" dirty="0">
                <a:solidFill>
                  <a:srgbClr val="FFA657"/>
                </a:solidFill>
                <a:effectLst/>
                <a:latin typeface="Consolas" panose="020B0609020204030204" pitchFamily="49" charset="0"/>
              </a:rPr>
              <a:t>url</a:t>
            </a:r>
            <a:r>
              <a:rPr lang="fr-FR" b="0" dirty="0">
                <a:effectLst/>
                <a:latin typeface="Consolas" panose="020B0609020204030204" pitchFamily="49" charset="0"/>
              </a:rPr>
              <a:t>,</a:t>
            </a:r>
            <a:r>
              <a:rPr lang="fr-FR" b="0" dirty="0">
                <a:solidFill>
                  <a:srgbClr val="C9D1D9"/>
                </a:solidFill>
                <a:effectLst/>
                <a:latin typeface="Consolas" panose="020B0609020204030204" pitchFamily="49" charset="0"/>
              </a:rPr>
              <a:t> </a:t>
            </a:r>
            <a:r>
              <a:rPr lang="fr-FR" b="0" dirty="0">
                <a:solidFill>
                  <a:srgbClr val="79C0FF"/>
                </a:solidFill>
                <a:effectLst/>
                <a:latin typeface="Consolas" panose="020B0609020204030204" pitchFamily="49" charset="0"/>
              </a:rPr>
              <a:t>reponseReseau</a:t>
            </a:r>
            <a:r>
              <a:rPr lang="fr-FR" b="0" dirty="0">
                <a:solidFill>
                  <a:srgbClr val="C9D1D9"/>
                </a:solidFill>
                <a:effectLst/>
                <a:latin typeface="Consolas" panose="020B0609020204030204" pitchFamily="49" charset="0"/>
              </a:rPr>
              <a:t>.</a:t>
            </a:r>
            <a:r>
              <a:rPr lang="fr-FR" b="0" dirty="0">
                <a:solidFill>
                  <a:srgbClr val="D2A8FF"/>
                </a:solidFill>
                <a:effectLst/>
                <a:latin typeface="Consolas" panose="020B0609020204030204" pitchFamily="49" charset="0"/>
              </a:rPr>
              <a:t>clone</a:t>
            </a:r>
            <a:r>
              <a:rPr lang="fr-FR" b="0" dirty="0">
                <a:effectLst/>
                <a:latin typeface="Consolas" panose="020B0609020204030204" pitchFamily="49" charset="0"/>
              </a:rPr>
              <a:t>());</a:t>
            </a:r>
          </a:p>
          <a:p>
            <a:pPr>
              <a:lnSpc>
                <a:spcPts val="1425"/>
              </a:lnSpc>
              <a:buNone/>
            </a:pPr>
            <a:r>
              <a:rPr lang="fr-FR" b="0" dirty="0">
                <a:solidFill>
                  <a:srgbClr val="C9D1D9"/>
                </a:solidFill>
                <a:effectLst/>
                <a:latin typeface="Consolas" panose="020B0609020204030204" pitchFamily="49" charset="0"/>
              </a:rPr>
              <a:t>  </a:t>
            </a:r>
            <a:r>
              <a:rPr lang="fr-FR" b="0" dirty="0">
                <a:solidFill>
                  <a:srgbClr val="C586C0"/>
                </a:solidFill>
                <a:effectLst/>
                <a:latin typeface="Consolas" panose="020B0609020204030204" pitchFamily="49" charset="0"/>
              </a:rPr>
              <a:t>return</a:t>
            </a:r>
            <a:r>
              <a:rPr lang="fr-FR" b="0" dirty="0">
                <a:solidFill>
                  <a:srgbClr val="C9D1D9"/>
                </a:solidFill>
                <a:effectLst/>
                <a:latin typeface="Consolas" panose="020B0609020204030204" pitchFamily="49" charset="0"/>
              </a:rPr>
              <a:t> </a:t>
            </a:r>
            <a:r>
              <a:rPr lang="fr-FR" b="0" dirty="0">
                <a:solidFill>
                  <a:srgbClr val="79C0FF"/>
                </a:solidFill>
                <a:effectLst/>
                <a:latin typeface="Consolas" panose="020B0609020204030204" pitchFamily="49" charset="0"/>
              </a:rPr>
              <a:t>reponseReseau</a:t>
            </a:r>
            <a:r>
              <a:rPr lang="fr-FR" b="0" dirty="0">
                <a:solidFill>
                  <a:srgbClr val="C9D1D9"/>
                </a:solidFill>
                <a:effectLst/>
                <a:latin typeface="Consolas" panose="020B0609020204030204" pitchFamily="49" charset="0"/>
              </a:rPr>
              <a:t>.</a:t>
            </a:r>
            <a:r>
              <a:rPr lang="fr-FR" b="0" dirty="0">
                <a:solidFill>
                  <a:srgbClr val="D2A8FF"/>
                </a:solidFill>
                <a:effectLst/>
                <a:latin typeface="Consolas" panose="020B0609020204030204" pitchFamily="49" charset="0"/>
              </a:rPr>
              <a:t>json</a:t>
            </a:r>
            <a:r>
              <a:rPr lang="fr-FR" dirty="0">
                <a:effectLst/>
                <a:latin typeface="Consolas" panose="020B0609020204030204" pitchFamily="49" charset="0"/>
              </a:rPr>
              <a:t>()</a:t>
            </a:r>
            <a:r>
              <a:rPr lang="fr-FR" b="0" dirty="0">
                <a:solidFill>
                  <a:srgbClr val="C9D1D9"/>
                </a:solidFill>
                <a:effectLst/>
                <a:latin typeface="Consolas" panose="020B0609020204030204" pitchFamily="49" charset="0"/>
              </a:rPr>
              <a:t>;</a:t>
            </a:r>
            <a:endParaRPr lang="fr-FR" b="0" dirty="0">
              <a:solidFill>
                <a:srgbClr val="BBBEBF"/>
              </a:solidFill>
              <a:effectLst/>
              <a:latin typeface="Consolas" panose="020B0609020204030204" pitchFamily="49" charset="0"/>
            </a:endParaRPr>
          </a:p>
          <a:p>
            <a:pPr>
              <a:lnSpc>
                <a:spcPts val="1425"/>
              </a:lnSpc>
              <a:buNone/>
            </a:pPr>
            <a:r>
              <a:rPr lang="fr-FR" b="0" dirty="0">
                <a:effectLst/>
                <a:latin typeface="Consolas" panose="020B0609020204030204" pitchFamily="49" charset="0"/>
              </a:rPr>
              <a:t>}</a:t>
            </a:r>
          </a:p>
        </p:txBody>
      </p:sp>
    </p:spTree>
    <p:extLst>
      <p:ext uri="{BB962C8B-B14F-4D97-AF65-F5344CB8AC3E}">
        <p14:creationId xmlns:p14="http://schemas.microsoft.com/office/powerpoint/2010/main" val="421082595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5088733D-6D1A-9ED7-6F64-2782CE58FC55}"/>
              </a:ext>
            </a:extLst>
          </p:cNvPr>
          <p:cNvSpPr>
            <a:spLocks noGrp="1"/>
          </p:cNvSpPr>
          <p:nvPr>
            <p:ph type="title"/>
          </p:nvPr>
        </p:nvSpPr>
        <p:spPr/>
        <p:txBody>
          <a:bodyPr/>
          <a:lstStyle/>
          <a:p>
            <a:r>
              <a:rPr lang="fr-FR" dirty="0"/>
              <a:t>Import dynamique</a:t>
            </a:r>
          </a:p>
        </p:txBody>
      </p:sp>
      <p:sp>
        <p:nvSpPr>
          <p:cNvPr id="5" name="Espace réservé du contenu 4">
            <a:extLst>
              <a:ext uri="{FF2B5EF4-FFF2-40B4-BE49-F238E27FC236}">
                <a16:creationId xmlns:a16="http://schemas.microsoft.com/office/drawing/2014/main" id="{944ADC43-F22B-7736-99DF-1AB1E56C76F2}"/>
              </a:ext>
            </a:extLst>
          </p:cNvPr>
          <p:cNvSpPr>
            <a:spLocks noGrp="1"/>
          </p:cNvSpPr>
          <p:nvPr>
            <p:ph idx="1"/>
          </p:nvPr>
        </p:nvSpPr>
        <p:spPr/>
        <p:txBody>
          <a:bodyPr/>
          <a:lstStyle/>
          <a:p>
            <a:r>
              <a:rPr lang="fr-FR" dirty="0"/>
              <a:t>Import dynamique</a:t>
            </a:r>
          </a:p>
          <a:p>
            <a:pPr lvl="1"/>
            <a:r>
              <a:rPr lang="fr-FR" dirty="0"/>
              <a:t>Grace a async / await avec cache du module </a:t>
            </a:r>
          </a:p>
          <a:p>
            <a:pPr>
              <a:lnSpc>
                <a:spcPts val="1425"/>
              </a:lnSpc>
              <a:buNone/>
            </a:pPr>
            <a:r>
              <a:rPr lang="fr-FR" sz="1600" b="0" dirty="0">
                <a:solidFill>
                  <a:srgbClr val="0000FF"/>
                </a:solidFill>
                <a:effectLst/>
                <a:latin typeface="Consolas" panose="020B0609020204030204" pitchFamily="49" charset="0"/>
              </a:rPr>
              <a:t>const</a:t>
            </a:r>
            <a:r>
              <a:rPr lang="fr-FR" sz="1600" b="0" dirty="0">
                <a:solidFill>
                  <a:srgbClr val="000000"/>
                </a:solidFill>
                <a:effectLst/>
                <a:latin typeface="Consolas" panose="020B0609020204030204" pitchFamily="49" charset="0"/>
              </a:rPr>
              <a:t> </a:t>
            </a:r>
            <a:r>
              <a:rPr lang="fr-FR" sz="1600" b="0" dirty="0">
                <a:solidFill>
                  <a:srgbClr val="0070C1"/>
                </a:solidFill>
                <a:effectLst/>
                <a:latin typeface="Consolas" panose="020B0609020204030204" pitchFamily="49" charset="0"/>
              </a:rPr>
              <a:t>modules</a:t>
            </a:r>
            <a:r>
              <a:rPr lang="fr-FR" sz="1600" b="0" dirty="0">
                <a:solidFill>
                  <a:srgbClr val="000000"/>
                </a:solidFill>
                <a:effectLst/>
                <a:latin typeface="Consolas" panose="020B0609020204030204" pitchFamily="49" charset="0"/>
              </a:rPr>
              <a:t>={}</a:t>
            </a:r>
          </a:p>
          <a:p>
            <a:pPr>
              <a:lnSpc>
                <a:spcPts val="1425"/>
              </a:lnSpc>
              <a:buNone/>
            </a:pPr>
            <a:r>
              <a:rPr lang="fr-FR" sz="1600" b="0" dirty="0">
                <a:solidFill>
                  <a:srgbClr val="0000FF"/>
                </a:solidFill>
                <a:effectLst/>
                <a:latin typeface="Consolas" panose="020B0609020204030204" pitchFamily="49" charset="0"/>
              </a:rPr>
              <a:t>const</a:t>
            </a:r>
            <a:r>
              <a:rPr lang="fr-FR" sz="1600" b="0" dirty="0">
                <a:solidFill>
                  <a:srgbClr val="000000"/>
                </a:solidFill>
                <a:effectLst/>
                <a:latin typeface="Consolas" panose="020B0609020204030204" pitchFamily="49" charset="0"/>
              </a:rPr>
              <a:t> </a:t>
            </a:r>
            <a:r>
              <a:rPr lang="fr-FR" sz="1600" b="0" dirty="0">
                <a:solidFill>
                  <a:srgbClr val="795E26"/>
                </a:solidFill>
                <a:effectLst/>
                <a:latin typeface="Consolas" panose="020B0609020204030204" pitchFamily="49" charset="0"/>
              </a:rPr>
              <a:t>lazyloaded</a:t>
            </a:r>
            <a:r>
              <a:rPr lang="fr-FR" sz="1600" b="0" dirty="0">
                <a:solidFill>
                  <a:srgbClr val="000000"/>
                </a:solidFill>
                <a:effectLst/>
                <a:latin typeface="Consolas" panose="020B0609020204030204" pitchFamily="49" charset="0"/>
              </a:rPr>
              <a:t>=</a:t>
            </a:r>
            <a:r>
              <a:rPr lang="fr-FR" sz="1600" b="0" dirty="0">
                <a:solidFill>
                  <a:srgbClr val="0000FF"/>
                </a:solidFill>
                <a:effectLst/>
                <a:latin typeface="Consolas" panose="020B0609020204030204" pitchFamily="49" charset="0"/>
              </a:rPr>
              <a:t>async</a:t>
            </a:r>
            <a:r>
              <a:rPr lang="fr-FR" sz="1600" b="0" dirty="0">
                <a:solidFill>
                  <a:srgbClr val="000000"/>
                </a:solidFill>
                <a:effectLst/>
                <a:latin typeface="Consolas" panose="020B0609020204030204" pitchFamily="49" charset="0"/>
              </a:rPr>
              <a:t> (</a:t>
            </a:r>
            <a:r>
              <a:rPr lang="fr-FR" sz="1600" b="0" dirty="0">
                <a:solidFill>
                  <a:srgbClr val="001080"/>
                </a:solidFill>
                <a:effectLst/>
                <a:latin typeface="Consolas" panose="020B0609020204030204" pitchFamily="49" charset="0"/>
              </a:rPr>
              <a:t>moduleName</a:t>
            </a:r>
            <a:r>
              <a:rPr lang="fr-FR" sz="1600" b="0" dirty="0">
                <a:solidFill>
                  <a:srgbClr val="000000"/>
                </a:solidFill>
                <a:effectLst/>
                <a:latin typeface="Consolas" panose="020B0609020204030204" pitchFamily="49" charset="0"/>
              </a:rPr>
              <a:t>)</a:t>
            </a:r>
            <a:r>
              <a:rPr lang="fr-FR" sz="1600" b="0" dirty="0">
                <a:solidFill>
                  <a:srgbClr val="0000FF"/>
                </a:solidFill>
                <a:effectLst/>
                <a:latin typeface="Consolas" panose="020B0609020204030204" pitchFamily="49" charset="0"/>
              </a:rPr>
              <a:t>=&gt;</a:t>
            </a:r>
            <a:r>
              <a:rPr lang="fr-FR" sz="1600" b="0" dirty="0">
                <a:solidFill>
                  <a:srgbClr val="000000"/>
                </a:solidFill>
                <a:effectLst/>
                <a:latin typeface="Consolas" panose="020B0609020204030204" pitchFamily="49" charset="0"/>
              </a:rPr>
              <a:t>{</a:t>
            </a:r>
          </a:p>
          <a:p>
            <a:pPr>
              <a:lnSpc>
                <a:spcPts val="1425"/>
              </a:lnSpc>
              <a:buNone/>
            </a:pPr>
            <a:r>
              <a:rPr lang="fr-FR" sz="1600" b="0" dirty="0">
                <a:solidFill>
                  <a:srgbClr val="000000"/>
                </a:solidFill>
                <a:effectLst/>
                <a:latin typeface="Consolas" panose="020B0609020204030204" pitchFamily="49" charset="0"/>
              </a:rPr>
              <a:t>    </a:t>
            </a:r>
            <a:r>
              <a:rPr lang="fr-FR" sz="1600" b="0" dirty="0">
                <a:solidFill>
                  <a:srgbClr val="AF00DB"/>
                </a:solidFill>
                <a:effectLst/>
                <a:latin typeface="Consolas" panose="020B0609020204030204" pitchFamily="49" charset="0"/>
              </a:rPr>
              <a:t>if</a:t>
            </a:r>
            <a:r>
              <a:rPr lang="fr-FR" sz="1600" b="0" dirty="0">
                <a:solidFill>
                  <a:srgbClr val="000000"/>
                </a:solidFill>
                <a:effectLst/>
                <a:latin typeface="Consolas" panose="020B0609020204030204" pitchFamily="49" charset="0"/>
              </a:rPr>
              <a:t>(</a:t>
            </a:r>
            <a:r>
              <a:rPr lang="fr-FR" sz="1600" b="0" dirty="0">
                <a:solidFill>
                  <a:srgbClr val="001080"/>
                </a:solidFill>
                <a:effectLst/>
                <a:latin typeface="Consolas" panose="020B0609020204030204" pitchFamily="49" charset="0"/>
              </a:rPr>
              <a:t>module</a:t>
            </a:r>
            <a:r>
              <a:rPr lang="fr-FR" sz="1600" b="0" dirty="0">
                <a:solidFill>
                  <a:srgbClr val="000000"/>
                </a:solidFill>
                <a:effectLst/>
                <a:latin typeface="Consolas" panose="020B0609020204030204" pitchFamily="49" charset="0"/>
              </a:rPr>
              <a:t>[</a:t>
            </a:r>
            <a:r>
              <a:rPr lang="fr-FR" sz="1600" b="0" dirty="0">
                <a:solidFill>
                  <a:srgbClr val="001080"/>
                </a:solidFill>
                <a:effectLst/>
                <a:latin typeface="Consolas" panose="020B0609020204030204" pitchFamily="49" charset="0"/>
              </a:rPr>
              <a:t>moduleName</a:t>
            </a:r>
            <a:r>
              <a:rPr lang="fr-FR" sz="1600" b="0" dirty="0">
                <a:solidFill>
                  <a:srgbClr val="000000"/>
                </a:solidFill>
                <a:effectLst/>
                <a:latin typeface="Consolas" panose="020B0609020204030204" pitchFamily="49" charset="0"/>
              </a:rPr>
              <a:t>])</a:t>
            </a:r>
            <a:r>
              <a:rPr lang="fr-FR" sz="1600" b="0" dirty="0">
                <a:solidFill>
                  <a:srgbClr val="AF00DB"/>
                </a:solidFill>
                <a:effectLst/>
                <a:latin typeface="Consolas" panose="020B0609020204030204" pitchFamily="49" charset="0"/>
              </a:rPr>
              <a:t>return</a:t>
            </a:r>
            <a:r>
              <a:rPr lang="fr-FR" sz="1600" b="0" dirty="0">
                <a:solidFill>
                  <a:srgbClr val="000000"/>
                </a:solidFill>
                <a:effectLst/>
                <a:latin typeface="Consolas" panose="020B0609020204030204" pitchFamily="49" charset="0"/>
              </a:rPr>
              <a:t> </a:t>
            </a:r>
            <a:r>
              <a:rPr lang="fr-FR" sz="1600" b="0" dirty="0">
                <a:solidFill>
                  <a:srgbClr val="001080"/>
                </a:solidFill>
                <a:effectLst/>
                <a:latin typeface="Consolas" panose="020B0609020204030204" pitchFamily="49" charset="0"/>
              </a:rPr>
              <a:t>moduleName</a:t>
            </a:r>
            <a:endParaRPr lang="fr-FR" sz="1600" b="0" dirty="0">
              <a:solidFill>
                <a:srgbClr val="000000"/>
              </a:solidFill>
              <a:effectLst/>
              <a:latin typeface="Consolas" panose="020B0609020204030204" pitchFamily="49" charset="0"/>
            </a:endParaRPr>
          </a:p>
          <a:p>
            <a:pPr>
              <a:lnSpc>
                <a:spcPts val="1425"/>
              </a:lnSpc>
              <a:buNone/>
            </a:pPr>
            <a:r>
              <a:rPr lang="fr-FR" sz="1600" b="0" dirty="0">
                <a:solidFill>
                  <a:srgbClr val="000000"/>
                </a:solidFill>
                <a:effectLst/>
                <a:latin typeface="Consolas" panose="020B0609020204030204" pitchFamily="49" charset="0"/>
              </a:rPr>
              <a:t>    </a:t>
            </a:r>
            <a:r>
              <a:rPr lang="fr-FR" sz="1600" b="0" dirty="0">
                <a:solidFill>
                  <a:srgbClr val="AF00DB"/>
                </a:solidFill>
                <a:effectLst/>
                <a:latin typeface="Consolas" panose="020B0609020204030204" pitchFamily="49" charset="0"/>
              </a:rPr>
              <a:t>else</a:t>
            </a:r>
            <a:r>
              <a:rPr lang="fr-FR" sz="1600" b="0" dirty="0">
                <a:solidFill>
                  <a:srgbClr val="000000"/>
                </a:solidFill>
                <a:effectLst/>
                <a:latin typeface="Consolas" panose="020B0609020204030204" pitchFamily="49" charset="0"/>
              </a:rPr>
              <a:t> {</a:t>
            </a:r>
          </a:p>
          <a:p>
            <a:pPr>
              <a:lnSpc>
                <a:spcPts val="1425"/>
              </a:lnSpc>
              <a:buNone/>
            </a:pPr>
            <a:r>
              <a:rPr lang="fr-FR" sz="1600" b="0" dirty="0">
                <a:solidFill>
                  <a:srgbClr val="000000"/>
                </a:solidFill>
                <a:effectLst/>
                <a:latin typeface="Consolas" panose="020B0609020204030204" pitchFamily="49" charset="0"/>
              </a:rPr>
              <a:t>        </a:t>
            </a:r>
            <a:r>
              <a:rPr lang="fr-FR" sz="2000" b="1" dirty="0">
                <a:solidFill>
                  <a:srgbClr val="000000"/>
                </a:solidFill>
                <a:effectLst/>
                <a:latin typeface="Consolas" panose="020B0609020204030204" pitchFamily="49" charset="0"/>
              </a:rPr>
              <a:t> </a:t>
            </a:r>
            <a:r>
              <a:rPr lang="fr-FR" sz="2000" b="1" dirty="0">
                <a:solidFill>
                  <a:srgbClr val="0000FF"/>
                </a:solidFill>
                <a:effectLst/>
                <a:latin typeface="Consolas" panose="020B0609020204030204" pitchFamily="49" charset="0"/>
              </a:rPr>
              <a:t>const</a:t>
            </a:r>
            <a:r>
              <a:rPr lang="fr-FR" sz="2000" b="1" dirty="0">
                <a:solidFill>
                  <a:srgbClr val="000000"/>
                </a:solidFill>
                <a:effectLst/>
                <a:latin typeface="Consolas" panose="020B0609020204030204" pitchFamily="49" charset="0"/>
              </a:rPr>
              <a:t> </a:t>
            </a:r>
            <a:r>
              <a:rPr lang="fr-FR" sz="2000" b="1" dirty="0">
                <a:solidFill>
                  <a:srgbClr val="0070C1"/>
                </a:solidFill>
                <a:effectLst/>
                <a:latin typeface="Consolas" panose="020B0609020204030204" pitchFamily="49" charset="0"/>
              </a:rPr>
              <a:t>module</a:t>
            </a:r>
            <a:r>
              <a:rPr lang="fr-FR" sz="2000" b="1" dirty="0">
                <a:solidFill>
                  <a:srgbClr val="000000"/>
                </a:solidFill>
                <a:effectLst/>
                <a:latin typeface="Consolas" panose="020B0609020204030204" pitchFamily="49" charset="0"/>
              </a:rPr>
              <a:t> = </a:t>
            </a:r>
            <a:r>
              <a:rPr lang="fr-FR" sz="2000" b="1" dirty="0">
                <a:solidFill>
                  <a:srgbClr val="AF00DB"/>
                </a:solidFill>
                <a:effectLst/>
                <a:latin typeface="Consolas" panose="020B0609020204030204" pitchFamily="49" charset="0"/>
              </a:rPr>
              <a:t>await</a:t>
            </a:r>
            <a:r>
              <a:rPr lang="fr-FR" sz="2000" b="1" dirty="0">
                <a:solidFill>
                  <a:srgbClr val="000000"/>
                </a:solidFill>
                <a:effectLst/>
                <a:latin typeface="Consolas" panose="020B0609020204030204" pitchFamily="49" charset="0"/>
              </a:rPr>
              <a:t> </a:t>
            </a:r>
            <a:r>
              <a:rPr lang="fr-FR" sz="2000" b="1" dirty="0">
                <a:solidFill>
                  <a:srgbClr val="AF00DB"/>
                </a:solidFill>
                <a:effectLst/>
                <a:latin typeface="Consolas" panose="020B0609020204030204" pitchFamily="49" charset="0"/>
              </a:rPr>
              <a:t>import</a:t>
            </a:r>
            <a:r>
              <a:rPr lang="fr-FR" sz="2000" b="1" dirty="0">
                <a:solidFill>
                  <a:srgbClr val="000000"/>
                </a:solidFill>
                <a:effectLst/>
                <a:latin typeface="Consolas" panose="020B0609020204030204" pitchFamily="49" charset="0"/>
              </a:rPr>
              <a:t>(</a:t>
            </a:r>
            <a:r>
              <a:rPr lang="fr-FR" sz="2000" b="1" dirty="0">
                <a:solidFill>
                  <a:srgbClr val="001080"/>
                </a:solidFill>
                <a:effectLst/>
                <a:latin typeface="Consolas" panose="020B0609020204030204" pitchFamily="49" charset="0"/>
              </a:rPr>
              <a:t>moduleName</a:t>
            </a:r>
            <a:r>
              <a:rPr lang="fr-FR" sz="2000" b="1" dirty="0">
                <a:solidFill>
                  <a:srgbClr val="000000"/>
                </a:solidFill>
                <a:effectLst/>
                <a:latin typeface="Consolas" panose="020B0609020204030204" pitchFamily="49" charset="0"/>
              </a:rPr>
              <a:t>); </a:t>
            </a:r>
            <a:r>
              <a:rPr lang="fr-FR" sz="2000" b="1" dirty="0">
                <a:solidFill>
                  <a:srgbClr val="008000"/>
                </a:solidFill>
                <a:effectLst/>
                <a:latin typeface="Consolas" panose="020B0609020204030204" pitchFamily="49" charset="0"/>
              </a:rPr>
              <a:t>// </a:t>
            </a:r>
            <a:r>
              <a:rPr lang="fr-FR" sz="1600" b="0" dirty="0">
                <a:solidFill>
                  <a:srgbClr val="008000"/>
                </a:solidFill>
                <a:effectLst/>
                <a:latin typeface="Consolas" panose="020B0609020204030204" pitchFamily="49" charset="0"/>
              </a:rPr>
              <a:t>Dynamically load the module</a:t>
            </a:r>
            <a:endParaRPr lang="fr-FR" sz="1600" b="0" dirty="0">
              <a:solidFill>
                <a:srgbClr val="000000"/>
              </a:solidFill>
              <a:effectLst/>
              <a:latin typeface="Consolas" panose="020B0609020204030204" pitchFamily="49" charset="0"/>
            </a:endParaRPr>
          </a:p>
          <a:p>
            <a:pPr>
              <a:lnSpc>
                <a:spcPts val="1425"/>
              </a:lnSpc>
              <a:buNone/>
            </a:pPr>
            <a:r>
              <a:rPr lang="fr-FR" sz="1600" b="0" dirty="0">
                <a:solidFill>
                  <a:srgbClr val="001080"/>
                </a:solidFill>
                <a:effectLst/>
                <a:latin typeface="Consolas" panose="020B0609020204030204" pitchFamily="49" charset="0"/>
              </a:rPr>
              <a:t>            </a:t>
            </a:r>
            <a:r>
              <a:rPr lang="fr-FR" sz="1600" b="0" dirty="0">
                <a:solidFill>
                  <a:srgbClr val="0070C1"/>
                </a:solidFill>
                <a:effectLst/>
                <a:latin typeface="Consolas" panose="020B0609020204030204" pitchFamily="49" charset="0"/>
              </a:rPr>
              <a:t>modules</a:t>
            </a:r>
            <a:r>
              <a:rPr lang="fr-FR" sz="1600" b="0" dirty="0">
                <a:solidFill>
                  <a:srgbClr val="000000"/>
                </a:solidFill>
                <a:effectLst/>
                <a:latin typeface="Consolas" panose="020B0609020204030204" pitchFamily="49" charset="0"/>
              </a:rPr>
              <a:t>[</a:t>
            </a:r>
            <a:r>
              <a:rPr lang="fr-FR" sz="1600" b="0" dirty="0">
                <a:solidFill>
                  <a:srgbClr val="001080"/>
                </a:solidFill>
                <a:effectLst/>
                <a:latin typeface="Consolas" panose="020B0609020204030204" pitchFamily="49" charset="0"/>
              </a:rPr>
              <a:t>moduleName</a:t>
            </a:r>
            <a:r>
              <a:rPr lang="fr-FR" sz="1600" b="0" dirty="0">
                <a:solidFill>
                  <a:srgbClr val="000000"/>
                </a:solidFill>
                <a:effectLst/>
                <a:latin typeface="Consolas" panose="020B0609020204030204" pitchFamily="49" charset="0"/>
              </a:rPr>
              <a:t>]=</a:t>
            </a:r>
            <a:r>
              <a:rPr lang="fr-FR" sz="1600" b="0" dirty="0">
                <a:solidFill>
                  <a:srgbClr val="0070C1"/>
                </a:solidFill>
                <a:effectLst/>
                <a:latin typeface="Consolas" panose="020B0609020204030204" pitchFamily="49" charset="0"/>
              </a:rPr>
              <a:t>module</a:t>
            </a:r>
            <a:r>
              <a:rPr lang="fr-FR" sz="1600" b="0" dirty="0">
                <a:solidFill>
                  <a:srgbClr val="000000"/>
                </a:solidFill>
                <a:effectLst/>
                <a:latin typeface="Consolas" panose="020B0609020204030204" pitchFamily="49" charset="0"/>
              </a:rPr>
              <a:t>.</a:t>
            </a:r>
            <a:r>
              <a:rPr lang="fr-FR" sz="1600" b="0" dirty="0">
                <a:solidFill>
                  <a:srgbClr val="795E26"/>
                </a:solidFill>
                <a:effectLst/>
                <a:latin typeface="Consolas" panose="020B0609020204030204" pitchFamily="49" charset="0"/>
              </a:rPr>
              <a:t>default</a:t>
            </a:r>
            <a:r>
              <a:rPr lang="fr-FR" sz="1600" b="0" dirty="0">
                <a:solidFill>
                  <a:srgbClr val="000000"/>
                </a:solidFill>
                <a:effectLst/>
                <a:latin typeface="Consolas" panose="020B0609020204030204" pitchFamily="49" charset="0"/>
              </a:rPr>
              <a:t>(); </a:t>
            </a:r>
            <a:r>
              <a:rPr lang="fr-FR" sz="1600" b="0" dirty="0">
                <a:solidFill>
                  <a:srgbClr val="008000"/>
                </a:solidFill>
                <a:effectLst/>
                <a:latin typeface="Consolas" panose="020B0609020204030204" pitchFamily="49" charset="0"/>
              </a:rPr>
              <a:t>// Access the default export</a:t>
            </a:r>
            <a:endParaRPr lang="fr-FR" sz="1600" b="0" dirty="0">
              <a:solidFill>
                <a:srgbClr val="000000"/>
              </a:solidFill>
              <a:effectLst/>
              <a:latin typeface="Consolas" panose="020B0609020204030204" pitchFamily="49" charset="0"/>
            </a:endParaRPr>
          </a:p>
          <a:p>
            <a:pPr>
              <a:lnSpc>
                <a:spcPts val="1425"/>
              </a:lnSpc>
              <a:buNone/>
            </a:pPr>
            <a:r>
              <a:rPr lang="fr-FR" sz="1600" b="0" dirty="0">
                <a:solidFill>
                  <a:srgbClr val="000000"/>
                </a:solidFill>
                <a:effectLst/>
                <a:latin typeface="Consolas" panose="020B0609020204030204" pitchFamily="49" charset="0"/>
              </a:rPr>
              <a:t>    }</a:t>
            </a:r>
          </a:p>
          <a:p>
            <a:pPr>
              <a:lnSpc>
                <a:spcPts val="1425"/>
              </a:lnSpc>
              <a:buNone/>
            </a:pPr>
            <a:r>
              <a:rPr lang="fr-FR" sz="1600" b="0" dirty="0">
                <a:solidFill>
                  <a:srgbClr val="000000"/>
                </a:solidFill>
                <a:effectLst/>
                <a:latin typeface="Consolas" panose="020B0609020204030204" pitchFamily="49" charset="0"/>
              </a:rPr>
              <a:t>    </a:t>
            </a:r>
            <a:r>
              <a:rPr lang="fr-FR" sz="1600" b="0" dirty="0">
                <a:solidFill>
                  <a:srgbClr val="AF00DB"/>
                </a:solidFill>
                <a:effectLst/>
                <a:latin typeface="Consolas" panose="020B0609020204030204" pitchFamily="49" charset="0"/>
              </a:rPr>
              <a:t>return</a:t>
            </a:r>
            <a:r>
              <a:rPr lang="fr-FR" sz="1600" b="0" dirty="0">
                <a:solidFill>
                  <a:srgbClr val="001080"/>
                </a:solidFill>
                <a:effectLst/>
                <a:latin typeface="Consolas" panose="020B0609020204030204" pitchFamily="49" charset="0"/>
              </a:rPr>
              <a:t> </a:t>
            </a:r>
            <a:r>
              <a:rPr lang="fr-FR" sz="1600" b="0" dirty="0">
                <a:solidFill>
                  <a:srgbClr val="0070C1"/>
                </a:solidFill>
                <a:effectLst/>
                <a:latin typeface="Consolas" panose="020B0609020204030204" pitchFamily="49" charset="0"/>
              </a:rPr>
              <a:t>modules</a:t>
            </a:r>
            <a:r>
              <a:rPr lang="fr-FR" sz="1600" b="0" dirty="0">
                <a:solidFill>
                  <a:srgbClr val="000000"/>
                </a:solidFill>
                <a:effectLst/>
                <a:latin typeface="Consolas" panose="020B0609020204030204" pitchFamily="49" charset="0"/>
              </a:rPr>
              <a:t>[</a:t>
            </a:r>
            <a:r>
              <a:rPr lang="fr-FR" sz="1600" b="0" dirty="0">
                <a:solidFill>
                  <a:srgbClr val="001080"/>
                </a:solidFill>
                <a:effectLst/>
                <a:latin typeface="Consolas" panose="020B0609020204030204" pitchFamily="49" charset="0"/>
              </a:rPr>
              <a:t>moduleName</a:t>
            </a:r>
            <a:r>
              <a:rPr lang="fr-FR" sz="1600" b="0" dirty="0">
                <a:solidFill>
                  <a:srgbClr val="000000"/>
                </a:solidFill>
                <a:effectLst/>
                <a:latin typeface="Consolas" panose="020B0609020204030204" pitchFamily="49" charset="0"/>
              </a:rPr>
              <a:t>]</a:t>
            </a:r>
          </a:p>
          <a:p>
            <a:pPr>
              <a:lnSpc>
                <a:spcPts val="1425"/>
              </a:lnSpc>
              <a:buNone/>
            </a:pPr>
            <a:r>
              <a:rPr lang="fr-FR" sz="1600" b="0" dirty="0">
                <a:solidFill>
                  <a:srgbClr val="000000"/>
                </a:solidFill>
                <a:effectLst/>
                <a:latin typeface="Consolas" panose="020B0609020204030204" pitchFamily="49" charset="0"/>
              </a:rPr>
              <a:t>}</a:t>
            </a:r>
          </a:p>
          <a:p>
            <a:pPr>
              <a:lnSpc>
                <a:spcPts val="1425"/>
              </a:lnSpc>
              <a:buNone/>
            </a:pPr>
            <a:r>
              <a:rPr lang="fr-FR" sz="1600" b="0" dirty="0">
                <a:solidFill>
                  <a:srgbClr val="795E26"/>
                </a:solidFill>
                <a:effectLst/>
                <a:latin typeface="Consolas" panose="020B0609020204030204" pitchFamily="49" charset="0"/>
              </a:rPr>
              <a:t>lazyloaded</a:t>
            </a:r>
            <a:r>
              <a:rPr lang="fr-FR" sz="1600" b="0" dirty="0">
                <a:solidFill>
                  <a:srgbClr val="000000"/>
                </a:solidFill>
                <a:effectLst/>
                <a:latin typeface="Consolas" panose="020B0609020204030204" pitchFamily="49" charset="0"/>
              </a:rPr>
              <a:t>(</a:t>
            </a:r>
            <a:r>
              <a:rPr lang="fr-FR" sz="1600" b="0" dirty="0">
                <a:solidFill>
                  <a:srgbClr val="A31515"/>
                </a:solidFill>
                <a:effectLst/>
                <a:latin typeface="Consolas" panose="020B0609020204030204" pitchFamily="49" charset="0"/>
              </a:rPr>
              <a:t>'module'</a:t>
            </a:r>
            <a:r>
              <a:rPr lang="fr-FR" sz="1600" b="0" dirty="0">
                <a:solidFill>
                  <a:srgbClr val="000000"/>
                </a:solidFill>
                <a:effectLst/>
                <a:latin typeface="Consolas" panose="020B0609020204030204" pitchFamily="49" charset="0"/>
              </a:rPr>
              <a:t>).</a:t>
            </a:r>
            <a:r>
              <a:rPr lang="fr-FR" sz="1600" b="0" dirty="0">
                <a:solidFill>
                  <a:srgbClr val="795E26"/>
                </a:solidFill>
                <a:effectLst/>
                <a:latin typeface="Consolas" panose="020B0609020204030204" pitchFamily="49" charset="0"/>
              </a:rPr>
              <a:t>then</a:t>
            </a:r>
            <a:r>
              <a:rPr lang="fr-FR" sz="1600" b="0" dirty="0">
                <a:solidFill>
                  <a:srgbClr val="000000"/>
                </a:solidFill>
                <a:effectLst/>
                <a:latin typeface="Consolas" panose="020B0609020204030204" pitchFamily="49" charset="0"/>
              </a:rPr>
              <a:t>(</a:t>
            </a:r>
            <a:r>
              <a:rPr lang="fr-FR" sz="1600" b="0" dirty="0">
                <a:solidFill>
                  <a:srgbClr val="001080"/>
                </a:solidFill>
                <a:effectLst/>
                <a:latin typeface="Consolas" panose="020B0609020204030204" pitchFamily="49" charset="0"/>
              </a:rPr>
              <a:t>module</a:t>
            </a:r>
            <a:r>
              <a:rPr lang="fr-FR" sz="1600" b="0" dirty="0">
                <a:solidFill>
                  <a:srgbClr val="0000FF"/>
                </a:solidFill>
                <a:effectLst/>
                <a:latin typeface="Consolas" panose="020B0609020204030204" pitchFamily="49" charset="0"/>
              </a:rPr>
              <a:t>=&gt;</a:t>
            </a:r>
            <a:r>
              <a:rPr lang="fr-FR" sz="1600" b="0" dirty="0">
                <a:solidFill>
                  <a:srgbClr val="001080"/>
                </a:solidFill>
                <a:effectLst/>
                <a:latin typeface="Consolas" panose="020B0609020204030204" pitchFamily="49" charset="0"/>
              </a:rPr>
              <a:t>module</a:t>
            </a:r>
            <a:r>
              <a:rPr lang="fr-FR" sz="1600" b="0" dirty="0">
                <a:solidFill>
                  <a:srgbClr val="000000"/>
                </a:solidFill>
                <a:effectLst/>
                <a:latin typeface="Consolas" panose="020B0609020204030204" pitchFamily="49" charset="0"/>
              </a:rPr>
              <a:t>.</a:t>
            </a:r>
            <a:r>
              <a:rPr lang="fr-FR" sz="1600" b="0" dirty="0">
                <a:solidFill>
                  <a:srgbClr val="795E26"/>
                </a:solidFill>
                <a:effectLst/>
                <a:latin typeface="Consolas" panose="020B0609020204030204" pitchFamily="49" charset="0"/>
              </a:rPr>
              <a:t>fonction</a:t>
            </a:r>
            <a:r>
              <a:rPr lang="fr-FR" sz="1600" b="0" dirty="0">
                <a:solidFill>
                  <a:srgbClr val="000000"/>
                </a:solidFill>
                <a:effectLst/>
                <a:latin typeface="Consolas" panose="020B0609020204030204" pitchFamily="49" charset="0"/>
              </a:rPr>
              <a:t>())</a:t>
            </a:r>
          </a:p>
          <a:p>
            <a:pPr marL="457200" lvl="1" indent="0">
              <a:buNone/>
            </a:pPr>
            <a:endParaRPr lang="fr-FR" sz="1400" dirty="0"/>
          </a:p>
          <a:p>
            <a:pPr lvl="1"/>
            <a:endParaRPr lang="fr-FR" sz="1400" dirty="0"/>
          </a:p>
          <a:p>
            <a:endParaRPr lang="fr-FR" dirty="0"/>
          </a:p>
        </p:txBody>
      </p:sp>
    </p:spTree>
    <p:extLst>
      <p:ext uri="{BB962C8B-B14F-4D97-AF65-F5344CB8AC3E}">
        <p14:creationId xmlns:p14="http://schemas.microsoft.com/office/powerpoint/2010/main" val="48293880"/>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BDFD7677-FD7D-30F7-8000-6E80B07F6923}"/>
              </a:ext>
            </a:extLst>
          </p:cNvPr>
          <p:cNvSpPr>
            <a:spLocks noGrp="1"/>
          </p:cNvSpPr>
          <p:nvPr>
            <p:ph type="title"/>
          </p:nvPr>
        </p:nvSpPr>
        <p:spPr/>
        <p:txBody>
          <a:bodyPr/>
          <a:lstStyle/>
          <a:p>
            <a:r>
              <a:rPr lang="fr-FR" dirty="0"/>
              <a:t>Projet final</a:t>
            </a:r>
          </a:p>
        </p:txBody>
      </p:sp>
      <p:sp>
        <p:nvSpPr>
          <p:cNvPr id="5" name="Espace réservé du texte 4">
            <a:extLst>
              <a:ext uri="{FF2B5EF4-FFF2-40B4-BE49-F238E27FC236}">
                <a16:creationId xmlns:a16="http://schemas.microsoft.com/office/drawing/2014/main" id="{57FDC917-2B82-547B-517C-9E772757E4C0}"/>
              </a:ext>
            </a:extLst>
          </p:cNvPr>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94639603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3A9F28-602A-821A-D38B-D2295C84FC9D}"/>
              </a:ext>
            </a:extLst>
          </p:cNvPr>
          <p:cNvSpPr>
            <a:spLocks noGrp="1"/>
          </p:cNvSpPr>
          <p:nvPr>
            <p:ph type="title"/>
          </p:nvPr>
        </p:nvSpPr>
        <p:spPr/>
        <p:txBody>
          <a:bodyPr/>
          <a:lstStyle/>
          <a:p>
            <a:r>
              <a:rPr lang="fr-FR" dirty="0"/>
              <a:t>Méthodologie</a:t>
            </a:r>
          </a:p>
        </p:txBody>
      </p:sp>
      <p:sp>
        <p:nvSpPr>
          <p:cNvPr id="3" name="Espace réservé du contenu 2">
            <a:extLst>
              <a:ext uri="{FF2B5EF4-FFF2-40B4-BE49-F238E27FC236}">
                <a16:creationId xmlns:a16="http://schemas.microsoft.com/office/drawing/2014/main" id="{2FF5C3D8-2B03-E320-FDEB-D7C42F834BE2}"/>
              </a:ext>
            </a:extLst>
          </p:cNvPr>
          <p:cNvSpPr>
            <a:spLocks noGrp="1"/>
          </p:cNvSpPr>
          <p:nvPr>
            <p:ph idx="1"/>
          </p:nvPr>
        </p:nvSpPr>
        <p:spPr/>
        <p:txBody>
          <a:bodyPr>
            <a:normAutofit fontScale="47500" lnSpcReduction="20000"/>
          </a:bodyPr>
          <a:lstStyle/>
          <a:p>
            <a:pPr marL="514350" indent="-514350">
              <a:buFont typeface="+mj-lt"/>
              <a:buAutoNum type="arabicPeriod"/>
            </a:pPr>
            <a:r>
              <a:rPr lang="fr-FR" dirty="0"/>
              <a:t>Définir les besoins</a:t>
            </a:r>
          </a:p>
          <a:p>
            <a:pPr marL="914400" lvl="1" indent="-514350">
              <a:buFont typeface="+mj-lt"/>
              <a:buAutoNum type="alphaLcPeriod"/>
            </a:pPr>
            <a:r>
              <a:rPr lang="fr-FR" dirty="0"/>
              <a:t>Découpage en fonctionnalités</a:t>
            </a:r>
          </a:p>
          <a:p>
            <a:pPr marL="914400" lvl="1" indent="-514350">
              <a:buFont typeface="+mj-lt"/>
              <a:buAutoNum type="alphaLcPeriod"/>
            </a:pPr>
            <a:r>
              <a:rPr lang="fr-FR" dirty="0"/>
              <a:t>Découpage en fenêtres logiques</a:t>
            </a:r>
          </a:p>
          <a:p>
            <a:pPr marL="514350" indent="-514350">
              <a:buFont typeface="+mj-lt"/>
              <a:buAutoNum type="arabicPeriod"/>
            </a:pPr>
            <a:endParaRPr lang="fr-FR" dirty="0"/>
          </a:p>
          <a:p>
            <a:pPr marL="514350" indent="-514350">
              <a:buFont typeface="+mj-lt"/>
              <a:buAutoNum type="arabicPeriod"/>
            </a:pPr>
            <a:r>
              <a:rPr lang="fr-FR" dirty="0"/>
              <a:t>Créer une maquette</a:t>
            </a:r>
          </a:p>
          <a:p>
            <a:pPr marL="914400" lvl="1" indent="-514350">
              <a:buFont typeface="+mj-lt"/>
              <a:buAutoNum type="alphaLcPeriod"/>
            </a:pPr>
            <a:r>
              <a:rPr lang="fr-FR" dirty="0"/>
              <a:t>Exporter en code</a:t>
            </a:r>
          </a:p>
          <a:p>
            <a:pPr marL="514350" indent="-514350">
              <a:buFont typeface="+mj-lt"/>
              <a:buAutoNum type="arabicPeriod"/>
            </a:pPr>
            <a:endParaRPr lang="fr-FR" dirty="0"/>
          </a:p>
          <a:p>
            <a:pPr marL="514350" indent="-514350">
              <a:buFont typeface="+mj-lt"/>
              <a:buAutoNum type="arabicPeriod"/>
            </a:pPr>
            <a:r>
              <a:rPr lang="fr-FR" dirty="0"/>
              <a:t>Choix techniques</a:t>
            </a:r>
          </a:p>
          <a:p>
            <a:pPr marL="914400" lvl="1" indent="-514350">
              <a:buFont typeface="+mj-lt"/>
              <a:buAutoNum type="alphaLcPeriod"/>
            </a:pPr>
            <a:r>
              <a:rPr lang="fr-FR" dirty="0"/>
              <a:t>Technologies a utiliser</a:t>
            </a:r>
          </a:p>
          <a:p>
            <a:pPr marL="914400" lvl="1" indent="-514350">
              <a:buFont typeface="+mj-lt"/>
              <a:buAutoNum type="alphaLcPeriod"/>
            </a:pPr>
            <a:r>
              <a:rPr lang="fr-FR" dirty="0"/>
              <a:t>Choix de serveur</a:t>
            </a:r>
          </a:p>
          <a:p>
            <a:pPr marL="914400" lvl="1" indent="-514350">
              <a:buFont typeface="+mj-lt"/>
              <a:buAutoNum type="alphaLcPeriod"/>
            </a:pPr>
            <a:r>
              <a:rPr lang="fr-FR" dirty="0"/>
              <a:t>Choix du domaine web (DNS)</a:t>
            </a:r>
          </a:p>
          <a:p>
            <a:pPr marL="914400" lvl="1" indent="-514350">
              <a:buFont typeface="+mj-lt"/>
              <a:buAutoNum type="alphaLcPeriod"/>
            </a:pPr>
            <a:r>
              <a:rPr lang="fr-FR" dirty="0"/>
              <a:t>Préparation d’un repos git</a:t>
            </a:r>
          </a:p>
          <a:p>
            <a:pPr marL="914400" lvl="1" indent="-514350">
              <a:buFont typeface="+mj-lt"/>
              <a:buAutoNum type="alphaLcPeriod"/>
            </a:pPr>
            <a:r>
              <a:rPr lang="fr-FR" dirty="0"/>
              <a:t>Organisation CI/CD</a:t>
            </a:r>
          </a:p>
          <a:p>
            <a:pPr marL="914400" lvl="1" indent="-514350">
              <a:buFont typeface="+mj-lt"/>
              <a:buAutoNum type="alphaLcPeriod"/>
            </a:pPr>
            <a:endParaRPr lang="fr-FR" dirty="0"/>
          </a:p>
          <a:p>
            <a:pPr marL="514350" indent="-514350">
              <a:buFont typeface="+mj-lt"/>
              <a:buAutoNum type="arabicPeriod"/>
            </a:pPr>
            <a:r>
              <a:rPr lang="fr-FR" dirty="0"/>
              <a:t>Dynamiser la maquette développement</a:t>
            </a:r>
          </a:p>
          <a:p>
            <a:pPr marL="914400" lvl="1" indent="-514350">
              <a:buFont typeface="+mj-lt"/>
              <a:buAutoNum type="alphaLcPeriod"/>
            </a:pPr>
            <a:r>
              <a:rPr lang="fr-FR" dirty="0"/>
              <a:t>Découper en bloc fonctionnels</a:t>
            </a:r>
          </a:p>
          <a:p>
            <a:pPr marL="914400" lvl="1" indent="-514350">
              <a:buFont typeface="+mj-lt"/>
              <a:buAutoNum type="alphaLcPeriod"/>
            </a:pPr>
            <a:r>
              <a:rPr lang="fr-FR" dirty="0"/>
              <a:t>Définir l’ordre de développements des fonctionnalités</a:t>
            </a:r>
          </a:p>
          <a:p>
            <a:pPr marL="914400" lvl="1" indent="-514350">
              <a:buFont typeface="+mj-lt"/>
              <a:buAutoNum type="alphaLcPeriod"/>
            </a:pPr>
            <a:r>
              <a:rPr lang="fr-FR" dirty="0"/>
              <a:t>Définir les besoins d’objets principaux</a:t>
            </a:r>
          </a:p>
          <a:p>
            <a:pPr marL="914400" lvl="1" indent="-514350">
              <a:buFont typeface="+mj-lt"/>
              <a:buAutoNum type="alphaLcPeriod"/>
            </a:pPr>
            <a:r>
              <a:rPr lang="fr-FR" dirty="0"/>
              <a:t>Structurer une documentation du projet pour le maintient</a:t>
            </a:r>
          </a:p>
          <a:p>
            <a:pPr marL="514350" indent="-514350">
              <a:buFont typeface="+mj-lt"/>
              <a:buAutoNum type="arabicPeriod"/>
            </a:pPr>
            <a:endParaRPr lang="fr-FR" dirty="0"/>
          </a:p>
          <a:p>
            <a:pPr marL="514350" indent="-514350">
              <a:buFont typeface="+mj-lt"/>
              <a:buAutoNum type="arabicPeriod"/>
            </a:pPr>
            <a:r>
              <a:rPr lang="fr-FR" dirty="0"/>
              <a:t>Tester les fonctionnalités</a:t>
            </a:r>
          </a:p>
          <a:p>
            <a:pPr marL="914400" lvl="1" indent="-514350">
              <a:buFont typeface="+mj-lt"/>
              <a:buAutoNum type="alphaLcPeriod"/>
            </a:pPr>
            <a:r>
              <a:rPr lang="fr-FR" dirty="0"/>
              <a:t>Tester </a:t>
            </a:r>
          </a:p>
          <a:p>
            <a:pPr marL="914400" lvl="1" indent="-514350">
              <a:buFont typeface="+mj-lt"/>
              <a:buAutoNum type="alphaLcPeriod"/>
            </a:pPr>
            <a:r>
              <a:rPr lang="fr-FR" dirty="0"/>
              <a:t>Compiler un distribuable &amp; pousser les mise jours</a:t>
            </a:r>
          </a:p>
        </p:txBody>
      </p:sp>
    </p:spTree>
    <p:extLst>
      <p:ext uri="{BB962C8B-B14F-4D97-AF65-F5344CB8AC3E}">
        <p14:creationId xmlns:p14="http://schemas.microsoft.com/office/powerpoint/2010/main" val="84934917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ACD8ECE-31B2-45A8-926E-D0D52D4AAC81}"/>
              </a:ext>
            </a:extLst>
          </p:cNvPr>
          <p:cNvSpPr>
            <a:spLocks noGrp="1"/>
          </p:cNvSpPr>
          <p:nvPr>
            <p:ph type="title"/>
          </p:nvPr>
        </p:nvSpPr>
        <p:spPr/>
        <p:txBody>
          <a:bodyPr/>
          <a:lstStyle/>
          <a:p>
            <a:r>
              <a:rPr lang="fr-FR" dirty="0"/>
              <a:t>Développement itératif</a:t>
            </a:r>
          </a:p>
        </p:txBody>
      </p:sp>
      <p:sp>
        <p:nvSpPr>
          <p:cNvPr id="3" name="Espace réservé du contenu 2">
            <a:extLst>
              <a:ext uri="{FF2B5EF4-FFF2-40B4-BE49-F238E27FC236}">
                <a16:creationId xmlns:a16="http://schemas.microsoft.com/office/drawing/2014/main" id="{6654E9D1-3C08-9FC6-47C7-D1F370B18F38}"/>
              </a:ext>
            </a:extLst>
          </p:cNvPr>
          <p:cNvSpPr>
            <a:spLocks noGrp="1"/>
          </p:cNvSpPr>
          <p:nvPr>
            <p:ph idx="1"/>
          </p:nvPr>
        </p:nvSpPr>
        <p:spPr/>
        <p:txBody>
          <a:bodyPr/>
          <a:lstStyle/>
          <a:p>
            <a:r>
              <a:rPr lang="fr-FR" dirty="0"/>
              <a:t>Pour permettre une évolution continue du projet :</a:t>
            </a:r>
          </a:p>
          <a:p>
            <a:pPr lvl="2"/>
            <a:r>
              <a:rPr lang="fr-FR" dirty="0"/>
              <a:t>Privilégier un développement modulaire</a:t>
            </a:r>
          </a:p>
          <a:p>
            <a:pPr lvl="2"/>
            <a:endParaRPr lang="fr-FR" dirty="0"/>
          </a:p>
          <a:p>
            <a:pPr lvl="2"/>
            <a:r>
              <a:rPr lang="fr-FR" dirty="0"/>
              <a:t>Ajouter les fonctionnalités au fur et à mesure </a:t>
            </a:r>
          </a:p>
          <a:p>
            <a:pPr lvl="2"/>
            <a:endParaRPr lang="fr-FR" dirty="0"/>
          </a:p>
          <a:p>
            <a:pPr lvl="2"/>
            <a:r>
              <a:rPr lang="fr-FR" dirty="0"/>
              <a:t>Evolution progressive plutôt que tout d’un seul ensemble</a:t>
            </a:r>
          </a:p>
        </p:txBody>
      </p:sp>
    </p:spTree>
    <p:extLst>
      <p:ext uri="{BB962C8B-B14F-4D97-AF65-F5344CB8AC3E}">
        <p14:creationId xmlns:p14="http://schemas.microsoft.com/office/powerpoint/2010/main" val="301731544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51225F-A97B-DEE8-2A2A-23642E553A58}"/>
              </a:ext>
            </a:extLst>
          </p:cNvPr>
          <p:cNvSpPr>
            <a:spLocks noGrp="1"/>
          </p:cNvSpPr>
          <p:nvPr>
            <p:ph type="title"/>
          </p:nvPr>
        </p:nvSpPr>
        <p:spPr/>
        <p:txBody>
          <a:bodyPr/>
          <a:lstStyle/>
          <a:p>
            <a:r>
              <a:rPr lang="fr-FR" dirty="0"/>
              <a:t>Test et validation</a:t>
            </a:r>
          </a:p>
        </p:txBody>
      </p:sp>
      <p:sp>
        <p:nvSpPr>
          <p:cNvPr id="3" name="Espace réservé du contenu 2">
            <a:extLst>
              <a:ext uri="{FF2B5EF4-FFF2-40B4-BE49-F238E27FC236}">
                <a16:creationId xmlns:a16="http://schemas.microsoft.com/office/drawing/2014/main" id="{791FF9F0-AF6E-DC25-89F1-92A509BEF6DA}"/>
              </a:ext>
            </a:extLst>
          </p:cNvPr>
          <p:cNvSpPr>
            <a:spLocks noGrp="1"/>
          </p:cNvSpPr>
          <p:nvPr>
            <p:ph idx="1"/>
          </p:nvPr>
        </p:nvSpPr>
        <p:spPr/>
        <p:txBody>
          <a:bodyPr/>
          <a:lstStyle/>
          <a:p>
            <a:r>
              <a:rPr lang="fr-FR" dirty="0"/>
              <a:t>Pour assurer un projet de qualité</a:t>
            </a:r>
          </a:p>
          <a:p>
            <a:pPr lvl="2"/>
            <a:endParaRPr lang="fr-FR" dirty="0"/>
          </a:p>
          <a:p>
            <a:pPr lvl="2"/>
            <a:r>
              <a:rPr lang="fr-FR" dirty="0"/>
              <a:t>Prédéfinir un ensemble de test visuel pour s’assurer que l’application tourne sur toutes les machines</a:t>
            </a:r>
          </a:p>
          <a:p>
            <a:pPr lvl="4"/>
            <a:r>
              <a:rPr lang="fr-FR" dirty="0"/>
              <a:t>Chrome permet la disposition sur plusieurs modes d’affichage</a:t>
            </a:r>
          </a:p>
          <a:p>
            <a:pPr lvl="2"/>
            <a:endParaRPr lang="fr-FR" dirty="0"/>
          </a:p>
          <a:p>
            <a:pPr lvl="2"/>
            <a:r>
              <a:rPr lang="fr-FR" dirty="0"/>
              <a:t>Tester chaque fonctionnalité</a:t>
            </a:r>
          </a:p>
          <a:p>
            <a:pPr lvl="4"/>
            <a:r>
              <a:rPr lang="fr-FR" dirty="0"/>
              <a:t>Tester le bon fonctionnement</a:t>
            </a:r>
          </a:p>
          <a:p>
            <a:pPr lvl="4"/>
            <a:r>
              <a:rPr lang="fr-FR" dirty="0"/>
              <a:t>Tester lorsque des erreurs sont fournis par l’utilisateur</a:t>
            </a:r>
          </a:p>
          <a:p>
            <a:pPr lvl="4"/>
            <a:r>
              <a:rPr lang="fr-FR" dirty="0"/>
              <a:t>Vérifier le bon fonctionnement quelque soit l’action utilisateur</a:t>
            </a:r>
          </a:p>
        </p:txBody>
      </p:sp>
    </p:spTree>
    <p:extLst>
      <p:ext uri="{BB962C8B-B14F-4D97-AF65-F5344CB8AC3E}">
        <p14:creationId xmlns:p14="http://schemas.microsoft.com/office/powerpoint/2010/main" val="189334559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BDFE87-D495-5023-E59E-BDCBB9AB137A}"/>
              </a:ext>
            </a:extLst>
          </p:cNvPr>
          <p:cNvSpPr>
            <a:spLocks noGrp="1"/>
          </p:cNvSpPr>
          <p:nvPr>
            <p:ph type="title"/>
          </p:nvPr>
        </p:nvSpPr>
        <p:spPr/>
        <p:txBody>
          <a:bodyPr/>
          <a:lstStyle/>
          <a:p>
            <a:r>
              <a:rPr lang="fr-FR" dirty="0"/>
              <a:t>Test et validation</a:t>
            </a:r>
          </a:p>
        </p:txBody>
      </p:sp>
      <p:sp>
        <p:nvSpPr>
          <p:cNvPr id="3" name="Espace réservé du contenu 2">
            <a:extLst>
              <a:ext uri="{FF2B5EF4-FFF2-40B4-BE49-F238E27FC236}">
                <a16:creationId xmlns:a16="http://schemas.microsoft.com/office/drawing/2014/main" id="{7395730B-E809-4ADD-D6C4-D916BE02BA63}"/>
              </a:ext>
            </a:extLst>
          </p:cNvPr>
          <p:cNvSpPr>
            <a:spLocks noGrp="1"/>
          </p:cNvSpPr>
          <p:nvPr>
            <p:ph idx="1"/>
          </p:nvPr>
        </p:nvSpPr>
        <p:spPr/>
        <p:txBody>
          <a:bodyPr/>
          <a:lstStyle/>
          <a:p>
            <a:r>
              <a:rPr lang="fr-FR" dirty="0"/>
              <a:t>Automatisation des tests et non régression</a:t>
            </a:r>
          </a:p>
          <a:p>
            <a:pPr lvl="2"/>
            <a:r>
              <a:rPr lang="fr-FR" dirty="0"/>
              <a:t>Test unitaires et test de navigateur</a:t>
            </a:r>
          </a:p>
          <a:p>
            <a:pPr lvl="3"/>
            <a:r>
              <a:rPr lang="fr-FR" dirty="0"/>
              <a:t>Vérifie a chaque demande que le code répond toujours correctement et comme attendu par les scenarios d’usage prédéfinis dans les sections de test</a:t>
            </a:r>
          </a:p>
          <a:p>
            <a:pPr lvl="3"/>
            <a:r>
              <a:rPr lang="fr-FR" dirty="0"/>
              <a:t>Permet d’automatiser les tests</a:t>
            </a:r>
          </a:p>
          <a:p>
            <a:pPr lvl="3"/>
            <a:endParaRPr lang="fr-FR" dirty="0"/>
          </a:p>
          <a:p>
            <a:pPr lvl="4"/>
            <a:r>
              <a:rPr lang="fr-FR" dirty="0"/>
              <a:t>Web Test Runner / Modern Web</a:t>
            </a:r>
          </a:p>
          <a:p>
            <a:pPr lvl="4"/>
            <a:r>
              <a:rPr lang="fr-FR" dirty="0"/>
              <a:t>Vitest (facilement intégrable dans un projet vite vanillia js)</a:t>
            </a:r>
          </a:p>
          <a:p>
            <a:pPr lvl="4"/>
            <a:r>
              <a:rPr lang="fr-FR" dirty="0"/>
              <a:t>Cypress</a:t>
            </a:r>
          </a:p>
          <a:p>
            <a:pPr lvl="4"/>
            <a:r>
              <a:rPr lang="fr-FR" dirty="0"/>
              <a:t>Playwright </a:t>
            </a:r>
          </a:p>
        </p:txBody>
      </p:sp>
    </p:spTree>
    <p:extLst>
      <p:ext uri="{BB962C8B-B14F-4D97-AF65-F5344CB8AC3E}">
        <p14:creationId xmlns:p14="http://schemas.microsoft.com/office/powerpoint/2010/main" val="349758174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757D55-1E03-5E52-0BE3-B2D51AF89F2E}"/>
              </a:ext>
            </a:extLst>
          </p:cNvPr>
          <p:cNvSpPr>
            <a:spLocks noGrp="1"/>
          </p:cNvSpPr>
          <p:nvPr>
            <p:ph type="title"/>
          </p:nvPr>
        </p:nvSpPr>
        <p:spPr/>
        <p:txBody>
          <a:bodyPr/>
          <a:lstStyle/>
          <a:p>
            <a:r>
              <a:rPr lang="fr-FR" dirty="0"/>
              <a:t>Documentation de projets jsDoc</a:t>
            </a:r>
          </a:p>
        </p:txBody>
      </p:sp>
      <p:sp>
        <p:nvSpPr>
          <p:cNvPr id="3" name="Espace réservé du contenu 2">
            <a:extLst>
              <a:ext uri="{FF2B5EF4-FFF2-40B4-BE49-F238E27FC236}">
                <a16:creationId xmlns:a16="http://schemas.microsoft.com/office/drawing/2014/main" id="{B97AAFDB-C3BC-0675-B7EB-DB9133CE11DE}"/>
              </a:ext>
            </a:extLst>
          </p:cNvPr>
          <p:cNvSpPr>
            <a:spLocks noGrp="1"/>
          </p:cNvSpPr>
          <p:nvPr>
            <p:ph idx="1"/>
          </p:nvPr>
        </p:nvSpPr>
        <p:spPr/>
        <p:txBody>
          <a:bodyPr>
            <a:normAutofit fontScale="62500" lnSpcReduction="20000"/>
          </a:bodyPr>
          <a:lstStyle/>
          <a:p>
            <a:r>
              <a:rPr lang="fr-FR" dirty="0"/>
              <a:t>Javascript possède un outil de documentation bien intégré dans les IDE le jsodc et intégré dans certains outils pour faire des doc complètes (ex: compodoc)</a:t>
            </a:r>
          </a:p>
          <a:p>
            <a:endParaRPr lang="fr-FR" dirty="0"/>
          </a:p>
          <a:p>
            <a:r>
              <a:rPr lang="fr-FR" dirty="0"/>
              <a:t>Chaque section jsdoc est isolé par </a:t>
            </a:r>
          </a:p>
          <a:p>
            <a:pPr marL="800100" lvl="2" indent="0">
              <a:buNone/>
            </a:pPr>
            <a:r>
              <a:rPr lang="fr-FR" dirty="0"/>
              <a:t>/**</a:t>
            </a:r>
          </a:p>
          <a:p>
            <a:pPr marL="800100" lvl="2" indent="0">
              <a:buNone/>
            </a:pPr>
            <a:r>
              <a:rPr lang="fr-FR" dirty="0"/>
              <a:t>	…contenu jsdoc…</a:t>
            </a:r>
          </a:p>
          <a:p>
            <a:pPr marL="800100" lvl="2" indent="0">
              <a:buNone/>
            </a:pPr>
            <a:r>
              <a:rPr lang="fr-FR" dirty="0"/>
              <a:t>*/</a:t>
            </a:r>
          </a:p>
          <a:p>
            <a:pPr marL="800100" lvl="2" indent="0">
              <a:buNone/>
            </a:pPr>
            <a:endParaRPr lang="fr-FR" dirty="0"/>
          </a:p>
          <a:p>
            <a:r>
              <a:rPr lang="fr-FR" dirty="0"/>
              <a:t>Les paramètres de jsdoc</a:t>
            </a:r>
          </a:p>
          <a:p>
            <a:pPr lvl="1"/>
            <a:r>
              <a:rPr lang="fr-FR" dirty="0"/>
              <a:t>Une liste complète de clefs pour chaque usage</a:t>
            </a:r>
          </a:p>
          <a:p>
            <a:pPr lvl="2"/>
            <a:r>
              <a:rPr lang="fr-FR" dirty="0"/>
              <a:t>@params</a:t>
            </a:r>
          </a:p>
          <a:p>
            <a:pPr lvl="2"/>
            <a:r>
              <a:rPr lang="fr-FR" dirty="0"/>
              <a:t>@returns</a:t>
            </a:r>
          </a:p>
          <a:p>
            <a:pPr lvl="2"/>
            <a:r>
              <a:rPr lang="fr-FR" dirty="0"/>
              <a:t>@extends</a:t>
            </a:r>
          </a:p>
          <a:p>
            <a:pPr lvl="2"/>
            <a:r>
              <a:rPr lang="fr-FR" dirty="0"/>
              <a:t>@type</a:t>
            </a:r>
          </a:p>
          <a:p>
            <a:pPr lvl="2"/>
            <a:r>
              <a:rPr lang="fr-FR" dirty="0"/>
              <a:t>@example</a:t>
            </a:r>
          </a:p>
          <a:p>
            <a:pPr lvl="2"/>
            <a:r>
              <a:rPr lang="fr-FR" dirty="0"/>
              <a:t>@todo</a:t>
            </a:r>
          </a:p>
          <a:p>
            <a:pPr lvl="2"/>
            <a:r>
              <a:rPr lang="fr-FR" dirty="0"/>
              <a:t>@throw</a:t>
            </a:r>
          </a:p>
          <a:p>
            <a:pPr lvl="2"/>
            <a:r>
              <a:rPr lang="fr-FR" dirty="0"/>
              <a:t>…</a:t>
            </a:r>
          </a:p>
          <a:p>
            <a:pPr lvl="2"/>
            <a:endParaRPr lang="fr-FR" dirty="0"/>
          </a:p>
          <a:p>
            <a:pPr lvl="2"/>
            <a:endParaRPr lang="fr-FR" dirty="0"/>
          </a:p>
        </p:txBody>
      </p:sp>
    </p:spTree>
    <p:extLst>
      <p:ext uri="{BB962C8B-B14F-4D97-AF65-F5344CB8AC3E}">
        <p14:creationId xmlns:p14="http://schemas.microsoft.com/office/powerpoint/2010/main" val="3819182064"/>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p:cNvSpPr>
            <a:spLocks noGrp="1"/>
          </p:cNvSpPr>
          <p:nvPr>
            <p:ph type="title"/>
          </p:nvPr>
        </p:nvSpPr>
        <p:spPr/>
        <p:txBody>
          <a:bodyPr/>
          <a:lstStyle/>
          <a:p>
            <a:r>
              <a:rPr lang="fr-FR" dirty="0"/>
              <a:t>Conclusion</a:t>
            </a:r>
          </a:p>
        </p:txBody>
      </p:sp>
      <p:sp>
        <p:nvSpPr>
          <p:cNvPr id="5" name="Espace réservé du texte 4"/>
          <p:cNvSpPr>
            <a:spLocks noGrp="1"/>
          </p:cNvSpPr>
          <p:nvPr>
            <p:ph type="body" idx="1"/>
          </p:nvPr>
        </p:nvSpPr>
        <p:spPr/>
        <p:txBody>
          <a:bodyPr/>
          <a:lstStyle/>
          <a:p>
            <a:endParaRPr lang="fr-FR"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itle 1"/>
          <p:cNvSpPr>
            <a:spLocks noGrp="1"/>
          </p:cNvSpPr>
          <p:nvPr>
            <p:ph type="title"/>
          </p:nvPr>
        </p:nvSpPr>
        <p:spPr/>
        <p:txBody>
          <a:bodyPr/>
          <a:lstStyle/>
          <a:p>
            <a:pPr eaLnBrk="1" hangingPunct="1"/>
            <a:r>
              <a:rPr lang="fr-FR" sz="3200" dirty="0"/>
              <a:t>Références</a:t>
            </a:r>
            <a:endParaRPr lang="en-JM" sz="3200" dirty="0"/>
          </a:p>
        </p:txBody>
      </p:sp>
      <p:sp>
        <p:nvSpPr>
          <p:cNvPr id="153603" name="Content Placeholder 2"/>
          <p:cNvSpPr>
            <a:spLocks noGrp="1"/>
          </p:cNvSpPr>
          <p:nvPr>
            <p:ph idx="1"/>
          </p:nvPr>
        </p:nvSpPr>
        <p:spPr/>
        <p:txBody>
          <a:bodyPr>
            <a:normAutofit lnSpcReduction="10000"/>
          </a:bodyPr>
          <a:lstStyle/>
          <a:p>
            <a:pPr marL="0" indent="0">
              <a:buFont typeface="Arial" charset="0"/>
              <a:buNone/>
            </a:pPr>
            <a:r>
              <a:rPr lang="fr-FR" sz="1600" b="1" dirty="0"/>
              <a:t>Navigateur :</a:t>
            </a:r>
          </a:p>
          <a:p>
            <a:pPr marL="457200" lvl="1" indent="0">
              <a:buFont typeface="Arial" charset="0"/>
              <a:buNone/>
            </a:pPr>
            <a:r>
              <a:rPr lang="fr-FR" sz="1600" dirty="0"/>
              <a:t>Internet explorer http://www.microsoft.com/france/windows/internet-explorer/</a:t>
            </a:r>
          </a:p>
          <a:p>
            <a:pPr marL="457200" lvl="1" indent="0">
              <a:buFont typeface="Arial" charset="0"/>
              <a:buNone/>
            </a:pPr>
            <a:r>
              <a:rPr lang="en-US" sz="1600" dirty="0"/>
              <a:t>Chrome https://www.google.com/intl/fr/chrome/browser/?hl=fr</a:t>
            </a:r>
            <a:endParaRPr lang="fr-FR" sz="1600" dirty="0"/>
          </a:p>
          <a:p>
            <a:pPr marL="457200" lvl="1" indent="0">
              <a:buFont typeface="Arial" charset="0"/>
              <a:buNone/>
            </a:pPr>
            <a:r>
              <a:rPr lang="en-US" sz="1600" dirty="0"/>
              <a:t>Firefox http://www.mozilla.org/fr/firefox/new/</a:t>
            </a:r>
            <a:endParaRPr lang="fr-FR" sz="1600" dirty="0"/>
          </a:p>
          <a:p>
            <a:pPr marL="457200" lvl="1" indent="0">
              <a:buFont typeface="Arial" charset="0"/>
              <a:buNone/>
            </a:pPr>
            <a:r>
              <a:rPr lang="en-US" sz="1600" dirty="0"/>
              <a:t>Safari http://www.apple.com/fr/safari/</a:t>
            </a:r>
          </a:p>
          <a:p>
            <a:pPr marL="457200" lvl="1" indent="0">
              <a:buFont typeface="Arial" charset="0"/>
              <a:buNone/>
            </a:pPr>
            <a:endParaRPr lang="fr-FR" sz="1600" dirty="0"/>
          </a:p>
          <a:p>
            <a:pPr marL="0" indent="0">
              <a:buFont typeface="Arial" charset="0"/>
              <a:buNone/>
            </a:pPr>
            <a:r>
              <a:rPr lang="fr-FR" sz="1600" b="1" noProof="0" dirty="0"/>
              <a:t>Débuggeur</a:t>
            </a:r>
            <a:endParaRPr lang="fr-FR" sz="1600" b="1" dirty="0"/>
          </a:p>
          <a:p>
            <a:pPr marL="457200" lvl="1" indent="0">
              <a:buFont typeface="Arial" charset="0"/>
              <a:buNone/>
            </a:pPr>
            <a:r>
              <a:rPr lang="fr-FR" sz="1600" noProof="0" dirty="0"/>
              <a:t>Inclus</a:t>
            </a:r>
            <a:r>
              <a:rPr lang="en-US" sz="1600" dirty="0"/>
              <a:t> dans chrome</a:t>
            </a:r>
            <a:endParaRPr lang="fr-FR" sz="1600" dirty="0"/>
          </a:p>
          <a:p>
            <a:pPr marL="457200" lvl="1" indent="0">
              <a:buFont typeface="Arial" charset="0"/>
              <a:buNone/>
            </a:pPr>
            <a:r>
              <a:rPr lang="en-US" sz="1600" dirty="0"/>
              <a:t>Firefox https://addons.mozilla.org/fr/firefox/addon/firebug/</a:t>
            </a:r>
            <a:endParaRPr lang="fr-FR" sz="1600" dirty="0"/>
          </a:p>
          <a:p>
            <a:pPr marL="457200" lvl="1" indent="0">
              <a:buFont typeface="Arial" charset="0"/>
              <a:buNone/>
            </a:pPr>
            <a:r>
              <a:rPr lang="fr-FR" sz="1600" dirty="0"/>
              <a:t>Internet explorer http://www.microsoft.com/en-us/download/details.aspx?id=18359</a:t>
            </a:r>
          </a:p>
          <a:p>
            <a:pPr marL="457200" lvl="1" indent="0">
              <a:buFont typeface="Arial" charset="0"/>
              <a:buNone/>
            </a:pPr>
            <a:endParaRPr lang="fr-FR" sz="1600" dirty="0"/>
          </a:p>
          <a:p>
            <a:pPr marL="0" indent="0">
              <a:buFont typeface="Arial" charset="0"/>
              <a:buNone/>
            </a:pPr>
            <a:r>
              <a:rPr lang="fr-FR" sz="1600" b="1" dirty="0"/>
              <a:t>Editeur de texte / html</a:t>
            </a:r>
          </a:p>
          <a:p>
            <a:pPr marL="457200" lvl="1" indent="0">
              <a:buFont typeface="Arial" charset="0"/>
              <a:buNone/>
            </a:pPr>
            <a:r>
              <a:rPr lang="en-US" sz="1600" dirty="0"/>
              <a:t>Notepad ++ http://notepad-plus-plus.org/fr/</a:t>
            </a:r>
            <a:endParaRPr lang="fr-FR" sz="1600" dirty="0"/>
          </a:p>
          <a:p>
            <a:pPr marL="457200" lvl="1" indent="0">
              <a:buFont typeface="Arial" charset="0"/>
              <a:buNone/>
            </a:pPr>
            <a:r>
              <a:rPr lang="en-US" sz="1600" dirty="0"/>
              <a:t>Kompozer  </a:t>
            </a:r>
            <a:r>
              <a:rPr lang="en-US" sz="1600" dirty="0">
                <a:hlinkClick r:id="rId3"/>
              </a:rPr>
              <a:t>http://www.kompozer.net/</a:t>
            </a:r>
            <a:endParaRPr lang="en-US" sz="1600" dirty="0"/>
          </a:p>
          <a:p>
            <a:pPr marL="457200" lvl="1" indent="0">
              <a:buFont typeface="Arial" charset="0"/>
              <a:buNone/>
            </a:pPr>
            <a:r>
              <a:rPr lang="en-US" sz="1600" dirty="0"/>
              <a:t>Visual studio code : </a:t>
            </a:r>
            <a:r>
              <a:rPr lang="en-US" sz="1600" dirty="0">
                <a:hlinkClick r:id="rId4"/>
              </a:rPr>
              <a:t>https://code.visualstudio.com/</a:t>
            </a:r>
            <a:endParaRPr lang="en-US" sz="1600" dirty="0"/>
          </a:p>
          <a:p>
            <a:pPr marL="0" indent="0">
              <a:buFont typeface="Arial" charset="0"/>
              <a:buNone/>
            </a:pPr>
            <a:r>
              <a:rPr lang="en-US" sz="1600" dirty="0"/>
              <a:t>Plateforme node</a:t>
            </a:r>
          </a:p>
          <a:p>
            <a:pPr marL="457200" lvl="1" indent="0">
              <a:buFont typeface="Arial" charset="0"/>
              <a:buNone/>
            </a:pPr>
            <a:r>
              <a:rPr lang="en-US" sz="1600" dirty="0"/>
              <a:t>Nodejs : </a:t>
            </a:r>
            <a:r>
              <a:rPr lang="en-US" sz="1600" dirty="0">
                <a:hlinkClick r:id="rId5"/>
              </a:rPr>
              <a:t>https://nodejs.org/fr</a:t>
            </a:r>
            <a:endParaRPr lang="en-US" sz="1600" dirty="0"/>
          </a:p>
          <a:p>
            <a:pPr marL="457200" lvl="1" indent="0">
              <a:buFont typeface="Arial" charset="0"/>
              <a:buNone/>
            </a:pPr>
            <a:r>
              <a:rPr lang="en-US" sz="1600" dirty="0"/>
              <a:t>Nvm : </a:t>
            </a:r>
            <a:r>
              <a:rPr lang="en-US" sz="1600" dirty="0">
                <a:hlinkClick r:id="rId6"/>
              </a:rPr>
              <a:t>https://github.com/nvm-sh/nvm</a:t>
            </a:r>
            <a:r>
              <a:rPr lang="en-US" sz="1600" dirty="0"/>
              <a:t> et </a:t>
            </a:r>
            <a:r>
              <a:rPr lang="en-US" sz="1600" dirty="0">
                <a:hlinkClick r:id="rId7"/>
              </a:rPr>
              <a:t>https://github.com/nvm-windows/nvm</a:t>
            </a:r>
            <a:r>
              <a:rPr lang="en-US" sz="1600" dirty="0"/>
              <a:t> </a:t>
            </a:r>
            <a:endParaRPr lang="fr-FR" sz="1600" dirty="0"/>
          </a:p>
          <a:p>
            <a:pPr marL="457200" lvl="1" indent="0">
              <a:buFont typeface="Arial" charset="0"/>
              <a:buNone/>
            </a:pPr>
            <a:endParaRPr lang="en-US" sz="1600" dirty="0"/>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9C624DB8-E82D-41E8-B8FA-6C1ED30AAF77}" type="slidenum">
              <a:rPr lang="en-JM" smtClean="0">
                <a:solidFill>
                  <a:schemeClr val="bg1"/>
                </a:solidFill>
              </a:rPr>
              <a:pPr fontAlgn="base">
                <a:spcBef>
                  <a:spcPct val="0"/>
                </a:spcBef>
                <a:spcAft>
                  <a:spcPct val="0"/>
                </a:spcAft>
                <a:defRPr/>
              </a:pPr>
              <a:t>148</a:t>
            </a:fld>
            <a:endParaRPr lang="en-JM" dirty="0">
              <a:solidFill>
                <a:schemeClr val="bg1"/>
              </a:solidFil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itle 1"/>
          <p:cNvSpPr>
            <a:spLocks noGrp="1"/>
          </p:cNvSpPr>
          <p:nvPr>
            <p:ph type="title"/>
          </p:nvPr>
        </p:nvSpPr>
        <p:spPr/>
        <p:txBody>
          <a:bodyPr/>
          <a:lstStyle/>
          <a:p>
            <a:pPr eaLnBrk="1" hangingPunct="1"/>
            <a:r>
              <a:rPr lang="fr-FR" sz="3200" dirty="0"/>
              <a:t>Références</a:t>
            </a:r>
            <a:endParaRPr lang="en-JM" sz="3200" dirty="0"/>
          </a:p>
        </p:txBody>
      </p:sp>
      <p:sp>
        <p:nvSpPr>
          <p:cNvPr id="3" name="Content Placeholder 2"/>
          <p:cNvSpPr>
            <a:spLocks noGrp="1"/>
          </p:cNvSpPr>
          <p:nvPr>
            <p:ph idx="1"/>
          </p:nvPr>
        </p:nvSpPr>
        <p:spPr/>
        <p:txBody>
          <a:bodyPr rtlCol="0"/>
          <a:lstStyle/>
          <a:p>
            <a:pPr marL="0" indent="0">
              <a:buFont typeface="Arial" charset="0"/>
              <a:buNone/>
              <a:defRPr/>
            </a:pPr>
            <a:r>
              <a:rPr lang="fr-FR" sz="1600" b="1" dirty="0"/>
              <a:t>Valider son code HTML :</a:t>
            </a:r>
            <a:r>
              <a:rPr lang="fr-FR" sz="1600" dirty="0"/>
              <a:t> http://validator.w3.org/</a:t>
            </a:r>
          </a:p>
          <a:p>
            <a:pPr marL="0" indent="0">
              <a:buFont typeface="Arial" charset="0"/>
              <a:buNone/>
              <a:defRPr/>
            </a:pPr>
            <a:endParaRPr lang="fr-FR" sz="1600" dirty="0"/>
          </a:p>
          <a:p>
            <a:pPr marL="0" indent="0">
              <a:buFont typeface="Arial" charset="0"/>
              <a:buNone/>
              <a:defRPr/>
            </a:pPr>
            <a:r>
              <a:rPr lang="en-US" sz="1600" b="1" dirty="0"/>
              <a:t>Verifier l’affichage d’une page : </a:t>
            </a:r>
            <a:r>
              <a:rPr lang="en-US" sz="1600" dirty="0"/>
              <a:t>http://screenqueri.es/</a:t>
            </a:r>
          </a:p>
          <a:p>
            <a:pPr marL="0" indent="0">
              <a:buFont typeface="Arial" charset="0"/>
              <a:buNone/>
              <a:defRPr/>
            </a:pPr>
            <a:endParaRPr lang="fr-FR" sz="1600" dirty="0"/>
          </a:p>
          <a:p>
            <a:pPr marL="0" indent="0">
              <a:buFont typeface="Arial" charset="0"/>
              <a:buNone/>
              <a:defRPr/>
            </a:pPr>
            <a:r>
              <a:rPr lang="fr-FR" sz="1600" b="1" dirty="0"/>
              <a:t>Vérifier la compatibilité d’un navigateur avec HTML5 : </a:t>
            </a:r>
            <a:r>
              <a:rPr lang="fr-FR" sz="1600" dirty="0"/>
              <a:t>http://html5test.com/</a:t>
            </a:r>
          </a:p>
          <a:p>
            <a:pPr marL="0" indent="0">
              <a:buFont typeface="Arial" charset="0"/>
              <a:buNone/>
              <a:defRPr/>
            </a:pPr>
            <a:endParaRPr lang="fr-FR" sz="1600" dirty="0"/>
          </a:p>
          <a:p>
            <a:pPr marL="0" indent="0">
              <a:buFont typeface="Arial" charset="0"/>
              <a:buNone/>
              <a:defRPr/>
            </a:pPr>
            <a:r>
              <a:rPr lang="fr-FR" sz="1600" b="1" dirty="0"/>
              <a:t>Vérifier le support d’une fonctionnalité dans un navigateur :</a:t>
            </a:r>
          </a:p>
          <a:p>
            <a:pPr marL="0" indent="0">
              <a:buFont typeface="Arial" charset="0"/>
              <a:buNone/>
              <a:defRPr/>
            </a:pPr>
            <a:endParaRPr lang="fr-FR" sz="1600" b="1" dirty="0"/>
          </a:p>
          <a:p>
            <a:pPr lvl="1">
              <a:defRPr/>
            </a:pPr>
            <a:r>
              <a:rPr lang="fr-FR" sz="1600" dirty="0"/>
              <a:t>http://fmbip.com</a:t>
            </a:r>
          </a:p>
          <a:p>
            <a:pPr lvl="1">
              <a:defRPr/>
            </a:pPr>
            <a:r>
              <a:rPr lang="fr-FR" sz="1600" dirty="0">
                <a:hlinkClick r:id="rId3"/>
              </a:rPr>
              <a:t>http://caniuse.com</a:t>
            </a:r>
            <a:endParaRPr lang="fr-FR" sz="1600" dirty="0"/>
          </a:p>
          <a:p>
            <a:pPr lvl="1">
              <a:defRPr/>
            </a:pPr>
            <a:r>
              <a:rPr lang="fr-FR" sz="1600" dirty="0">
                <a:hlinkClick r:id="rId4"/>
              </a:rPr>
              <a:t>https://developer.mozilla.org/fr/</a:t>
            </a:r>
            <a:r>
              <a:rPr lang="fr-FR" sz="1600" dirty="0"/>
              <a:t> </a:t>
            </a:r>
          </a:p>
          <a:p>
            <a:pPr marL="0" indent="0">
              <a:buFont typeface="Arial" charset="0"/>
              <a:buNone/>
              <a:defRPr/>
            </a:pPr>
            <a:endParaRPr lang="fr-FR" sz="1600" dirty="0"/>
          </a:p>
          <a:p>
            <a:pPr marL="0" indent="0">
              <a:buFont typeface="Arial" charset="0"/>
              <a:buNone/>
              <a:defRPr/>
            </a:pPr>
            <a:endParaRPr lang="fr-FR" sz="1600" dirty="0"/>
          </a:p>
          <a:p>
            <a:pPr marL="0" indent="0">
              <a:buFont typeface="Arial" charset="0"/>
              <a:buNone/>
              <a:defRPr/>
            </a:pPr>
            <a:r>
              <a:rPr lang="fr-FR" sz="1600" dirty="0"/>
              <a:t> </a:t>
            </a:r>
          </a:p>
          <a:p>
            <a:pPr lvl="1">
              <a:defRPr/>
            </a:pPr>
            <a:endParaRPr lang="fr-FR" sz="1600" dirty="0">
              <a:ea typeface="MS Mincho" pitchFamily="49" charset="-128"/>
            </a:endParaRPr>
          </a:p>
          <a:p>
            <a:pPr lvl="1">
              <a:defRPr/>
            </a:pPr>
            <a:endParaRPr lang="fr-FR" sz="1600" b="1" dirty="0">
              <a:ea typeface="MS Mincho" pitchFamily="49" charset="-128"/>
            </a:endParaRPr>
          </a:p>
          <a:p>
            <a:pPr marL="0" eaLnBrk="1" fontAlgn="auto" hangingPunct="1">
              <a:spcBef>
                <a:spcPts val="0"/>
              </a:spcBef>
              <a:spcAft>
                <a:spcPts val="0"/>
              </a:spcAft>
              <a:buFont typeface="Arial" pitchFamily="34" charset="0"/>
              <a:buNone/>
              <a:defRPr/>
            </a:pPr>
            <a:endParaRPr lang="en-JM" sz="1600" dirty="0">
              <a:solidFill>
                <a:schemeClr val="tx1">
                  <a:lumMod val="75000"/>
                  <a:lumOff val="25000"/>
                </a:schemeClr>
              </a:solidFill>
            </a:endParaRPr>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2501CA39-53A1-4CAB-86A4-CB8CD6301904}" type="slidenum">
              <a:rPr lang="en-JM" smtClean="0">
                <a:solidFill>
                  <a:schemeClr val="bg1"/>
                </a:solidFill>
              </a:rPr>
              <a:pPr fontAlgn="base">
                <a:spcBef>
                  <a:spcPct val="0"/>
                </a:spcBef>
                <a:spcAft>
                  <a:spcPct val="0"/>
                </a:spcAft>
                <a:defRPr/>
              </a:pPr>
              <a:t>149</a:t>
            </a:fld>
            <a:endParaRPr lang="en-JM" dirty="0">
              <a:solidFill>
                <a:schemeClr val="bg1"/>
              </a:solidFil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itle 1"/>
          <p:cNvSpPr>
            <a:spLocks noGrp="1"/>
          </p:cNvSpPr>
          <p:nvPr>
            <p:ph type="title"/>
          </p:nvPr>
        </p:nvSpPr>
        <p:spPr/>
        <p:txBody>
          <a:bodyPr/>
          <a:lstStyle/>
          <a:p>
            <a:pPr eaLnBrk="1" hangingPunct="1"/>
            <a:r>
              <a:rPr lang="fr-FR" sz="3200" dirty="0"/>
              <a:t>Références</a:t>
            </a:r>
            <a:endParaRPr lang="en-JM" sz="3200" dirty="0"/>
          </a:p>
        </p:txBody>
      </p:sp>
      <p:sp>
        <p:nvSpPr>
          <p:cNvPr id="3" name="Content Placeholder 2"/>
          <p:cNvSpPr>
            <a:spLocks noGrp="1"/>
          </p:cNvSpPr>
          <p:nvPr>
            <p:ph idx="1"/>
          </p:nvPr>
        </p:nvSpPr>
        <p:spPr/>
        <p:txBody>
          <a:bodyPr rtlCol="0">
            <a:normAutofit fontScale="55000" lnSpcReduction="20000"/>
          </a:bodyPr>
          <a:lstStyle/>
          <a:p>
            <a:pPr marL="0" indent="0">
              <a:buFont typeface="Arial" charset="0"/>
              <a:buNone/>
              <a:defRPr/>
            </a:pPr>
            <a:r>
              <a:rPr lang="fr-FR" b="1" dirty="0"/>
              <a:t>Livres de référence</a:t>
            </a:r>
          </a:p>
          <a:p>
            <a:pPr marL="0" indent="0">
              <a:buFont typeface="Arial" charset="0"/>
              <a:buNone/>
              <a:defRPr/>
            </a:pPr>
            <a:endParaRPr lang="fr-FR" b="1" dirty="0"/>
          </a:p>
          <a:p>
            <a:pPr lvl="1">
              <a:defRPr/>
            </a:pPr>
            <a:r>
              <a:rPr lang="fr-FR" dirty="0">
                <a:cs typeface="Times New Roman" charset="0"/>
              </a:rPr>
              <a:t>«  </a:t>
            </a:r>
            <a:r>
              <a:rPr lang="fr-FR" b="1" dirty="0">
                <a:cs typeface="Times New Roman" charset="0"/>
              </a:rPr>
              <a:t>Bien développer pour le Web 2.0</a:t>
            </a:r>
            <a:r>
              <a:rPr lang="fr-FR" dirty="0">
                <a:cs typeface="Times New Roman" charset="0"/>
              </a:rPr>
              <a:t>  » de Christophe Porteneuve chez Eyrolles.</a:t>
            </a:r>
          </a:p>
          <a:p>
            <a:pPr lvl="1">
              <a:defRPr/>
            </a:pPr>
            <a:r>
              <a:rPr lang="fr-FR" dirty="0">
                <a:cs typeface="Times New Roman" charset="0"/>
              </a:rPr>
              <a:t>«  </a:t>
            </a:r>
            <a:r>
              <a:rPr lang="fr-FR" b="1" dirty="0">
                <a:cs typeface="Times New Roman" charset="0"/>
              </a:rPr>
              <a:t>CSS avancées Vers HTML 5 et CSS 3</a:t>
            </a:r>
            <a:r>
              <a:rPr lang="fr-FR" dirty="0">
                <a:cs typeface="Times New Roman" charset="0"/>
              </a:rPr>
              <a:t>  » de  Raphaël Goetter chez Eyrolles.</a:t>
            </a:r>
          </a:p>
          <a:p>
            <a:pPr lvl="1">
              <a:defRPr/>
            </a:pPr>
            <a:r>
              <a:rPr lang="fr-FR" dirty="0">
                <a:cs typeface="Times New Roman" charset="0"/>
              </a:rPr>
              <a:t>«  </a:t>
            </a:r>
            <a:r>
              <a:rPr lang="fr-FR" b="1" dirty="0">
                <a:cs typeface="Times New Roman" charset="0"/>
              </a:rPr>
              <a:t>HTML5 pour les Web Designers </a:t>
            </a:r>
            <a:r>
              <a:rPr lang="fr-FR" dirty="0">
                <a:cs typeface="Times New Roman" charset="0"/>
              </a:rPr>
              <a:t> » de Jeremy Keith chez Eyrolles</a:t>
            </a:r>
          </a:p>
          <a:p>
            <a:pPr lvl="1">
              <a:defRPr/>
            </a:pPr>
            <a:r>
              <a:rPr lang="fr-FR" dirty="0">
                <a:cs typeface="Times New Roman" charset="0"/>
              </a:rPr>
              <a:t>« </a:t>
            </a:r>
            <a:r>
              <a:rPr lang="fr-FR" dirty="0"/>
              <a:t>JavaScript Avancé: Maîtriser DOM, async, web apps, optimisation, patterns et bonnes pratiques modernes » de Calen Kelmore</a:t>
            </a:r>
            <a:endParaRPr lang="fr-FR" dirty="0">
              <a:cs typeface="Times New Roman" charset="0"/>
            </a:endParaRPr>
          </a:p>
          <a:p>
            <a:pPr lvl="1">
              <a:defRPr/>
            </a:pPr>
            <a:r>
              <a:rPr lang="fr-FR" dirty="0">
                <a:cs typeface="Times New Roman" charset="0"/>
              </a:rPr>
              <a:t>«  </a:t>
            </a:r>
            <a:r>
              <a:rPr lang="fr-FR" b="1" cap="all" dirty="0"/>
              <a:t>DIVE INTO HTML5 </a:t>
            </a:r>
            <a:r>
              <a:rPr lang="fr-FR" dirty="0">
                <a:cs typeface="Times New Roman" charset="0"/>
              </a:rPr>
              <a:t> » de Mark Pilgrim chez </a:t>
            </a:r>
            <a:r>
              <a:rPr lang="fr-FR" dirty="0" err="1">
                <a:cs typeface="Times New Roman" charset="0"/>
              </a:rPr>
              <a:t>O’Reilly</a:t>
            </a:r>
            <a:br>
              <a:rPr lang="fr-FR" dirty="0">
                <a:cs typeface="Times New Roman" charset="0"/>
              </a:rPr>
            </a:br>
            <a:r>
              <a:rPr lang="fr-FR" sz="1300" dirty="0">
                <a:cs typeface="Times New Roman" charset="0"/>
              </a:rPr>
              <a:t>(disponible en ligne sous licence CC-BY-3.0 : diveinto.html5doctor.com)</a:t>
            </a:r>
          </a:p>
          <a:p>
            <a:pPr marL="457200" lvl="1" indent="0">
              <a:buFont typeface="Arial" charset="0"/>
              <a:buNone/>
              <a:defRPr/>
            </a:pPr>
            <a:endParaRPr lang="fr-FR" dirty="0">
              <a:cs typeface="Times New Roman" charset="0"/>
            </a:endParaRPr>
          </a:p>
          <a:p>
            <a:pPr marL="0" indent="0">
              <a:buFont typeface="Arial" charset="0"/>
              <a:buNone/>
              <a:defRPr/>
            </a:pPr>
            <a:endParaRPr lang="fr-FR" dirty="0"/>
          </a:p>
          <a:p>
            <a:pPr marL="0" indent="0">
              <a:buFont typeface="Arial" charset="0"/>
              <a:buNone/>
              <a:defRPr/>
            </a:pPr>
            <a:r>
              <a:rPr lang="fr-FR" b="1" dirty="0"/>
              <a:t>Sites de référence</a:t>
            </a:r>
          </a:p>
          <a:p>
            <a:pPr marL="0" indent="0">
              <a:buFont typeface="Arial" charset="0"/>
              <a:buNone/>
              <a:defRPr/>
            </a:pPr>
            <a:endParaRPr lang="fr-FR" sz="2000" b="1" dirty="0">
              <a:cs typeface="Times New Roman" charset="0"/>
            </a:endParaRPr>
          </a:p>
          <a:p>
            <a:pPr lvl="1">
              <a:defRPr/>
            </a:pPr>
            <a:r>
              <a:rPr lang="fr-FR" dirty="0"/>
              <a:t>http://</a:t>
            </a:r>
            <a:r>
              <a:rPr lang="fr-FR" dirty="0">
                <a:cs typeface="Times New Roman" charset="0"/>
              </a:rPr>
              <a:t>www.w3.org	</a:t>
            </a:r>
          </a:p>
          <a:p>
            <a:pPr lvl="1">
              <a:defRPr/>
            </a:pPr>
            <a:r>
              <a:rPr lang="fr-FR" dirty="0">
                <a:hlinkClick r:id="rId3"/>
              </a:rPr>
              <a:t>http://</a:t>
            </a:r>
            <a:r>
              <a:rPr lang="fr-FR" dirty="0">
                <a:cs typeface="Times New Roman" charset="0"/>
                <a:hlinkClick r:id="rId3"/>
              </a:rPr>
              <a:t>www.w3schools.com</a:t>
            </a:r>
            <a:endParaRPr lang="fr-FR" dirty="0">
              <a:cs typeface="Times New Roman" charset="0"/>
            </a:endParaRPr>
          </a:p>
          <a:p>
            <a:pPr lvl="1">
              <a:defRPr/>
            </a:pPr>
            <a:r>
              <a:rPr lang="fr-FR" dirty="0">
                <a:cs typeface="Times New Roman" charset="0"/>
              </a:rPr>
              <a:t>http://devdocs.io</a:t>
            </a:r>
          </a:p>
          <a:p>
            <a:pPr lvl="1">
              <a:defRPr/>
            </a:pPr>
            <a:r>
              <a:rPr lang="fr-FR" dirty="0"/>
              <a:t>http://</a:t>
            </a:r>
            <a:r>
              <a:rPr lang="fr-FR" dirty="0">
                <a:cs typeface="Times New Roman" charset="0"/>
              </a:rPr>
              <a:t>www.html5doctor.org 	</a:t>
            </a:r>
          </a:p>
          <a:p>
            <a:pPr lvl="1">
              <a:defRPr/>
            </a:pPr>
            <a:r>
              <a:rPr lang="fr-FR" dirty="0"/>
              <a:t>http://www.alsacreations.com	</a:t>
            </a:r>
          </a:p>
          <a:p>
            <a:pPr lvl="1">
              <a:defRPr/>
            </a:pPr>
            <a:r>
              <a:rPr lang="fr-FR" dirty="0"/>
              <a:t>http://developpez.net	</a:t>
            </a:r>
          </a:p>
          <a:p>
            <a:pPr lvl="1">
              <a:defRPr/>
            </a:pPr>
            <a:r>
              <a:rPr lang="fr-FR" dirty="0">
                <a:ea typeface="MS Mincho" pitchFamily="49" charset="-128"/>
              </a:rPr>
              <a:t>http://www.oreillynet.com	</a:t>
            </a:r>
            <a:endParaRPr lang="fr-FR" b="1" dirty="0">
              <a:ea typeface="MS Mincho" pitchFamily="49" charset="-128"/>
            </a:endParaRPr>
          </a:p>
          <a:p>
            <a:pPr marL="0" eaLnBrk="1" fontAlgn="auto" hangingPunct="1">
              <a:spcBef>
                <a:spcPts val="0"/>
              </a:spcBef>
              <a:spcAft>
                <a:spcPts val="0"/>
              </a:spcAft>
              <a:buFont typeface="Arial" pitchFamily="34" charset="0"/>
              <a:buNone/>
              <a:defRPr/>
            </a:pPr>
            <a:endParaRPr lang="en-JM" dirty="0">
              <a:solidFill>
                <a:schemeClr val="tx1">
                  <a:lumMod val="75000"/>
                  <a:lumOff val="25000"/>
                </a:schemeClr>
              </a:solidFill>
            </a:endParaRPr>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0AFDCFB6-C12A-4EAF-8B21-5AFC4E6397E8}" type="slidenum">
              <a:rPr lang="en-JM" smtClean="0">
                <a:solidFill>
                  <a:schemeClr val="bg1"/>
                </a:solidFill>
              </a:rPr>
              <a:pPr fontAlgn="base">
                <a:spcBef>
                  <a:spcPct val="0"/>
                </a:spcBef>
                <a:spcAft>
                  <a:spcPct val="0"/>
                </a:spcAft>
                <a:defRPr/>
              </a:pPr>
              <a:t>150</a:t>
            </a:fld>
            <a:endParaRPr lang="en-JM">
              <a:solidFill>
                <a:schemeClr val="bg1"/>
              </a:solidFil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itle 1"/>
          <p:cNvSpPr>
            <a:spLocks noGrp="1"/>
          </p:cNvSpPr>
          <p:nvPr>
            <p:ph type="title"/>
          </p:nvPr>
        </p:nvSpPr>
        <p:spPr/>
        <p:txBody>
          <a:bodyPr/>
          <a:lstStyle/>
          <a:p>
            <a:pPr eaLnBrk="1" hangingPunct="1"/>
            <a:r>
              <a:rPr lang="fr-FR" sz="3200"/>
              <a:t>Conclusion</a:t>
            </a:r>
            <a:endParaRPr lang="en-JM" sz="3200"/>
          </a:p>
        </p:txBody>
      </p:sp>
      <p:sp>
        <p:nvSpPr>
          <p:cNvPr id="3" name="Content Placeholder 2"/>
          <p:cNvSpPr>
            <a:spLocks noGrp="1"/>
          </p:cNvSpPr>
          <p:nvPr>
            <p:ph idx="1"/>
          </p:nvPr>
        </p:nvSpPr>
        <p:spPr/>
        <p:txBody>
          <a:bodyPr rtlCol="0">
            <a:normAutofit fontScale="77500" lnSpcReduction="20000"/>
          </a:bodyPr>
          <a:lstStyle/>
          <a:p>
            <a:pPr marL="0" indent="0">
              <a:buFont typeface="Arial" charset="0"/>
              <a:buNone/>
              <a:defRPr/>
            </a:pPr>
            <a:r>
              <a:rPr lang="fr-FR" b="1" dirty="0"/>
              <a:t>Nous vous remercions d’avoir participer à cette formation.</a:t>
            </a:r>
          </a:p>
          <a:p>
            <a:pPr marL="0" indent="0">
              <a:buFont typeface="Arial" charset="0"/>
              <a:buNone/>
              <a:defRPr/>
            </a:pPr>
            <a:endParaRPr lang="fr-FR" b="1" dirty="0"/>
          </a:p>
          <a:p>
            <a:pPr marL="0" indent="0">
              <a:buFont typeface="Arial" charset="0"/>
              <a:buNone/>
              <a:defRPr/>
            </a:pPr>
            <a:r>
              <a:rPr lang="fr-FR" b="1" dirty="0"/>
              <a:t>Pendant cette formation, nous espérons :</a:t>
            </a:r>
          </a:p>
          <a:p>
            <a:pPr marL="0" indent="0">
              <a:buFont typeface="Arial" charset="0"/>
              <a:buNone/>
              <a:defRPr/>
            </a:pPr>
            <a:endParaRPr lang="fr-FR" b="1" dirty="0"/>
          </a:p>
          <a:p>
            <a:pPr lvl="1">
              <a:defRPr/>
            </a:pPr>
            <a:r>
              <a:rPr lang="fr-FR" dirty="0"/>
              <a:t>que vous avez appris de nombreux éléments théoriques et pratiques.</a:t>
            </a:r>
          </a:p>
          <a:p>
            <a:pPr lvl="1">
              <a:defRPr/>
            </a:pPr>
            <a:endParaRPr lang="fr-FR" dirty="0"/>
          </a:p>
          <a:p>
            <a:pPr lvl="1">
              <a:defRPr/>
            </a:pPr>
            <a:r>
              <a:rPr lang="fr-FR" dirty="0"/>
              <a:t>que vous y avez trouvé plus que ce que vous étiez venu chercher.</a:t>
            </a:r>
          </a:p>
          <a:p>
            <a:pPr lvl="1">
              <a:defRPr/>
            </a:pPr>
            <a:endParaRPr lang="fr-FR" dirty="0"/>
          </a:p>
          <a:p>
            <a:pPr lvl="1">
              <a:defRPr/>
            </a:pPr>
            <a:r>
              <a:rPr lang="fr-FR" dirty="0"/>
              <a:t>que vous vous sentez prêt(e) à relever les défis qui vous attendent.</a:t>
            </a:r>
          </a:p>
          <a:p>
            <a:pPr lvl="1">
              <a:defRPr/>
            </a:pPr>
            <a:endParaRPr lang="fr-FR" dirty="0"/>
          </a:p>
          <a:p>
            <a:pPr lvl="1">
              <a:defRPr/>
            </a:pPr>
            <a:r>
              <a:rPr lang="fr-FR" dirty="0"/>
              <a:t>et que vous avez passé un bon moment avec votre professeur.</a:t>
            </a:r>
          </a:p>
          <a:p>
            <a:pPr marL="0" lvl="1" indent="0" eaLnBrk="1" hangingPunct="1">
              <a:buFont typeface="Arial" charset="0"/>
              <a:buNone/>
              <a:tabLst>
                <a:tab pos="8439150" algn="r"/>
              </a:tabLst>
              <a:defRPr/>
            </a:pPr>
            <a:endParaRPr lang="fr-FR" b="1" dirty="0">
              <a:ea typeface="MS Mincho" pitchFamily="49" charset="-128"/>
            </a:endParaRPr>
          </a:p>
          <a:p>
            <a:pPr marL="0" eaLnBrk="1" fontAlgn="auto" hangingPunct="1">
              <a:spcBef>
                <a:spcPts val="0"/>
              </a:spcBef>
              <a:spcAft>
                <a:spcPts val="0"/>
              </a:spcAft>
              <a:buFont typeface="Arial" pitchFamily="34" charset="0"/>
              <a:buNone/>
              <a:defRPr/>
            </a:pPr>
            <a:endParaRPr lang="en-JM" dirty="0">
              <a:solidFill>
                <a:schemeClr val="tx1">
                  <a:lumMod val="75000"/>
                  <a:lumOff val="25000"/>
                </a:schemeClr>
              </a:solidFill>
            </a:endParaRPr>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70C1C1CC-5A30-4A81-953A-4F6E5EEA6CCD}" type="slidenum">
              <a:rPr lang="en-JM" smtClean="0">
                <a:solidFill>
                  <a:schemeClr val="bg1"/>
                </a:solidFill>
              </a:rPr>
              <a:pPr fontAlgn="base">
                <a:spcBef>
                  <a:spcPct val="0"/>
                </a:spcBef>
                <a:spcAft>
                  <a:spcPct val="0"/>
                </a:spcAft>
                <a:defRPr/>
              </a:pPr>
              <a:t>151</a:t>
            </a:fld>
            <a:endParaRPr lang="en-JM">
              <a:solidFill>
                <a:schemeClr val="bg1"/>
              </a:solidFil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AutoShape 2"/>
          <p:cNvSpPr>
            <a:spLocks noGrp="1" noChangeArrowheads="1"/>
          </p:cNvSpPr>
          <p:nvPr>
            <p:ph type="title"/>
          </p:nvPr>
        </p:nvSpPr>
        <p:spPr/>
        <p:txBody>
          <a:bodyPr/>
          <a:lstStyle/>
          <a:p>
            <a:pPr eaLnBrk="1" hangingPunct="1"/>
            <a:r>
              <a:rPr lang="fr-FR"/>
              <a:t>Conclusion finale</a:t>
            </a:r>
          </a:p>
        </p:txBody>
      </p:sp>
      <p:sp>
        <p:nvSpPr>
          <p:cNvPr id="612355" name="Rectangle 3"/>
          <p:cNvSpPr>
            <a:spLocks noGrp="1" noChangeArrowheads="1"/>
          </p:cNvSpPr>
          <p:nvPr>
            <p:ph idx="1"/>
          </p:nvPr>
        </p:nvSpPr>
        <p:spPr/>
        <p:txBody>
          <a:bodyPr/>
          <a:lstStyle/>
          <a:p>
            <a:pPr eaLnBrk="1" hangingPunct="1"/>
            <a:r>
              <a:rPr lang="fr-FR" dirty="0">
                <a:ea typeface="MS Mincho" pitchFamily="49" charset="-128"/>
              </a:rPr>
              <a:t>Remerciements et encouragements</a:t>
            </a:r>
            <a:endParaRPr lang="fr-FR" dirty="0"/>
          </a:p>
          <a:p>
            <a:pPr eaLnBrk="1" hangingPunct="1">
              <a:buFont typeface="Wingdings" pitchFamily="2" charset="2"/>
              <a:buNone/>
            </a:pPr>
            <a:endParaRPr lang="fr-FR" sz="1800" dirty="0">
              <a:cs typeface="Times New Roman" charset="0"/>
            </a:endParaRPr>
          </a:p>
          <a:p>
            <a:pPr eaLnBrk="1" hangingPunct="1">
              <a:buFont typeface="Wingdings" pitchFamily="2" charset="2"/>
              <a:buNone/>
            </a:pPr>
            <a:r>
              <a:rPr lang="fr-FR" sz="1800" dirty="0">
                <a:cs typeface="Times New Roman" charset="0"/>
              </a:rPr>
              <a:t>Pendant cette formation, nous espérons :</a:t>
            </a:r>
            <a:br>
              <a:rPr lang="fr-FR" sz="1800" dirty="0">
                <a:cs typeface="Times New Roman" charset="0"/>
              </a:rPr>
            </a:br>
            <a:r>
              <a:rPr lang="fr-FR" sz="1800" dirty="0">
                <a:cs typeface="Times New Roman" charset="0"/>
              </a:rPr>
              <a:t>- que vous avez appris de nombreuses choses théoriques et pratiques</a:t>
            </a:r>
            <a:br>
              <a:rPr lang="fr-FR" sz="1800" dirty="0">
                <a:cs typeface="Times New Roman" charset="0"/>
              </a:rPr>
            </a:br>
            <a:r>
              <a:rPr lang="fr-FR" sz="1800" dirty="0">
                <a:cs typeface="Times New Roman" charset="0"/>
              </a:rPr>
              <a:t>- que vous y avez trouvé plus que ce que vous étiez venu chercher</a:t>
            </a:r>
            <a:br>
              <a:rPr lang="fr-FR" sz="1800" dirty="0">
                <a:cs typeface="Times New Roman" charset="0"/>
              </a:rPr>
            </a:br>
            <a:r>
              <a:rPr lang="fr-FR" sz="1800" dirty="0">
                <a:cs typeface="Times New Roman" charset="0"/>
              </a:rPr>
              <a:t>- et que vous avez passé un bon moment avec votre professeur</a:t>
            </a:r>
          </a:p>
          <a:p>
            <a:pPr eaLnBrk="1" hangingPunct="1">
              <a:buFont typeface="Wingdings" pitchFamily="2" charset="2"/>
              <a:buNone/>
            </a:pPr>
            <a:endParaRPr lang="fr-FR" sz="1800" dirty="0">
              <a:cs typeface="Times New Roman" charset="0"/>
            </a:endParaRPr>
          </a:p>
          <a:p>
            <a:pPr eaLnBrk="1" hangingPunct="1">
              <a:buFont typeface="Wingdings" pitchFamily="2" charset="2"/>
              <a:buNone/>
            </a:pPr>
            <a:r>
              <a:rPr lang="fr-FR" sz="1800" dirty="0">
                <a:cs typeface="Times New Roman" charset="0"/>
              </a:rPr>
              <a:t>Merci d’avoir fait confiance à ORSYS, à bientôt pour d’autres formations !</a:t>
            </a:r>
          </a:p>
        </p:txBody>
      </p:sp>
      <p:sp>
        <p:nvSpPr>
          <p:cNvPr id="4" name="Rectangle 13"/>
          <p:cNvSpPr>
            <a:spLocks noGrp="1" noChangeArrowheads="1"/>
          </p:cNvSpPr>
          <p:nvPr>
            <p:ph type="sldNum" sz="quarter" idx="12"/>
          </p:nvPr>
        </p:nvSpPr>
        <p:spPr>
          <a:ln/>
        </p:spPr>
        <p:txBody>
          <a:bodyPr/>
          <a:lstStyle/>
          <a:p>
            <a:pPr>
              <a:defRPr/>
            </a:pPr>
            <a:fld id="{C6BFE3ED-81D5-4230-A457-2FE30F2836DC}" type="slidenum">
              <a:rPr lang="fr-FR"/>
              <a:pPr>
                <a:defRPr/>
              </a:pPr>
              <a:t>152</a:t>
            </a:fld>
            <a:endParaRPr lang="fr-F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A53FD80-F4FB-4181-80FE-A3B4F341A740}"/>
              </a:ext>
            </a:extLst>
          </p:cNvPr>
          <p:cNvSpPr>
            <a:spLocks noGrp="1"/>
          </p:cNvSpPr>
          <p:nvPr>
            <p:ph type="title"/>
          </p:nvPr>
        </p:nvSpPr>
        <p:spPr/>
        <p:txBody>
          <a:bodyPr/>
          <a:lstStyle/>
          <a:p>
            <a:r>
              <a:rPr lang="fr-FR" dirty="0"/>
              <a:t>Annexes</a:t>
            </a:r>
          </a:p>
        </p:txBody>
      </p:sp>
      <p:sp>
        <p:nvSpPr>
          <p:cNvPr id="3" name="Espace réservé du texte 2">
            <a:extLst>
              <a:ext uri="{FF2B5EF4-FFF2-40B4-BE49-F238E27FC236}">
                <a16:creationId xmlns:a16="http://schemas.microsoft.com/office/drawing/2014/main" id="{DA4CCAD4-12D9-48C9-9C3E-2E80652C2F7A}"/>
              </a:ext>
            </a:extLst>
          </p:cNvPr>
          <p:cNvSpPr>
            <a:spLocks noGrp="1"/>
          </p:cNvSpPr>
          <p:nvPr>
            <p:ph type="body" idx="1"/>
          </p:nvPr>
        </p:nvSpPr>
        <p:spPr/>
        <p:txBody>
          <a:bodyPr/>
          <a:lstStyle/>
          <a:p>
            <a:r>
              <a:rPr lang="fr-FR" dirty="0"/>
              <a:t>Car + c’est mieux</a:t>
            </a:r>
          </a:p>
        </p:txBody>
      </p:sp>
    </p:spTree>
    <p:extLst>
      <p:ext uri="{BB962C8B-B14F-4D97-AF65-F5344CB8AC3E}">
        <p14:creationId xmlns:p14="http://schemas.microsoft.com/office/powerpoint/2010/main" val="3281767205"/>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fr-FR" dirty="0">
                <a:ea typeface="MS Mincho" pitchFamily="49" charset="-128"/>
              </a:rPr>
              <a:t>DOM (Document Object Model)</a:t>
            </a:r>
            <a:endParaRPr lang="en-JM" dirty="0"/>
          </a:p>
        </p:txBody>
      </p:sp>
      <p:sp>
        <p:nvSpPr>
          <p:cNvPr id="3" name="Content Placeholder 2"/>
          <p:cNvSpPr>
            <a:spLocks noGrp="1"/>
          </p:cNvSpPr>
          <p:nvPr>
            <p:ph idx="1"/>
          </p:nvPr>
        </p:nvSpPr>
        <p:spPr>
          <a:xfrm>
            <a:off x="457200" y="1493838"/>
            <a:ext cx="8229600" cy="4525962"/>
          </a:xfrm>
        </p:spPr>
        <p:txBody>
          <a:bodyPr rtlCol="0">
            <a:normAutofit fontScale="55000" lnSpcReduction="20000"/>
          </a:bodyPr>
          <a:lstStyle/>
          <a:p>
            <a:pPr marL="0" indent="0" eaLnBrk="1" hangingPunct="1">
              <a:buFont typeface="Arial" charset="0"/>
              <a:buNone/>
              <a:defRPr/>
            </a:pPr>
            <a:r>
              <a:rPr lang="fr-FR" b="1" dirty="0">
                <a:ea typeface="MS Mincho" pitchFamily="49" charset="-128"/>
              </a:rPr>
              <a:t>Niveaux du DOM</a:t>
            </a:r>
          </a:p>
          <a:p>
            <a:pPr lvl="1" eaLnBrk="1" hangingPunct="1">
              <a:defRPr/>
            </a:pPr>
            <a:r>
              <a:rPr lang="fr-FR" dirty="0">
                <a:ea typeface="MS Mincho" pitchFamily="49" charset="-128"/>
              </a:rPr>
              <a:t>0: Accès tabulaire aux données </a:t>
            </a:r>
          </a:p>
          <a:p>
            <a:pPr lvl="1" eaLnBrk="1" hangingPunct="1">
              <a:defRPr/>
            </a:pPr>
            <a:r>
              <a:rPr lang="fr-FR" dirty="0">
                <a:ea typeface="MS Mincho" pitchFamily="49" charset="-128"/>
              </a:rPr>
              <a:t>1: Noyau d’interfaçage (</a:t>
            </a:r>
            <a:r>
              <a:rPr lang="fr-FR" dirty="0" err="1">
                <a:ea typeface="MS Mincho" pitchFamily="49" charset="-128"/>
              </a:rPr>
              <a:t>Core</a:t>
            </a:r>
            <a:r>
              <a:rPr lang="fr-FR" dirty="0">
                <a:ea typeface="MS Mincho" pitchFamily="49" charset="-128"/>
              </a:rPr>
              <a:t>, html) pris en charge par les navigateurs récents</a:t>
            </a:r>
          </a:p>
          <a:p>
            <a:pPr lvl="1" eaLnBrk="1" hangingPunct="1">
              <a:defRPr/>
            </a:pPr>
            <a:r>
              <a:rPr lang="fr-FR" dirty="0">
                <a:ea typeface="MS Mincho" pitchFamily="49" charset="-128"/>
              </a:rPr>
              <a:t>2: Modules Events, Style… (assez bien supporté dans l’ensemble)</a:t>
            </a:r>
          </a:p>
          <a:p>
            <a:pPr lvl="1" eaLnBrk="1" hangingPunct="1">
              <a:defRPr/>
            </a:pPr>
            <a:r>
              <a:rPr lang="fr-FR" dirty="0">
                <a:ea typeface="MS Mincho" pitchFamily="49" charset="-128"/>
              </a:rPr>
              <a:t>3: Introduction de Load &amp; Save, Validation et XPath et de fonctions XML natives</a:t>
            </a:r>
            <a:br>
              <a:rPr lang="fr-FR" dirty="0">
                <a:ea typeface="MS Mincho" pitchFamily="49" charset="-128"/>
              </a:rPr>
            </a:br>
            <a:r>
              <a:rPr lang="fr-FR" dirty="0">
                <a:ea typeface="MS Mincho" pitchFamily="49" charset="-128"/>
              </a:rPr>
              <a:t>quelques options déjà implémentées (ex: XPath et XSLT sous MFF)</a:t>
            </a:r>
          </a:p>
          <a:p>
            <a:pPr marL="0" indent="0" eaLnBrk="1" hangingPunct="1">
              <a:buFont typeface="Arial" charset="0"/>
              <a:buNone/>
              <a:defRPr/>
            </a:pPr>
            <a:endParaRPr lang="fr-FR" dirty="0">
              <a:ea typeface="MS Mincho" pitchFamily="49" charset="-128"/>
            </a:endParaRPr>
          </a:p>
          <a:p>
            <a:pPr marL="0" indent="0" eaLnBrk="1" hangingPunct="1">
              <a:buFont typeface="Arial" charset="0"/>
              <a:buNone/>
              <a:defRPr/>
            </a:pPr>
            <a:r>
              <a:rPr lang="fr-FR" b="1" dirty="0">
                <a:ea typeface="MS Mincho" pitchFamily="49" charset="-128"/>
              </a:rPr>
              <a:t>Concepts fondamentaux</a:t>
            </a:r>
          </a:p>
          <a:p>
            <a:pPr lvl="1" eaLnBrk="1" hangingPunct="1">
              <a:defRPr/>
            </a:pPr>
            <a:r>
              <a:rPr lang="fr-FR" dirty="0">
                <a:ea typeface="MS Mincho" pitchFamily="49" charset="-128"/>
              </a:rPr>
              <a:t>Connaitre le DOM supporté par le navigateur permet de bien implémenter son code</a:t>
            </a:r>
          </a:p>
          <a:p>
            <a:pPr lvl="1" eaLnBrk="1" hangingPunct="1">
              <a:defRPr/>
            </a:pPr>
            <a:r>
              <a:rPr lang="fr-FR" dirty="0">
                <a:ea typeface="MS Mincho" pitchFamily="49" charset="-128"/>
              </a:rPr>
              <a:t>Modèle abrégé : #text… Noms en majuscules</a:t>
            </a:r>
          </a:p>
          <a:p>
            <a:pPr lvl="1" eaLnBrk="1" hangingPunct="1">
              <a:defRPr/>
            </a:pPr>
            <a:r>
              <a:rPr lang="fr-FR" dirty="0">
                <a:ea typeface="MS Mincho" pitchFamily="49" charset="-128"/>
              </a:rPr>
              <a:t>Nœuds, parents vs ancêtres, enfants vs descendants, frère précédent / suivant, valeur atomique (nœud sans enfant)</a:t>
            </a:r>
          </a:p>
          <a:p>
            <a:pPr marL="0" eaLnBrk="1" fontAlgn="auto" hangingPunct="1">
              <a:spcBef>
                <a:spcPts val="0"/>
              </a:spcBef>
              <a:spcAft>
                <a:spcPts val="0"/>
              </a:spcAft>
              <a:buFont typeface="Arial" pitchFamily="34" charset="0"/>
              <a:buNone/>
              <a:defRPr/>
            </a:pPr>
            <a:endParaRPr lang="en-JM" dirty="0">
              <a:solidFill>
                <a:schemeClr val="tx1">
                  <a:lumMod val="75000"/>
                  <a:lumOff val="25000"/>
                </a:schemeClr>
              </a:solidFill>
            </a:endParaRPr>
          </a:p>
          <a:p>
            <a:pPr marL="0" eaLnBrk="1" fontAlgn="auto" hangingPunct="1">
              <a:spcBef>
                <a:spcPts val="0"/>
              </a:spcBef>
              <a:spcAft>
                <a:spcPts val="0"/>
              </a:spcAft>
              <a:buFont typeface="Arial" pitchFamily="34" charset="0"/>
              <a:buNone/>
              <a:defRPr/>
            </a:pPr>
            <a:endParaRPr lang="en-JM" dirty="0">
              <a:solidFill>
                <a:schemeClr val="tx1">
                  <a:lumMod val="75000"/>
                  <a:lumOff val="25000"/>
                </a:schemeClr>
              </a:solidFill>
            </a:endParaRPr>
          </a:p>
          <a:p>
            <a:pPr marL="0" eaLnBrk="1" fontAlgn="auto" hangingPunct="1">
              <a:spcBef>
                <a:spcPts val="0"/>
              </a:spcBef>
              <a:spcAft>
                <a:spcPts val="0"/>
              </a:spcAft>
              <a:buFont typeface="Arial" pitchFamily="34" charset="0"/>
              <a:buNone/>
              <a:defRPr/>
            </a:pPr>
            <a:endParaRPr lang="en-JM" dirty="0">
              <a:solidFill>
                <a:schemeClr val="tx1">
                  <a:lumMod val="75000"/>
                  <a:lumOff val="25000"/>
                </a:schemeClr>
              </a:solidFill>
            </a:endParaRPr>
          </a:p>
          <a:p>
            <a:pPr eaLnBrk="1" fontAlgn="auto" hangingPunct="1">
              <a:spcAft>
                <a:spcPts val="0"/>
              </a:spcAft>
              <a:buFont typeface="Arial" pitchFamily="34" charset="0"/>
              <a:buNone/>
              <a:defRPr/>
            </a:pPr>
            <a:r>
              <a:rPr lang="en-JM" dirty="0">
                <a:solidFill>
                  <a:schemeClr val="tx1">
                    <a:lumMod val="95000"/>
                    <a:lumOff val="5000"/>
                  </a:schemeClr>
                </a:solidFill>
                <a:latin typeface="PT Sans Narrow" pitchFamily="34" charset="0"/>
              </a:rPr>
              <a:t>     Remarque : </a:t>
            </a:r>
            <a:r>
              <a:rPr lang="en-JM" dirty="0">
                <a:solidFill>
                  <a:srgbClr val="00B0F0"/>
                </a:solidFill>
                <a:latin typeface="PT Sans Narrow" pitchFamily="34" charset="0"/>
              </a:rPr>
              <a:t>Le DOM </a:t>
            </a:r>
            <a:r>
              <a:rPr lang="en-JM" dirty="0" err="1">
                <a:solidFill>
                  <a:srgbClr val="00B0F0"/>
                </a:solidFill>
                <a:latin typeface="PT Sans Narrow" pitchFamily="34" charset="0"/>
              </a:rPr>
              <a:t>est</a:t>
            </a:r>
            <a:r>
              <a:rPr lang="en-JM" dirty="0">
                <a:solidFill>
                  <a:srgbClr val="00B0F0"/>
                </a:solidFill>
                <a:latin typeface="PT Sans Narrow" pitchFamily="34" charset="0"/>
              </a:rPr>
              <a:t> </a:t>
            </a:r>
            <a:r>
              <a:rPr lang="en-JM" dirty="0" err="1">
                <a:solidFill>
                  <a:srgbClr val="00B0F0"/>
                </a:solidFill>
                <a:latin typeface="PT Sans Narrow" pitchFamily="34" charset="0"/>
              </a:rPr>
              <a:t>une</a:t>
            </a:r>
            <a:r>
              <a:rPr lang="en-JM" dirty="0">
                <a:solidFill>
                  <a:srgbClr val="00B0F0"/>
                </a:solidFill>
                <a:latin typeface="PT Sans Narrow" pitchFamily="34" charset="0"/>
              </a:rPr>
              <a:t> </a:t>
            </a:r>
            <a:r>
              <a:rPr lang="en-JM" dirty="0" err="1">
                <a:solidFill>
                  <a:srgbClr val="00B0F0"/>
                </a:solidFill>
                <a:latin typeface="PT Sans Narrow" pitchFamily="34" charset="0"/>
              </a:rPr>
              <a:t>technologie</a:t>
            </a:r>
            <a:r>
              <a:rPr lang="en-JM" dirty="0">
                <a:solidFill>
                  <a:srgbClr val="00B0F0"/>
                </a:solidFill>
                <a:latin typeface="PT Sans Narrow" pitchFamily="34" charset="0"/>
              </a:rPr>
              <a:t> XML. Un parser DOM </a:t>
            </a:r>
            <a:r>
              <a:rPr lang="en-JM" dirty="0" err="1">
                <a:solidFill>
                  <a:srgbClr val="00B0F0"/>
                </a:solidFill>
                <a:latin typeface="PT Sans Narrow" pitchFamily="34" charset="0"/>
              </a:rPr>
              <a:t>est</a:t>
            </a:r>
            <a:r>
              <a:rPr lang="en-JM" dirty="0">
                <a:solidFill>
                  <a:srgbClr val="00B0F0"/>
                </a:solidFill>
                <a:latin typeface="PT Sans Narrow" pitchFamily="34" charset="0"/>
              </a:rPr>
              <a:t> un </a:t>
            </a:r>
            <a:r>
              <a:rPr lang="en-JM" dirty="0" err="1">
                <a:solidFill>
                  <a:srgbClr val="00B0F0"/>
                </a:solidFill>
                <a:latin typeface="PT Sans Narrow" pitchFamily="34" charset="0"/>
              </a:rPr>
              <a:t>analyseur</a:t>
            </a:r>
            <a:r>
              <a:rPr lang="en-JM" dirty="0">
                <a:solidFill>
                  <a:srgbClr val="00B0F0"/>
                </a:solidFill>
                <a:latin typeface="PT Sans Narrow" pitchFamily="34" charset="0"/>
              </a:rPr>
              <a:t> </a:t>
            </a:r>
            <a:r>
              <a:rPr lang="en-JM" dirty="0" err="1">
                <a:solidFill>
                  <a:srgbClr val="00B0F0"/>
                </a:solidFill>
                <a:latin typeface="PT Sans Narrow" pitchFamily="34" charset="0"/>
              </a:rPr>
              <a:t>syntaxique</a:t>
            </a:r>
            <a:r>
              <a:rPr lang="en-JM" dirty="0">
                <a:solidFill>
                  <a:srgbClr val="00B0F0"/>
                </a:solidFill>
                <a:latin typeface="PT Sans Narrow" pitchFamily="34" charset="0"/>
              </a:rPr>
              <a:t> XML capable de lire et de transformer </a:t>
            </a:r>
            <a:r>
              <a:rPr lang="en-JM" dirty="0" err="1">
                <a:solidFill>
                  <a:srgbClr val="00B0F0"/>
                </a:solidFill>
                <a:latin typeface="PT Sans Narrow" pitchFamily="34" charset="0"/>
              </a:rPr>
              <a:t>l’arbre</a:t>
            </a:r>
            <a:r>
              <a:rPr lang="en-JM" dirty="0">
                <a:solidFill>
                  <a:srgbClr val="00B0F0"/>
                </a:solidFill>
                <a:latin typeface="PT Sans Narrow" pitchFamily="34" charset="0"/>
              </a:rPr>
              <a:t> de </a:t>
            </a:r>
            <a:r>
              <a:rPr lang="en-JM" dirty="0" err="1">
                <a:solidFill>
                  <a:srgbClr val="00B0F0"/>
                </a:solidFill>
                <a:latin typeface="PT Sans Narrow" pitchFamily="34" charset="0"/>
              </a:rPr>
              <a:t>données</a:t>
            </a:r>
            <a:r>
              <a:rPr lang="en-JM" dirty="0">
                <a:solidFill>
                  <a:srgbClr val="00B0F0"/>
                </a:solidFill>
                <a:latin typeface="PT Sans Narrow" pitchFamily="34" charset="0"/>
              </a:rPr>
              <a:t>.</a:t>
            </a:r>
            <a:endParaRPr lang="en-JM" dirty="0">
              <a:solidFill>
                <a:schemeClr val="tx1">
                  <a:lumMod val="75000"/>
                  <a:lumOff val="25000"/>
                </a:schemeClr>
              </a:solidFill>
            </a:endParaRPr>
          </a:p>
        </p:txBody>
      </p:sp>
      <p:sp>
        <p:nvSpPr>
          <p:cNvPr id="8" name="Footer Placeholder 12"/>
          <p:cNvSpPr>
            <a:spLocks noGrp="1"/>
          </p:cNvSpPr>
          <p:nvPr>
            <p:ph type="ftr" sz="quarter" idx="11"/>
          </p:nvPr>
        </p:nvSpPr>
        <p:spPr>
          <a:xfrm>
            <a:off x="457200" y="6400800"/>
            <a:ext cx="5638800" cy="365125"/>
          </a:xfrm>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xfrm>
            <a:off x="8153400" y="0"/>
            <a:ext cx="585788"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D4EF41E1-2EC7-4CA1-8370-A06B4CC33E74}" type="slidenum">
              <a:rPr lang="en-JM" smtClean="0">
                <a:solidFill>
                  <a:schemeClr val="bg1"/>
                </a:solidFill>
              </a:rPr>
              <a:pPr fontAlgn="base">
                <a:spcBef>
                  <a:spcPct val="0"/>
                </a:spcBef>
                <a:spcAft>
                  <a:spcPct val="0"/>
                </a:spcAft>
                <a:defRPr/>
              </a:pPr>
              <a:t>155</a:t>
            </a:fld>
            <a:endParaRPr lang="en-JM">
              <a:solidFill>
                <a:schemeClr val="bg1"/>
              </a:solidFill>
            </a:endParaRPr>
          </a:p>
        </p:txBody>
      </p:sp>
    </p:spTree>
    <p:extLst>
      <p:ext uri="{BB962C8B-B14F-4D97-AF65-F5344CB8AC3E}">
        <p14:creationId xmlns:p14="http://schemas.microsoft.com/office/powerpoint/2010/main" val="316593943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fr-FR" dirty="0">
                <a:ea typeface="MS Mincho" pitchFamily="49" charset="-128"/>
              </a:rPr>
              <a:t>DOM (Document Object Model)</a:t>
            </a:r>
            <a:endParaRPr lang="en-JM" dirty="0"/>
          </a:p>
        </p:txBody>
      </p:sp>
      <p:sp>
        <p:nvSpPr>
          <p:cNvPr id="3" name="Content Placeholder 2"/>
          <p:cNvSpPr>
            <a:spLocks noGrp="1"/>
          </p:cNvSpPr>
          <p:nvPr>
            <p:ph idx="1"/>
          </p:nvPr>
        </p:nvSpPr>
        <p:spPr/>
        <p:txBody>
          <a:bodyPr rtlCol="0">
            <a:normAutofit fontScale="70000" lnSpcReduction="20000"/>
          </a:bodyPr>
          <a:lstStyle/>
          <a:p>
            <a:pPr marL="57150" indent="0" eaLnBrk="1" hangingPunct="1">
              <a:buFont typeface="Arial" charset="0"/>
              <a:buNone/>
              <a:tabLst>
                <a:tab pos="8439150" algn="r"/>
              </a:tabLst>
              <a:defRPr/>
            </a:pPr>
            <a:r>
              <a:rPr lang="fr-FR" b="1" dirty="0">
                <a:ea typeface="MS Mincho" pitchFamily="49" charset="-128"/>
              </a:rPr>
              <a:t>4 propriétés fondamentales :</a:t>
            </a:r>
          </a:p>
          <a:p>
            <a:pPr marL="57150" indent="0" eaLnBrk="1" hangingPunct="1">
              <a:buFont typeface="Arial" charset="0"/>
              <a:buNone/>
              <a:tabLst>
                <a:tab pos="8439150" algn="r"/>
              </a:tabLst>
              <a:defRPr/>
            </a:pPr>
            <a:endParaRPr lang="fr-FR" b="1" dirty="0">
              <a:ea typeface="MS Mincho" pitchFamily="49" charset="-128"/>
            </a:endParaRPr>
          </a:p>
          <a:p>
            <a:pPr marL="800100" lvl="1" eaLnBrk="1" hangingPunct="1">
              <a:tabLst>
                <a:tab pos="8439150" algn="r"/>
              </a:tabLst>
              <a:defRPr/>
            </a:pPr>
            <a:r>
              <a:rPr lang="fr-FR" dirty="0" err="1">
                <a:solidFill>
                  <a:srgbClr val="009AD0"/>
                </a:solidFill>
                <a:ea typeface="MS Mincho" pitchFamily="49" charset="-128"/>
              </a:rPr>
              <a:t>doctype</a:t>
            </a:r>
            <a:endParaRPr lang="fr-FR" dirty="0">
              <a:solidFill>
                <a:srgbClr val="009AD0"/>
              </a:solidFill>
              <a:ea typeface="MS Mincho" pitchFamily="49" charset="-128"/>
            </a:endParaRPr>
          </a:p>
          <a:p>
            <a:pPr marL="800100" lvl="1" eaLnBrk="1" hangingPunct="1">
              <a:tabLst>
                <a:tab pos="8439150" algn="r"/>
              </a:tabLst>
              <a:defRPr/>
            </a:pPr>
            <a:r>
              <a:rPr lang="fr-FR" dirty="0" err="1">
                <a:solidFill>
                  <a:srgbClr val="009AD0"/>
                </a:solidFill>
                <a:ea typeface="MS Mincho" pitchFamily="49" charset="-128"/>
              </a:rPr>
              <a:t>documentElement</a:t>
            </a:r>
            <a:endParaRPr lang="fr-FR" dirty="0">
              <a:solidFill>
                <a:srgbClr val="009AD0"/>
              </a:solidFill>
              <a:ea typeface="MS Mincho" pitchFamily="49" charset="-128"/>
            </a:endParaRPr>
          </a:p>
          <a:p>
            <a:pPr marL="800100" lvl="1" eaLnBrk="1" hangingPunct="1">
              <a:tabLst>
                <a:tab pos="8439150" algn="r"/>
              </a:tabLst>
              <a:defRPr/>
            </a:pPr>
            <a:r>
              <a:rPr lang="fr-FR" dirty="0" err="1">
                <a:solidFill>
                  <a:srgbClr val="009AD0"/>
                </a:solidFill>
                <a:ea typeface="MS Mincho" pitchFamily="49" charset="-128"/>
              </a:rPr>
              <a:t>Implementation</a:t>
            </a:r>
            <a:endParaRPr lang="fr-FR" dirty="0">
              <a:solidFill>
                <a:srgbClr val="009AD0"/>
              </a:solidFill>
              <a:ea typeface="MS Mincho" pitchFamily="49" charset="-128"/>
            </a:endParaRPr>
          </a:p>
          <a:p>
            <a:pPr marL="57150" indent="0" eaLnBrk="1" hangingPunct="1">
              <a:buFont typeface="Arial" charset="0"/>
              <a:buNone/>
              <a:tabLst>
                <a:tab pos="8439150" algn="r"/>
              </a:tabLst>
              <a:defRPr/>
            </a:pPr>
            <a:endParaRPr lang="fr-FR" b="1" dirty="0">
              <a:solidFill>
                <a:srgbClr val="009AD0"/>
              </a:solidFill>
              <a:ea typeface="MS Mincho" pitchFamily="49" charset="-128"/>
            </a:endParaRPr>
          </a:p>
          <a:p>
            <a:pPr marL="800100" lvl="1" eaLnBrk="1" hangingPunct="1">
              <a:tabLst>
                <a:tab pos="8439150" algn="r"/>
              </a:tabLst>
              <a:defRPr/>
            </a:pPr>
            <a:r>
              <a:rPr lang="fr-FR" dirty="0" err="1">
                <a:solidFill>
                  <a:srgbClr val="009AD0"/>
                </a:solidFill>
                <a:ea typeface="MS Mincho" pitchFamily="49" charset="-128"/>
              </a:rPr>
              <a:t>nodeName</a:t>
            </a:r>
            <a:endParaRPr lang="fr-FR" dirty="0">
              <a:solidFill>
                <a:srgbClr val="009AD0"/>
              </a:solidFill>
              <a:ea typeface="MS Mincho" pitchFamily="49" charset="-128"/>
            </a:endParaRPr>
          </a:p>
          <a:p>
            <a:pPr marL="800100" lvl="1" eaLnBrk="1" hangingPunct="1">
              <a:tabLst>
                <a:tab pos="8439150" algn="r"/>
              </a:tabLst>
              <a:defRPr/>
            </a:pPr>
            <a:r>
              <a:rPr lang="fr-FR" dirty="0" err="1">
                <a:solidFill>
                  <a:srgbClr val="009AD0"/>
                </a:solidFill>
                <a:ea typeface="MS Mincho" pitchFamily="49" charset="-128"/>
              </a:rPr>
              <a:t>nodeType</a:t>
            </a:r>
            <a:r>
              <a:rPr lang="fr-FR" dirty="0">
                <a:solidFill>
                  <a:srgbClr val="009AD0"/>
                </a:solidFill>
                <a:ea typeface="MS Mincho" pitchFamily="49" charset="-128"/>
              </a:rPr>
              <a:t> (</a:t>
            </a:r>
            <a:r>
              <a:rPr lang="fr-FR" dirty="0" err="1">
                <a:solidFill>
                  <a:srgbClr val="009AD0"/>
                </a:solidFill>
                <a:ea typeface="MS Mincho" pitchFamily="49" charset="-128"/>
              </a:rPr>
              <a:t>Node.ELEMENT_NODE</a:t>
            </a:r>
            <a:r>
              <a:rPr lang="fr-FR" dirty="0">
                <a:solidFill>
                  <a:srgbClr val="009AD0"/>
                </a:solidFill>
                <a:ea typeface="MS Mincho" pitchFamily="49" charset="-128"/>
              </a:rPr>
              <a:t> | </a:t>
            </a:r>
            <a:r>
              <a:rPr lang="fr-FR" dirty="0" err="1">
                <a:solidFill>
                  <a:srgbClr val="009AD0"/>
                </a:solidFill>
                <a:ea typeface="MS Mincho" pitchFamily="49" charset="-128"/>
              </a:rPr>
              <a:t>Node.ATTRIBUTE_NODE</a:t>
            </a:r>
            <a:r>
              <a:rPr lang="fr-FR" dirty="0">
                <a:solidFill>
                  <a:srgbClr val="009AD0"/>
                </a:solidFill>
                <a:ea typeface="MS Mincho" pitchFamily="49" charset="-128"/>
              </a:rPr>
              <a:t> | Node.TEXT_NODE)</a:t>
            </a:r>
          </a:p>
          <a:p>
            <a:pPr marL="800100" lvl="1" eaLnBrk="1" hangingPunct="1">
              <a:tabLst>
                <a:tab pos="8439150" algn="r"/>
              </a:tabLst>
              <a:defRPr/>
            </a:pPr>
            <a:r>
              <a:rPr lang="fr-FR" dirty="0" err="1">
                <a:solidFill>
                  <a:srgbClr val="009AD0"/>
                </a:solidFill>
                <a:ea typeface="MS Mincho" pitchFamily="49" charset="-128"/>
              </a:rPr>
              <a:t>nodeValue</a:t>
            </a:r>
            <a:endParaRPr lang="fr-FR" dirty="0">
              <a:solidFill>
                <a:srgbClr val="009AD0"/>
              </a:solidFill>
              <a:ea typeface="MS Mincho" pitchFamily="49" charset="-128"/>
            </a:endParaRPr>
          </a:p>
          <a:p>
            <a:pPr marL="800100" lvl="1" eaLnBrk="1" hangingPunct="1">
              <a:tabLst>
                <a:tab pos="8439150" algn="r"/>
              </a:tabLst>
              <a:defRPr/>
            </a:pPr>
            <a:r>
              <a:rPr lang="fr-FR" dirty="0">
                <a:solidFill>
                  <a:srgbClr val="009AD0"/>
                </a:solidFill>
                <a:ea typeface="MS Mincho" pitchFamily="49" charset="-128"/>
              </a:rPr>
              <a:t>attributes</a:t>
            </a:r>
          </a:p>
          <a:p>
            <a:pPr marL="800100" lvl="1" eaLnBrk="1" hangingPunct="1">
              <a:tabLst>
                <a:tab pos="8439150" algn="r"/>
              </a:tabLst>
              <a:defRPr/>
            </a:pPr>
            <a:r>
              <a:rPr lang="fr-FR" dirty="0" err="1">
                <a:solidFill>
                  <a:srgbClr val="009AD0"/>
                </a:solidFill>
                <a:ea typeface="MS Mincho" pitchFamily="49" charset="-128"/>
              </a:rPr>
              <a:t>parentNode</a:t>
            </a:r>
            <a:endParaRPr lang="fr-FR" dirty="0">
              <a:solidFill>
                <a:srgbClr val="009AD0"/>
              </a:solidFill>
              <a:ea typeface="MS Mincho" pitchFamily="49" charset="-128"/>
            </a:endParaRPr>
          </a:p>
          <a:p>
            <a:pPr marL="800100" lvl="1" eaLnBrk="1" hangingPunct="1">
              <a:tabLst>
                <a:tab pos="8439150" algn="r"/>
              </a:tabLst>
              <a:defRPr/>
            </a:pPr>
            <a:r>
              <a:rPr lang="fr-FR" dirty="0" err="1">
                <a:solidFill>
                  <a:srgbClr val="009AD0"/>
                </a:solidFill>
                <a:ea typeface="MS Mincho" pitchFamily="49" charset="-128"/>
              </a:rPr>
              <a:t>childNodes</a:t>
            </a:r>
            <a:endParaRPr lang="fr-FR" dirty="0">
              <a:solidFill>
                <a:srgbClr val="009AD0"/>
              </a:solidFill>
              <a:ea typeface="MS Mincho" pitchFamily="49" charset="-128"/>
            </a:endParaRPr>
          </a:p>
          <a:p>
            <a:pPr marL="800100" lvl="1" eaLnBrk="1" hangingPunct="1">
              <a:tabLst>
                <a:tab pos="8439150" algn="r"/>
              </a:tabLst>
              <a:defRPr/>
            </a:pPr>
            <a:r>
              <a:rPr lang="fr-FR" dirty="0" err="1">
                <a:solidFill>
                  <a:srgbClr val="009AD0"/>
                </a:solidFill>
                <a:ea typeface="MS Mincho" pitchFamily="49" charset="-128"/>
              </a:rPr>
              <a:t>firstChild</a:t>
            </a:r>
            <a:r>
              <a:rPr lang="fr-FR" dirty="0">
                <a:solidFill>
                  <a:srgbClr val="009AD0"/>
                </a:solidFill>
                <a:ea typeface="MS Mincho" pitchFamily="49" charset="-128"/>
              </a:rPr>
              <a:t>, </a:t>
            </a:r>
            <a:r>
              <a:rPr lang="fr-FR" dirty="0" err="1">
                <a:solidFill>
                  <a:srgbClr val="009AD0"/>
                </a:solidFill>
                <a:ea typeface="MS Mincho" pitchFamily="49" charset="-128"/>
              </a:rPr>
              <a:t>lastChild</a:t>
            </a:r>
            <a:endParaRPr lang="fr-FR" dirty="0">
              <a:solidFill>
                <a:srgbClr val="009AD0"/>
              </a:solidFill>
              <a:ea typeface="MS Mincho" pitchFamily="49" charset="-128"/>
            </a:endParaRPr>
          </a:p>
          <a:p>
            <a:pPr marL="800100" lvl="1" eaLnBrk="1" hangingPunct="1">
              <a:tabLst>
                <a:tab pos="8439150" algn="r"/>
              </a:tabLst>
              <a:defRPr/>
            </a:pPr>
            <a:r>
              <a:rPr lang="fr-FR" dirty="0" err="1">
                <a:solidFill>
                  <a:srgbClr val="009AD0"/>
                </a:solidFill>
                <a:ea typeface="MS Mincho" pitchFamily="49" charset="-128"/>
              </a:rPr>
              <a:t>previous</a:t>
            </a:r>
            <a:r>
              <a:rPr lang="fr-FR" dirty="0">
                <a:solidFill>
                  <a:srgbClr val="009AD0"/>
                </a:solidFill>
                <a:ea typeface="MS Mincho" pitchFamily="49" charset="-128"/>
              </a:rPr>
              <a:t>/</a:t>
            </a:r>
            <a:r>
              <a:rPr lang="fr-FR" dirty="0" err="1">
                <a:solidFill>
                  <a:srgbClr val="009AD0"/>
                </a:solidFill>
                <a:ea typeface="MS Mincho" pitchFamily="49" charset="-128"/>
              </a:rPr>
              <a:t>nextSibling</a:t>
            </a:r>
            <a:r>
              <a:rPr lang="fr-FR" dirty="0">
                <a:solidFill>
                  <a:srgbClr val="009AD0"/>
                </a:solidFill>
                <a:ea typeface="MS Mincho" pitchFamily="49" charset="-128"/>
              </a:rPr>
              <a:t> </a:t>
            </a:r>
            <a:r>
              <a:rPr lang="fr-FR" dirty="0">
                <a:ea typeface="MS Mincho" pitchFamily="49" charset="-128"/>
              </a:rPr>
              <a:t>(n’oubliez pas les Nodes de </a:t>
            </a:r>
            <a:r>
              <a:rPr lang="fr-FR" dirty="0" err="1">
                <a:ea typeface="MS Mincho" pitchFamily="49" charset="-128"/>
              </a:rPr>
              <a:t>whitespaces</a:t>
            </a:r>
            <a:r>
              <a:rPr lang="fr-FR" dirty="0">
                <a:ea typeface="MS Mincho" pitchFamily="49" charset="-128"/>
              </a:rPr>
              <a:t> sous MFF !)</a:t>
            </a:r>
          </a:p>
          <a:p>
            <a:pPr marL="0" eaLnBrk="1" fontAlgn="auto" hangingPunct="1">
              <a:spcBef>
                <a:spcPts val="0"/>
              </a:spcBef>
              <a:spcAft>
                <a:spcPts val="0"/>
              </a:spcAft>
              <a:buFont typeface="Arial" pitchFamily="34" charset="0"/>
              <a:buNone/>
              <a:defRPr/>
            </a:pPr>
            <a:endParaRPr lang="en-JM" dirty="0">
              <a:solidFill>
                <a:schemeClr val="tx1">
                  <a:lumMod val="75000"/>
                  <a:lumOff val="25000"/>
                </a:schemeClr>
              </a:solidFill>
            </a:endParaRPr>
          </a:p>
          <a:p>
            <a:pPr marL="0" eaLnBrk="1" fontAlgn="auto" hangingPunct="1">
              <a:spcBef>
                <a:spcPts val="0"/>
              </a:spcBef>
              <a:spcAft>
                <a:spcPts val="0"/>
              </a:spcAft>
              <a:buFont typeface="Arial" pitchFamily="34" charset="0"/>
              <a:buNone/>
              <a:defRPr/>
            </a:pPr>
            <a:endParaRPr lang="en-JM" dirty="0">
              <a:solidFill>
                <a:schemeClr val="tx1">
                  <a:lumMod val="75000"/>
                  <a:lumOff val="25000"/>
                </a:schemeClr>
              </a:solidFill>
            </a:endParaRPr>
          </a:p>
          <a:p>
            <a:pPr marL="0" eaLnBrk="1" fontAlgn="auto" hangingPunct="1">
              <a:spcBef>
                <a:spcPts val="0"/>
              </a:spcBef>
              <a:spcAft>
                <a:spcPts val="0"/>
              </a:spcAft>
              <a:buFont typeface="Arial" pitchFamily="34" charset="0"/>
              <a:buNone/>
              <a:defRPr/>
            </a:pPr>
            <a:endParaRPr lang="en-JM" dirty="0">
              <a:solidFill>
                <a:schemeClr val="tx1">
                  <a:lumMod val="75000"/>
                  <a:lumOff val="25000"/>
                </a:schemeClr>
              </a:solidFill>
            </a:endParaRPr>
          </a:p>
        </p:txBody>
      </p:sp>
      <p:sp>
        <p:nvSpPr>
          <p:cNvPr id="8" name="Footer Placeholder 12"/>
          <p:cNvSpPr>
            <a:spLocks noGrp="1"/>
          </p:cNvSpPr>
          <p:nvPr>
            <p:ph type="ftr" sz="quarter" idx="11"/>
          </p:nvPr>
        </p:nvSpPr>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C426D44D-B76C-4119-B13B-2E3D96707238}" type="slidenum">
              <a:rPr lang="en-JM" smtClean="0">
                <a:solidFill>
                  <a:schemeClr val="bg1"/>
                </a:solidFill>
              </a:rPr>
              <a:pPr fontAlgn="base">
                <a:spcBef>
                  <a:spcPct val="0"/>
                </a:spcBef>
                <a:spcAft>
                  <a:spcPct val="0"/>
                </a:spcAft>
                <a:defRPr/>
              </a:pPr>
              <a:t>156</a:t>
            </a:fld>
            <a:endParaRPr lang="en-JM">
              <a:solidFill>
                <a:schemeClr val="bg1"/>
              </a:solidFil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fr-FR" dirty="0">
                <a:ea typeface="MS Mincho" pitchFamily="49" charset="-128"/>
              </a:rPr>
              <a:t>DOM (Document Object Model)</a:t>
            </a:r>
            <a:endParaRPr lang="en-JM" dirty="0"/>
          </a:p>
        </p:txBody>
      </p:sp>
      <p:sp>
        <p:nvSpPr>
          <p:cNvPr id="3" name="Content Placeholder 2"/>
          <p:cNvSpPr>
            <a:spLocks noGrp="1"/>
          </p:cNvSpPr>
          <p:nvPr>
            <p:ph idx="1"/>
          </p:nvPr>
        </p:nvSpPr>
        <p:spPr>
          <a:xfrm>
            <a:off x="457200" y="1493838"/>
            <a:ext cx="8229600" cy="4525962"/>
          </a:xfrm>
        </p:spPr>
        <p:txBody>
          <a:bodyPr rtlCol="0">
            <a:normAutofit fontScale="70000" lnSpcReduction="20000"/>
          </a:bodyPr>
          <a:lstStyle/>
          <a:p>
            <a:pPr marL="0" lvl="1" indent="0" eaLnBrk="1" hangingPunct="1">
              <a:buFont typeface="Arial" charset="0"/>
              <a:buNone/>
              <a:tabLst>
                <a:tab pos="8439150" algn="r"/>
              </a:tabLst>
              <a:defRPr/>
            </a:pPr>
            <a:r>
              <a:rPr lang="fr-FR" b="1" dirty="0">
                <a:ea typeface="MS Mincho" pitchFamily="49" charset="-128"/>
              </a:rPr>
              <a:t>Les méthodes de lecture / modification :</a:t>
            </a:r>
          </a:p>
          <a:p>
            <a:pPr marL="0" lvl="1" indent="0" eaLnBrk="1" hangingPunct="1">
              <a:buFont typeface="Arial" charset="0"/>
              <a:buNone/>
              <a:tabLst>
                <a:tab pos="8439150" algn="r"/>
              </a:tabLst>
              <a:defRPr/>
            </a:pPr>
            <a:endParaRPr lang="fr-FR" b="1" dirty="0">
              <a:ea typeface="MS Mincho" pitchFamily="49" charset="-128"/>
            </a:endParaRPr>
          </a:p>
          <a:p>
            <a:pPr lvl="1" eaLnBrk="1" hangingPunct="1">
              <a:tabLst>
                <a:tab pos="8439150" algn="r"/>
              </a:tabLst>
              <a:defRPr/>
            </a:pPr>
            <a:r>
              <a:rPr lang="fr-FR" dirty="0" err="1">
                <a:solidFill>
                  <a:srgbClr val="009AD0"/>
                </a:solidFill>
                <a:ea typeface="MS Mincho" pitchFamily="49" charset="-128"/>
              </a:rPr>
              <a:t>hasAttributes</a:t>
            </a:r>
            <a:r>
              <a:rPr lang="fr-FR" dirty="0">
                <a:solidFill>
                  <a:srgbClr val="009AD0"/>
                </a:solidFill>
                <a:ea typeface="MS Mincho" pitchFamily="49" charset="-128"/>
              </a:rPr>
              <a:t>()</a:t>
            </a:r>
          </a:p>
          <a:p>
            <a:pPr lvl="1" eaLnBrk="1" hangingPunct="1">
              <a:tabLst>
                <a:tab pos="8439150" algn="r"/>
              </a:tabLst>
              <a:defRPr/>
            </a:pPr>
            <a:r>
              <a:rPr lang="fr-FR" dirty="0" err="1">
                <a:solidFill>
                  <a:srgbClr val="009AD0"/>
                </a:solidFill>
                <a:ea typeface="MS Mincho" pitchFamily="49" charset="-128"/>
              </a:rPr>
              <a:t>hasChildNodes</a:t>
            </a:r>
            <a:r>
              <a:rPr lang="fr-FR" dirty="0">
                <a:solidFill>
                  <a:srgbClr val="009AD0"/>
                </a:solidFill>
                <a:ea typeface="MS Mincho" pitchFamily="49" charset="-128"/>
              </a:rPr>
              <a:t>()</a:t>
            </a:r>
          </a:p>
          <a:p>
            <a:pPr lvl="1" eaLnBrk="1" hangingPunct="1">
              <a:tabLst>
                <a:tab pos="8439150" algn="r"/>
              </a:tabLst>
              <a:defRPr/>
            </a:pPr>
            <a:r>
              <a:rPr lang="fr-FR" b="1" dirty="0" err="1">
                <a:solidFill>
                  <a:srgbClr val="009AD0"/>
                </a:solidFill>
                <a:ea typeface="MS Mincho" pitchFamily="49" charset="-128"/>
              </a:rPr>
              <a:t>createElement</a:t>
            </a:r>
            <a:r>
              <a:rPr lang="fr-FR" b="1" dirty="0">
                <a:solidFill>
                  <a:srgbClr val="009AD0"/>
                </a:solidFill>
                <a:ea typeface="MS Mincho" pitchFamily="49" charset="-128"/>
              </a:rPr>
              <a:t>(</a:t>
            </a:r>
            <a:r>
              <a:rPr lang="fr-FR" b="1" dirty="0" err="1">
                <a:solidFill>
                  <a:srgbClr val="009AD0"/>
                </a:solidFill>
                <a:ea typeface="MS Mincho" pitchFamily="49" charset="-128"/>
              </a:rPr>
              <a:t>tagName</a:t>
            </a:r>
            <a:r>
              <a:rPr lang="fr-FR" b="1" dirty="0">
                <a:solidFill>
                  <a:srgbClr val="009AD0"/>
                </a:solidFill>
                <a:ea typeface="MS Mincho" pitchFamily="49" charset="-128"/>
              </a:rPr>
              <a:t>)</a:t>
            </a:r>
          </a:p>
          <a:p>
            <a:pPr lvl="1" eaLnBrk="1" hangingPunct="1">
              <a:tabLst>
                <a:tab pos="8439150" algn="r"/>
              </a:tabLst>
              <a:defRPr/>
            </a:pPr>
            <a:r>
              <a:rPr lang="fr-FR" dirty="0" err="1">
                <a:solidFill>
                  <a:srgbClr val="009AD0"/>
                </a:solidFill>
                <a:ea typeface="MS Mincho" pitchFamily="49" charset="-128"/>
              </a:rPr>
              <a:t>getElementById</a:t>
            </a:r>
            <a:r>
              <a:rPr lang="fr-FR" dirty="0">
                <a:solidFill>
                  <a:srgbClr val="009AD0"/>
                </a:solidFill>
                <a:ea typeface="MS Mincho" pitchFamily="49" charset="-128"/>
              </a:rPr>
              <a:t>( </a:t>
            </a:r>
            <a:r>
              <a:rPr lang="fr-FR" dirty="0" err="1">
                <a:solidFill>
                  <a:srgbClr val="009AD0"/>
                </a:solidFill>
                <a:ea typeface="MS Mincho" pitchFamily="49" charset="-128"/>
              </a:rPr>
              <a:t>idOfElement</a:t>
            </a:r>
            <a:r>
              <a:rPr lang="fr-FR" dirty="0">
                <a:solidFill>
                  <a:srgbClr val="009AD0"/>
                </a:solidFill>
                <a:ea typeface="MS Mincho" pitchFamily="49" charset="-128"/>
              </a:rPr>
              <a:t>)</a:t>
            </a:r>
          </a:p>
          <a:p>
            <a:pPr lvl="1" eaLnBrk="1" hangingPunct="1">
              <a:tabLst>
                <a:tab pos="8439150" algn="r"/>
              </a:tabLst>
              <a:defRPr/>
            </a:pPr>
            <a:r>
              <a:rPr lang="fr-FR" b="1" dirty="0" err="1">
                <a:solidFill>
                  <a:srgbClr val="009AD0"/>
                </a:solidFill>
                <a:ea typeface="MS Mincho" pitchFamily="49" charset="-128"/>
              </a:rPr>
              <a:t>appendChild</a:t>
            </a:r>
            <a:r>
              <a:rPr lang="fr-FR" b="1" dirty="0">
                <a:solidFill>
                  <a:srgbClr val="009AD0"/>
                </a:solidFill>
                <a:ea typeface="MS Mincho" pitchFamily="49" charset="-128"/>
              </a:rPr>
              <a:t>( </a:t>
            </a:r>
            <a:r>
              <a:rPr lang="fr-FR" b="1" dirty="0" err="1">
                <a:solidFill>
                  <a:srgbClr val="009AD0"/>
                </a:solidFill>
                <a:ea typeface="MS Mincho" pitchFamily="49" charset="-128"/>
              </a:rPr>
              <a:t>newChild</a:t>
            </a:r>
            <a:r>
              <a:rPr lang="fr-FR" b="1" dirty="0">
                <a:solidFill>
                  <a:srgbClr val="009AD0"/>
                </a:solidFill>
                <a:ea typeface="MS Mincho" pitchFamily="49" charset="-128"/>
              </a:rPr>
              <a:t>)</a:t>
            </a:r>
          </a:p>
          <a:p>
            <a:pPr lvl="1" eaLnBrk="1" hangingPunct="1">
              <a:tabLst>
                <a:tab pos="8439150" algn="r"/>
              </a:tabLst>
              <a:defRPr/>
            </a:pPr>
            <a:r>
              <a:rPr lang="fr-FR" dirty="0" err="1">
                <a:solidFill>
                  <a:srgbClr val="009AD0"/>
                </a:solidFill>
                <a:ea typeface="MS Mincho" pitchFamily="49" charset="-128"/>
              </a:rPr>
              <a:t>cloneNode</a:t>
            </a:r>
            <a:r>
              <a:rPr lang="fr-FR" dirty="0">
                <a:solidFill>
                  <a:srgbClr val="009AD0"/>
                </a:solidFill>
                <a:ea typeface="MS Mincho" pitchFamily="49" charset="-128"/>
              </a:rPr>
              <a:t>(</a:t>
            </a:r>
            <a:r>
              <a:rPr lang="fr-FR" dirty="0" err="1">
                <a:solidFill>
                  <a:srgbClr val="009AD0"/>
                </a:solidFill>
                <a:ea typeface="MS Mincho" pitchFamily="49" charset="-128"/>
              </a:rPr>
              <a:t>true</a:t>
            </a:r>
            <a:r>
              <a:rPr lang="fr-FR" dirty="0">
                <a:solidFill>
                  <a:srgbClr val="009AD0"/>
                </a:solidFill>
                <a:ea typeface="MS Mincho" pitchFamily="49" charset="-128"/>
              </a:rPr>
              <a:t>/false)</a:t>
            </a:r>
          </a:p>
          <a:p>
            <a:pPr lvl="1" eaLnBrk="1" hangingPunct="1">
              <a:tabLst>
                <a:tab pos="8439150" algn="r"/>
              </a:tabLst>
              <a:defRPr/>
            </a:pPr>
            <a:r>
              <a:rPr lang="fr-FR" dirty="0" err="1">
                <a:solidFill>
                  <a:srgbClr val="009AD0"/>
                </a:solidFill>
                <a:ea typeface="MS Mincho" pitchFamily="49" charset="-128"/>
              </a:rPr>
              <a:t>insertBefore</a:t>
            </a:r>
            <a:r>
              <a:rPr lang="fr-FR" dirty="0">
                <a:solidFill>
                  <a:srgbClr val="009AD0"/>
                </a:solidFill>
                <a:ea typeface="MS Mincho" pitchFamily="49" charset="-128"/>
              </a:rPr>
              <a:t>( </a:t>
            </a:r>
            <a:r>
              <a:rPr lang="fr-FR" dirty="0" err="1">
                <a:solidFill>
                  <a:srgbClr val="009AD0"/>
                </a:solidFill>
                <a:ea typeface="MS Mincho" pitchFamily="49" charset="-128"/>
              </a:rPr>
              <a:t>newNode</a:t>
            </a:r>
            <a:r>
              <a:rPr lang="fr-FR" dirty="0">
                <a:solidFill>
                  <a:srgbClr val="009AD0"/>
                </a:solidFill>
                <a:ea typeface="MS Mincho" pitchFamily="49" charset="-128"/>
              </a:rPr>
              <a:t>, </a:t>
            </a:r>
            <a:r>
              <a:rPr lang="fr-FR" dirty="0" err="1">
                <a:solidFill>
                  <a:srgbClr val="009AD0"/>
                </a:solidFill>
                <a:ea typeface="MS Mincho" pitchFamily="49" charset="-128"/>
              </a:rPr>
              <a:t>refNode</a:t>
            </a:r>
            <a:r>
              <a:rPr lang="fr-FR" dirty="0">
                <a:solidFill>
                  <a:srgbClr val="009AD0"/>
                </a:solidFill>
                <a:ea typeface="MS Mincho" pitchFamily="49" charset="-128"/>
              </a:rPr>
              <a:t>)</a:t>
            </a:r>
          </a:p>
          <a:p>
            <a:pPr lvl="1" eaLnBrk="1" hangingPunct="1">
              <a:tabLst>
                <a:tab pos="8439150" algn="r"/>
              </a:tabLst>
              <a:defRPr/>
            </a:pPr>
            <a:r>
              <a:rPr lang="fr-FR" b="1" dirty="0" err="1">
                <a:solidFill>
                  <a:srgbClr val="009AD0"/>
                </a:solidFill>
                <a:ea typeface="MS Mincho" pitchFamily="49" charset="-128"/>
              </a:rPr>
              <a:t>removeChild</a:t>
            </a:r>
            <a:r>
              <a:rPr lang="fr-FR" b="1" dirty="0">
                <a:solidFill>
                  <a:srgbClr val="009AD0"/>
                </a:solidFill>
                <a:ea typeface="MS Mincho" pitchFamily="49" charset="-128"/>
              </a:rPr>
              <a:t>(</a:t>
            </a:r>
            <a:r>
              <a:rPr lang="fr-FR" b="1" dirty="0" err="1">
                <a:solidFill>
                  <a:srgbClr val="009AD0"/>
                </a:solidFill>
                <a:ea typeface="MS Mincho" pitchFamily="49" charset="-128"/>
              </a:rPr>
              <a:t>refNode</a:t>
            </a:r>
            <a:r>
              <a:rPr lang="fr-FR" b="1" dirty="0">
                <a:solidFill>
                  <a:srgbClr val="009AD0"/>
                </a:solidFill>
                <a:ea typeface="MS Mincho" pitchFamily="49" charset="-128"/>
              </a:rPr>
              <a:t>)</a:t>
            </a:r>
          </a:p>
          <a:p>
            <a:pPr lvl="1" eaLnBrk="1" hangingPunct="1">
              <a:tabLst>
                <a:tab pos="8439150" algn="r"/>
              </a:tabLst>
              <a:defRPr/>
            </a:pPr>
            <a:r>
              <a:rPr lang="fr-FR" dirty="0" err="1">
                <a:solidFill>
                  <a:srgbClr val="009AD0"/>
                </a:solidFill>
                <a:ea typeface="MS Mincho" pitchFamily="49" charset="-128"/>
              </a:rPr>
              <a:t>replaceChild</a:t>
            </a:r>
            <a:r>
              <a:rPr lang="fr-FR" dirty="0">
                <a:solidFill>
                  <a:srgbClr val="009AD0"/>
                </a:solidFill>
                <a:ea typeface="MS Mincho" pitchFamily="49" charset="-128"/>
              </a:rPr>
              <a:t>( </a:t>
            </a:r>
            <a:r>
              <a:rPr lang="fr-FR" dirty="0" err="1">
                <a:solidFill>
                  <a:srgbClr val="009AD0"/>
                </a:solidFill>
                <a:ea typeface="MS Mincho" pitchFamily="49" charset="-128"/>
              </a:rPr>
              <a:t>newNode</a:t>
            </a:r>
            <a:r>
              <a:rPr lang="fr-FR" dirty="0">
                <a:solidFill>
                  <a:srgbClr val="009AD0"/>
                </a:solidFill>
                <a:ea typeface="MS Mincho" pitchFamily="49" charset="-128"/>
              </a:rPr>
              <a:t>, </a:t>
            </a:r>
            <a:r>
              <a:rPr lang="fr-FR" dirty="0" err="1">
                <a:solidFill>
                  <a:srgbClr val="009AD0"/>
                </a:solidFill>
                <a:ea typeface="MS Mincho" pitchFamily="49" charset="-128"/>
              </a:rPr>
              <a:t>refNode</a:t>
            </a:r>
            <a:r>
              <a:rPr lang="fr-FR" dirty="0">
                <a:solidFill>
                  <a:srgbClr val="009AD0"/>
                </a:solidFill>
                <a:ea typeface="MS Mincho" pitchFamily="49" charset="-128"/>
              </a:rPr>
              <a:t>)… </a:t>
            </a:r>
            <a:r>
              <a:rPr lang="fr-FR" dirty="0">
                <a:ea typeface="MS Mincho" pitchFamily="49" charset="-128"/>
              </a:rPr>
              <a:t>(sous MSIE on a aussi </a:t>
            </a:r>
            <a:r>
              <a:rPr lang="fr-FR" dirty="0" err="1">
                <a:ea typeface="MS Mincho" pitchFamily="49" charset="-128"/>
              </a:rPr>
              <a:t>replaceNode</a:t>
            </a:r>
            <a:r>
              <a:rPr lang="fr-FR" dirty="0">
                <a:ea typeface="MS Mincho" pitchFamily="49" charset="-128"/>
              </a:rPr>
              <a:t>)</a:t>
            </a:r>
          </a:p>
          <a:p>
            <a:pPr marL="457200" lvl="1" indent="0" eaLnBrk="1" hangingPunct="1">
              <a:buFont typeface="Arial" charset="0"/>
              <a:buNone/>
              <a:tabLst>
                <a:tab pos="8439150" algn="r"/>
              </a:tabLst>
              <a:defRPr/>
            </a:pPr>
            <a:endParaRPr lang="fr-FR" dirty="0">
              <a:ea typeface="MS Mincho" pitchFamily="49" charset="-128"/>
            </a:endParaRPr>
          </a:p>
          <a:p>
            <a:pPr marL="0" lvl="1" indent="0" eaLnBrk="1" hangingPunct="1">
              <a:buFont typeface="Arial" charset="0"/>
              <a:buNone/>
              <a:tabLst>
                <a:tab pos="8439150" algn="r"/>
              </a:tabLst>
              <a:defRPr/>
            </a:pPr>
            <a:r>
              <a:rPr lang="fr-FR" b="1" dirty="0">
                <a:ea typeface="MS Mincho" pitchFamily="49" charset="-128"/>
              </a:rPr>
              <a:t>L’interface Text étend la capacité des nœuds pour les TEXT_NODE</a:t>
            </a:r>
            <a:endParaRPr lang="en-JM" b="1" dirty="0">
              <a:solidFill>
                <a:schemeClr val="tx1">
                  <a:lumMod val="75000"/>
                  <a:lumOff val="25000"/>
                </a:schemeClr>
              </a:solidFill>
            </a:endParaRPr>
          </a:p>
          <a:p>
            <a:pPr marL="0" eaLnBrk="1" fontAlgn="auto" hangingPunct="1">
              <a:spcBef>
                <a:spcPts val="0"/>
              </a:spcBef>
              <a:spcAft>
                <a:spcPts val="0"/>
              </a:spcAft>
              <a:buFont typeface="Arial" pitchFamily="34" charset="0"/>
              <a:buNone/>
              <a:defRPr/>
            </a:pPr>
            <a:endParaRPr lang="en-JM" dirty="0">
              <a:solidFill>
                <a:schemeClr val="tx1">
                  <a:lumMod val="75000"/>
                  <a:lumOff val="25000"/>
                </a:schemeClr>
              </a:solidFill>
            </a:endParaRPr>
          </a:p>
        </p:txBody>
      </p:sp>
      <p:sp>
        <p:nvSpPr>
          <p:cNvPr id="8" name="Footer Placeholder 12"/>
          <p:cNvSpPr>
            <a:spLocks noGrp="1"/>
          </p:cNvSpPr>
          <p:nvPr>
            <p:ph type="ftr" sz="quarter" idx="11"/>
          </p:nvPr>
        </p:nvSpPr>
        <p:spPr>
          <a:xfrm>
            <a:off x="457200" y="6400800"/>
            <a:ext cx="5638800" cy="365125"/>
          </a:xfrm>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xfrm>
            <a:off x="8153400" y="0"/>
            <a:ext cx="585788"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93BA048D-B85A-4254-A726-18DD0CCF84A1}" type="slidenum">
              <a:rPr lang="en-JM" smtClean="0">
                <a:solidFill>
                  <a:schemeClr val="bg1"/>
                </a:solidFill>
              </a:rPr>
              <a:pPr fontAlgn="base">
                <a:spcBef>
                  <a:spcPct val="0"/>
                </a:spcBef>
                <a:spcAft>
                  <a:spcPct val="0"/>
                </a:spcAft>
                <a:defRPr/>
              </a:pPr>
              <a:t>157</a:t>
            </a:fld>
            <a:endParaRPr lang="en-JM">
              <a:solidFill>
                <a:schemeClr val="bg1"/>
              </a:solidFill>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fr-FR" dirty="0">
                <a:ea typeface="MS Mincho" pitchFamily="49" charset="-128"/>
              </a:rPr>
              <a:t>DOM (Document Object Model)</a:t>
            </a:r>
            <a:endParaRPr lang="en-JM" dirty="0"/>
          </a:p>
        </p:txBody>
      </p:sp>
      <p:sp>
        <p:nvSpPr>
          <p:cNvPr id="3" name="Content Placeholder 2"/>
          <p:cNvSpPr>
            <a:spLocks noGrp="1"/>
          </p:cNvSpPr>
          <p:nvPr>
            <p:ph idx="1"/>
          </p:nvPr>
        </p:nvSpPr>
        <p:spPr>
          <a:xfrm>
            <a:off x="457200" y="1493838"/>
            <a:ext cx="8229600" cy="4525962"/>
          </a:xfrm>
        </p:spPr>
        <p:txBody>
          <a:bodyPr rtlCol="0">
            <a:normAutofit fontScale="70000" lnSpcReduction="20000"/>
          </a:bodyPr>
          <a:lstStyle/>
          <a:p>
            <a:pPr marL="0" lvl="1" indent="0" eaLnBrk="1" hangingPunct="1">
              <a:buFont typeface="Arial" charset="0"/>
              <a:buNone/>
              <a:tabLst>
                <a:tab pos="8439150" algn="r"/>
              </a:tabLst>
              <a:defRPr/>
            </a:pPr>
            <a:r>
              <a:rPr lang="fr-FR" b="1" dirty="0">
                <a:ea typeface="MS Mincho" pitchFamily="49" charset="-128"/>
              </a:rPr>
              <a:t>L’interface Element étend la capacité des nœuds pour les ELEMENT_NODE,</a:t>
            </a:r>
          </a:p>
          <a:p>
            <a:pPr marL="0" lvl="1" indent="0" eaLnBrk="1" hangingPunct="1">
              <a:buFont typeface="Arial" charset="0"/>
              <a:buNone/>
              <a:tabLst>
                <a:tab pos="8439150" algn="r"/>
              </a:tabLst>
              <a:defRPr/>
            </a:pPr>
            <a:r>
              <a:rPr lang="fr-FR" b="1" dirty="0">
                <a:ea typeface="MS Mincho" pitchFamily="49" charset="-128"/>
              </a:rPr>
              <a:t>propriétés et méthodes : </a:t>
            </a:r>
          </a:p>
          <a:p>
            <a:pPr marL="0" lvl="1" indent="0" eaLnBrk="1" hangingPunct="1">
              <a:buFont typeface="Arial" charset="0"/>
              <a:buNone/>
              <a:tabLst>
                <a:tab pos="8439150" algn="r"/>
              </a:tabLst>
              <a:defRPr/>
            </a:pPr>
            <a:endParaRPr lang="fr-FR" dirty="0">
              <a:ea typeface="MS Mincho" pitchFamily="49" charset="-128"/>
            </a:endParaRPr>
          </a:p>
          <a:p>
            <a:pPr lvl="1" eaLnBrk="1" hangingPunct="1">
              <a:tabLst>
                <a:tab pos="8439150" algn="r"/>
              </a:tabLst>
              <a:defRPr/>
            </a:pPr>
            <a:r>
              <a:rPr lang="fr-FR" b="1" dirty="0" err="1">
                <a:solidFill>
                  <a:srgbClr val="009AD0"/>
                </a:solidFill>
                <a:ea typeface="MS Mincho" pitchFamily="49" charset="-128"/>
              </a:rPr>
              <a:t>tagName</a:t>
            </a:r>
            <a:endParaRPr lang="fr-FR" b="1" dirty="0">
              <a:solidFill>
                <a:srgbClr val="009AD0"/>
              </a:solidFill>
              <a:ea typeface="MS Mincho" pitchFamily="49" charset="-128"/>
            </a:endParaRPr>
          </a:p>
          <a:p>
            <a:pPr lvl="1" eaLnBrk="1" hangingPunct="1">
              <a:tabLst>
                <a:tab pos="8439150" algn="r"/>
              </a:tabLst>
              <a:defRPr/>
            </a:pPr>
            <a:r>
              <a:rPr lang="fr-FR" b="1" dirty="0" err="1">
                <a:solidFill>
                  <a:srgbClr val="009AD0"/>
                </a:solidFill>
                <a:ea typeface="MS Mincho" pitchFamily="49" charset="-128"/>
              </a:rPr>
              <a:t>hasAttribute</a:t>
            </a:r>
            <a:r>
              <a:rPr lang="fr-FR" b="1" dirty="0">
                <a:solidFill>
                  <a:srgbClr val="009AD0"/>
                </a:solidFill>
                <a:ea typeface="MS Mincho" pitchFamily="49" charset="-128"/>
              </a:rPr>
              <a:t>( </a:t>
            </a:r>
            <a:r>
              <a:rPr lang="fr-FR" dirty="0" err="1">
                <a:solidFill>
                  <a:srgbClr val="009AD0"/>
                </a:solidFill>
                <a:ea typeface="MS Mincho" pitchFamily="49" charset="-128"/>
              </a:rPr>
              <a:t>atrName</a:t>
            </a:r>
            <a:r>
              <a:rPr lang="fr-FR" b="1" dirty="0">
                <a:solidFill>
                  <a:srgbClr val="009AD0"/>
                </a:solidFill>
                <a:ea typeface="MS Mincho" pitchFamily="49" charset="-128"/>
              </a:rPr>
              <a:t>)</a:t>
            </a:r>
          </a:p>
          <a:p>
            <a:pPr lvl="1" eaLnBrk="1" hangingPunct="1">
              <a:tabLst>
                <a:tab pos="8439150" algn="r"/>
              </a:tabLst>
              <a:defRPr/>
            </a:pPr>
            <a:r>
              <a:rPr lang="fr-FR" b="1" dirty="0" err="1">
                <a:solidFill>
                  <a:srgbClr val="009AD0"/>
                </a:solidFill>
                <a:ea typeface="MS Mincho" pitchFamily="49" charset="-128"/>
              </a:rPr>
              <a:t>getAttribute</a:t>
            </a:r>
            <a:r>
              <a:rPr lang="fr-FR" b="1" dirty="0">
                <a:solidFill>
                  <a:srgbClr val="009AD0"/>
                </a:solidFill>
                <a:ea typeface="MS Mincho" pitchFamily="49" charset="-128"/>
              </a:rPr>
              <a:t>( </a:t>
            </a:r>
            <a:r>
              <a:rPr lang="fr-FR" dirty="0" err="1">
                <a:solidFill>
                  <a:srgbClr val="009AD0"/>
                </a:solidFill>
                <a:ea typeface="MS Mincho" pitchFamily="49" charset="-128"/>
              </a:rPr>
              <a:t>atrName</a:t>
            </a:r>
            <a:r>
              <a:rPr lang="fr-FR" b="1" dirty="0">
                <a:solidFill>
                  <a:srgbClr val="009AD0"/>
                </a:solidFill>
                <a:ea typeface="MS Mincho" pitchFamily="49" charset="-128"/>
              </a:rPr>
              <a:t>)</a:t>
            </a:r>
          </a:p>
          <a:p>
            <a:pPr lvl="1" eaLnBrk="1" hangingPunct="1">
              <a:tabLst>
                <a:tab pos="8439150" algn="r"/>
              </a:tabLst>
              <a:defRPr/>
            </a:pPr>
            <a:r>
              <a:rPr lang="fr-FR" b="1" dirty="0" err="1">
                <a:solidFill>
                  <a:srgbClr val="009AD0"/>
                </a:solidFill>
                <a:ea typeface="MS Mincho" pitchFamily="49" charset="-128"/>
              </a:rPr>
              <a:t>getElementsByTagName</a:t>
            </a:r>
            <a:r>
              <a:rPr lang="fr-FR" b="1" dirty="0">
                <a:solidFill>
                  <a:srgbClr val="009AD0"/>
                </a:solidFill>
                <a:ea typeface="MS Mincho" pitchFamily="49" charset="-128"/>
              </a:rPr>
              <a:t>( </a:t>
            </a:r>
            <a:r>
              <a:rPr lang="fr-FR" dirty="0" err="1">
                <a:solidFill>
                  <a:srgbClr val="009AD0"/>
                </a:solidFill>
                <a:ea typeface="MS Mincho" pitchFamily="49" charset="-128"/>
              </a:rPr>
              <a:t>tagName</a:t>
            </a:r>
            <a:r>
              <a:rPr lang="fr-FR" b="1" dirty="0">
                <a:solidFill>
                  <a:srgbClr val="009AD0"/>
                </a:solidFill>
                <a:ea typeface="MS Mincho" pitchFamily="49" charset="-128"/>
              </a:rPr>
              <a:t>)</a:t>
            </a:r>
          </a:p>
          <a:p>
            <a:pPr lvl="1" eaLnBrk="1" hangingPunct="1">
              <a:tabLst>
                <a:tab pos="8439150" algn="r"/>
              </a:tabLst>
              <a:defRPr/>
            </a:pPr>
            <a:r>
              <a:rPr lang="fr-FR" b="1" dirty="0" err="1">
                <a:solidFill>
                  <a:srgbClr val="009AD0"/>
                </a:solidFill>
                <a:ea typeface="MS Mincho" pitchFamily="49" charset="-128"/>
              </a:rPr>
              <a:t>removeAttribute</a:t>
            </a:r>
            <a:r>
              <a:rPr lang="fr-FR" b="1" dirty="0">
                <a:solidFill>
                  <a:srgbClr val="009AD0"/>
                </a:solidFill>
                <a:ea typeface="MS Mincho" pitchFamily="49" charset="-128"/>
              </a:rPr>
              <a:t>( </a:t>
            </a:r>
            <a:r>
              <a:rPr lang="fr-FR" dirty="0" err="1">
                <a:solidFill>
                  <a:srgbClr val="009AD0"/>
                </a:solidFill>
                <a:ea typeface="MS Mincho" pitchFamily="49" charset="-128"/>
              </a:rPr>
              <a:t>atrName</a:t>
            </a:r>
            <a:r>
              <a:rPr lang="fr-FR" b="1" dirty="0">
                <a:solidFill>
                  <a:srgbClr val="009AD0"/>
                </a:solidFill>
                <a:ea typeface="MS Mincho" pitchFamily="49" charset="-128"/>
              </a:rPr>
              <a:t>)</a:t>
            </a:r>
          </a:p>
          <a:p>
            <a:pPr marL="914400" lvl="2" indent="0" eaLnBrk="1" hangingPunct="1">
              <a:buFont typeface="Arial" charset="0"/>
              <a:buNone/>
              <a:tabLst>
                <a:tab pos="8439150" algn="r"/>
              </a:tabLst>
              <a:defRPr/>
            </a:pPr>
            <a:endParaRPr lang="fr-FR" dirty="0">
              <a:ea typeface="MS Mincho" pitchFamily="49" charset="-128"/>
            </a:endParaRPr>
          </a:p>
          <a:p>
            <a:pPr marL="0" lvl="1" indent="0" eaLnBrk="1" hangingPunct="1">
              <a:buFont typeface="Arial" charset="0"/>
              <a:buNone/>
              <a:tabLst>
                <a:tab pos="8439150" algn="r"/>
              </a:tabLst>
              <a:defRPr/>
            </a:pPr>
            <a:r>
              <a:rPr lang="fr-FR" b="1" dirty="0">
                <a:ea typeface="MS Mincho" pitchFamily="49" charset="-128"/>
              </a:rPr>
              <a:t>Certaines fonctions renvoient des collections de nœuds :</a:t>
            </a:r>
          </a:p>
          <a:p>
            <a:pPr marL="0" lvl="1" indent="0" eaLnBrk="1" hangingPunct="1">
              <a:buFont typeface="Arial" charset="0"/>
              <a:buNone/>
              <a:tabLst>
                <a:tab pos="8439150" algn="r"/>
              </a:tabLst>
              <a:defRPr/>
            </a:pPr>
            <a:endParaRPr lang="fr-FR" b="1" dirty="0">
              <a:ea typeface="MS Mincho" pitchFamily="49" charset="-128"/>
            </a:endParaRPr>
          </a:p>
          <a:p>
            <a:pPr lvl="1" eaLnBrk="1" hangingPunct="1">
              <a:tabLst>
                <a:tab pos="8439150" algn="r"/>
              </a:tabLst>
              <a:defRPr/>
            </a:pPr>
            <a:r>
              <a:rPr lang="fr-FR" dirty="0">
                <a:ea typeface="MS Mincho" pitchFamily="49" charset="-128"/>
              </a:rPr>
              <a:t>NodeList : item( index), length</a:t>
            </a:r>
          </a:p>
          <a:p>
            <a:pPr lvl="1" eaLnBrk="1" hangingPunct="1">
              <a:tabLst>
                <a:tab pos="8439150" algn="r"/>
              </a:tabLst>
              <a:defRPr/>
            </a:pPr>
            <a:r>
              <a:rPr lang="fr-FR" dirty="0" err="1">
                <a:ea typeface="MS Mincho" pitchFamily="49" charset="-128"/>
              </a:rPr>
              <a:t>NamedNodeMap</a:t>
            </a:r>
            <a:r>
              <a:rPr lang="fr-FR" dirty="0">
                <a:ea typeface="MS Mincho" pitchFamily="49" charset="-128"/>
              </a:rPr>
              <a:t>: idem + </a:t>
            </a:r>
            <a:r>
              <a:rPr lang="fr-FR" dirty="0" err="1">
                <a:ea typeface="MS Mincho" pitchFamily="49" charset="-128"/>
              </a:rPr>
              <a:t>get</a:t>
            </a:r>
            <a:r>
              <a:rPr lang="fr-FR" dirty="0">
                <a:ea typeface="MS Mincho" pitchFamily="49" charset="-128"/>
              </a:rPr>
              <a:t>/</a:t>
            </a:r>
            <a:r>
              <a:rPr lang="fr-FR" dirty="0" err="1">
                <a:ea typeface="MS Mincho" pitchFamily="49" charset="-128"/>
              </a:rPr>
              <a:t>removeNamedItem</a:t>
            </a:r>
            <a:r>
              <a:rPr lang="fr-FR" dirty="0">
                <a:ea typeface="MS Mincho" pitchFamily="49" charset="-128"/>
              </a:rPr>
              <a:t>( str), </a:t>
            </a:r>
            <a:r>
              <a:rPr lang="fr-FR" dirty="0" err="1">
                <a:ea typeface="MS Mincho" pitchFamily="49" charset="-128"/>
              </a:rPr>
              <a:t>setNamedItem</a:t>
            </a:r>
            <a:r>
              <a:rPr lang="fr-FR" dirty="0">
                <a:ea typeface="MS Mincho" pitchFamily="49" charset="-128"/>
              </a:rPr>
              <a:t>( node)</a:t>
            </a:r>
          </a:p>
          <a:p>
            <a:pPr marL="0" eaLnBrk="1" fontAlgn="auto" hangingPunct="1">
              <a:spcBef>
                <a:spcPts val="0"/>
              </a:spcBef>
              <a:spcAft>
                <a:spcPts val="0"/>
              </a:spcAft>
              <a:buFont typeface="Arial" pitchFamily="34" charset="0"/>
              <a:buNone/>
              <a:defRPr/>
            </a:pPr>
            <a:endParaRPr lang="en-JM" dirty="0">
              <a:solidFill>
                <a:schemeClr val="tx1">
                  <a:lumMod val="75000"/>
                  <a:lumOff val="25000"/>
                </a:schemeClr>
              </a:solidFill>
            </a:endParaRPr>
          </a:p>
        </p:txBody>
      </p:sp>
      <p:sp>
        <p:nvSpPr>
          <p:cNvPr id="8" name="Footer Placeholder 12"/>
          <p:cNvSpPr>
            <a:spLocks noGrp="1"/>
          </p:cNvSpPr>
          <p:nvPr>
            <p:ph type="ftr" sz="quarter" idx="11"/>
          </p:nvPr>
        </p:nvSpPr>
        <p:spPr>
          <a:xfrm>
            <a:off x="457200" y="6400800"/>
            <a:ext cx="5638800" cy="365125"/>
          </a:xfrm>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xfrm>
            <a:off x="8153400" y="0"/>
            <a:ext cx="585788"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13AB6E2A-3CC0-4D63-B806-35984EF33D3A}" type="slidenum">
              <a:rPr lang="en-JM" smtClean="0">
                <a:solidFill>
                  <a:schemeClr val="bg1"/>
                </a:solidFill>
              </a:rPr>
              <a:pPr fontAlgn="base">
                <a:spcBef>
                  <a:spcPct val="0"/>
                </a:spcBef>
                <a:spcAft>
                  <a:spcPct val="0"/>
                </a:spcAft>
                <a:defRPr/>
              </a:pPr>
              <a:t>158</a:t>
            </a:fld>
            <a:endParaRPr lang="en-JM">
              <a:solidFill>
                <a:schemeClr val="bg1"/>
              </a:solidFill>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normAutofit/>
          </a:bodyPr>
          <a:lstStyle/>
          <a:p>
            <a:pPr eaLnBrk="1" fontAlgn="auto" hangingPunct="1">
              <a:spcAft>
                <a:spcPts val="0"/>
              </a:spcAft>
              <a:defRPr/>
            </a:pPr>
            <a:r>
              <a:rPr lang="fr-FR" dirty="0">
                <a:ea typeface="MS Mincho" pitchFamily="49" charset="-128"/>
              </a:rPr>
              <a:t>DOM (Document Object Model)</a:t>
            </a:r>
            <a:endParaRPr lang="en-JM" dirty="0"/>
          </a:p>
        </p:txBody>
      </p:sp>
      <p:sp>
        <p:nvSpPr>
          <p:cNvPr id="8" name="Footer Placeholder 12"/>
          <p:cNvSpPr>
            <a:spLocks noGrp="1"/>
          </p:cNvSpPr>
          <p:nvPr>
            <p:ph type="ftr" sz="quarter" idx="11"/>
          </p:nvPr>
        </p:nvSpPr>
        <p:spPr>
          <a:xfrm>
            <a:off x="457200" y="6400800"/>
            <a:ext cx="5638800" cy="365125"/>
          </a:xfrm>
        </p:spPr>
        <p:txBody>
          <a:bodyPr/>
          <a:lstStyle/>
          <a:p>
            <a:pPr>
              <a:defRPr/>
            </a:pPr>
            <a:r>
              <a:rPr lang="fr-FR" dirty="0"/>
              <a:t>JAVASCRIPT HTML DYNAMIQUE</a:t>
            </a:r>
            <a:endParaRPr lang="en-JM" dirty="0"/>
          </a:p>
        </p:txBody>
      </p:sp>
      <p:sp>
        <p:nvSpPr>
          <p:cNvPr id="22532" name="Slide Number Placeholder 8"/>
          <p:cNvSpPr>
            <a:spLocks noGrp="1"/>
          </p:cNvSpPr>
          <p:nvPr>
            <p:ph type="sldNum" sz="quarter" idx="12"/>
          </p:nvPr>
        </p:nvSpPr>
        <p:spPr bwMode="auto">
          <a:xfrm>
            <a:off x="8153400" y="0"/>
            <a:ext cx="585788" cy="3651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DA74427E-3648-40B1-89B9-2E5E7C03A72A}" type="slidenum">
              <a:rPr lang="en-JM" smtClean="0">
                <a:solidFill>
                  <a:schemeClr val="bg1"/>
                </a:solidFill>
              </a:rPr>
              <a:pPr fontAlgn="base">
                <a:spcBef>
                  <a:spcPct val="0"/>
                </a:spcBef>
                <a:spcAft>
                  <a:spcPct val="0"/>
                </a:spcAft>
                <a:defRPr/>
              </a:pPr>
              <a:t>159</a:t>
            </a:fld>
            <a:endParaRPr lang="en-JM">
              <a:solidFill>
                <a:schemeClr val="bg1"/>
              </a:solidFill>
            </a:endParaRPr>
          </a:p>
        </p:txBody>
      </p:sp>
      <p:graphicFrame>
        <p:nvGraphicFramePr>
          <p:cNvPr id="9" name="Group 1112"/>
          <p:cNvGraphicFramePr>
            <a:graphicFrameLocks noGrp="1"/>
          </p:cNvGraphicFramePr>
          <p:nvPr/>
        </p:nvGraphicFramePr>
        <p:xfrm>
          <a:off x="609600" y="1676400"/>
          <a:ext cx="8066088" cy="4084640"/>
        </p:xfrm>
        <a:graphic>
          <a:graphicData uri="http://schemas.openxmlformats.org/drawingml/2006/table">
            <a:tbl>
              <a:tblPr/>
              <a:tblGrid>
                <a:gridCol w="1617908">
                  <a:extLst>
                    <a:ext uri="{9D8B030D-6E8A-4147-A177-3AD203B41FA5}">
                      <a16:colId xmlns:a16="http://schemas.microsoft.com/office/drawing/2014/main" val="20000"/>
                    </a:ext>
                  </a:extLst>
                </a:gridCol>
                <a:gridCol w="492406">
                  <a:extLst>
                    <a:ext uri="{9D8B030D-6E8A-4147-A177-3AD203B41FA5}">
                      <a16:colId xmlns:a16="http://schemas.microsoft.com/office/drawing/2014/main" val="20001"/>
                    </a:ext>
                  </a:extLst>
                </a:gridCol>
                <a:gridCol w="5955774">
                  <a:extLst>
                    <a:ext uri="{9D8B030D-6E8A-4147-A177-3AD203B41FA5}">
                      <a16:colId xmlns:a16="http://schemas.microsoft.com/office/drawing/2014/main" val="20002"/>
                    </a:ext>
                  </a:extLst>
                </a:gridCol>
              </a:tblGrid>
              <a:tr h="304824">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1" i="0" u="none" strike="noStrike" cap="none" normalizeH="0" baseline="0" dirty="0">
                          <a:ln>
                            <a:noFill/>
                          </a:ln>
                          <a:solidFill>
                            <a:schemeClr val="bg1"/>
                          </a:solidFill>
                          <a:effectLst/>
                          <a:latin typeface="Arial" charset="0"/>
                        </a:rPr>
                        <a:t>Module</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1"/>
                    </a:solid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1" i="0" u="none" strike="noStrike" cap="none" normalizeH="0" baseline="0" dirty="0">
                          <a:ln>
                            <a:noFill/>
                          </a:ln>
                          <a:solidFill>
                            <a:schemeClr val="bg1"/>
                          </a:solidFill>
                          <a:effectLst/>
                          <a:latin typeface="Arial" charset="0"/>
                        </a:rPr>
                        <a:t>Niv</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1"/>
                    </a:solid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1" i="0" u="none" strike="noStrike" cap="none" normalizeH="0" baseline="0" dirty="0">
                          <a:ln>
                            <a:noFill/>
                          </a:ln>
                          <a:solidFill>
                            <a:schemeClr val="bg1"/>
                          </a:solidFill>
                          <a:effectLst/>
                          <a:latin typeface="Arial" charset="0"/>
                        </a:rPr>
                        <a:t>Description</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solidFill>
                      <a:schemeClr val="tx1"/>
                    </a:solidFill>
                  </a:tcPr>
                </a:tc>
                <a:extLst>
                  <a:ext uri="{0D108BD9-81ED-4DB2-BD59-A6C34878D82A}">
                    <a16:rowId xmlns:a16="http://schemas.microsoft.com/office/drawing/2014/main" val="10000"/>
                  </a:ext>
                </a:extLst>
              </a:tr>
              <a:tr h="304824">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Core (noyau)</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1</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Interfaces fondamentales</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824">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HTML</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1</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Interface spécifique à (X)HTML dit DOMHtml</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824">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Views</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2</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dirty="0">
                          <a:ln>
                            <a:noFill/>
                          </a:ln>
                          <a:solidFill>
                            <a:schemeClr val="tx1"/>
                          </a:solidFill>
                          <a:effectLst/>
                          <a:latin typeface="Arial" charset="0"/>
                        </a:rPr>
                        <a:t>Manipulation de la présentation (ex: CSS)</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824">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dirty="0">
                          <a:ln>
                            <a:noFill/>
                          </a:ln>
                          <a:solidFill>
                            <a:schemeClr val="tx1"/>
                          </a:solidFill>
                          <a:effectLst/>
                          <a:latin typeface="Arial" charset="0"/>
                        </a:rPr>
                        <a:t>Events</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2</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Gestion des événements (écoute, propagation, traitement…)</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824">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Style</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2</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Manipulation des feuilles de styles</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18200">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Traversal &amp; Range</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2</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Parcours et filtrage du doc (traversal) et manipulation des fragments (range)</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04824">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dirty="0">
                          <a:ln>
                            <a:noFill/>
                          </a:ln>
                          <a:solidFill>
                            <a:schemeClr val="tx1"/>
                          </a:solidFill>
                          <a:effectLst/>
                          <a:latin typeface="Arial" charset="0"/>
                        </a:rPr>
                        <a:t>Load &amp; Save</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3</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Stockage et récupération des documents</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04824">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Validation</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3</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dirty="0">
                          <a:ln>
                            <a:noFill/>
                          </a:ln>
                          <a:solidFill>
                            <a:schemeClr val="tx1"/>
                          </a:solidFill>
                          <a:effectLst/>
                          <a:latin typeface="Arial" charset="0"/>
                        </a:rPr>
                        <a:t>Validation du document par rapport à sa grammaire (DTD / Schema)</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04824">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XPath</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3</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Extraction des nœuds à l’aide de XPath</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518200">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Views &amp; Formatting</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3</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Extension du module de Views</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04824">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Abstract Schemas</a:t>
                      </a:r>
                    </a:p>
                  </a:txBody>
                  <a:tcPr marL="84412" marR="84412" marT="45724" marB="4572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a:ln>
                            <a:noFill/>
                          </a:ln>
                          <a:solidFill>
                            <a:schemeClr val="tx1"/>
                          </a:solidFill>
                          <a:effectLst/>
                          <a:latin typeface="Arial" charset="0"/>
                        </a:rPr>
                        <a:t>3</a:t>
                      </a:r>
                    </a:p>
                  </a:txBody>
                  <a:tcPr marL="84412" marR="84412" marT="45724" marB="45724"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
                          <a:schemeClr val="tx1"/>
                        </a:buClr>
                        <a:buSzPct val="75000"/>
                        <a:buFont typeface="Wingdings" pitchFamily="2" charset="2"/>
                        <a:buNone/>
                        <a:tabLst/>
                      </a:pPr>
                      <a:r>
                        <a:rPr kumimoji="0" lang="fr-FR" sz="1400" b="0" i="0" u="none" strike="noStrike" cap="none" normalizeH="0" baseline="0" dirty="0">
                          <a:ln>
                            <a:noFill/>
                          </a:ln>
                          <a:solidFill>
                            <a:schemeClr val="tx1"/>
                          </a:solidFill>
                          <a:effectLst/>
                          <a:latin typeface="Arial" charset="0"/>
                        </a:rPr>
                        <a:t>Manipulation des grammaires (</a:t>
                      </a:r>
                      <a:r>
                        <a:rPr kumimoji="0" lang="fr-FR" sz="1400" b="0" i="0" u="none" strike="noStrike" cap="none" normalizeH="0" baseline="0" dirty="0" err="1">
                          <a:ln>
                            <a:noFill/>
                          </a:ln>
                          <a:solidFill>
                            <a:schemeClr val="tx1"/>
                          </a:solidFill>
                          <a:effectLst/>
                          <a:latin typeface="Arial" charset="0"/>
                        </a:rPr>
                        <a:t>DTD</a:t>
                      </a:r>
                      <a:r>
                        <a:rPr kumimoji="0" lang="fr-FR" sz="1400" b="0" i="0" u="none" strike="noStrike" cap="none" normalizeH="0" baseline="0" dirty="0">
                          <a:ln>
                            <a:noFill/>
                          </a:ln>
                          <a:solidFill>
                            <a:schemeClr val="tx1"/>
                          </a:solidFill>
                          <a:effectLst/>
                          <a:latin typeface="Arial" charset="0"/>
                        </a:rPr>
                        <a:t> / </a:t>
                      </a:r>
                      <a:r>
                        <a:rPr kumimoji="0" lang="fr-FR" sz="1400" b="0" i="0" u="none" strike="noStrike" cap="none" normalizeH="0" baseline="0" dirty="0" err="1">
                          <a:ln>
                            <a:noFill/>
                          </a:ln>
                          <a:solidFill>
                            <a:schemeClr val="tx1"/>
                          </a:solidFill>
                          <a:effectLst/>
                          <a:latin typeface="Arial" charset="0"/>
                        </a:rPr>
                        <a:t>Schemas</a:t>
                      </a:r>
                      <a:r>
                        <a:rPr kumimoji="0" lang="fr-FR" sz="1400" b="0" i="0" u="none" strike="noStrike" cap="none" normalizeH="0" baseline="0" dirty="0">
                          <a:ln>
                            <a:noFill/>
                          </a:ln>
                          <a:solidFill>
                            <a:schemeClr val="tx1"/>
                          </a:solidFill>
                          <a:effectLst/>
                          <a:latin typeface="Arial" charset="0"/>
                        </a:rPr>
                        <a:t>)</a:t>
                      </a:r>
                    </a:p>
                  </a:txBody>
                  <a:tcPr marL="84412" marR="84412" marT="45724" marB="4572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347397068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67612B-4520-4BF9-909C-AB816F7A41EC}"/>
              </a:ext>
            </a:extLst>
          </p:cNvPr>
          <p:cNvSpPr>
            <a:spLocks noGrp="1"/>
          </p:cNvSpPr>
          <p:nvPr>
            <p:ph type="title"/>
          </p:nvPr>
        </p:nvSpPr>
        <p:spPr/>
        <p:txBody>
          <a:bodyPr/>
          <a:lstStyle/>
          <a:p>
            <a:r>
              <a:rPr lang="fr-FR" dirty="0"/>
              <a:t>Un bistro service ?</a:t>
            </a:r>
          </a:p>
        </p:txBody>
      </p:sp>
      <p:sp>
        <p:nvSpPr>
          <p:cNvPr id="3" name="Espace réservé du contenu 2">
            <a:extLst>
              <a:ext uri="{FF2B5EF4-FFF2-40B4-BE49-F238E27FC236}">
                <a16:creationId xmlns:a16="http://schemas.microsoft.com/office/drawing/2014/main" id="{1F7C0DA1-69E2-4C5F-9488-ED4C2A0B4218}"/>
              </a:ext>
            </a:extLst>
          </p:cNvPr>
          <p:cNvSpPr>
            <a:spLocks noGrp="1"/>
          </p:cNvSpPr>
          <p:nvPr>
            <p:ph idx="1"/>
          </p:nvPr>
        </p:nvSpPr>
        <p:spPr/>
        <p:txBody>
          <a:bodyPr>
            <a:normAutofit fontScale="77500" lnSpcReduction="20000"/>
          </a:bodyPr>
          <a:lstStyle/>
          <a:p>
            <a:r>
              <a:rPr lang="fr-FR" dirty="0"/>
              <a:t>Un web service c’est comme </a:t>
            </a:r>
          </a:p>
          <a:p>
            <a:pPr marL="0" indent="0">
              <a:buNone/>
            </a:pPr>
            <a:r>
              <a:rPr lang="fr-FR" dirty="0"/>
              <a:t>Un bistrot</a:t>
            </a:r>
          </a:p>
          <a:p>
            <a:pPr marL="0" indent="0">
              <a:buNone/>
            </a:pPr>
            <a:r>
              <a:rPr lang="fr-FR" dirty="0"/>
              <a:t>	</a:t>
            </a:r>
          </a:p>
          <a:p>
            <a:pPr lvl="1"/>
            <a:r>
              <a:rPr lang="fr-FR" dirty="0"/>
              <a:t>Il est de bon ton d’adopter le protocole adéquat</a:t>
            </a:r>
          </a:p>
          <a:p>
            <a:pPr lvl="2"/>
            <a:r>
              <a:rPr lang="fr-FR" dirty="0"/>
              <a:t> Bonjour</a:t>
            </a:r>
          </a:p>
          <a:p>
            <a:pPr lvl="1"/>
            <a:endParaRPr lang="fr-FR" dirty="0"/>
          </a:p>
          <a:p>
            <a:pPr lvl="1"/>
            <a:r>
              <a:rPr lang="fr-FR" dirty="0"/>
              <a:t>Un serveur prend ma commande</a:t>
            </a:r>
          </a:p>
          <a:p>
            <a:pPr lvl="2"/>
            <a:r>
              <a:rPr lang="fr-FR" dirty="0"/>
              <a:t>Une bière pression</a:t>
            </a:r>
          </a:p>
          <a:p>
            <a:pPr lvl="2"/>
            <a:r>
              <a:rPr lang="fr-FR" dirty="0"/>
              <a:t>L’hydromel du patron est une bouteille</a:t>
            </a:r>
          </a:p>
          <a:p>
            <a:pPr marL="685800" lvl="2" indent="0">
              <a:buNone/>
            </a:pPr>
            <a:r>
              <a:rPr lang="fr-FR" dirty="0"/>
              <a:t>Qui ne peut être servis aux clients</a:t>
            </a:r>
          </a:p>
          <a:p>
            <a:pPr marL="685800" lvl="2" indent="0">
              <a:buNone/>
            </a:pPr>
            <a:endParaRPr lang="fr-FR" dirty="0"/>
          </a:p>
          <a:p>
            <a:pPr lvl="1"/>
            <a:r>
              <a:rPr lang="fr-FR" dirty="0"/>
              <a:t>Le serveur me sert ma commande </a:t>
            </a:r>
          </a:p>
          <a:p>
            <a:pPr marL="342900" lvl="1" indent="0">
              <a:buNone/>
            </a:pPr>
            <a:r>
              <a:rPr lang="fr-FR" dirty="0"/>
              <a:t>si cela est possible.</a:t>
            </a:r>
          </a:p>
          <a:p>
            <a:pPr lvl="2"/>
            <a:r>
              <a:rPr lang="fr-FR" dirty="0"/>
              <a:t>Je consomme ce qui m’a été servi dans </a:t>
            </a:r>
          </a:p>
          <a:p>
            <a:pPr lvl="3"/>
            <a:r>
              <a:rPr lang="fr-FR" dirty="0"/>
              <a:t>le verre adéquat </a:t>
            </a:r>
          </a:p>
          <a:p>
            <a:pPr lvl="3"/>
            <a:r>
              <a:rPr lang="fr-FR" dirty="0"/>
              <a:t>le volume parfait</a:t>
            </a:r>
          </a:p>
          <a:p>
            <a:pPr lvl="1"/>
            <a:endParaRPr lang="fr-FR" dirty="0"/>
          </a:p>
        </p:txBody>
      </p:sp>
      <p:grpSp>
        <p:nvGrpSpPr>
          <p:cNvPr id="5" name="Groupe 4">
            <a:extLst>
              <a:ext uri="{FF2B5EF4-FFF2-40B4-BE49-F238E27FC236}">
                <a16:creationId xmlns:a16="http://schemas.microsoft.com/office/drawing/2014/main" id="{8BEE808E-4C71-43B8-9537-EB12305D2CC3}"/>
              </a:ext>
            </a:extLst>
          </p:cNvPr>
          <p:cNvGrpSpPr/>
          <p:nvPr/>
        </p:nvGrpSpPr>
        <p:grpSpPr>
          <a:xfrm>
            <a:off x="5814139" y="3753036"/>
            <a:ext cx="2195443" cy="1751024"/>
            <a:chOff x="4499992" y="2708920"/>
            <a:chExt cx="4367417" cy="3702850"/>
          </a:xfrm>
        </p:grpSpPr>
        <p:pic>
          <p:nvPicPr>
            <p:cNvPr id="1026" name="Picture 2" descr="LENNE Création - Créateur et fabricant de colonnes à bière ...">
              <a:extLst>
                <a:ext uri="{FF2B5EF4-FFF2-40B4-BE49-F238E27FC236}">
                  <a16:creationId xmlns:a16="http://schemas.microsoft.com/office/drawing/2014/main" id="{09B841E7-BBEA-436F-953E-7340D671D8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99992" y="2708920"/>
              <a:ext cx="2582993" cy="357301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Pinte de Bière en main PNG transparents - StickPNG">
              <a:extLst>
                <a:ext uri="{FF2B5EF4-FFF2-40B4-BE49-F238E27FC236}">
                  <a16:creationId xmlns:a16="http://schemas.microsoft.com/office/drawing/2014/main" id="{D3B978A1-4012-4646-92A6-B5A6EDE9CB9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12985" y="4446874"/>
              <a:ext cx="2654424" cy="196489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6" name="Groupe 5">
            <a:extLst>
              <a:ext uri="{FF2B5EF4-FFF2-40B4-BE49-F238E27FC236}">
                <a16:creationId xmlns:a16="http://schemas.microsoft.com/office/drawing/2014/main" id="{DA1CD2AE-FBE7-4218-9AA1-FEED5F28B244}"/>
              </a:ext>
            </a:extLst>
          </p:cNvPr>
          <p:cNvGrpSpPr/>
          <p:nvPr/>
        </p:nvGrpSpPr>
        <p:grpSpPr>
          <a:xfrm>
            <a:off x="5976156" y="1790043"/>
            <a:ext cx="1765944" cy="929171"/>
            <a:chOff x="6079366" y="1281429"/>
            <a:chExt cx="2684967" cy="1369002"/>
          </a:xfrm>
        </p:grpSpPr>
        <p:sp>
          <p:nvSpPr>
            <p:cNvPr id="4" name="Rectangle : coins arrondis 3">
              <a:extLst>
                <a:ext uri="{FF2B5EF4-FFF2-40B4-BE49-F238E27FC236}">
                  <a16:creationId xmlns:a16="http://schemas.microsoft.com/office/drawing/2014/main" id="{56FA0935-7A4A-45C6-80F5-49187ECC382A}"/>
                </a:ext>
              </a:extLst>
            </p:cNvPr>
            <p:cNvSpPr/>
            <p:nvPr/>
          </p:nvSpPr>
          <p:spPr>
            <a:xfrm>
              <a:off x="6156177" y="1281429"/>
              <a:ext cx="2608156" cy="1368152"/>
            </a:xfrm>
            <a:prstGeom prst="roundRect">
              <a:avLst/>
            </a:prstGeom>
            <a:solidFill>
              <a:schemeClr val="bg1">
                <a:lumMod val="6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fr-FR" sz="1350" dirty="0"/>
                <a:t>Réserve</a:t>
              </a:r>
            </a:p>
          </p:txBody>
        </p:sp>
        <p:pic>
          <p:nvPicPr>
            <p:cNvPr id="1030" name="Picture 6" descr="Acheter des fûts Beertender en magasin - Choisir sa machine à bière">
              <a:extLst>
                <a:ext uri="{FF2B5EF4-FFF2-40B4-BE49-F238E27FC236}">
                  <a16:creationId xmlns:a16="http://schemas.microsoft.com/office/drawing/2014/main" id="{40EAFF53-7BAE-46B6-8607-113A4BB340B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38657" y="1700808"/>
              <a:ext cx="1219255" cy="887033"/>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ydromel doux bouteille en gres 75cl">
              <a:extLst>
                <a:ext uri="{FF2B5EF4-FFF2-40B4-BE49-F238E27FC236}">
                  <a16:creationId xmlns:a16="http://schemas.microsoft.com/office/drawing/2014/main" id="{624791B5-6E4A-4CBF-B51F-61315027CF8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79366" y="1570311"/>
              <a:ext cx="1080120" cy="108012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317887771"/>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F30A8E-998D-4D46-A1D7-657360B7CB87}"/>
              </a:ext>
            </a:extLst>
          </p:cNvPr>
          <p:cNvSpPr>
            <a:spLocks noGrp="1"/>
          </p:cNvSpPr>
          <p:nvPr>
            <p:ph type="title"/>
          </p:nvPr>
        </p:nvSpPr>
        <p:spPr/>
        <p:txBody>
          <a:bodyPr/>
          <a:lstStyle/>
          <a:p>
            <a:r>
              <a:rPr lang="fr-FR" dirty="0"/>
              <a:t>Un bistro service?</a:t>
            </a:r>
          </a:p>
        </p:txBody>
      </p:sp>
      <p:sp>
        <p:nvSpPr>
          <p:cNvPr id="3" name="Espace réservé du contenu 2">
            <a:extLst>
              <a:ext uri="{FF2B5EF4-FFF2-40B4-BE49-F238E27FC236}">
                <a16:creationId xmlns:a16="http://schemas.microsoft.com/office/drawing/2014/main" id="{3CD769D8-15EB-4C9B-BE5D-01401EC15948}"/>
              </a:ext>
            </a:extLst>
          </p:cNvPr>
          <p:cNvSpPr>
            <a:spLocks noGrp="1"/>
          </p:cNvSpPr>
          <p:nvPr>
            <p:ph idx="1"/>
          </p:nvPr>
        </p:nvSpPr>
        <p:spPr/>
        <p:txBody>
          <a:bodyPr/>
          <a:lstStyle/>
          <a:p>
            <a:r>
              <a:rPr lang="fr-FR" dirty="0"/>
              <a:t>Dans certaines enseignes il est possible de savoir ce qui est possible de commander</a:t>
            </a:r>
          </a:p>
          <a:p>
            <a:endParaRPr lang="fr-FR" dirty="0"/>
          </a:p>
          <a:p>
            <a:r>
              <a:rPr lang="fr-FR" dirty="0"/>
              <a:t>Il est même expliquer que </a:t>
            </a:r>
          </a:p>
          <a:p>
            <a:pPr lvl="1"/>
            <a:r>
              <a:rPr lang="fr-FR" dirty="0"/>
              <a:t>Sur présentation d’un coupon</a:t>
            </a:r>
          </a:p>
          <a:p>
            <a:pPr marL="342900" lvl="1" indent="0">
              <a:buNone/>
            </a:pPr>
            <a:r>
              <a:rPr lang="fr-FR" dirty="0"/>
              <a:t>Promo une réduction spéciale </a:t>
            </a:r>
          </a:p>
          <a:p>
            <a:pPr marL="342900" lvl="1" indent="0">
              <a:buNone/>
            </a:pPr>
            <a:r>
              <a:rPr lang="fr-FR" dirty="0"/>
              <a:t>sera faite</a:t>
            </a:r>
          </a:p>
          <a:p>
            <a:pPr lvl="1"/>
            <a:endParaRPr lang="fr-FR" dirty="0"/>
          </a:p>
          <a:p>
            <a:pPr lvl="1"/>
            <a:endParaRPr lang="fr-FR" dirty="0"/>
          </a:p>
        </p:txBody>
      </p:sp>
      <p:pic>
        <p:nvPicPr>
          <p:cNvPr id="2050" name="Picture 2" descr="Le Bistrot D'Alice à Carcassonne, carte-menu et photos">
            <a:extLst>
              <a:ext uri="{FF2B5EF4-FFF2-40B4-BE49-F238E27FC236}">
                <a16:creationId xmlns:a16="http://schemas.microsoft.com/office/drawing/2014/main" id="{5808B683-1A68-4A8B-A280-512C92E504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68144" y="2420888"/>
            <a:ext cx="2196995" cy="31118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9199696"/>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1B382C1-ABFB-4299-BD64-25F284149D94}"/>
              </a:ext>
            </a:extLst>
          </p:cNvPr>
          <p:cNvSpPr>
            <a:spLocks noGrp="1"/>
          </p:cNvSpPr>
          <p:nvPr>
            <p:ph type="title"/>
          </p:nvPr>
        </p:nvSpPr>
        <p:spPr/>
        <p:txBody>
          <a:bodyPr/>
          <a:lstStyle/>
          <a:p>
            <a:r>
              <a:rPr lang="fr-FR" dirty="0"/>
              <a:t>Un bistrot sur le web?</a:t>
            </a:r>
          </a:p>
        </p:txBody>
      </p:sp>
      <p:sp>
        <p:nvSpPr>
          <p:cNvPr id="3" name="Espace réservé du contenu 2">
            <a:extLst>
              <a:ext uri="{FF2B5EF4-FFF2-40B4-BE49-F238E27FC236}">
                <a16:creationId xmlns:a16="http://schemas.microsoft.com/office/drawing/2014/main" id="{A2F525A0-E523-4F69-A3A8-0A8FB99B813E}"/>
              </a:ext>
            </a:extLst>
          </p:cNvPr>
          <p:cNvSpPr>
            <a:spLocks noGrp="1"/>
          </p:cNvSpPr>
          <p:nvPr>
            <p:ph idx="1"/>
          </p:nvPr>
        </p:nvSpPr>
        <p:spPr/>
        <p:txBody>
          <a:bodyPr>
            <a:normAutofit fontScale="85000" lnSpcReduction="20000"/>
          </a:bodyPr>
          <a:lstStyle/>
          <a:p>
            <a:r>
              <a:rPr lang="fr-FR" dirty="0"/>
              <a:t>Le bar symbolise:</a:t>
            </a:r>
          </a:p>
          <a:p>
            <a:pPr lvl="1"/>
            <a:r>
              <a:rPr lang="fr-FR" dirty="0"/>
              <a:t>Réserve</a:t>
            </a:r>
          </a:p>
          <a:p>
            <a:pPr lvl="2"/>
            <a:r>
              <a:rPr lang="fr-FR" dirty="0">
                <a:sym typeface="Wingdings" panose="05000000000000000000" pitchFamily="2" charset="2"/>
              </a:rPr>
              <a:t>les données, sgbdr, sensor, …</a:t>
            </a:r>
            <a:endParaRPr lang="fr-FR" dirty="0"/>
          </a:p>
          <a:p>
            <a:pPr lvl="1"/>
            <a:endParaRPr lang="fr-FR" dirty="0"/>
          </a:p>
          <a:p>
            <a:pPr lvl="1"/>
            <a:r>
              <a:rPr lang="fr-FR" dirty="0"/>
              <a:t>Serveur du bar </a:t>
            </a:r>
          </a:p>
          <a:p>
            <a:pPr lvl="2"/>
            <a:r>
              <a:rPr lang="fr-FR" dirty="0">
                <a:sym typeface="Wingdings" panose="05000000000000000000" pitchFamily="2" charset="2"/>
              </a:rPr>
              <a:t>comprendre une demande</a:t>
            </a:r>
          </a:p>
          <a:p>
            <a:pPr lvl="2"/>
            <a:r>
              <a:rPr lang="fr-FR" dirty="0">
                <a:sym typeface="Wingdings" panose="05000000000000000000" pitchFamily="2" charset="2"/>
              </a:rPr>
              <a:t>Vérifier que le protocole &amp; la demande sont bien formulés</a:t>
            </a:r>
          </a:p>
          <a:p>
            <a:pPr lvl="2"/>
            <a:r>
              <a:rPr lang="fr-FR" dirty="0">
                <a:sym typeface="Wingdings" panose="05000000000000000000" pitchFamily="2" charset="2"/>
              </a:rPr>
              <a:t>Servir, traiter, assembler en fonction de la demande</a:t>
            </a:r>
          </a:p>
          <a:p>
            <a:pPr lvl="2"/>
            <a:endParaRPr lang="fr-FR" dirty="0">
              <a:sym typeface="Wingdings" panose="05000000000000000000" pitchFamily="2" charset="2"/>
            </a:endParaRPr>
          </a:p>
          <a:p>
            <a:pPr lvl="1"/>
            <a:r>
              <a:rPr lang="fr-FR" dirty="0">
                <a:sym typeface="Wingdings" panose="05000000000000000000" pitchFamily="2" charset="2"/>
              </a:rPr>
              <a:t>Le client, nous humain, </a:t>
            </a:r>
          </a:p>
          <a:p>
            <a:pPr lvl="2"/>
            <a:r>
              <a:rPr lang="fr-FR" dirty="0">
                <a:sym typeface="Wingdings" panose="05000000000000000000" pitchFamily="2" charset="2"/>
              </a:rPr>
              <a:t>machine consommant ce qui est servie en fonction du context</a:t>
            </a:r>
          </a:p>
          <a:p>
            <a:pPr lvl="1"/>
            <a:endParaRPr lang="fr-FR" dirty="0">
              <a:sym typeface="Wingdings" panose="05000000000000000000" pitchFamily="2" charset="2"/>
            </a:endParaRPr>
          </a:p>
          <a:p>
            <a:pPr lvl="1"/>
            <a:r>
              <a:rPr lang="fr-FR" dirty="0">
                <a:sym typeface="Wingdings" panose="05000000000000000000" pitchFamily="2" charset="2"/>
              </a:rPr>
              <a:t>Quand à la carte</a:t>
            </a:r>
          </a:p>
          <a:p>
            <a:pPr lvl="2"/>
            <a:r>
              <a:rPr lang="fr-FR" dirty="0">
                <a:sym typeface="Wingdings" panose="05000000000000000000" pitchFamily="2" charset="2"/>
              </a:rPr>
              <a:t>On parle ici de couche de </a:t>
            </a:r>
            <a:r>
              <a:rPr lang="fr-FR" b="1" dirty="0">
                <a:sym typeface="Wingdings" panose="05000000000000000000" pitchFamily="2" charset="2"/>
              </a:rPr>
              <a:t>définition</a:t>
            </a:r>
            <a:r>
              <a:rPr lang="fr-FR" dirty="0">
                <a:sym typeface="Wingdings" panose="05000000000000000000" pitchFamily="2" charset="2"/>
              </a:rPr>
              <a:t> de ce qui est </a:t>
            </a:r>
            <a:r>
              <a:rPr lang="fr-FR" b="1" dirty="0">
                <a:sym typeface="Wingdings" panose="05000000000000000000" pitchFamily="2" charset="2"/>
              </a:rPr>
              <a:t>mis à </a:t>
            </a:r>
          </a:p>
          <a:p>
            <a:pPr marL="685800" lvl="2" indent="0">
              <a:buNone/>
            </a:pPr>
            <a:r>
              <a:rPr lang="fr-FR" b="1" dirty="0">
                <a:sym typeface="Wingdings" panose="05000000000000000000" pitchFamily="2" charset="2"/>
              </a:rPr>
              <a:t>disposition </a:t>
            </a:r>
            <a:r>
              <a:rPr lang="fr-FR" dirty="0">
                <a:sym typeface="Wingdings" panose="05000000000000000000" pitchFamily="2" charset="2"/>
              </a:rPr>
              <a:t>ainsi que le </a:t>
            </a:r>
            <a:r>
              <a:rPr lang="fr-FR" b="1" dirty="0">
                <a:sym typeface="Wingdings" panose="05000000000000000000" pitchFamily="2" charset="2"/>
              </a:rPr>
              <a:t>formalisme</a:t>
            </a:r>
            <a:r>
              <a:rPr lang="fr-FR" dirty="0">
                <a:sym typeface="Wingdings" panose="05000000000000000000" pitchFamily="2" charset="2"/>
              </a:rPr>
              <a:t> pour le demander</a:t>
            </a:r>
            <a:endParaRPr lang="fr-FR" dirty="0"/>
          </a:p>
        </p:txBody>
      </p:sp>
      <p:pic>
        <p:nvPicPr>
          <p:cNvPr id="4" name="Picture 2" descr="Le Bistrot D'Alice à Carcassonne, carte-menu et photos">
            <a:extLst>
              <a:ext uri="{FF2B5EF4-FFF2-40B4-BE49-F238E27FC236}">
                <a16:creationId xmlns:a16="http://schemas.microsoft.com/office/drawing/2014/main" id="{5808B683-1A68-4A8B-A280-512C92E504C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2271" y="4691301"/>
            <a:ext cx="638539" cy="904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397736"/>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a:t>Protocole http &amp; REST</a:t>
            </a:r>
          </a:p>
        </p:txBody>
      </p:sp>
      <p:sp>
        <p:nvSpPr>
          <p:cNvPr id="3" name="Espace réservé du contenu 2"/>
          <p:cNvSpPr>
            <a:spLocks noGrp="1"/>
          </p:cNvSpPr>
          <p:nvPr>
            <p:ph idx="1"/>
          </p:nvPr>
        </p:nvSpPr>
        <p:spPr/>
        <p:txBody>
          <a:bodyPr>
            <a:normAutofit fontScale="92500" lnSpcReduction="10000"/>
          </a:bodyPr>
          <a:lstStyle/>
          <a:p>
            <a:r>
              <a:rPr lang="fr-FR" dirty="0"/>
              <a:t>Accès CRUD REST</a:t>
            </a:r>
          </a:p>
          <a:p>
            <a:pPr lvl="1"/>
            <a:r>
              <a:rPr lang="fr-FR" sz="2400" b="1" dirty="0" err="1"/>
              <a:t>C</a:t>
            </a:r>
            <a:r>
              <a:rPr lang="fr-FR" dirty="0" err="1"/>
              <a:t>reate</a:t>
            </a:r>
            <a:r>
              <a:rPr lang="fr-FR" dirty="0"/>
              <a:t> </a:t>
            </a:r>
          </a:p>
          <a:p>
            <a:pPr lvl="1"/>
            <a:r>
              <a:rPr lang="fr-FR" sz="2400" b="1" dirty="0"/>
              <a:t>R</a:t>
            </a:r>
            <a:r>
              <a:rPr lang="fr-FR" dirty="0"/>
              <a:t>ead</a:t>
            </a:r>
          </a:p>
          <a:p>
            <a:pPr lvl="1"/>
            <a:r>
              <a:rPr lang="fr-FR" sz="2400" b="1" dirty="0"/>
              <a:t>U</a:t>
            </a:r>
            <a:r>
              <a:rPr lang="fr-FR" dirty="0"/>
              <a:t>pdate</a:t>
            </a:r>
          </a:p>
          <a:p>
            <a:pPr lvl="1"/>
            <a:r>
              <a:rPr lang="fr-FR" sz="2400" b="1" dirty="0"/>
              <a:t>D</a:t>
            </a:r>
            <a:r>
              <a:rPr lang="fr-FR" dirty="0"/>
              <a:t>elete</a:t>
            </a:r>
          </a:p>
          <a:p>
            <a:pPr lvl="1"/>
            <a:endParaRPr lang="fr-FR" dirty="0"/>
          </a:p>
          <a:p>
            <a:r>
              <a:rPr lang="fr-FR" dirty="0"/>
              <a:t>Accès à une ressource par HTTP</a:t>
            </a:r>
          </a:p>
          <a:p>
            <a:pPr lvl="1"/>
            <a:r>
              <a:rPr lang="fr-FR" dirty="0"/>
              <a:t>Méthodes HTTP</a:t>
            </a:r>
          </a:p>
          <a:p>
            <a:pPr lvl="2"/>
            <a:r>
              <a:rPr lang="fr-FR" dirty="0"/>
              <a:t>POST      (</a:t>
            </a:r>
            <a:r>
              <a:rPr lang="fr-FR" b="1" dirty="0" err="1"/>
              <a:t>c</a:t>
            </a:r>
            <a:r>
              <a:rPr lang="fr-FR" dirty="0" err="1"/>
              <a:t>reate</a:t>
            </a:r>
            <a:r>
              <a:rPr lang="fr-FR" dirty="0"/>
              <a:t>) </a:t>
            </a:r>
          </a:p>
          <a:p>
            <a:pPr lvl="2"/>
            <a:r>
              <a:rPr lang="fr-FR" dirty="0"/>
              <a:t>GET 	     </a:t>
            </a:r>
            <a:r>
              <a:rPr lang="fr-FR" sz="1425" dirty="0"/>
              <a:t>(</a:t>
            </a:r>
            <a:r>
              <a:rPr lang="fr-FR" sz="1650" b="1" dirty="0" err="1"/>
              <a:t>r</a:t>
            </a:r>
            <a:r>
              <a:rPr lang="fr-FR" sz="1425" dirty="0" err="1"/>
              <a:t>ead</a:t>
            </a:r>
            <a:r>
              <a:rPr lang="fr-FR" sz="1425" dirty="0"/>
              <a:t>)</a:t>
            </a:r>
            <a:endParaRPr lang="fr-FR" dirty="0"/>
          </a:p>
          <a:p>
            <a:pPr lvl="2"/>
            <a:r>
              <a:rPr lang="fr-FR" dirty="0"/>
              <a:t>PUT</a:t>
            </a:r>
            <a:r>
              <a:rPr lang="fr-FR" sz="1425" dirty="0"/>
              <a:t> 	        (</a:t>
            </a:r>
            <a:r>
              <a:rPr lang="fr-FR" sz="1650" b="1" dirty="0"/>
              <a:t>u</a:t>
            </a:r>
            <a:r>
              <a:rPr lang="fr-FR" sz="1425" dirty="0"/>
              <a:t>pdate)</a:t>
            </a:r>
          </a:p>
          <a:p>
            <a:pPr lvl="2"/>
            <a:r>
              <a:rPr lang="fr-FR" dirty="0"/>
              <a:t>DELETE  </a:t>
            </a:r>
            <a:r>
              <a:rPr lang="fr-FR" sz="1425" dirty="0"/>
              <a:t>(</a:t>
            </a:r>
            <a:r>
              <a:rPr lang="fr-FR" sz="1650" b="1" dirty="0"/>
              <a:t>d</a:t>
            </a:r>
            <a:r>
              <a:rPr lang="fr-FR" sz="1425" dirty="0"/>
              <a:t>elete)</a:t>
            </a:r>
          </a:p>
          <a:p>
            <a:pPr lvl="1"/>
            <a:endParaRPr lang="fr-FR" dirty="0"/>
          </a:p>
        </p:txBody>
      </p:sp>
      <p:sp>
        <p:nvSpPr>
          <p:cNvPr id="4" name="Espace réservé du numéro de diapositive 3"/>
          <p:cNvSpPr>
            <a:spLocks noGrp="1"/>
          </p:cNvSpPr>
          <p:nvPr>
            <p:ph type="sldNum" sz="quarter" idx="12"/>
          </p:nvPr>
        </p:nvSpPr>
        <p:spPr/>
        <p:txBody>
          <a:bodyPr/>
          <a:lstStyle/>
          <a:p>
            <a:fld id="{5A33B5BC-E3F1-4ABE-A1A6-D2608D40EC2E}" type="slidenum">
              <a:rPr lang="fr-FR" smtClean="0"/>
              <a:pPr/>
              <a:t>163</a:t>
            </a:fld>
            <a:endParaRPr lang="fr-FR"/>
          </a:p>
        </p:txBody>
      </p:sp>
      <p:sp>
        <p:nvSpPr>
          <p:cNvPr id="7" name="ZoneTexte 6"/>
          <p:cNvSpPr txBox="1"/>
          <p:nvPr/>
        </p:nvSpPr>
        <p:spPr>
          <a:xfrm>
            <a:off x="4412268" y="4365104"/>
            <a:ext cx="4624228" cy="1569660"/>
          </a:xfrm>
          <a:prstGeom prst="rect">
            <a:avLst/>
          </a:prstGeom>
          <a:noFill/>
        </p:spPr>
        <p:txBody>
          <a:bodyPr wrap="square" rtlCol="0">
            <a:spAutoFit/>
          </a:bodyPr>
          <a:lstStyle/>
          <a:p>
            <a:pPr marL="557213" lvl="1" indent="-214313">
              <a:spcBef>
                <a:spcPct val="20000"/>
              </a:spcBef>
              <a:buFont typeface="Arial" pitchFamily="34" charset="0"/>
              <a:buChar char="–"/>
            </a:pPr>
            <a:r>
              <a:rPr lang="fr-FR" sz="2400" dirty="0">
                <a:solidFill>
                  <a:prstClr val="black"/>
                </a:solidFill>
              </a:rPr>
              <a:t>Erreurs HTTP</a:t>
            </a:r>
          </a:p>
          <a:p>
            <a:pPr marL="857250" lvl="2" indent="-171450">
              <a:spcBef>
                <a:spcPct val="20000"/>
              </a:spcBef>
              <a:buFont typeface="Arial" pitchFamily="34" charset="0"/>
              <a:buChar char="•"/>
            </a:pPr>
            <a:r>
              <a:rPr lang="fr-FR" sz="2000" dirty="0">
                <a:solidFill>
                  <a:prstClr val="black"/>
                </a:solidFill>
              </a:rPr>
              <a:t>2xx 	OK</a:t>
            </a:r>
          </a:p>
          <a:p>
            <a:pPr marL="857250" lvl="2" indent="-171450">
              <a:spcBef>
                <a:spcPct val="20000"/>
              </a:spcBef>
              <a:buFont typeface="Arial" pitchFamily="34" charset="0"/>
              <a:buChar char="•"/>
            </a:pPr>
            <a:r>
              <a:rPr lang="fr-FR" sz="2000" dirty="0">
                <a:solidFill>
                  <a:prstClr val="black"/>
                </a:solidFill>
              </a:rPr>
              <a:t>4xx	Erreur accès</a:t>
            </a:r>
          </a:p>
          <a:p>
            <a:pPr marL="857250" lvl="2" indent="-171450">
              <a:spcBef>
                <a:spcPct val="20000"/>
              </a:spcBef>
              <a:buFont typeface="Arial" pitchFamily="34" charset="0"/>
              <a:buChar char="•"/>
            </a:pPr>
            <a:r>
              <a:rPr lang="fr-FR" sz="2000" dirty="0">
                <a:solidFill>
                  <a:prstClr val="black"/>
                </a:solidFill>
              </a:rPr>
              <a:t>5xx	Erreur Serveur</a:t>
            </a:r>
            <a:endParaRPr lang="fr-FR" sz="1600" dirty="0">
              <a:solidFill>
                <a:prstClr val="black"/>
              </a:solidFill>
            </a:endParaRPr>
          </a:p>
        </p:txBody>
      </p:sp>
      <p:sp>
        <p:nvSpPr>
          <p:cNvPr id="8" name="Rectangle 7"/>
          <p:cNvSpPr/>
          <p:nvPr/>
        </p:nvSpPr>
        <p:spPr>
          <a:xfrm>
            <a:off x="4572024" y="1660910"/>
            <a:ext cx="3214686" cy="1989775"/>
          </a:xfrm>
          <a:prstGeom prst="rect">
            <a:avLst/>
          </a:prstGeom>
        </p:spPr>
        <p:txBody>
          <a:bodyPr wrap="square">
            <a:spAutoFit/>
          </a:bodyPr>
          <a:lstStyle/>
          <a:p>
            <a:pPr marL="257175" indent="-257175">
              <a:spcBef>
                <a:spcPct val="20000"/>
              </a:spcBef>
              <a:buFont typeface="Arial" pitchFamily="34" charset="0"/>
              <a:buChar char="•"/>
            </a:pPr>
            <a:r>
              <a:rPr lang="fr-FR" sz="2250" dirty="0">
                <a:solidFill>
                  <a:prstClr val="black"/>
                </a:solidFill>
              </a:rPr>
              <a:t>Capacités</a:t>
            </a:r>
          </a:p>
          <a:p>
            <a:pPr marL="557213" lvl="1" indent="-214313">
              <a:spcBef>
                <a:spcPct val="20000"/>
              </a:spcBef>
              <a:buFont typeface="Arial" pitchFamily="34" charset="0"/>
              <a:buChar char="–"/>
            </a:pPr>
            <a:r>
              <a:rPr lang="fr-FR" dirty="0">
                <a:solidFill>
                  <a:prstClr val="black"/>
                </a:solidFill>
              </a:rPr>
              <a:t>Filtrage</a:t>
            </a:r>
          </a:p>
          <a:p>
            <a:pPr marL="900113" lvl="2" indent="-214313">
              <a:spcBef>
                <a:spcPct val="20000"/>
              </a:spcBef>
              <a:buFont typeface="Arial" pitchFamily="34" charset="0"/>
              <a:buChar char="–"/>
            </a:pPr>
            <a:r>
              <a:rPr lang="fr-FR" sz="1500" dirty="0">
                <a:solidFill>
                  <a:prstClr val="black"/>
                </a:solidFill>
              </a:rPr>
              <a:t>champs</a:t>
            </a:r>
          </a:p>
          <a:p>
            <a:pPr marL="900113" lvl="2" indent="-214313">
              <a:spcBef>
                <a:spcPct val="20000"/>
              </a:spcBef>
              <a:buFont typeface="Arial" pitchFamily="34" charset="0"/>
              <a:buChar char="–"/>
            </a:pPr>
            <a:r>
              <a:rPr lang="fr-FR" sz="1500" dirty="0">
                <a:solidFill>
                  <a:prstClr val="black"/>
                </a:solidFill>
              </a:rPr>
              <a:t>id</a:t>
            </a:r>
          </a:p>
          <a:p>
            <a:pPr marL="557213" lvl="1" indent="-214313">
              <a:spcBef>
                <a:spcPct val="20000"/>
              </a:spcBef>
              <a:buFont typeface="Arial" pitchFamily="34" charset="0"/>
              <a:buChar char="–"/>
            </a:pPr>
            <a:r>
              <a:rPr lang="fr-FR" dirty="0">
                <a:solidFill>
                  <a:prstClr val="black"/>
                </a:solidFill>
              </a:rPr>
              <a:t>Positionnement</a:t>
            </a:r>
          </a:p>
          <a:p>
            <a:pPr marL="557213" lvl="1" indent="-214313">
              <a:spcBef>
                <a:spcPct val="20000"/>
              </a:spcBef>
              <a:buFont typeface="Arial" pitchFamily="34" charset="0"/>
              <a:buChar char="–"/>
            </a:pPr>
            <a:r>
              <a:rPr lang="fr-FR" dirty="0">
                <a:solidFill>
                  <a:prstClr val="black"/>
                </a:solidFill>
              </a:rPr>
              <a:t>Relationnel *</a:t>
            </a:r>
            <a:endParaRPr lang="fr-FR" sz="1500" dirty="0">
              <a:solidFill>
                <a:prstClr val="black"/>
              </a:solidFill>
            </a:endParaRPr>
          </a:p>
        </p:txBody>
      </p:sp>
      <p:sp>
        <p:nvSpPr>
          <p:cNvPr id="9" name="Étoile à 12 branches 8"/>
          <p:cNvSpPr/>
          <p:nvPr/>
        </p:nvSpPr>
        <p:spPr>
          <a:xfrm rot="21038633">
            <a:off x="6188085" y="3350930"/>
            <a:ext cx="1750585" cy="910076"/>
          </a:xfrm>
          <a:prstGeom prst="star12">
            <a:avLst/>
          </a:prstGeom>
          <a:solidFill>
            <a:srgbClr val="92D050"/>
          </a:solidFill>
          <a:ln>
            <a:noFill/>
          </a:ln>
          <a:effectLst>
            <a:outerShdw blurRad="152400" dist="38100" dir="2700000" sx="104000" sy="104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none" lIns="0" tIns="27000" rIns="0" bIns="27000" rtlCol="0" anchor="ctr"/>
          <a:lstStyle/>
          <a:p>
            <a:pPr algn="ctr"/>
            <a:r>
              <a:rPr lang="fr-FR" sz="2100" b="1" u="sng" dirty="0"/>
              <a:t>Echanges</a:t>
            </a:r>
          </a:p>
          <a:p>
            <a:pPr algn="ctr"/>
            <a:r>
              <a:rPr lang="fr-FR" sz="2100" b="1" u="sng" dirty="0"/>
              <a:t> JSON</a:t>
            </a:r>
          </a:p>
        </p:txBody>
      </p:sp>
    </p:spTree>
  </p:cSld>
  <p:clrMapOvr>
    <a:masterClrMapping/>
  </p:clrMapOvr>
</p:sld>
</file>

<file path=ppt/theme/theme1.xml><?xml version="1.0" encoding="utf-8"?>
<a:theme xmlns:a="http://schemas.openxmlformats.org/drawingml/2006/main" name="Thème2019-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ème2019-2" id="{08419459-8E74-496F-8360-D3C4642B6676}" vid="{BE0886B9-7EA9-4EA3-B0B5-82B2C10CBDDF}"/>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Thème2019-2</Template>
  <TotalTime>11437</TotalTime>
  <Words>15157</Words>
  <Application>Microsoft Office PowerPoint</Application>
  <PresentationFormat>Affichage à l'écran (4:3)</PresentationFormat>
  <Paragraphs>2483</Paragraphs>
  <Slides>163</Slides>
  <Notes>88</Notes>
  <HiddenSlides>0</HiddenSlides>
  <MMClips>0</MMClips>
  <ScaleCrop>false</ScaleCrop>
  <HeadingPairs>
    <vt:vector size="6" baseType="variant">
      <vt:variant>
        <vt:lpstr>Polices utilisées</vt:lpstr>
      </vt:variant>
      <vt:variant>
        <vt:i4>11</vt:i4>
      </vt:variant>
      <vt:variant>
        <vt:lpstr>Thème</vt:lpstr>
      </vt:variant>
      <vt:variant>
        <vt:i4>1</vt:i4>
      </vt:variant>
      <vt:variant>
        <vt:lpstr>Titres des diapositives</vt:lpstr>
      </vt:variant>
      <vt:variant>
        <vt:i4>163</vt:i4>
      </vt:variant>
    </vt:vector>
  </HeadingPairs>
  <TitlesOfParts>
    <vt:vector size="175" baseType="lpstr">
      <vt:lpstr>Calibri</vt:lpstr>
      <vt:lpstr>Consolas</vt:lpstr>
      <vt:lpstr>Source Code Pro</vt:lpstr>
      <vt:lpstr>Monaco</vt:lpstr>
      <vt:lpstr>Times New Roman</vt:lpstr>
      <vt:lpstr>inherit</vt:lpstr>
      <vt:lpstr>Permanent Marker</vt:lpstr>
      <vt:lpstr>MS Mincho</vt:lpstr>
      <vt:lpstr>Wingdings</vt:lpstr>
      <vt:lpstr>Arial</vt:lpstr>
      <vt:lpstr>PT Sans Narrow</vt:lpstr>
      <vt:lpstr>Thème2019-2</vt:lpstr>
      <vt:lpstr>Formation JavaScript, les fondamentaux</vt:lpstr>
      <vt:lpstr>Orsys &amp; vous</vt:lpstr>
      <vt:lpstr>Bienvenue chez Orsys  Présentation</vt:lpstr>
      <vt:lpstr>Bienvenue chez Orsys  logistique</vt:lpstr>
      <vt:lpstr>Les technologies du web</vt:lpstr>
      <vt:lpstr>Architecture du WEB</vt:lpstr>
      <vt:lpstr>Architecture WEB</vt:lpstr>
      <vt:lpstr>Architecture du WEB</vt:lpstr>
      <vt:lpstr>Architecture du WEB</vt:lpstr>
      <vt:lpstr>Navigateur et fonctionnement</vt:lpstr>
      <vt:lpstr>Protocole HTTP / HTTPS</vt:lpstr>
      <vt:lpstr>Protocole HTTP / HTTPS</vt:lpstr>
      <vt:lpstr>Protocol HTTP / HTTPS</vt:lpstr>
      <vt:lpstr>Les outils de développement</vt:lpstr>
      <vt:lpstr>Le Serveur de dev</vt:lpstr>
      <vt:lpstr>Node.js &amp; npm </vt:lpstr>
      <vt:lpstr>Serveur http &amp; db</vt:lpstr>
      <vt:lpstr>Serveur de version GIT</vt:lpstr>
      <vt:lpstr>Github</vt:lpstr>
      <vt:lpstr>Serveur GIT</vt:lpstr>
      <vt:lpstr>Git - bitbuckets</vt:lpstr>
      <vt:lpstr>Devtool &amp; navigateur</vt:lpstr>
      <vt:lpstr>Accessibilité Web</vt:lpstr>
      <vt:lpstr>Accessibilité Web</vt:lpstr>
      <vt:lpstr>Lois &amp; accessibilité Web</vt:lpstr>
      <vt:lpstr>Premier pas avec JS</vt:lpstr>
      <vt:lpstr>Histoire de ECMAScript 262 (JS)</vt:lpstr>
      <vt:lpstr>Evolutions</vt:lpstr>
      <vt:lpstr>Configuration environnement de dev</vt:lpstr>
      <vt:lpstr>Install Node &amp; NVM</vt:lpstr>
      <vt:lpstr>Node &amp; npm</vt:lpstr>
      <vt:lpstr>Installation des dépendances Node</vt:lpstr>
      <vt:lpstr>Github &amp; git</vt:lpstr>
      <vt:lpstr>Plugin Vscode</vt:lpstr>
      <vt:lpstr>Ou écrire du JS</vt:lpstr>
      <vt:lpstr>Conventions de nommage</vt:lpstr>
      <vt:lpstr>règles syntaxiques</vt:lpstr>
      <vt:lpstr>Valeurs particulières</vt:lpstr>
      <vt:lpstr>Variables</vt:lpstr>
      <vt:lpstr>Types</vt:lpstr>
      <vt:lpstr>typeof</vt:lpstr>
      <vt:lpstr>Transtypage</vt:lpstr>
      <vt:lpstr>Opérateurs Logiques &amp; Arithmétiques</vt:lpstr>
      <vt:lpstr>Array</vt:lpstr>
      <vt:lpstr>Array</vt:lpstr>
      <vt:lpstr>Array</vt:lpstr>
      <vt:lpstr>Programmation JavaScript fondamentale</vt:lpstr>
      <vt:lpstr>Scoping / portée de variable</vt:lpstr>
      <vt:lpstr>La gestion de imports</vt:lpstr>
      <vt:lpstr>Les test if/else if / else</vt:lpstr>
      <vt:lpstr>les test switch/ case / default</vt:lpstr>
      <vt:lpstr>Les Boucles</vt:lpstr>
      <vt:lpstr>Les Boucles</vt:lpstr>
      <vt:lpstr>Les Boucles</vt:lpstr>
      <vt:lpstr>Fonctions</vt:lpstr>
      <vt:lpstr>Fonctions</vt:lpstr>
      <vt:lpstr>Gestion des exceptions</vt:lpstr>
      <vt:lpstr>With</vt:lpstr>
      <vt:lpstr>Introduction à la programmation Objet en js</vt:lpstr>
      <vt:lpstr>Notion d'objet</vt:lpstr>
      <vt:lpstr>Notions d'objet</vt:lpstr>
      <vt:lpstr>Notions d'objet</vt:lpstr>
      <vt:lpstr>Notions d'objet</vt:lpstr>
      <vt:lpstr>Notions d'objet</vt:lpstr>
      <vt:lpstr>Notions d'objet</vt:lpstr>
      <vt:lpstr>Notions d'objet</vt:lpstr>
      <vt:lpstr>Class</vt:lpstr>
      <vt:lpstr>Principaux objets</vt:lpstr>
      <vt:lpstr>Principaux objets</vt:lpstr>
      <vt:lpstr>Principaux objets</vt:lpstr>
      <vt:lpstr>Le JSON</vt:lpstr>
      <vt:lpstr>Le JSON</vt:lpstr>
      <vt:lpstr>Le JSON</vt:lpstr>
      <vt:lpstr>JSON</vt:lpstr>
      <vt:lpstr>JSON</vt:lpstr>
      <vt:lpstr>JSON et Sérialisation / Désérialisation</vt:lpstr>
      <vt:lpstr>6. Evènements Js</vt:lpstr>
      <vt:lpstr>System d’évènements</vt:lpstr>
      <vt:lpstr>La propagation des events</vt:lpstr>
      <vt:lpstr>Comportement par défaut d’event</vt:lpstr>
      <vt:lpstr>Event et formulaire</vt:lpstr>
      <vt:lpstr>Evènement souris</vt:lpstr>
      <vt:lpstr>Keyboard event</vt:lpstr>
      <vt:lpstr>L’event online</vt:lpstr>
      <vt:lpstr>Liste des Type d’events</vt:lpstr>
      <vt:lpstr>7.Manipulation Dom </vt:lpstr>
      <vt:lpstr>Fonctions du DOM</vt:lpstr>
      <vt:lpstr>Sélection des éléments du DOM</vt:lpstr>
      <vt:lpstr>Sélection avancée par Sélecteur CSS</vt:lpstr>
      <vt:lpstr>Sélecteur Css</vt:lpstr>
      <vt:lpstr>CSS 3.0 sélecteurs</vt:lpstr>
      <vt:lpstr>Rappel Sélecteur css</vt:lpstr>
      <vt:lpstr>Création d’un élément DOM</vt:lpstr>
      <vt:lpstr>Manipulation DOM</vt:lpstr>
      <vt:lpstr>Manipulation DOM</vt:lpstr>
      <vt:lpstr>Manipulation DOM &amp; attributs class &amp; id</vt:lpstr>
      <vt:lpstr>Manipulation DOM &amp; attributs</vt:lpstr>
      <vt:lpstr>Manipulation DOM &amp; attributs styles</vt:lpstr>
      <vt:lpstr>Navigation dans le DOM</vt:lpstr>
      <vt:lpstr>8.Formulaire &amp; Validation</vt:lpstr>
      <vt:lpstr>Les formulaires</vt:lpstr>
      <vt:lpstr>Structure de Formulaire</vt:lpstr>
      <vt:lpstr>Input &amp; js</vt:lpstr>
      <vt:lpstr>Contrôle des valeurs avant submit</vt:lpstr>
      <vt:lpstr>Formulaire et validation</vt:lpstr>
      <vt:lpstr>Validation et Messages</vt:lpstr>
      <vt:lpstr>Input et validation</vt:lpstr>
      <vt:lpstr>9.Données coté client</vt:lpstr>
      <vt:lpstr>WEBAPI storage</vt:lpstr>
      <vt:lpstr>Usage des API de persistances</vt:lpstr>
      <vt:lpstr>localstorage</vt:lpstr>
      <vt:lpstr>Session storage</vt:lpstr>
      <vt:lpstr>Cookies</vt:lpstr>
      <vt:lpstr>cookies</vt:lpstr>
      <vt:lpstr>10. JS moderne et responsive</vt:lpstr>
      <vt:lpstr>Class</vt:lpstr>
      <vt:lpstr>C’est l’histoire d’un mec…</vt:lpstr>
      <vt:lpstr>C’est l’histoire d’un mec…</vt:lpstr>
      <vt:lpstr>Class machine à café</vt:lpstr>
      <vt:lpstr>C’est l’histoire d’un mec…</vt:lpstr>
      <vt:lpstr>Class machine à café</vt:lpstr>
      <vt:lpstr>Nouvelle fonctionnalités ES6+</vt:lpstr>
      <vt:lpstr>ES6+ déstructuration</vt:lpstr>
      <vt:lpstr>ES6+ Spread operator</vt:lpstr>
      <vt:lpstr>ES6+ type module</vt:lpstr>
      <vt:lpstr>C’est l’histoire d’un mec …</vt:lpstr>
      <vt:lpstr>C’est l’histoire d’un mec</vt:lpstr>
      <vt:lpstr> technique</vt:lpstr>
      <vt:lpstr>ES6+ Promise</vt:lpstr>
      <vt:lpstr>ES6 et appelle HTTP</vt:lpstr>
      <vt:lpstr>ES7+ Async / await / Promise</vt:lpstr>
      <vt:lpstr>Principe de responsive design</vt:lpstr>
      <vt:lpstr>Principe de responsive design</vt:lpstr>
      <vt:lpstr>11.Optimisation</vt:lpstr>
      <vt:lpstr>Optimisation DOM</vt:lpstr>
      <vt:lpstr>Optimisation de code</vt:lpstr>
      <vt:lpstr>Optimisation chargement js dans le DOM</vt:lpstr>
      <vt:lpstr>Profilage &amp; benchmark</vt:lpstr>
      <vt:lpstr>Cache et navigateur</vt:lpstr>
      <vt:lpstr>Import dynamique</vt:lpstr>
      <vt:lpstr>Projet final</vt:lpstr>
      <vt:lpstr>Méthodologie</vt:lpstr>
      <vt:lpstr>Développement itératif</vt:lpstr>
      <vt:lpstr>Test et validation</vt:lpstr>
      <vt:lpstr>Test et validation</vt:lpstr>
      <vt:lpstr>Documentation de projets jsDoc</vt:lpstr>
      <vt:lpstr>Conclusion</vt:lpstr>
      <vt:lpstr>Références</vt:lpstr>
      <vt:lpstr>Références</vt:lpstr>
      <vt:lpstr>Références</vt:lpstr>
      <vt:lpstr>Conclusion</vt:lpstr>
      <vt:lpstr>Conclusion finale</vt:lpstr>
      <vt:lpstr>Présentation PowerPoint</vt:lpstr>
      <vt:lpstr>Annexes</vt:lpstr>
      <vt:lpstr>DOM (Document Object Model)</vt:lpstr>
      <vt:lpstr>DOM (Document Object Model)</vt:lpstr>
      <vt:lpstr>DOM (Document Object Model)</vt:lpstr>
      <vt:lpstr>DOM (Document Object Model)</vt:lpstr>
      <vt:lpstr>DOM (Document Object Model)</vt:lpstr>
      <vt:lpstr>Un bistro service ?</vt:lpstr>
      <vt:lpstr>Un bistro service?</vt:lpstr>
      <vt:lpstr>Un bistrot sur le web?</vt:lpstr>
      <vt:lpstr>Protocole http &amp; REST</vt:lpstr>
    </vt:vector>
  </TitlesOfParts>
  <Company>DESORBAIX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JavaScript, HTML dynamique</dc:title>
  <dc:creator>Desorbaix alexandre</dc:creator>
  <cp:keywords>DHL;orsys;javascript;html</cp:keywords>
  <cp:lastModifiedBy>DESO DESO</cp:lastModifiedBy>
  <cp:revision>150</cp:revision>
  <dcterms:created xsi:type="dcterms:W3CDTF">2018-05-01T16:18:56Z</dcterms:created>
  <dcterms:modified xsi:type="dcterms:W3CDTF">2026-09-18T00:01:57Z</dcterms:modified>
  <cp:category>support</cp:category>
</cp:coreProperties>
</file>